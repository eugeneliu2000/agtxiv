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Accent"/>
          <p:cNvSpPr/>
          <p:nvPr/>
        </p:nvSpPr>
        <p:spPr>
          <a:xfrm>
            <a:off x="7315200" y="0"/>
            <a:ext cx="4876800" cy="6858000"/>
          </a:xfrm>
          <a:custGeom>
            <a:avLst/>
            <a:gdLst/>
            <a:ahLst/>
            <a:cxnLst/>
            <a:rect l="0" t="0" r="0" b="0"/>
            <a:pathLst>
              <a:path w="4876800" h="6858000">
                <a:moveTo>
                  <a:pt x="0" y="6858000"/>
                </a:moveTo>
                <a:lnTo>
                  <a:pt x="4876800" y="6858000"/>
                </a:lnTo>
                <a:lnTo>
                  <a:pt x="4876800" y="0"/>
                </a:lnTo>
                <a:lnTo>
                  <a:pt x="1097280" y="0"/>
                </a:lnTo>
                <a:close/>
              </a:path>
            </a:pathLst>
          </a:custGeom>
          <a:solidFill>
            <a:srgbClr val="356A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BgAccentDark"/>
          <p:cNvSpPr/>
          <p:nvPr/>
        </p:nvSpPr>
        <p:spPr>
          <a:xfrm>
            <a:off x="8656320" y="0"/>
            <a:ext cx="3535680" cy="6858000"/>
          </a:xfrm>
          <a:custGeom>
            <a:avLst/>
            <a:gdLst/>
            <a:ahLst/>
            <a:cxnLst/>
            <a:rect l="0" t="0" r="0" b="0"/>
            <a:pathLst>
              <a:path w="3535680" h="6858000">
                <a:moveTo>
                  <a:pt x="0" y="6858000"/>
                </a:moveTo>
                <a:lnTo>
                  <a:pt x="3535680" y="6858000"/>
                </a:lnTo>
                <a:lnTo>
                  <a:pt x="3535680" y="0"/>
                </a:lnTo>
                <a:lnTo>
                  <a:pt x="1463040" y="0"/>
                </a:lnTo>
                <a:close/>
              </a:path>
            </a:pathLst>
          </a:custGeom>
          <a:solidFill>
            <a:srgbClr val="204DB6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914400" y="868680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356AE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VERIFICATION-AWARE SCIENTIFIC KNOWLEDGE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914400" y="1664208"/>
            <a:ext cx="3291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AgtXIv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4754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47B8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From frozen papers to reusable claim contracts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3447288"/>
            <a:ext cx="1691640" cy="32004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069080"/>
            <a:ext cx="466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Architecture and first-pilot specification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462272"/>
            <a:ext cx="4937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AgtXIv specification    /    v0.4 /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79408" y="2377440"/>
            <a:ext cx="2331720" cy="50292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frozen PaperAgents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070848" y="3154680"/>
            <a:ext cx="2148840" cy="502920"/>
          </a:xfrm>
          <a:prstGeom prst="roundRect">
            <a:avLst>
              <a:gd name="adj" fmla="val 1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claim DAG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070848" y="3977640"/>
            <a:ext cx="2148840" cy="50292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verified contracts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149840" y="2880360"/>
            <a:ext cx="0" cy="274320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149840" y="3657600"/>
            <a:ext cx="0" cy="320040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bottleneck is no longer paper retrieval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6464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AgtXIv v0.4, Goal and Boundaries; qualitative motivation.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384280" y="6355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1/21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12280"/>
            <a:ext cx="914400" cy="4572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81328" y="4315968"/>
            <a:ext cx="3959352" cy="0"/>
          </a:xfrm>
          <a:prstGeom prst="line">
            <a:avLst/>
          </a:prstGeom>
          <a:noFill/>
          <a:ln w="1651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1481328" y="1874520"/>
            <a:ext cx="0" cy="2441448"/>
          </a:xfrm>
          <a:prstGeom prst="line">
            <a:avLst/>
          </a:prstGeom>
          <a:noFill/>
          <a:ln w="1651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68680" y="1572768"/>
            <a:ext cx="914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32120" y="4462272"/>
            <a:ext cx="640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flipV="1">
            <a:off x="1600200" y="3749040"/>
            <a:ext cx="777240" cy="274320"/>
          </a:xfrm>
          <a:prstGeom prst="line">
            <a:avLst/>
          </a:prstGeom>
          <a:noFill/>
          <a:ln w="25400">
            <a:solidFill>
              <a:srgbClr val="B84A45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2377440" y="3200400"/>
            <a:ext cx="640080" cy="548640"/>
          </a:xfrm>
          <a:prstGeom prst="line">
            <a:avLst/>
          </a:prstGeom>
          <a:noFill/>
          <a:ln w="25400">
            <a:solidFill>
              <a:srgbClr val="B84A45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3017520" y="2606040"/>
            <a:ext cx="640080" cy="594360"/>
          </a:xfrm>
          <a:prstGeom prst="line">
            <a:avLst/>
          </a:prstGeom>
          <a:noFill/>
          <a:ln w="25400">
            <a:solidFill>
              <a:srgbClr val="B84A45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V="1">
            <a:off x="3657600" y="1920240"/>
            <a:ext cx="731520" cy="685800"/>
          </a:xfrm>
          <a:prstGeom prst="line">
            <a:avLst/>
          </a:prstGeom>
          <a:noFill/>
          <a:ln w="25400">
            <a:solidFill>
              <a:srgbClr val="B84A45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V="1">
            <a:off x="4389120" y="1298448"/>
            <a:ext cx="731520" cy="621792"/>
          </a:xfrm>
          <a:prstGeom prst="line">
            <a:avLst/>
          </a:prstGeom>
          <a:noFill/>
          <a:ln w="25400">
            <a:solidFill>
              <a:srgbClr val="B84A45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V="1">
            <a:off x="1600200" y="3611880"/>
            <a:ext cx="3520440" cy="301752"/>
          </a:xfrm>
          <a:prstGeom prst="line">
            <a:avLst/>
          </a:prstGeom>
          <a:noFill/>
          <a:ln w="25400">
            <a:solidFill>
              <a:srgbClr val="257A63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2011680" y="1965960"/>
            <a:ext cx="2560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84A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scientific claims and artifacts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10128" y="3749040"/>
            <a:ext cx="2286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57A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expert verification bandwidth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 flipV="1">
            <a:off x="4160520" y="2011680"/>
            <a:ext cx="0" cy="2304288"/>
          </a:xfrm>
          <a:prstGeom prst="line">
            <a:avLst/>
          </a:prstGeom>
          <a:noFill/>
          <a:ln w="12700">
            <a:solidFill>
              <a:srgbClr val="B7791F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2560320" y="2514600"/>
            <a:ext cx="3429000" cy="384048"/>
          </a:xfrm>
          <a:prstGeom prst="roundRect">
            <a:avLst>
              <a:gd name="adj" fmla="val 11574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bottleneck: read ≠ checked ≠ reusable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20840" y="1600200"/>
            <a:ext cx="466344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3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engines can return papers quickly.</a:t>
            </a:r>
            <a:endParaRPr lang="en-US" sz="13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3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Later work still needs the </a:t>
            </a:r>
            <a:r>
              <a:rPr lang="en-US" sz="13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exact imported claim</a:t>
            </a:r>
            <a:r>
              <a:rPr lang="en-US" sz="13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3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Assumptions, domains, conventions, approximations, and versions are reconstructed manually.</a:t>
            </a:r>
            <a:endParaRPr lang="en-US" sz="13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3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Proofs and reruns are rarely packaged as reusable interfaces.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681728"/>
            <a:ext cx="4754880" cy="658368"/>
          </a:xfrm>
          <a:prstGeom prst="roundRect">
            <a:avLst>
              <a:gd name="adj" fmla="val 6751"/>
            </a:avLst>
          </a:prstGeom>
          <a:solidFill>
            <a:srgbClr val="E2F1EA"/>
          </a:solidFill>
          <a:ln w="13970">
            <a:solidFill>
              <a:srgbClr val="E2F1E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AgtXIv changes the unit of reuse: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whole papers → versioned claim contracts.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Four questions must not be collapsed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6464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AgtXIv explicitly separates source, mathematical, computational, and physical-semantic verification.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384280" y="6355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2/21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12280"/>
            <a:ext cx="1325880" cy="4572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325880"/>
            <a:ext cx="3108960" cy="960120"/>
          </a:xfrm>
          <a:prstGeom prst="roundRect">
            <a:avLst>
              <a:gd name="adj" fmla="val 4629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fidelity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did the paper actually state?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32120" y="1325880"/>
            <a:ext cx="4892040" cy="960120"/>
          </a:xfrm>
          <a:prstGeom prst="roundRect">
            <a:avLst>
              <a:gd name="adj" fmla="val 4629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Mathematical correctness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the conclusion follow from encoded assumptions?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00200" y="2743200"/>
            <a:ext cx="3657600" cy="960120"/>
          </a:xfrm>
          <a:prstGeom prst="roundRect">
            <a:avLst>
              <a:gd name="adj" fmla="val 4629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Computational reproducibility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the numerical result be regenerated?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06440" y="2743200"/>
            <a:ext cx="4937760" cy="960120"/>
          </a:xfrm>
          <a:prstGeom prst="roundRect">
            <a:avLst>
              <a:gd name="adj" fmla="val 4629"/>
            </a:avLst>
          </a:prstGeom>
          <a:solidFill>
            <a:srgbClr val="EEE8F7"/>
          </a:solidFill>
          <a:ln w="13970">
            <a:solidFill>
              <a:srgbClr val="7356A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Physical-semantic alignment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the formal object represent the intended physics?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4663440"/>
            <a:ext cx="9464040" cy="868680"/>
          </a:xfrm>
          <a:prstGeom prst="roundRect">
            <a:avLst>
              <a:gd name="adj" fmla="val 5116"/>
            </a:avLst>
          </a:prstGeom>
          <a:solidFill>
            <a:srgbClr val="F8E4E1"/>
          </a:solidFill>
          <a:ln w="13970">
            <a:solidFill>
              <a:srgbClr val="F8E4E1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clean Lean build answers only the second question under the encoded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definitions and assumptions.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query result is a build receipt, not a paper list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6464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minimum useful output is a reusable QueryResolution receipt.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384280" y="6355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3/21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12280"/>
            <a:ext cx="1737360" cy="4572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08760"/>
            <a:ext cx="1737360" cy="658368"/>
          </a:xfrm>
          <a:prstGeom prst="roundRect">
            <a:avLst>
              <a:gd name="adj" fmla="val 6751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address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canonical claim ID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88920" y="1508760"/>
            <a:ext cx="2212848" cy="658368"/>
          </a:xfrm>
          <a:prstGeom prst="roundRect">
            <a:avLst>
              <a:gd name="adj" fmla="val 6751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accepted imports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assumptions + versions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0" y="1508760"/>
            <a:ext cx="2194560" cy="658368"/>
          </a:xfrm>
          <a:prstGeom prst="roundRect">
            <a:avLst>
              <a:gd name="adj" fmla="val 6751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checked declarations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pinned Lean environment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909560" y="1508760"/>
            <a:ext cx="1874520" cy="658368"/>
          </a:xfrm>
          <a:prstGeom prst="roundRect">
            <a:avLst>
              <a:gd name="adj" fmla="val 6751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blocked frontier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unresolved claim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149840" y="1508760"/>
            <a:ext cx="1737360" cy="658368"/>
          </a:xfrm>
          <a:prstGeom prst="roundRect">
            <a:avLst>
              <a:gd name="adj" fmla="val 6751"/>
            </a:avLst>
          </a:prstGeom>
          <a:solidFill>
            <a:srgbClr val="EEE8F7"/>
          </a:solidFill>
          <a:ln w="13970">
            <a:solidFill>
              <a:srgbClr val="7356A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delta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 still required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14600" y="1828800"/>
            <a:ext cx="274320" cy="0"/>
          </a:xfrm>
          <a:prstGeom prst="line">
            <a:avLst/>
          </a:prstGeom>
          <a:noFill/>
          <a:ln w="1524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01768" y="1828800"/>
            <a:ext cx="301752" cy="0"/>
          </a:xfrm>
          <a:prstGeom prst="line">
            <a:avLst/>
          </a:prstGeom>
          <a:noFill/>
          <a:ln w="1524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8080" y="1828800"/>
            <a:ext cx="411480" cy="0"/>
          </a:xfrm>
          <a:prstGeom prst="line">
            <a:avLst/>
          </a:prstGeom>
          <a:noFill/>
          <a:ln w="1524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784080" y="1828800"/>
            <a:ext cx="365760" cy="0"/>
          </a:xfrm>
          <a:prstGeom prst="line">
            <a:avLst/>
          </a:prstGeom>
          <a:noFill/>
          <a:ln w="1524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2788920"/>
            <a:ext cx="2834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Auditable fields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3246120"/>
            <a:ext cx="4846320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normalized statement and object types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exact source anchors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imports, assumptions, and verification records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blockers, versions, and compatibility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Not acceptable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66560" y="3246120"/>
            <a:ext cx="4480560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“related papers” without claim roles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confidence promoted to evidence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proof detached from source alignment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hidden unresolved foundations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PaperAgents package sources; MathContracts carry reuse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6464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 status and paper packaging are query-relative; contracts are the stable reuse boundary.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384280" y="6355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4/21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12280"/>
            <a:ext cx="2148840" cy="4572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024128"/>
            <a:ext cx="3474720" cy="685800"/>
          </a:xfrm>
          <a:prstGeom prst="roundRect">
            <a:avLst>
              <a:gd name="adj" fmla="val 6481"/>
            </a:avLst>
          </a:prstGeom>
          <a:solidFill>
            <a:srgbClr val="F8E4E1"/>
          </a:solidFill>
          <a:ln w="13970">
            <a:solidFill>
              <a:srgbClr val="B84A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immutable source bundle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paper, supplement, code, data, hashes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3749040" cy="685800"/>
          </a:xfrm>
          <a:prstGeom prst="roundRect">
            <a:avLst>
              <a:gd name="adj" fmla="val 6481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PaperAgent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imports + local delta + exports + blockers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" y="2816352"/>
            <a:ext cx="4937760" cy="713232"/>
          </a:xfrm>
          <a:prstGeom prst="roundRect">
            <a:avLst>
              <a:gd name="adj" fmla="val 6232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MathContract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normalized theorem, assumptions, declarations, version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719072"/>
            <a:ext cx="0" cy="155448"/>
          </a:xfrm>
          <a:prstGeom prst="line">
            <a:avLst/>
          </a:prstGeom>
          <a:noFill/>
          <a:ln w="1651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46120" y="2560320"/>
            <a:ext cx="0" cy="256032"/>
          </a:xfrm>
          <a:prstGeom prst="line">
            <a:avLst/>
          </a:prstGeom>
          <a:noFill/>
          <a:ln w="1651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310128" y="2578608"/>
            <a:ext cx="457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exports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6172200" y="1097280"/>
            <a:ext cx="521208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6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PaperAgent</a:t>
            </a: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a source-bounded provenance and interaction object.</a:t>
            </a:r>
            <a:endParaRPr lang="en-US" sz="16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Its main contribution is the paper’s </a:t>
            </a:r>
            <a:r>
              <a:rPr lang="en-US" sz="16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scientific delta</a:t>
            </a: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beyond accepted imports.</a:t>
            </a:r>
            <a:endParaRPr lang="en-US" sz="16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reusable unit is normally a claim-level </a:t>
            </a:r>
            <a:r>
              <a:rPr lang="en-US" sz="16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MathContract</a:t>
            </a: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the entire paper.</a:t>
            </a:r>
            <a:endParaRPr lang="en-US" sz="16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paper can stay a thin container until richer semantic or computational profiles are needed.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06440" y="5413248"/>
            <a:ext cx="5303520" cy="640080"/>
          </a:xfrm>
          <a:prstGeom prst="roundRect">
            <a:avLst>
              <a:gd name="adj" fmla="val 6944"/>
            </a:avLst>
          </a:prstGeom>
          <a:solidFill>
            <a:srgbClr val="EAF0FF"/>
          </a:solidFill>
          <a:ln w="13970">
            <a:solidFill>
              <a:srgbClr val="EAF0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PaperAgent = accepted imports + verified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delta.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Three graph views serve different purposes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6464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AgtXIv separates literature navigation from mathematical dependency and build scheduling.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384280" y="6355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5/21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12280"/>
            <a:ext cx="2560320" cy="4572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828800"/>
            <a:ext cx="2560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PaperInteractionGraph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788920"/>
            <a:ext cx="457200" cy="457200"/>
          </a:xfrm>
          <a:prstGeom prst="ellipse">
            <a:avLst/>
          </a:prstGeom>
          <a:solidFill>
            <a:srgbClr val="EAF0FF"/>
          </a:solidFill>
          <a:ln w="13970">
            <a:solidFill>
              <a:srgbClr val="356A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07792"/>
            <a:ext cx="457200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20240" y="2359152"/>
            <a:ext cx="502920" cy="502920"/>
          </a:xfrm>
          <a:prstGeom prst="ellipse">
            <a:avLst/>
          </a:prstGeom>
          <a:solidFill>
            <a:srgbClr val="EAF0FF"/>
          </a:solidFill>
          <a:ln w="13970">
            <a:solidFill>
              <a:srgbClr val="356A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2489911"/>
            <a:ext cx="502920" cy="2112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20240" y="3429000"/>
            <a:ext cx="502920" cy="502920"/>
          </a:xfrm>
          <a:prstGeom prst="ellipse">
            <a:avLst/>
          </a:prstGeom>
          <a:solidFill>
            <a:srgbClr val="EAF0FF"/>
          </a:solidFill>
          <a:ln w="13970">
            <a:solidFill>
              <a:srgbClr val="356A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3559759"/>
            <a:ext cx="502920" cy="2112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27248" y="2852928"/>
            <a:ext cx="502920" cy="502920"/>
          </a:xfrm>
          <a:prstGeom prst="ellipse">
            <a:avLst/>
          </a:prstGeom>
          <a:solidFill>
            <a:srgbClr val="EAF0FF"/>
          </a:solidFill>
          <a:ln w="13970">
            <a:solidFill>
              <a:srgbClr val="356A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7248" y="2983687"/>
            <a:ext cx="502920" cy="2112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V="1">
            <a:off x="1325880" y="2633472"/>
            <a:ext cx="594360" cy="365760"/>
          </a:xfrm>
          <a:prstGeom prst="line">
            <a:avLst/>
          </a:prstGeom>
          <a:noFill/>
          <a:ln w="17780">
            <a:solidFill>
              <a:srgbClr val="356AE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423160" y="2615184"/>
            <a:ext cx="704088" cy="429768"/>
          </a:xfrm>
          <a:prstGeom prst="line">
            <a:avLst/>
          </a:prstGeom>
          <a:noFill/>
          <a:ln w="17780">
            <a:solidFill>
              <a:srgbClr val="356AE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 flipH="1">
            <a:off x="2432304" y="3328416"/>
            <a:ext cx="886968" cy="347472"/>
          </a:xfrm>
          <a:prstGeom prst="line">
            <a:avLst/>
          </a:prstGeom>
          <a:noFill/>
          <a:ln w="17780">
            <a:solidFill>
              <a:srgbClr val="356AE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2432304" y="2971800"/>
            <a:ext cx="694944" cy="576072"/>
          </a:xfrm>
          <a:prstGeom prst="line">
            <a:avLst/>
          </a:prstGeom>
          <a:noFill/>
          <a:ln w="17780">
            <a:solidFill>
              <a:srgbClr val="B7791F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14400" y="4087368"/>
            <a:ext cx="2834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global, typed, directed; may contain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paper-level cycles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60520" y="1828800"/>
            <a:ext cx="3154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MathClaimDependencyDAG(q)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34840" y="2514600"/>
            <a:ext cx="914400" cy="502920"/>
          </a:xfrm>
          <a:prstGeom prst="roundRect">
            <a:avLst>
              <a:gd name="adj" fmla="val 8838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 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434840" y="3337560"/>
            <a:ext cx="914400" cy="502920"/>
          </a:xfrm>
          <a:prstGeom prst="roundRect">
            <a:avLst>
              <a:gd name="adj" fmla="val 8838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 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23560" y="2926080"/>
            <a:ext cx="1234440" cy="502920"/>
          </a:xfrm>
          <a:prstGeom prst="roundRect">
            <a:avLst>
              <a:gd name="adj" fmla="val 8838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lemma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223760" y="2926080"/>
            <a:ext cx="914400" cy="502920"/>
          </a:xfrm>
          <a:prstGeom prst="roundRect">
            <a:avLst>
              <a:gd name="adj" fmla="val 8838"/>
            </a:avLst>
          </a:prstGeom>
          <a:solidFill>
            <a:srgbClr val="EEE8F7"/>
          </a:solidFill>
          <a:ln w="13970">
            <a:solidFill>
              <a:srgbClr val="7356A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349240" y="2761488"/>
            <a:ext cx="274320" cy="301752"/>
          </a:xfrm>
          <a:prstGeom prst="line">
            <a:avLst/>
          </a:prstGeom>
          <a:noFill/>
          <a:ln w="17780">
            <a:solidFill>
              <a:srgbClr val="257A63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5349240" y="3182112"/>
            <a:ext cx="274320" cy="402336"/>
          </a:xfrm>
          <a:prstGeom prst="line">
            <a:avLst/>
          </a:prstGeom>
          <a:noFill/>
          <a:ln w="17780">
            <a:solidFill>
              <a:srgbClr val="257A63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58000" y="3182112"/>
            <a:ext cx="365760" cy="0"/>
          </a:xfrm>
          <a:prstGeom prst="line">
            <a:avLst/>
          </a:prstGeom>
          <a:noFill/>
          <a:ln w="17780">
            <a:solidFill>
              <a:srgbClr val="356AE6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480560" y="4041648"/>
            <a:ext cx="3200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 query-relative DAG of load-bearing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mathematics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732520" y="1828800"/>
            <a:ext cx="2926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PaperBuildDAG(q)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39328" y="2606040"/>
            <a:ext cx="1097280" cy="502920"/>
          </a:xfrm>
          <a:prstGeom prst="roundRect">
            <a:avLst>
              <a:gd name="adj" fmla="val 8838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 bundle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555480" y="2606040"/>
            <a:ext cx="1143000" cy="502920"/>
          </a:xfrm>
          <a:prstGeom prst="roundRect">
            <a:avLst>
              <a:gd name="adj" fmla="val 8838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intermediate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10881360" y="2606040"/>
            <a:ext cx="960120" cy="502920"/>
          </a:xfrm>
          <a:prstGeom prst="roundRect">
            <a:avLst>
              <a:gd name="adj" fmla="val 8838"/>
            </a:avLst>
          </a:prstGeom>
          <a:solidFill>
            <a:srgbClr val="EEE8F7"/>
          </a:solidFill>
          <a:ln w="13970">
            <a:solidFill>
              <a:srgbClr val="7356A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436608" y="2852928"/>
            <a:ext cx="118872" cy="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698480" y="2852928"/>
            <a:ext cx="182880" cy="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8321040" y="3337560"/>
            <a:ext cx="3474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paper projection of the claim DAG;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SCCs become CompanionBundles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063240" y="4800600"/>
            <a:ext cx="6080760" cy="292608"/>
          </a:xfrm>
          <a:prstGeom prst="roundRect">
            <a:avLst>
              <a:gd name="adj" fmla="val 15190"/>
            </a:avLst>
          </a:prstGeom>
          <a:solidFill>
            <a:srgbClr val="F8E4E1"/>
          </a:solidFill>
          <a:ln w="13970">
            <a:solidFill>
              <a:srgbClr val="F8E4E1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Do not use the unrestricted literature graph as the proof build order.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Multi-premise inference needs an explicit step node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6464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Joint-premise semantics are explicit without complicating the storage model.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384280" y="6355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6/21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12280"/>
            <a:ext cx="2971800" cy="4572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Incorrect pairwise encoding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60120" cy="530352"/>
          </a:xfrm>
          <a:prstGeom prst="roundRect">
            <a:avLst>
              <a:gd name="adj" fmla="val 8381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487168"/>
            <a:ext cx="960120" cy="530352"/>
          </a:xfrm>
          <a:prstGeom prst="roundRect">
            <a:avLst>
              <a:gd name="adj" fmla="val 8381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960120" cy="530352"/>
          </a:xfrm>
          <a:prstGeom prst="roundRect">
            <a:avLst>
              <a:gd name="adj" fmla="val 8381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0" y="2487168"/>
            <a:ext cx="1097280" cy="530352"/>
          </a:xfrm>
          <a:prstGeom prst="roundRect">
            <a:avLst>
              <a:gd name="adj" fmla="val 8381"/>
            </a:avLst>
          </a:prstGeom>
          <a:solidFill>
            <a:srgbClr val="F8E4E1"/>
          </a:solidFill>
          <a:ln w="13970">
            <a:solidFill>
              <a:srgbClr val="B84A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783080" y="1965960"/>
            <a:ext cx="1874520" cy="731520"/>
          </a:xfrm>
          <a:prstGeom prst="line">
            <a:avLst/>
          </a:prstGeom>
          <a:noFill/>
          <a:ln w="17780">
            <a:solidFill>
              <a:srgbClr val="B84A4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783080" y="2752344"/>
            <a:ext cx="1874520" cy="0"/>
          </a:xfrm>
          <a:prstGeom prst="line">
            <a:avLst/>
          </a:prstGeom>
          <a:noFill/>
          <a:ln w="17780">
            <a:solidFill>
              <a:srgbClr val="B84A4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1783080" y="2816352"/>
            <a:ext cx="1874520" cy="740664"/>
          </a:xfrm>
          <a:prstGeom prst="line">
            <a:avLst/>
          </a:prstGeom>
          <a:noFill/>
          <a:ln w="17780">
            <a:solidFill>
              <a:srgbClr val="B84A45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645920" y="4160520"/>
            <a:ext cx="3063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appears to say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that each premise separately supports 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4380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InferenceStep encoding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01968" y="1691640"/>
            <a:ext cx="960120" cy="530352"/>
          </a:xfrm>
          <a:prstGeom prst="roundRect">
            <a:avLst>
              <a:gd name="adj" fmla="val 8381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01968" y="2487168"/>
            <a:ext cx="960120" cy="530352"/>
          </a:xfrm>
          <a:prstGeom prst="roundRect">
            <a:avLst>
              <a:gd name="adj" fmla="val 8381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01968" y="3291840"/>
            <a:ext cx="960120" cy="530352"/>
          </a:xfrm>
          <a:prstGeom prst="roundRect">
            <a:avLst>
              <a:gd name="adj" fmla="val 8381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73568" y="2148840"/>
            <a:ext cx="1234440" cy="1005840"/>
          </a:xfrm>
          <a:prstGeom prst="diamond">
            <a:avLst/>
          </a:prstGeom>
          <a:solidFill>
            <a:srgbClr val="FFF1D6"/>
          </a:solidFill>
          <a:ln w="13970">
            <a:solidFill>
              <a:srgbClr val="B779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19288" y="2286000"/>
            <a:ext cx="1143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Inference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058400" y="2487168"/>
            <a:ext cx="914400" cy="530352"/>
          </a:xfrm>
          <a:prstGeom prst="roundRect">
            <a:avLst>
              <a:gd name="adj" fmla="val 8381"/>
            </a:avLst>
          </a:prstGeom>
          <a:solidFill>
            <a:srgbClr val="EEE8F7"/>
          </a:solidFill>
          <a:ln w="13970">
            <a:solidFill>
              <a:srgbClr val="7356A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562088" y="1956816"/>
            <a:ext cx="411480" cy="438912"/>
          </a:xfrm>
          <a:prstGeom prst="line">
            <a:avLst/>
          </a:prstGeom>
          <a:noFill/>
          <a:ln w="17780">
            <a:solidFill>
              <a:srgbClr val="257A6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7562088" y="2651760"/>
            <a:ext cx="411480" cy="91440"/>
          </a:xfrm>
          <a:prstGeom prst="line">
            <a:avLst/>
          </a:prstGeom>
          <a:noFill/>
          <a:ln w="17780">
            <a:solidFill>
              <a:srgbClr val="257A63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7562088" y="2907792"/>
            <a:ext cx="411480" cy="640080"/>
          </a:xfrm>
          <a:prstGeom prst="line">
            <a:avLst/>
          </a:prstGeom>
          <a:noFill/>
          <a:ln w="17780">
            <a:solidFill>
              <a:srgbClr val="257A63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08008" y="2670048"/>
            <a:ext cx="850392" cy="73152"/>
          </a:xfrm>
          <a:prstGeom prst="line">
            <a:avLst/>
          </a:prstGeom>
          <a:noFill/>
          <a:ln w="17780">
            <a:solidFill>
              <a:srgbClr val="356AE6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601968" y="4160520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preserves A ∧ B ∧ C ⇒ D in an ordinary directed graph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45920" y="5074920"/>
            <a:ext cx="8961120" cy="786384"/>
          </a:xfrm>
          <a:prstGeom prst="roundRect">
            <a:avLst>
              <a:gd name="adj" fmla="val 5652"/>
            </a:avLst>
          </a:prstGeom>
          <a:solidFill>
            <a:srgbClr val="EAF0FF"/>
          </a:solidFill>
          <a:ln w="13970">
            <a:solidFill>
              <a:srgbClr val="EAF0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pilot does not require a dedicated hypergraph database;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2832"/>
                </a:solidFill>
                <a:latin typeface="Roboto Mono" pitchFamily="49" charset="0"/>
                <a:cs typeface="Roboto Mono" pitchFamily="49" charset="0"/>
              </a:rPr>
              <a:t>InferenceStep</a:t>
            </a: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a first-class node.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first graph is deliberately only a candidate graph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6464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confidence and citation presence are retrieval signals, not verification status.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384280" y="6355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7/21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12280"/>
            <a:ext cx="3383280" cy="4572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536192"/>
            <a:ext cx="1737360" cy="621792"/>
          </a:xfrm>
          <a:prstGeom prst="roundRect">
            <a:avLst>
              <a:gd name="adj" fmla="val 7148"/>
            </a:avLst>
          </a:prstGeom>
          <a:solidFill>
            <a:srgbClr val="F8E4E1"/>
          </a:solidFill>
          <a:ln w="13970">
            <a:solidFill>
              <a:srgbClr val="B84A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 extraction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claims + relations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72968" y="1536192"/>
            <a:ext cx="1920240" cy="621792"/>
          </a:xfrm>
          <a:prstGeom prst="roundRect">
            <a:avLst>
              <a:gd name="adj" fmla="val 7148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constrained schema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typed fields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94960" y="1536192"/>
            <a:ext cx="1691640" cy="621792"/>
          </a:xfrm>
          <a:prstGeom prst="roundRect">
            <a:avLst>
              <a:gd name="adj" fmla="val 7148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grounding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exact spans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60920" y="1536192"/>
            <a:ext cx="1783080" cy="621792"/>
          </a:xfrm>
          <a:prstGeom prst="roundRect">
            <a:avLst>
              <a:gd name="adj" fmla="val 7148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relation validation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direction + role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46920" y="1536192"/>
            <a:ext cx="1691640" cy="621792"/>
          </a:xfrm>
          <a:prstGeom prst="roundRect">
            <a:avLst>
              <a:gd name="adj" fmla="val 7148"/>
            </a:avLst>
          </a:prstGeom>
          <a:solidFill>
            <a:srgbClr val="EEE8F7"/>
          </a:solidFill>
          <a:ln w="13970">
            <a:solidFill>
              <a:srgbClr val="7356A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candidate graph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accepted split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71800" y="1847088"/>
            <a:ext cx="201168" cy="0"/>
          </a:xfrm>
          <a:prstGeom prst="line">
            <a:avLst/>
          </a:prstGeom>
          <a:noFill/>
          <a:ln w="1524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93208" y="1847088"/>
            <a:ext cx="301752" cy="0"/>
          </a:xfrm>
          <a:prstGeom prst="line">
            <a:avLst/>
          </a:prstGeom>
          <a:noFill/>
          <a:ln w="1524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86600" y="1847088"/>
            <a:ext cx="274320" cy="0"/>
          </a:xfrm>
          <a:prstGeom prst="line">
            <a:avLst/>
          </a:prstGeom>
          <a:noFill/>
          <a:ln w="1524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0" y="1847088"/>
            <a:ext cx="502920" cy="0"/>
          </a:xfrm>
          <a:prstGeom prst="line">
            <a:avLst/>
          </a:prstGeom>
          <a:noFill/>
          <a:ln w="1524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2880360"/>
            <a:ext cx="4206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Candidate records preserve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3337560"/>
            <a:ext cx="466344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extractor identity and version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evidence spans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proposed relation type and direction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confidence without promotion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880360"/>
            <a:ext cx="4114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Only validation may promote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3337560"/>
            <a:ext cx="457200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candidate → accepted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candidate → rejected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wrong direction / wrong relation type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ambiguous edges remain outside the build DAG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Verification proceeds backward, then builds forward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6464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Backward archaeology and forward verification are complementary, not competing workflows.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384280" y="6355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8/21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12280"/>
            <a:ext cx="3794760" cy="4572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356AE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BACKWARD PASS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77240" y="2029968"/>
            <a:ext cx="2788920" cy="548640"/>
          </a:xfrm>
          <a:prstGeom prst="roundRect">
            <a:avLst>
              <a:gd name="adj" fmla="val 8101"/>
            </a:avLst>
          </a:prstGeom>
          <a:solidFill>
            <a:srgbClr val="EEE8F7"/>
          </a:solidFill>
          <a:ln w="13970">
            <a:solidFill>
              <a:srgbClr val="7356A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claim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2788920" cy="548640"/>
          </a:xfrm>
          <a:prstGeom prst="roundRect">
            <a:avLst>
              <a:gd name="adj" fmla="val 8101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local support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547872"/>
            <a:ext cx="2788920" cy="548640"/>
          </a:xfrm>
          <a:prstGeom prst="roundRect">
            <a:avLst>
              <a:gd name="adj" fmla="val 8101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imported premises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315968"/>
            <a:ext cx="2788920" cy="548640"/>
          </a:xfrm>
          <a:prstGeom prst="roundRect">
            <a:avLst>
              <a:gd name="adj" fmla="val 8101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 contracts / roots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76272" y="2578608"/>
            <a:ext cx="0" cy="210312"/>
          </a:xfrm>
          <a:prstGeom prst="line">
            <a:avLst/>
          </a:prstGeom>
          <a:noFill/>
          <a:ln w="17780">
            <a:solidFill>
              <a:srgbClr val="B7791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377440" y="2615184"/>
            <a:ext cx="1234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dependency archaeology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2176272" y="3337560"/>
            <a:ext cx="0" cy="210312"/>
          </a:xfrm>
          <a:prstGeom prst="line">
            <a:avLst/>
          </a:prstGeom>
          <a:noFill/>
          <a:ln w="17780">
            <a:solidFill>
              <a:srgbClr val="B7791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176272" y="4096512"/>
            <a:ext cx="0" cy="219456"/>
          </a:xfrm>
          <a:prstGeom prst="line">
            <a:avLst/>
          </a:prstGeom>
          <a:noFill/>
          <a:ln w="17780">
            <a:solidFill>
              <a:srgbClr val="B7791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5074920"/>
            <a:ext cx="42976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the exact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load-bearing claims and the first unresolved frontier.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356AE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FORWARD PASS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263640" y="2029968"/>
            <a:ext cx="2788920" cy="548640"/>
          </a:xfrm>
          <a:prstGeom prst="roundRect">
            <a:avLst>
              <a:gd name="adj" fmla="val 8101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verified root exports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2788920"/>
            <a:ext cx="2788920" cy="548640"/>
          </a:xfrm>
          <a:prstGeom prst="roundRect">
            <a:avLst>
              <a:gd name="adj" fmla="val 8101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intermediate local delta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3547872"/>
            <a:ext cx="2788920" cy="548640"/>
          </a:xfrm>
          <a:prstGeom prst="roundRect">
            <a:avLst>
              <a:gd name="adj" fmla="val 8101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local delta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4315968"/>
            <a:ext cx="2788920" cy="548640"/>
          </a:xfrm>
          <a:prstGeom prst="roundRect">
            <a:avLst>
              <a:gd name="adj" fmla="val 8101"/>
            </a:avLst>
          </a:prstGeom>
          <a:solidFill>
            <a:srgbClr val="EEE8F7"/>
          </a:solidFill>
          <a:ln w="13970">
            <a:solidFill>
              <a:srgbClr val="7356A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versioned target export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62672" y="2578608"/>
            <a:ext cx="0" cy="210312"/>
          </a:xfrm>
          <a:prstGeom prst="line">
            <a:avLst/>
          </a:prstGeom>
          <a:noFill/>
          <a:ln w="17780">
            <a:solidFill>
              <a:srgbClr val="257A63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863840" y="2615184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incremental build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7662672" y="3337560"/>
            <a:ext cx="0" cy="210312"/>
          </a:xfrm>
          <a:prstGeom prst="line">
            <a:avLst/>
          </a:prstGeom>
          <a:noFill/>
          <a:ln w="17780">
            <a:solidFill>
              <a:srgbClr val="257A63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662672" y="4096512"/>
            <a:ext cx="0" cy="219456"/>
          </a:xfrm>
          <a:prstGeom prst="line">
            <a:avLst/>
          </a:prstGeom>
          <a:noFill/>
          <a:ln w="17780">
            <a:solidFill>
              <a:srgbClr val="257A63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9144000" y="4663440"/>
            <a:ext cx="2468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Prove only the residual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delta and reuse accepted contracts.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 small set of typed records carries the system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6464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registry separates identity, provenance, formal content, checks, repairs, and query receipts.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384280" y="6355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9/21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12280"/>
            <a:ext cx="4206240" cy="4572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207008"/>
            <a:ext cx="2011680" cy="658368"/>
          </a:xfrm>
          <a:prstGeom prst="roundRect">
            <a:avLst>
              <a:gd name="adj" fmla="val 6751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SourceAnchor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immutable location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0" y="1207008"/>
            <a:ext cx="2331720" cy="658368"/>
          </a:xfrm>
          <a:prstGeom prst="roundRect">
            <a:avLst>
              <a:gd name="adj" fmla="val 6751"/>
            </a:avLst>
          </a:prstGeom>
          <a:solidFill>
            <a:srgbClr val="EEE8F7"/>
          </a:solidFill>
          <a:ln w="13970">
            <a:solidFill>
              <a:srgbClr val="7356A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ScientificClaim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atomic cross-profile identity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69480" y="1207008"/>
            <a:ext cx="2514600" cy="658368"/>
          </a:xfrm>
          <a:prstGeom prst="roundRect">
            <a:avLst>
              <a:gd name="adj" fmla="val 6751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MathClaimIR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formal boundary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1536192"/>
            <a:ext cx="91440" cy="0"/>
          </a:xfrm>
          <a:prstGeom prst="line">
            <a:avLst/>
          </a:prstGeom>
          <a:noFill/>
          <a:ln w="17780">
            <a:solidFill>
              <a:srgbClr val="356AE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903720" y="1536192"/>
            <a:ext cx="365760" cy="0"/>
          </a:xfrm>
          <a:prstGeom prst="line">
            <a:avLst/>
          </a:prstGeom>
          <a:noFill/>
          <a:ln w="17780">
            <a:solidFill>
              <a:srgbClr val="257A63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697480" y="2423160"/>
            <a:ext cx="2194560" cy="658368"/>
          </a:xfrm>
          <a:prstGeom prst="roundRect">
            <a:avLst>
              <a:gd name="adj" fmla="val 6751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MathContract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reusable theorem package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0" y="2423160"/>
            <a:ext cx="2377440" cy="658368"/>
          </a:xfrm>
          <a:prstGeom prst="roundRect">
            <a:avLst>
              <a:gd name="adj" fmla="val 6751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InferenceStep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inspectable transformation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 flipH="1">
            <a:off x="3794760" y="1865376"/>
            <a:ext cx="1417320" cy="557784"/>
          </a:xfrm>
          <a:prstGeom prst="line">
            <a:avLst/>
          </a:prstGeom>
          <a:noFill/>
          <a:ln w="17780">
            <a:solidFill>
              <a:srgbClr val="257A6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72200" y="1865376"/>
            <a:ext cx="1920240" cy="557784"/>
          </a:xfrm>
          <a:prstGeom prst="line">
            <a:avLst/>
          </a:prstGeom>
          <a:noFill/>
          <a:ln w="17780">
            <a:solidFill>
              <a:srgbClr val="B7791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645920" y="3584448"/>
            <a:ext cx="2834640" cy="658368"/>
          </a:xfrm>
          <a:prstGeom prst="roundRect">
            <a:avLst>
              <a:gd name="adj" fmla="val 6751"/>
            </a:avLst>
          </a:prstGeom>
          <a:solidFill>
            <a:srgbClr val="EEE8F7"/>
          </a:solidFill>
          <a:ln w="13970">
            <a:solidFill>
              <a:srgbClr val="7356A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SemanticContract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+ assumptions + evidence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3584448"/>
            <a:ext cx="2331720" cy="658368"/>
          </a:xfrm>
          <a:prstGeom prst="roundRect">
            <a:avLst>
              <a:gd name="adj" fmla="val 6751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VerificationRecord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scoped check + evidence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06640" y="3584448"/>
            <a:ext cx="2788920" cy="658368"/>
          </a:xfrm>
          <a:prstGeom prst="roundRect">
            <a:avLst>
              <a:gd name="adj" fmla="val 6751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GraphRepairRecord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failure-driven graph change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92040" y="2743200"/>
            <a:ext cx="320040" cy="841248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7178040" y="3081528"/>
            <a:ext cx="731520" cy="50292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754880" y="4892040"/>
            <a:ext cx="2926080" cy="713232"/>
          </a:xfrm>
          <a:prstGeom prst="roundRect">
            <a:avLst>
              <a:gd name="adj" fmla="val 6232"/>
            </a:avLst>
          </a:prstGeom>
          <a:solidFill>
            <a:srgbClr val="F8E4E1"/>
          </a:solidFill>
          <a:ln w="13970">
            <a:solidFill>
              <a:srgbClr val="B84A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QueryResolution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closure + frontier + local delta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63240" y="4242816"/>
            <a:ext cx="1965960" cy="649224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16752" y="4242816"/>
            <a:ext cx="0" cy="649224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6949440" y="4242816"/>
            <a:ext cx="1847088" cy="649224"/>
          </a:xfrm>
          <a:prstGeom prst="line">
            <a:avLst/>
          </a:prstGeom>
          <a:noFill/>
          <a:ln w="17780">
            <a:solidFill>
              <a:srgbClr val="B7791F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MathClaimIR is the bridge from source mathematics to Lean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6464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MathClaimIR prevents notational collapse, object-type drift, and hidden assumptions.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384280" y="6355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10/21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12280"/>
            <a:ext cx="4617720" cy="4572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3246120" cy="713232"/>
          </a:xfrm>
          <a:prstGeom prst="roundRect">
            <a:avLst>
              <a:gd name="adj" fmla="val 6232"/>
            </a:avLst>
          </a:prstGeom>
          <a:solidFill>
            <a:srgbClr val="F8E4E1"/>
          </a:solidFill>
          <a:ln w="13970">
            <a:solidFill>
              <a:srgbClr val="B84A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frozen source claim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prose, notation, inherited context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04872"/>
            <a:ext cx="3246120" cy="713232"/>
          </a:xfrm>
          <a:prstGeom prst="roundRect">
            <a:avLst>
              <a:gd name="adj" fmla="val 6232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MathClaimIR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explicit mathematical interface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3246120" cy="713232"/>
          </a:xfrm>
          <a:prstGeom prst="roundRect">
            <a:avLst>
              <a:gd name="adj" fmla="val 6232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Lean declaration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exact types and hypotheses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04872" y="2176272"/>
            <a:ext cx="0" cy="22860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04872" y="3108960"/>
            <a:ext cx="0" cy="22860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77240" y="4206240"/>
            <a:ext cx="42519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IR is generated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proof search and survives as an auditable alignment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1389888"/>
            <a:ext cx="1645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Field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9244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Purpose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97880" y="1316736"/>
            <a:ext cx="5166360" cy="0"/>
          </a:xfrm>
          <a:prstGeom prst="line">
            <a:avLst/>
          </a:prstGeom>
          <a:noFill/>
          <a:ln w="13970">
            <a:solidFill>
              <a:srgbClr val="24283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897880" y="1755648"/>
            <a:ext cx="5166360" cy="0"/>
          </a:xfrm>
          <a:prstGeom prst="line">
            <a:avLst/>
          </a:prstGeom>
          <a:noFill/>
          <a:ln w="10160">
            <a:solidFill>
              <a:srgbClr val="24283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897880" y="4553712"/>
            <a:ext cx="5166360" cy="0"/>
          </a:xfrm>
          <a:prstGeom prst="line">
            <a:avLst/>
          </a:prstGeom>
          <a:noFill/>
          <a:ln w="13970">
            <a:solidFill>
              <a:srgbClr val="242832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5897880" y="1901952"/>
            <a:ext cx="173736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quantifiers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 types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carriers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assumptions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exactness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anchors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92440" y="1901952"/>
            <a:ext cx="30632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preserve scope and logical form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distinguish states, operators, scalars, graphs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record spaces, domains, codomains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expose inherited and local hypotheses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exact, approximate, or asymptotic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normalized target proposition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every formal boundary to text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3566160" y="5321808"/>
            <a:ext cx="5120640" cy="310896"/>
          </a:xfrm>
          <a:prstGeom prst="roundRect">
            <a:avLst>
              <a:gd name="adj" fmla="val 14297"/>
            </a:avLst>
          </a:prstGeom>
          <a:solidFill>
            <a:srgbClr val="F8E4E1"/>
          </a:solidFill>
          <a:ln w="13970">
            <a:solidFill>
              <a:srgbClr val="F8E4E1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MathClaimIR is mandatory for accepted formal exports.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automated formalization loop has independent checks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6464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Source-blind backtranslation reveals what the Lean declaration actually says.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384280" y="6355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11/21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12280"/>
            <a:ext cx="5029200" cy="4572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572768"/>
            <a:ext cx="1325880" cy="594360"/>
          </a:xfrm>
          <a:prstGeom prst="roundRect">
            <a:avLst>
              <a:gd name="adj" fmla="val 7478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MathClaimIR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88920" y="1572768"/>
            <a:ext cx="1783080" cy="594360"/>
          </a:xfrm>
          <a:prstGeom prst="roundRect">
            <a:avLst>
              <a:gd name="adj" fmla="val 7478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package / contract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00600" y="1572768"/>
            <a:ext cx="1417320" cy="594360"/>
          </a:xfrm>
          <a:prstGeom prst="roundRect">
            <a:avLst>
              <a:gd name="adj" fmla="val 7478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Formalizer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Blueprint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46520" y="1572768"/>
            <a:ext cx="1325880" cy="594360"/>
          </a:xfrm>
          <a:prstGeom prst="roundRect">
            <a:avLst>
              <a:gd name="adj" fmla="val 7478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Lean kernel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074152" y="1572768"/>
            <a:ext cx="1444752" cy="594360"/>
          </a:xfrm>
          <a:prstGeom prst="roundRect">
            <a:avLst>
              <a:gd name="adj" fmla="val 7478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source-blind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Backtranslator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948672" y="1572768"/>
            <a:ext cx="1417320" cy="594360"/>
          </a:xfrm>
          <a:prstGeom prst="roundRect">
            <a:avLst>
              <a:gd name="adj" fmla="val 7478"/>
            </a:avLst>
          </a:prstGeom>
          <a:solidFill>
            <a:srgbClr val="EEE8F7"/>
          </a:solidFill>
          <a:ln w="13970">
            <a:solidFill>
              <a:srgbClr val="7356A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Alignment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68880" y="1865376"/>
            <a:ext cx="320040" cy="0"/>
          </a:xfrm>
          <a:prstGeom prst="line">
            <a:avLst/>
          </a:prstGeom>
          <a:noFill/>
          <a:ln w="1524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0" y="1865376"/>
            <a:ext cx="228600" cy="0"/>
          </a:xfrm>
          <a:prstGeom prst="line">
            <a:avLst/>
          </a:prstGeom>
          <a:noFill/>
          <a:ln w="1524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1865376"/>
            <a:ext cx="228600" cy="0"/>
          </a:xfrm>
          <a:prstGeom prst="line">
            <a:avLst/>
          </a:prstGeom>
          <a:noFill/>
          <a:ln w="15240">
            <a:solidFill>
              <a:srgbClr val="257A6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72400" y="1865376"/>
            <a:ext cx="301752" cy="0"/>
          </a:xfrm>
          <a:prstGeom prst="line">
            <a:avLst/>
          </a:prstGeom>
          <a:noFill/>
          <a:ln w="15240">
            <a:solidFill>
              <a:srgbClr val="B7791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518904" y="1865376"/>
            <a:ext cx="429768" cy="0"/>
          </a:xfrm>
          <a:prstGeom prst="line">
            <a:avLst/>
          </a:prstGeom>
          <a:noFill/>
          <a:ln w="1524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77240" y="2788920"/>
            <a:ext cx="4114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Kernel and dependency audit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3246120"/>
            <a:ext cx="466344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elaboration and compilation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</a:t>
            </a:r>
            <a:r>
              <a:rPr lang="en-US" sz="1400" dirty="0">
                <a:solidFill>
                  <a:srgbClr val="242832"/>
                </a:solidFill>
                <a:latin typeface="Roboto Mono" pitchFamily="49" charset="0"/>
                <a:cs typeface="Roboto Mono" pitchFamily="49" charset="0"/>
              </a:rPr>
              <a:t>sorry</a:t>
            </a: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/ </a:t>
            </a:r>
            <a:r>
              <a:rPr lang="en-US" sz="1400" dirty="0">
                <a:solidFill>
                  <a:srgbClr val="242832"/>
                </a:solidFill>
                <a:latin typeface="Roboto Mono" pitchFamily="49" charset="0"/>
                <a:cs typeface="Roboto Mono" pitchFamily="49" charset="0"/>
              </a:rPr>
              <a:t>admit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declared and actual imports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400" dirty="0">
                <a:solidFill>
                  <a:srgbClr val="242832"/>
                </a:solidFill>
                <a:latin typeface="Roboto Mono" pitchFamily="49" charset="0"/>
                <a:cs typeface="Roboto Mono" pitchFamily="49" charset="0"/>
              </a:rPr>
              <a:t>#print</a:t>
            </a: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axioms and environment hashes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2788920"/>
            <a:ext cx="3657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Alignment audit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3246120"/>
            <a:ext cx="484632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quantifiers and object types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domains, assumptions, and definitions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exact vs approximate; finite vs asymptotic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 strength and excluded cases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Round-trip stability is evidence, not source fidelity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6464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AgtXIv treats formal correctness and source-to-formal semantic alignment as separate gates.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384280" y="6355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12/21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12280"/>
            <a:ext cx="5440680" cy="4572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356AE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 STABLE BUT WRONG LOOP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3200400" cy="566928"/>
          </a:xfrm>
          <a:prstGeom prst="roundRect">
            <a:avLst>
              <a:gd name="adj" fmla="val 7840"/>
            </a:avLst>
          </a:prstGeom>
          <a:solidFill>
            <a:srgbClr val="F8E4E1"/>
          </a:solidFill>
          <a:ln w="13970">
            <a:solidFill>
              <a:srgbClr val="B84A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source: operator on a Hilbert space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670048"/>
            <a:ext cx="3200400" cy="566928"/>
          </a:xfrm>
          <a:prstGeom prst="roundRect">
            <a:avLst>
              <a:gd name="adj" fmla="val 7840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formalization: complex scalar identity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456432"/>
            <a:ext cx="3200400" cy="566928"/>
          </a:xfrm>
          <a:prstGeom prst="roundRect">
            <a:avLst>
              <a:gd name="adj" fmla="val 7840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backtranslation: same scalar identity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251960"/>
            <a:ext cx="3200400" cy="566928"/>
          </a:xfrm>
          <a:prstGeom prst="roundRect">
            <a:avLst>
              <a:gd name="adj" fmla="val 7840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formal round-trip is consistent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2441448"/>
            <a:ext cx="0" cy="228600"/>
          </a:xfrm>
          <a:prstGeom prst="line">
            <a:avLst/>
          </a:prstGeom>
          <a:noFill/>
          <a:ln w="17780">
            <a:solidFill>
              <a:srgbClr val="B84A45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670048" y="2505456"/>
            <a:ext cx="1234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semantic collapse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2468880" y="3236976"/>
            <a:ext cx="0" cy="219456"/>
          </a:xfrm>
          <a:prstGeom prst="line">
            <a:avLst/>
          </a:prstGeom>
          <a:noFill/>
          <a:ln w="17780">
            <a:solidFill>
              <a:srgbClr val="B7791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68880" y="4023360"/>
            <a:ext cx="0" cy="228600"/>
          </a:xfrm>
          <a:prstGeom prst="line">
            <a:avLst/>
          </a:prstGeom>
          <a:noFill/>
          <a:ln w="17780">
            <a:solidFill>
              <a:srgbClr val="257A6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263640" y="1536192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356AE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REQUIRED COMPARISON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6263640" y="1874520"/>
            <a:ext cx="3063240" cy="45720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3970">
            <a:solidFill>
              <a:srgbClr val="DD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frozen source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63640" y="2542032"/>
            <a:ext cx="3063240" cy="45720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3970">
            <a:solidFill>
              <a:srgbClr val="DD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normalized MathClaimIR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63640" y="3218688"/>
            <a:ext cx="3063240" cy="45720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3970">
            <a:solidFill>
              <a:srgbClr val="DD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Lean declaration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63640" y="3886200"/>
            <a:ext cx="3063240" cy="45720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3970">
            <a:solidFill>
              <a:srgbClr val="DDE2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source-blind reconstructed IR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90688" y="2331720"/>
            <a:ext cx="0" cy="210312"/>
          </a:xfrm>
          <a:prstGeom prst="line">
            <a:avLst/>
          </a:prstGeom>
          <a:noFill/>
          <a:ln w="13970">
            <a:solidFill>
              <a:srgbClr val="356AE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90688" y="2999232"/>
            <a:ext cx="0" cy="219456"/>
          </a:xfrm>
          <a:prstGeom prst="line">
            <a:avLst/>
          </a:prstGeom>
          <a:noFill/>
          <a:ln w="13970">
            <a:solidFill>
              <a:srgbClr val="356AE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790688" y="3675888"/>
            <a:ext cx="0" cy="210312"/>
          </a:xfrm>
          <a:prstGeom prst="line">
            <a:avLst/>
          </a:prstGeom>
          <a:noFill/>
          <a:ln w="13970">
            <a:solidFill>
              <a:srgbClr val="356AE6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9418320" y="3886200"/>
            <a:ext cx="22860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Auditor compares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four representations structurally; compilation alone is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insufficient.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Verification failure locally refines the graph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6464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refines only the affected local region; detailed diagnostics remain tags.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384280" y="6355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13/21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12280"/>
            <a:ext cx="5852160" cy="4572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2103120" cy="713232"/>
          </a:xfrm>
          <a:prstGeom prst="roundRect">
            <a:avLst>
              <a:gd name="adj" fmla="val 6232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G₀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shallow candidate DAG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46120" y="1874520"/>
            <a:ext cx="1600200" cy="713232"/>
          </a:xfrm>
          <a:prstGeom prst="roundRect">
            <a:avLst>
              <a:gd name="adj" fmla="val 6232"/>
            </a:avLst>
          </a:prstGeom>
          <a:solidFill>
            <a:srgbClr val="F8E4E1"/>
          </a:solidFill>
          <a:ln w="13970">
            <a:solidFill>
              <a:srgbClr val="B84A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verification failure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blocked frontier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12080" y="1874520"/>
            <a:ext cx="1600200" cy="713232"/>
          </a:xfrm>
          <a:prstGeom prst="roundRect">
            <a:avLst>
              <a:gd name="adj" fmla="val 6232"/>
            </a:avLst>
          </a:prstGeom>
          <a:solidFill>
            <a:srgbClr val="EEE8F7"/>
          </a:solidFill>
          <a:ln w="13970">
            <a:solidFill>
              <a:srgbClr val="7356A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diagnose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failure class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78040" y="1874520"/>
            <a:ext cx="2057400" cy="713232"/>
          </a:xfrm>
          <a:prstGeom prst="roundRect">
            <a:avLst>
              <a:gd name="adj" fmla="val 6232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repair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 / rewire / block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555480" y="1874520"/>
            <a:ext cx="1920240" cy="713232"/>
          </a:xfrm>
          <a:prstGeom prst="roundRect">
            <a:avLst>
              <a:gd name="adj" fmla="val 6232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recomputed closure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80360" y="2231136"/>
            <a:ext cx="365760" cy="0"/>
          </a:xfrm>
          <a:prstGeom prst="line">
            <a:avLst/>
          </a:prstGeom>
          <a:noFill/>
          <a:ln w="15240">
            <a:solidFill>
              <a:srgbClr val="B84A4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46320" y="2231136"/>
            <a:ext cx="365760" cy="0"/>
          </a:xfrm>
          <a:prstGeom prst="line">
            <a:avLst/>
          </a:prstGeom>
          <a:noFill/>
          <a:ln w="1524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12280" y="2231136"/>
            <a:ext cx="365760" cy="0"/>
          </a:xfrm>
          <a:prstGeom prst="line">
            <a:avLst/>
          </a:prstGeom>
          <a:noFill/>
          <a:ln w="15240">
            <a:solidFill>
              <a:srgbClr val="356AE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235440" y="2231136"/>
            <a:ext cx="320040" cy="0"/>
          </a:xfrm>
          <a:prstGeom prst="line">
            <a:avLst/>
          </a:prstGeom>
          <a:noFill/>
          <a:ln w="15240">
            <a:solidFill>
              <a:srgbClr val="257A6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 flipH="1" flipV="1">
            <a:off x="7863840" y="1508760"/>
            <a:ext cx="2148840" cy="347472"/>
          </a:xfrm>
          <a:prstGeom prst="line">
            <a:avLst/>
          </a:prstGeom>
          <a:noFill/>
          <a:ln w="15240">
            <a:solidFill>
              <a:srgbClr val="B7791F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H="1">
            <a:off x="5852160" y="1508760"/>
            <a:ext cx="2011680" cy="365760"/>
          </a:xfrm>
          <a:prstGeom prst="line">
            <a:avLst/>
          </a:prstGeom>
          <a:noFill/>
          <a:ln w="15240">
            <a:solidFill>
              <a:srgbClr val="B7791F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309360" y="2724912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7791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repeat only at the new frontier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417320" y="3977640"/>
            <a:ext cx="2240280" cy="292608"/>
          </a:xfrm>
          <a:prstGeom prst="roundRect">
            <a:avLst>
              <a:gd name="adj" fmla="val 15190"/>
            </a:avLst>
          </a:prstGeom>
          <a:solidFill>
            <a:srgbClr val="FFF1D6"/>
          </a:solidFill>
          <a:ln w="13970">
            <a:solidFill>
              <a:srgbClr val="FFF1D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LOCAL_BUILD_FAILURE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4434840"/>
            <a:ext cx="3200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lemma, bridge, unfolding,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premise retrieval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83080" y="5321808"/>
            <a:ext cx="1508760" cy="292608"/>
          </a:xfrm>
          <a:prstGeom prst="roundRect">
            <a:avLst>
              <a:gd name="adj" fmla="val 15190"/>
            </a:avLst>
          </a:prstGeom>
          <a:solidFill>
            <a:srgbClr val="EAF0FF"/>
          </a:solidFill>
          <a:ln w="13970">
            <a:solidFill>
              <a:srgbClr val="EAF0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EXPAND_LOCAL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56048" y="3977640"/>
            <a:ext cx="1965960" cy="292608"/>
          </a:xfrm>
          <a:prstGeom prst="roundRect">
            <a:avLst>
              <a:gd name="adj" fmla="val 15190"/>
            </a:avLst>
          </a:prstGeom>
          <a:solidFill>
            <a:srgbClr val="F8E4E1"/>
          </a:solidFill>
          <a:ln w="13970">
            <a:solidFill>
              <a:srgbClr val="F8E4E1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ALIGNMENT_FAILURE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43400" y="4434840"/>
            <a:ext cx="3200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wrong object, lost assumption, scope 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exactness drift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5321808"/>
            <a:ext cx="1874520" cy="292608"/>
          </a:xfrm>
          <a:prstGeom prst="roundRect">
            <a:avLst>
              <a:gd name="adj" fmla="val 15190"/>
            </a:avLst>
          </a:prstGeom>
          <a:solidFill>
            <a:srgbClr val="EEE8F7"/>
          </a:solidFill>
          <a:ln w="13970">
            <a:solidFill>
              <a:srgbClr val="EEE8F7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REWIRE_OR_RESCOPE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93608" y="3977640"/>
            <a:ext cx="2743200" cy="292608"/>
          </a:xfrm>
          <a:prstGeom prst="roundRect">
            <a:avLst>
              <a:gd name="adj" fmla="val 15190"/>
            </a:avLst>
          </a:prstGeom>
          <a:solidFill>
            <a:srgbClr val="FFF1D6"/>
          </a:solidFill>
          <a:ln w="13970">
            <a:solidFill>
              <a:srgbClr val="FFF1D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SOURCE_OR_FOUNDATION_GAP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0" y="4434840"/>
            <a:ext cx="32918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unsupported import, missing source step,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possible counterexample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32520" y="5321808"/>
            <a:ext cx="1828800" cy="292608"/>
          </a:xfrm>
          <a:prstGeom prst="roundRect">
            <a:avLst>
              <a:gd name="adj" fmla="val 15190"/>
            </a:avLst>
          </a:prstGeom>
          <a:solidFill>
            <a:srgbClr val="F8E4E1"/>
          </a:solidFill>
          <a:ln w="13970">
            <a:solidFill>
              <a:srgbClr val="F8E4E1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ESCALATE_OR_BLOCK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Search contracts and packages before creating another Root Agent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6464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goal is a small paper-specific bridge on top of reusable formal infrastructure.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384280" y="6355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14/21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12280"/>
            <a:ext cx="6263640" cy="4572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1783080" cy="566928"/>
          </a:xfrm>
          <a:prstGeom prst="roundRect">
            <a:avLst>
              <a:gd name="adj" fmla="val 7840"/>
            </a:avLst>
          </a:prstGeom>
          <a:solidFill>
            <a:srgbClr val="EEE8F7"/>
          </a:solidFill>
          <a:ln w="13970">
            <a:solidFill>
              <a:srgbClr val="7356A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unresolved claim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0" y="1554480"/>
            <a:ext cx="1783080" cy="566928"/>
          </a:xfrm>
          <a:prstGeom prst="roundRect">
            <a:avLst>
              <a:gd name="adj" fmla="val 7840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accepted contract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1828800" cy="566928"/>
          </a:xfrm>
          <a:prstGeom prst="roundRect">
            <a:avLst>
              <a:gd name="adj" fmla="val 7840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Mathlib / domain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package search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903720" y="1554480"/>
            <a:ext cx="1600200" cy="566928"/>
          </a:xfrm>
          <a:prstGeom prst="roundRect">
            <a:avLst>
              <a:gd name="adj" fmla="val 7840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exact reuse 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 local bridge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235440" y="1554480"/>
            <a:ext cx="2331720" cy="566928"/>
          </a:xfrm>
          <a:prstGeom prst="roundRect">
            <a:avLst>
              <a:gd name="adj" fmla="val 7840"/>
            </a:avLst>
          </a:prstGeom>
          <a:solidFill>
            <a:srgbClr val="F8E4E1"/>
          </a:solidFill>
          <a:ln w="13970">
            <a:solidFill>
              <a:srgbClr val="B84A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 Agent only if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archaeology remains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0" y="1837944"/>
            <a:ext cx="182880" cy="0"/>
          </a:xfrm>
          <a:prstGeom prst="line">
            <a:avLst/>
          </a:prstGeom>
          <a:noFill/>
          <a:ln w="1524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26280" y="1837944"/>
            <a:ext cx="320040" cy="0"/>
          </a:xfrm>
          <a:prstGeom prst="line">
            <a:avLst/>
          </a:prstGeom>
          <a:noFill/>
          <a:ln w="1524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675120" y="1837944"/>
            <a:ext cx="228600" cy="0"/>
          </a:xfrm>
          <a:prstGeom prst="line">
            <a:avLst/>
          </a:prstGeom>
          <a:noFill/>
          <a:ln w="1524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03920" y="1837944"/>
            <a:ext cx="731520" cy="0"/>
          </a:xfrm>
          <a:prstGeom prst="line">
            <a:avLst/>
          </a:prstGeom>
          <a:noFill/>
          <a:ln w="1524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2788920"/>
            <a:ext cx="32004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Package routing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246120"/>
            <a:ext cx="457200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coarse physics and mathematics tags</a:t>
            </a:r>
            <a:endParaRPr lang="en-US" sz="16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exact object and type-shape matching</a:t>
            </a:r>
            <a:endParaRPr lang="en-US" sz="16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pinned version and trust tier</a:t>
            </a:r>
            <a:endParaRPr lang="en-US" sz="16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tested declaration compatibility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2788920"/>
            <a:ext cx="32004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Root selection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0840" y="3246120"/>
            <a:ext cx="4480560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query-relative, not universally foundational</a:t>
            </a:r>
            <a:endParaRPr lang="en-US" sz="16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 export is explicit</a:t>
            </a:r>
            <a:endParaRPr lang="en-US" sz="16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stop reason is recorded</a:t>
            </a:r>
            <a:endParaRPr lang="en-US" sz="16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 status never makes a claim automatically true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Semantics and computation remain connected but distinct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6464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Natural-language accessibility does not imply identical verification semantics.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384280" y="6355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15/21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12280"/>
            <a:ext cx="6675120" cy="4572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08760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356AE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SEMANTICCONTRACT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3566160" cy="548640"/>
          </a:xfrm>
          <a:prstGeom prst="roundRect">
            <a:avLst>
              <a:gd name="adj" fmla="val 8101"/>
            </a:avLst>
          </a:prstGeom>
          <a:solidFill>
            <a:srgbClr val="EEE8F7"/>
          </a:solidFill>
          <a:ln w="13970">
            <a:solidFill>
              <a:srgbClr val="7356A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 system + modeled objects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3566160" cy="548640"/>
          </a:xfrm>
          <a:prstGeom prst="roundRect">
            <a:avLst>
              <a:gd name="adj" fmla="val 8101"/>
            </a:avLst>
          </a:prstGeom>
          <a:solidFill>
            <a:srgbClr val="EEE8F7"/>
          </a:solidFill>
          <a:ln w="13970">
            <a:solidFill>
              <a:srgbClr val="7356A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paper object ↔ mathematical object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337560"/>
            <a:ext cx="3566160" cy="548640"/>
          </a:xfrm>
          <a:prstGeom prst="roundRect">
            <a:avLst>
              <a:gd name="adj" fmla="val 8101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assumptions + approximation regimes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069080"/>
            <a:ext cx="3566160" cy="548640"/>
          </a:xfrm>
          <a:prstGeom prst="roundRect">
            <a:avLst>
              <a:gd name="adj" fmla="val 8101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records linked to exact scope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2423160"/>
            <a:ext cx="0" cy="18288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60320" y="3154680"/>
            <a:ext cx="0" cy="18288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60320" y="3886200"/>
            <a:ext cx="0" cy="18288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77240" y="4773168"/>
            <a:ext cx="47548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object, but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separate status axes: semantic alignment, approximation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regime, empirical support.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1508760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356AE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REPRODUCTIONRECORD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6949440" y="1874520"/>
            <a:ext cx="3200400" cy="548640"/>
          </a:xfrm>
          <a:prstGeom prst="roundRect">
            <a:avLst>
              <a:gd name="adj" fmla="val 8101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 + data + commit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2606040"/>
            <a:ext cx="3200400" cy="548640"/>
          </a:xfrm>
          <a:prstGeom prst="roundRect">
            <a:avLst>
              <a:gd name="adj" fmla="val 8101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environment + parameters + seed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3337560"/>
            <a:ext cx="3200400" cy="548640"/>
          </a:xfrm>
          <a:prstGeom prst="roundRect">
            <a:avLst>
              <a:gd name="adj" fmla="val 8101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reported vs reproduced output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4069080"/>
            <a:ext cx="3886200" cy="548640"/>
          </a:xfrm>
          <a:prstGeom prst="roundRect">
            <a:avLst>
              <a:gd name="adj" fmla="val 8101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role: illustrative / supporting / load-bearing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49640" y="2423160"/>
            <a:ext cx="0" cy="18288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49640" y="3154680"/>
            <a:ext cx="0" cy="18288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49640" y="3886200"/>
            <a:ext cx="0" cy="18288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0561320" y="4224528"/>
            <a:ext cx="13258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Numerical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reproduction is claim-attached; the pilot does not require 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computational DAG or Lean-verified software.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 claim has a verification vector, not one Boolean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6464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review and human review remain explicitly different states.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384280" y="6355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16/21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12280"/>
            <a:ext cx="7086600" cy="4572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72768" y="1234440"/>
            <a:ext cx="9171432" cy="0"/>
          </a:xfrm>
          <a:prstGeom prst="line">
            <a:avLst/>
          </a:prstGeom>
          <a:noFill/>
          <a:ln w="13970">
            <a:solidFill>
              <a:srgbClr val="24283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572768" y="1783080"/>
            <a:ext cx="9171432" cy="0"/>
          </a:xfrm>
          <a:prstGeom prst="line">
            <a:avLst/>
          </a:prstGeom>
          <a:noFill/>
          <a:ln w="10160">
            <a:solidFill>
              <a:srgbClr val="24283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572768" y="4864608"/>
            <a:ext cx="9171432" cy="0"/>
          </a:xfrm>
          <a:prstGeom prst="line">
            <a:avLst/>
          </a:prstGeom>
          <a:noFill/>
          <a:ln w="13970">
            <a:solidFill>
              <a:srgbClr val="242832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572768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Axis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Example status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72768" y="2029968"/>
            <a:ext cx="3291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fidelity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2002536"/>
            <a:ext cx="1874520" cy="256032"/>
          </a:xfrm>
          <a:prstGeom prst="roundRect">
            <a:avLst>
              <a:gd name="adj" fmla="val 17361"/>
            </a:avLst>
          </a:prstGeom>
          <a:solidFill>
            <a:srgbClr val="E2F1EA"/>
          </a:solidFill>
          <a:ln w="13970">
            <a:solidFill>
              <a:srgbClr val="E2F1E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PASSED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72768" y="2386584"/>
            <a:ext cx="3291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relation validation / closure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77840" y="2359152"/>
            <a:ext cx="1874520" cy="256032"/>
          </a:xfrm>
          <a:prstGeom prst="roundRect">
            <a:avLst>
              <a:gd name="adj" fmla="val 17361"/>
            </a:avLst>
          </a:prstGeom>
          <a:solidFill>
            <a:srgbClr val="E2F1EA"/>
          </a:solidFill>
          <a:ln w="13970">
            <a:solidFill>
              <a:srgbClr val="E2F1E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COMPLETE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72768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mathematics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2715768"/>
            <a:ext cx="1874520" cy="256032"/>
          </a:xfrm>
          <a:prstGeom prst="roundRect">
            <a:avLst>
              <a:gd name="adj" fmla="val 17361"/>
            </a:avLst>
          </a:prstGeom>
          <a:solidFill>
            <a:srgbClr val="E2F1EA"/>
          </a:solidFill>
          <a:ln w="13970">
            <a:solidFill>
              <a:srgbClr val="E2F1E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KERNEL_CHECKED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72768" y="3099816"/>
            <a:ext cx="3291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formal alignment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3072384"/>
            <a:ext cx="1874520" cy="256032"/>
          </a:xfrm>
          <a:prstGeom prst="roundRect">
            <a:avLst>
              <a:gd name="adj" fmla="val 17361"/>
            </a:avLst>
          </a:prstGeom>
          <a:solidFill>
            <a:srgbClr val="EAF0FF"/>
          </a:solidFill>
          <a:ln w="13970">
            <a:solidFill>
              <a:srgbClr val="EAF0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AUTO_ALIGNMENT_PASSED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572768" y="3456432"/>
            <a:ext cx="3291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semantic alignment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3429000"/>
            <a:ext cx="1874520" cy="256032"/>
          </a:xfrm>
          <a:prstGeom prst="roundRect">
            <a:avLst>
              <a:gd name="adj" fmla="val 17361"/>
            </a:avLst>
          </a:prstGeom>
          <a:solidFill>
            <a:srgbClr val="EEE8F7"/>
          </a:solidFill>
          <a:ln w="13970">
            <a:solidFill>
              <a:srgbClr val="EEE8F7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AGENT_REVIEWED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572768" y="3813048"/>
            <a:ext cx="3291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approximation regime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3785616"/>
            <a:ext cx="1874520" cy="256032"/>
          </a:xfrm>
          <a:prstGeom prst="roundRect">
            <a:avLst>
              <a:gd name="adj" fmla="val 17361"/>
            </a:avLst>
          </a:prstGeom>
          <a:solidFill>
            <a:srgbClr val="FFF1D6"/>
          </a:solidFill>
          <a:ln w="13970">
            <a:solidFill>
              <a:srgbClr val="FFF1D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PARTIALLY_CHECKED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572768" y="4169664"/>
            <a:ext cx="3291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empirical support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4142232"/>
            <a:ext cx="1874520" cy="256032"/>
          </a:xfrm>
          <a:prstGeom prst="roundRect">
            <a:avLst>
              <a:gd name="adj" fmla="val 17361"/>
            </a:avLst>
          </a:prstGeom>
          <a:solidFill>
            <a:srgbClr val="FFF1D6"/>
          </a:solidFill>
          <a:ln w="13970">
            <a:solidFill>
              <a:srgbClr val="FFF1D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PARTIAL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572768" y="4526280"/>
            <a:ext cx="3291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77840" y="4498848"/>
            <a:ext cx="1874520" cy="256032"/>
          </a:xfrm>
          <a:prstGeom prst="roundRect">
            <a:avLst>
              <a:gd name="adj" fmla="val 17361"/>
            </a:avLst>
          </a:prstGeom>
          <a:solidFill>
            <a:srgbClr val="F0F2F5"/>
          </a:solidFill>
          <a:ln w="13970">
            <a:solidFill>
              <a:srgbClr val="F0F2F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NOT_APPLICABLE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66160" y="5532120"/>
            <a:ext cx="5212080" cy="310896"/>
          </a:xfrm>
          <a:prstGeom prst="roundRect">
            <a:avLst>
              <a:gd name="adj" fmla="val 14297"/>
            </a:avLst>
          </a:prstGeom>
          <a:solidFill>
            <a:srgbClr val="F8E4E1"/>
          </a:solidFill>
          <a:ln w="13970">
            <a:solidFill>
              <a:srgbClr val="F8E4E1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VERIFICATION_CLOSED is query-scoped, not universal certainty.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Query closure is reported at several levels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6464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Closure levels are query-scoped and independently inspectable.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384280" y="6355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17/21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12280"/>
            <a:ext cx="7498080" cy="4572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828800"/>
            <a:ext cx="2011680" cy="512064"/>
          </a:xfrm>
          <a:prstGeom prst="roundRect">
            <a:avLst>
              <a:gd name="adj" fmla="val 8680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DAG_COMPLETE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external math frontier empty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3611880" y="1828800"/>
            <a:ext cx="2148840" cy="512064"/>
          </a:xfrm>
          <a:prstGeom prst="roundRect">
            <a:avLst>
              <a:gd name="adj" fmla="val 8680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MATH_CLOSED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imports + target delta checked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5897880" y="1828800"/>
            <a:ext cx="1554480" cy="512064"/>
          </a:xfrm>
          <a:prstGeom prst="roundRect">
            <a:avLst>
              <a:gd name="adj" fmla="val 8680"/>
            </a:avLst>
          </a:prstGeom>
          <a:solidFill>
            <a:srgbClr val="EEE8F7"/>
          </a:solidFill>
          <a:ln w="13970">
            <a:solidFill>
              <a:srgbClr val="7356A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SEMANTICALLY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RECONSTRUCTED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7543800" y="1828800"/>
            <a:ext cx="1600200" cy="512064"/>
          </a:xfrm>
          <a:prstGeom prst="roundRect">
            <a:avLst>
              <a:gd name="adj" fmla="val 8680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COMPUTATIONALLY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REPRODUCED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9235440" y="1828800"/>
            <a:ext cx="1600200" cy="512064"/>
          </a:xfrm>
          <a:prstGeom prst="roundRect">
            <a:avLst>
              <a:gd name="adj" fmla="val 8680"/>
            </a:avLst>
          </a:prstGeom>
          <a:solidFill>
            <a:srgbClr val="F8E4E1"/>
          </a:solidFill>
          <a:ln w="13970">
            <a:solidFill>
              <a:srgbClr val="B84A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VERIFICATION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CLOSED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3474720" y="2084832"/>
            <a:ext cx="137160" cy="0"/>
          </a:xfrm>
          <a:prstGeom prst="line">
            <a:avLst/>
          </a:prstGeom>
          <a:noFill/>
          <a:ln w="1270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60720" y="2084832"/>
            <a:ext cx="137160" cy="0"/>
          </a:xfrm>
          <a:prstGeom prst="line">
            <a:avLst/>
          </a:prstGeom>
          <a:noFill/>
          <a:ln w="1270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52360" y="2084832"/>
            <a:ext cx="91440" cy="0"/>
          </a:xfrm>
          <a:prstGeom prst="line">
            <a:avLst/>
          </a:prstGeom>
          <a:noFill/>
          <a:ln w="1270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0" y="2084832"/>
            <a:ext cx="91440" cy="0"/>
          </a:xfrm>
          <a:prstGeom prst="line">
            <a:avLst/>
          </a:prstGeom>
          <a:noFill/>
          <a:ln w="1270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22960" y="3246120"/>
            <a:ext cx="493776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target can be MATH_CLOSED while semantic or numerical profiles remain open.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downstream query may reuse the verified prefix and expose a new frontier.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246120"/>
            <a:ext cx="484632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BLOCKED means unresolved evidence or dependencies.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REFUTED requires an actual contradiction or counterexample; it is not a failed proof attempt.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End-to-end construction: one bounded vertical slice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6464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first pilot is intentionally a small, auditable dependency closure rather than a whole field.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384280" y="6355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18/21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12280"/>
            <a:ext cx="7909560" cy="4572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783080"/>
            <a:ext cx="1325880" cy="594360"/>
          </a:xfrm>
          <a:prstGeom prst="roundRect">
            <a:avLst>
              <a:gd name="adj" fmla="val 7478"/>
            </a:avLst>
          </a:prstGeom>
          <a:solidFill>
            <a:srgbClr val="F8E4E1"/>
          </a:solidFill>
          <a:ln w="13970">
            <a:solidFill>
              <a:srgbClr val="B84A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 scope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claim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2697480" y="1783080"/>
            <a:ext cx="1325880" cy="594360"/>
          </a:xfrm>
          <a:prstGeom prst="roundRect">
            <a:avLst>
              <a:gd name="adj" fmla="val 7478"/>
            </a:avLst>
          </a:prstGeom>
          <a:solidFill>
            <a:srgbClr val="F8E4E1"/>
          </a:solidFill>
          <a:ln w="13970">
            <a:solidFill>
              <a:srgbClr val="B84A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freeze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sources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297680" y="1783080"/>
            <a:ext cx="1691640" cy="594360"/>
          </a:xfrm>
          <a:prstGeom prst="roundRect">
            <a:avLst>
              <a:gd name="adj" fmla="val 7478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2–3. extract,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normalize, validate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263640" y="1783080"/>
            <a:ext cx="1691640" cy="594360"/>
          </a:xfrm>
          <a:prstGeom prst="roundRect">
            <a:avLst>
              <a:gd name="adj" fmla="val 7478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4–5. trace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roots + packages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8183880" y="1783080"/>
            <a:ext cx="1417320" cy="594360"/>
          </a:xfrm>
          <a:prstGeom prst="roundRect">
            <a:avLst>
              <a:gd name="adj" fmla="val 7478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6–8. build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roots to target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9802368" y="1783080"/>
            <a:ext cx="1463040" cy="594360"/>
          </a:xfrm>
          <a:prstGeom prst="roundRect">
            <a:avLst>
              <a:gd name="adj" fmla="val 7478"/>
            </a:avLst>
          </a:prstGeom>
          <a:solidFill>
            <a:srgbClr val="EEE8F7"/>
          </a:solidFill>
          <a:ln w="13970">
            <a:solidFill>
              <a:srgbClr val="7356A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9–11. profiles,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audit, release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2468880" y="2084832"/>
            <a:ext cx="228600" cy="0"/>
          </a:xfrm>
          <a:prstGeom prst="line">
            <a:avLst/>
          </a:prstGeom>
          <a:noFill/>
          <a:ln w="1397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023360" y="2084832"/>
            <a:ext cx="274320" cy="0"/>
          </a:xfrm>
          <a:prstGeom prst="line">
            <a:avLst/>
          </a:prstGeom>
          <a:noFill/>
          <a:ln w="1397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89320" y="2084832"/>
            <a:ext cx="274320" cy="0"/>
          </a:xfrm>
          <a:prstGeom prst="line">
            <a:avLst/>
          </a:prstGeom>
          <a:noFill/>
          <a:ln w="1397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55280" y="2084832"/>
            <a:ext cx="228600" cy="0"/>
          </a:xfrm>
          <a:prstGeom prst="line">
            <a:avLst/>
          </a:prstGeom>
          <a:noFill/>
          <a:ln w="1397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01200" y="2084832"/>
            <a:ext cx="201168" cy="0"/>
          </a:xfrm>
          <a:prstGeom prst="line">
            <a:avLst/>
          </a:prstGeom>
          <a:noFill/>
          <a:ln w="1397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77240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Backward archaeology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520440"/>
            <a:ext cx="484632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exact imported statements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assumptions and citation role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stop at accepted contracts, packages, or practical roots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3063240"/>
            <a:ext cx="4114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Forward incremental build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3520440"/>
            <a:ext cx="484632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 contracts in topological order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prove only local deltas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preserve blocked branches and release incomplete states honestly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registry behaves like search + package manager + incremental build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6464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Upstream breaking changes invalidate only affected downstream closures.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384280" y="6355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19/21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12280"/>
            <a:ext cx="8321040" cy="4572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371600"/>
            <a:ext cx="4114800" cy="548640"/>
          </a:xfrm>
          <a:prstGeom prst="roundRect">
            <a:avLst>
              <a:gd name="adj" fmla="val 8101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normalize query + retrieve candidate contracts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2148840"/>
            <a:ext cx="4114800" cy="548640"/>
          </a:xfrm>
          <a:prstGeom prst="roundRect">
            <a:avLst>
              <a:gd name="adj" fmla="val 8101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reuse accepted closure and pinned versions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2926080"/>
            <a:ext cx="3474720" cy="548640"/>
          </a:xfrm>
          <a:prstGeom prst="roundRect">
            <a:avLst>
              <a:gd name="adj" fmla="val 8101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locate the minimal missing frontier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72768" y="3703320"/>
            <a:ext cx="3474720" cy="548640"/>
          </a:xfrm>
          <a:prstGeom prst="roundRect">
            <a:avLst>
              <a:gd name="adj" fmla="val 8101"/>
            </a:avLst>
          </a:prstGeom>
          <a:solidFill>
            <a:srgbClr val="EEE8F7"/>
          </a:solidFill>
          <a:ln w="13970">
            <a:solidFill>
              <a:srgbClr val="7356A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only the local delta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480560"/>
            <a:ext cx="4754880" cy="548640"/>
          </a:xfrm>
          <a:prstGeom prst="roundRect">
            <a:avLst>
              <a:gd name="adj" fmla="val 8101"/>
            </a:avLst>
          </a:prstGeom>
          <a:solidFill>
            <a:srgbClr val="F8E4E1"/>
          </a:solidFill>
          <a:ln w="13970">
            <a:solidFill>
              <a:srgbClr val="B84A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cache QueryResolution + invalidate affected descendants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920240"/>
            <a:ext cx="0" cy="22860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91840" y="2697480"/>
            <a:ext cx="0" cy="22860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91840" y="3474720"/>
            <a:ext cx="0" cy="22860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91840" y="4251960"/>
            <a:ext cx="0" cy="22860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406640" y="1554480"/>
            <a:ext cx="39319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Telemetry for later optimization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635240" y="2057400"/>
            <a:ext cx="393192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reused registry contracts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external declarations reused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bridges and target declarations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calls and repair rounds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blocked claims unlocked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observed downstream reuse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24928" y="5532120"/>
            <a:ext cx="41148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Cost-aware scheduling is deferred, but the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needed to measure marginal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formalization cost is recorded from v1.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 realistic first release proves one complete path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6464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release must make incompleteness visible and rebuild from a clean checkout.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384280" y="6355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20/21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12280"/>
            <a:ext cx="8732520" cy="4572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34440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356AE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MINIMUM CONTENT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51560" y="1691640"/>
            <a:ext cx="47548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target PaperAgent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1–3 Root Agents or reusable root contracts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5–15 accepted ScientificClaims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3–8 InferenceStep chains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query-relative claim DAG and PaperBuildDAG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1–3 Lean declarations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1234440"/>
            <a:ext cx="1828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356AE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EVIDENCE OF THE METHOD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6858000" y="1691640"/>
            <a:ext cx="466344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source-blind backtranslation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formal-alignment audit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 least one real GraphRepairRecord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package-capability record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adversarial review</a:t>
            </a:r>
            <a:endParaRPr lang="en-US" sz="15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coverage, telemetry, and clean rebuild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5577840"/>
            <a:ext cx="9464040" cy="685800"/>
          </a:xfrm>
          <a:prstGeom prst="roundRect">
            <a:avLst>
              <a:gd name="adj" fmla="val 6481"/>
            </a:avLst>
          </a:prstGeom>
          <a:solidFill>
            <a:srgbClr val="E2F1EA"/>
          </a:solidFill>
          <a:ln w="13970">
            <a:solidFill>
              <a:srgbClr val="E2F1E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milestone is not broad coverage. </a:t>
            </a: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is one complete, inspectable path from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to roots and back to a verified target reconstruction.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Takeaway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6464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47B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operational rule of AgtXIv v0.4.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384280" y="6355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21/21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2240280"/>
            <a:ext cx="8961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AgtXIv turns scientific reading into an incremental verification build.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2971800"/>
            <a:ext cx="1874520" cy="502920"/>
          </a:xfrm>
          <a:prstGeom prst="roundRect">
            <a:avLst>
              <a:gd name="adj" fmla="val 8838"/>
            </a:avLst>
          </a:prstGeom>
          <a:solidFill>
            <a:srgbClr val="F8E4E1"/>
          </a:solidFill>
          <a:ln w="13970">
            <a:solidFill>
              <a:srgbClr val="B84A4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frozen PaperAgents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27248" y="2971800"/>
            <a:ext cx="1828800" cy="502920"/>
          </a:xfrm>
          <a:prstGeom prst="roundRect">
            <a:avLst>
              <a:gd name="adj" fmla="val 8838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source-grounded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candidate claims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30368" y="2971800"/>
            <a:ext cx="1828800" cy="502920"/>
          </a:xfrm>
          <a:prstGeom prst="roundRect">
            <a:avLst>
              <a:gd name="adj" fmla="val 8838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query-relative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claim DAG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60920" y="2971800"/>
            <a:ext cx="1737360" cy="502920"/>
          </a:xfrm>
          <a:prstGeom prst="roundRect">
            <a:avLst>
              <a:gd name="adj" fmla="val 8838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Lean + alignment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repair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326880" y="2971800"/>
            <a:ext cx="1920240" cy="502920"/>
          </a:xfrm>
          <a:prstGeom prst="roundRect">
            <a:avLst>
              <a:gd name="adj" fmla="val 8838"/>
            </a:avLst>
          </a:prstGeom>
          <a:solidFill>
            <a:srgbClr val="EEE8F7"/>
          </a:solidFill>
          <a:ln w="13970">
            <a:solidFill>
              <a:srgbClr val="7356A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reusable contracts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QueryResolution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98648" y="3218688"/>
            <a:ext cx="228600" cy="0"/>
          </a:xfrm>
          <a:prstGeom prst="line">
            <a:avLst/>
          </a:prstGeom>
          <a:noFill/>
          <a:ln w="1524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56048" y="3218688"/>
            <a:ext cx="274320" cy="0"/>
          </a:xfrm>
          <a:prstGeom prst="line">
            <a:avLst/>
          </a:prstGeom>
          <a:noFill/>
          <a:ln w="1524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59168" y="3218688"/>
            <a:ext cx="301752" cy="0"/>
          </a:xfrm>
          <a:prstGeom prst="line">
            <a:avLst/>
          </a:prstGeom>
          <a:noFill/>
          <a:ln w="1524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98280" y="3218688"/>
            <a:ext cx="228600" cy="0"/>
          </a:xfrm>
          <a:prstGeom prst="line">
            <a:avLst/>
          </a:prstGeom>
          <a:noFill/>
          <a:ln w="15240">
            <a:solidFill>
              <a:srgbClr val="242832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417320" y="3703320"/>
            <a:ext cx="9418320" cy="731520"/>
          </a:xfrm>
          <a:prstGeom prst="roundRect">
            <a:avLst>
              <a:gd name="adj" fmla="val 6076"/>
            </a:avLst>
          </a:prstGeom>
          <a:solidFill>
            <a:srgbClr val="EAF0FF"/>
          </a:solidFill>
          <a:ln w="13970">
            <a:solidFill>
              <a:srgbClr val="EAF0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Prefer an explicit incomplete registry with a visible missing frontier to a fluent but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unverifiable account of the literature.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AgtXIv v1 overview</dc:title>
  <dc:subject>AgtXIv v1 overview — fully editable reconstruction</dc:subject>
  <dc:creator>OpenAI</dc:creator>
  <cp:lastModifiedBy>OpenAI</cp:lastModifiedBy>
  <cp:revision>1</cp:revision>
  <dcterms:created xsi:type="dcterms:W3CDTF">2026-08-18T17:51:28Z</dcterms:created>
  <dcterms:modified xsi:type="dcterms:W3CDTF">2026-08-18T17:51:28Z</dcterms:modified>
</cp:coreProperties>
</file>