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overview - backward archaeology, forward verification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verification axes; Lean answers only axis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Claim-level binding and the anatomy of a MathContract.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vs online path; what a single query pays for; invalidation.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Formalization loop: IR, kernel, source-blind backtranslation, alignment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states, failure classification, and the two distinct reds.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7452360" y="0"/>
            <a:ext cx="749808" cy="6858000"/>
          </a:xfrm>
          <a:prstGeom prst="rtTriangle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0"/>
            <a:ext cx="1813255" cy="6858000"/>
          </a:xfrm>
          <a:prstGeom prst="rect">
            <a:avLst/>
          </a:prstGeom>
          <a:solidFill>
            <a:srgbClr val="204DB6">
              <a:alpha val="45000"/>
            </a:srgbClr>
          </a:solidFill>
          <a:ln w="12700">
            <a:solidFill>
              <a:srgbClr val="204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F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VERIFICATION-AWARE INCREMENTAL 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27249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theorem query to a reusable dependency path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401568"/>
            <a:ext cx="1554480" cy="41148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7673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Math-first pilot specification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4114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example:  graph-theoretic nonstabilizerness   /   v0.4   /  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49640" y="2103120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FFFFFF">
              <a:alpha val="14000"/>
            </a:srgbClr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210312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49640" y="2999232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FFFFFF">
              <a:alpha val="14000"/>
            </a:srgbClr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99923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claim DAG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49640" y="3895344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FFFFFF">
              <a:alpha val="14000"/>
            </a:srgbClr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389534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contracts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44100" y="2706624"/>
            <a:ext cx="0" cy="25603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44100" y="3602736"/>
            <a:ext cx="0" cy="25603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returns a reading list. You needed a build receipt.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10874959" cy="1225296"/>
          </a:xfrm>
          <a:prstGeom prst="roundRect">
            <a:avLst>
              <a:gd name="adj" fmla="val 4478"/>
            </a:avLst>
          </a:prstGeom>
          <a:solidFill>
            <a:srgbClr val="FFF1D6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91056"/>
            <a:ext cx="10326319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a theorist actually asks:  </a:t>
            </a:r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 RoM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(ρ) = max(1, max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Σ |tr(Pρ)|)  exact when  G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a perfect graph?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3291840"/>
            <a:ext cx="5208880" cy="2688336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511296"/>
            <a:ext cx="466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SEARCH ENGINE RETURNS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3968496"/>
            <a:ext cx="466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ranked list of related papers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counts and abstracts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statement of what is actually used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3291840"/>
            <a:ext cx="5208880" cy="2688336"/>
          </a:xfrm>
          <a:prstGeom prst="roundRect">
            <a:avLst>
              <a:gd name="adj" fmla="val 2041"/>
            </a:avLst>
          </a:prstGeom>
          <a:solidFill>
            <a:srgbClr val="EAF0FF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8768" y="3511296"/>
            <a:ext cx="466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AGTXIV RETURNS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98768" y="3968496"/>
            <a:ext cx="466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claim's address in a contract registry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load-bearing imports, with versions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blocked frontier and the local delta left to 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Abstract and §2.5 QueryResolution.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DISTINCTION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 that must not be collapsed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5236312" cy="1499616"/>
          </a:xfrm>
          <a:prstGeom prst="roundRect">
            <a:avLst>
              <a:gd name="adj" fmla="val 3659"/>
            </a:avLst>
          </a:prstGeom>
          <a:solidFill>
            <a:srgbClr val="EAF0FF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470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47088"/>
            <a:ext cx="384048" cy="384048"/>
          </a:xfrm>
          <a:prstGeom prst="ellipse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44752" y="1810512"/>
            <a:ext cx="417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fidelity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44752" y="2157984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paper actually state?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7016" y="1591056"/>
            <a:ext cx="5236312" cy="1499616"/>
          </a:xfrm>
          <a:prstGeom prst="roundRect">
            <a:avLst>
              <a:gd name="adj" fmla="val 3659"/>
            </a:avLst>
          </a:prstGeom>
          <a:solidFill>
            <a:srgbClr val="E2F1EA"/>
          </a:solidFill>
          <a:ln w="12700">
            <a:solidFill>
              <a:srgbClr val="257A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71336" y="18470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7A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1336" y="1847088"/>
            <a:ext cx="384048" cy="384048"/>
          </a:xfrm>
          <a:prstGeom prst="ellipse">
            <a:avLst/>
          </a:prstGeom>
          <a:solidFill>
            <a:srgbClr val="257A63"/>
          </a:solidFill>
          <a:ln w="12700">
            <a:solidFill>
              <a:srgbClr val="257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1336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3400" y="1810512"/>
            <a:ext cx="417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correctness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3400" y="2157984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conclusion follow from the encoded assumptions?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401568"/>
            <a:ext cx="5236312" cy="1499616"/>
          </a:xfrm>
          <a:prstGeom prst="roundRect">
            <a:avLst>
              <a:gd name="adj" fmla="val 3659"/>
            </a:avLst>
          </a:prstGeom>
          <a:solidFill>
            <a:srgbClr val="FFF1D6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6576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657600"/>
            <a:ext cx="384048" cy="38404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44752" y="3621024"/>
            <a:ext cx="417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reproducibility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44752" y="3968496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reported number be regenerated?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97016" y="3401568"/>
            <a:ext cx="5236312" cy="1499616"/>
          </a:xfrm>
          <a:prstGeom prst="roundRect">
            <a:avLst>
              <a:gd name="adj" fmla="val 3659"/>
            </a:avLst>
          </a:prstGeom>
          <a:solidFill>
            <a:srgbClr val="EEE8F7"/>
          </a:solidFill>
          <a:ln w="12700">
            <a:solidFill>
              <a:srgbClr val="7356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71336" y="36576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356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71336" y="3657600"/>
            <a:ext cx="384048" cy="384048"/>
          </a:xfrm>
          <a:prstGeom prst="ellipse">
            <a:avLst/>
          </a:prstGeom>
          <a:solidFill>
            <a:srgbClr val="7356A3"/>
          </a:solidFill>
          <a:ln w="12700">
            <a:solidFill>
              <a:srgbClr val="7356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1336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83400" y="3621024"/>
            <a:ext cx="417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Physical-semantic alignment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3400" y="3968496"/>
            <a:ext cx="417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formal object mean the intended physics?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" y="5230368"/>
            <a:ext cx="10874959" cy="804672"/>
          </a:xfrm>
          <a:prstGeom prst="roundRect">
            <a:avLst>
              <a:gd name="adj" fmla="val 6818"/>
            </a:avLst>
          </a:prstGeom>
          <a:solidFill>
            <a:srgbClr val="F8E4E1"/>
          </a:solidFill>
          <a:ln w="12700">
            <a:solidFill>
              <a:srgbClr val="F8E4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230368"/>
            <a:ext cx="1087495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Lean build answers only question 2</a:t>
            </a:r>
            <a:pPr algn="ctr" indent="0" marL="0">
              <a:buNone/>
            </a:pPr>
            <a:r>
              <a:rPr lang="en-US" sz="15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and only under the definitions you encoded.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Abstract; §3 Trusted Verification Layers.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NEW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citation graph is not a proof 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graph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142232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cites B — for what reason?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05274" y="1737360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claim DAG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05274" y="4142232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premises are load-bearing?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52181" y="1737360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support graph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2181" y="4142232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declarations were checked?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1480261" y="2487168"/>
            <a:ext cx="777240" cy="310896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80261" y="2798064"/>
            <a:ext cx="777240" cy="420624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31821" y="2487168"/>
            <a:ext cx="777240" cy="310896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2531821" y="2907792"/>
            <a:ext cx="777240" cy="310896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05941" y="2651760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5941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57501" y="234086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7501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57501" y="307238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57501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09061" y="2706624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9061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50994" y="2304288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0994" y="2304288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50994" y="2980944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0994" y="2980944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86602" y="2304288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6602" y="2304288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86602" y="2980944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FFF1D6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6602" y="2980944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1426" y="2505456"/>
            <a:ext cx="265176" cy="0"/>
          </a:xfrm>
          <a:prstGeom prst="line">
            <a:avLst/>
          </a:prstGeom>
          <a:noFill/>
          <a:ln w="16510">
            <a:solidFill>
              <a:srgbClr val="257A6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21426" y="3182112"/>
            <a:ext cx="265176" cy="0"/>
          </a:xfrm>
          <a:prstGeom prst="line">
            <a:avLst/>
          </a:prstGeom>
          <a:noFill/>
          <a:ln w="16510">
            <a:solidFill>
              <a:srgbClr val="B7791F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71818" y="2706624"/>
            <a:ext cx="0" cy="274320"/>
          </a:xfrm>
          <a:prstGeom prst="line">
            <a:avLst/>
          </a:prstGeom>
          <a:noFill/>
          <a:ln w="16510">
            <a:solidFill>
              <a:srgbClr val="356AE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56954" y="2304288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56954" y="2304288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56954" y="2871216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6954" y="2871216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56954" y="3438144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56954" y="3438144"/>
            <a:ext cx="13716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842754" y="2706624"/>
            <a:ext cx="0" cy="164592"/>
          </a:xfrm>
          <a:prstGeom prst="line">
            <a:avLst/>
          </a:prstGeom>
          <a:noFill/>
          <a:ln w="16510">
            <a:solidFill>
              <a:srgbClr val="257A6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842754" y="3273552"/>
            <a:ext cx="0" cy="164592"/>
          </a:xfrm>
          <a:prstGeom prst="line">
            <a:avLst/>
          </a:prstGeom>
          <a:noFill/>
          <a:ln w="16510">
            <a:solidFill>
              <a:srgbClr val="257A6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8368" y="4846320"/>
            <a:ext cx="10874959" cy="749808"/>
          </a:xfrm>
          <a:prstGeom prst="roundRect">
            <a:avLst>
              <a:gd name="adj" fmla="val 7317"/>
            </a:avLst>
          </a:prstGeom>
          <a:solidFill>
            <a:srgbClr val="F8E4E1"/>
          </a:solidFill>
          <a:ln w="12700">
            <a:solidFill>
              <a:srgbClr val="F8E4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846320"/>
            <a:ext cx="1087495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cites B  ⇏  </a:t>
            </a:r>
            <a:pPr algn="ctr" indent="0" marL="0">
              <a:buNone/>
            </a:pPr>
            <a:r>
              <a:rPr lang="en-US" sz="15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uses a theorem of B, or that B's hypotheses hold in A.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§2.3 Claim-level inheritance; §1.4 edge types.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reusable unit is a claim, not a paper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6720840" cy="3822192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82880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6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math-contract:claim.closed-form-rom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9264" y="2194560"/>
            <a:ext cx="6099048" cy="10973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4688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1568" y="2468880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quantifiers, domain, exactness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29535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01568" y="2953512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Pauli-active dependency; Gₘ perfect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34381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imports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343814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exact-graph-program, perfect-graph-antiblocker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39227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anchor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92277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draft.tex span, frozen bundle hash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44074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binding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4407408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declaration or an explicit GAP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9264" y="48920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vector + blockers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4892040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per-axis, never one Boolean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36408" y="1591056"/>
            <a:ext cx="3696919" cy="1737360"/>
          </a:xfrm>
          <a:prstGeom prst="roundRect">
            <a:avLst>
              <a:gd name="adj" fmla="val 3158"/>
            </a:avLst>
          </a:prstGeom>
          <a:solidFill>
            <a:srgbClr val="E2F1EA"/>
          </a:solidFill>
          <a:ln w="12700">
            <a:solidFill>
              <a:srgbClr val="257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792224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claim-level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2157984"/>
            <a:ext cx="3184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exports many results at different maturity. Reuse binds to one statement, one version.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36408" y="3547872"/>
            <a:ext cx="3696919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3749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standardization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92440" y="4114800"/>
            <a:ext cx="318485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47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INDEXED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47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47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DEPENDENCY_MAPPED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47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FORMALLY_CONNECTED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47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ACCEPTED_CONTRACT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§5.0 MathContract; §2.6 Progressive standardization.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backward, then verify forward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91056"/>
            <a:ext cx="516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 —  dependency archaeology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048256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D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48256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9948" y="2688336"/>
            <a:ext cx="0" cy="237744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" y="2926080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D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26080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local support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39948" y="3566160"/>
            <a:ext cx="0" cy="237744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3803904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D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803904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premises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39948" y="4443984"/>
            <a:ext cx="0" cy="237744"/>
          </a:xfrm>
          <a:prstGeom prst="line">
            <a:avLst/>
          </a:prstGeom>
          <a:noFill/>
          <a:ln w="1778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" y="4681728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FFF1D6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681728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contracts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541264"/>
            <a:ext cx="516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 accepted contracts, reusable packages, or a declared frontier.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0168" y="1591056"/>
            <a:ext cx="516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5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 —  verification build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70168" y="2048256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D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0168" y="2048256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root exports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51747" y="2688336"/>
            <a:ext cx="0" cy="237744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70168" y="2926080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0168" y="2926080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local delta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51747" y="3566160"/>
            <a:ext cx="0" cy="237744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70168" y="3803904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DE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0168" y="3803904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local delta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51747" y="4443984"/>
            <a:ext cx="0" cy="237744"/>
          </a:xfrm>
          <a:prstGeom prst="line">
            <a:avLst/>
          </a:prstGeom>
          <a:noFill/>
          <a:ln w="17780">
            <a:solidFill>
              <a:srgbClr val="257A6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70168" y="4681728"/>
            <a:ext cx="5163160" cy="640080"/>
          </a:xfrm>
          <a:prstGeom prst="roundRect">
            <a:avLst>
              <a:gd name="adj" fmla="val 11429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0168" y="4681728"/>
            <a:ext cx="5163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target export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70168" y="5541264"/>
            <a:ext cx="516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only the residual delta; reuse every accepted contract.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§2.1 Two opposite directions.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running example, as the registry stores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01952"/>
            <a:ext cx="1536192" cy="932688"/>
          </a:xfrm>
          <a:prstGeom prst="roundRect">
            <a:avLst>
              <a:gd name="adj" fmla="val 7843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01952"/>
            <a:ext cx="15361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polytope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2368296"/>
            <a:ext cx="329184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23744" y="1901952"/>
            <a:ext cx="1536192" cy="932688"/>
          </a:xfrm>
          <a:prstGeom prst="roundRect">
            <a:avLst>
              <a:gd name="adj" fmla="val 7843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23744" y="1901952"/>
            <a:ext cx="15361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9936" y="2368296"/>
            <a:ext cx="329184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1901952"/>
            <a:ext cx="1536192" cy="932688"/>
          </a:xfrm>
          <a:prstGeom prst="roundRect">
            <a:avLst>
              <a:gd name="adj" fmla="val 7843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01952"/>
            <a:ext cx="15361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LP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25312" y="2368296"/>
            <a:ext cx="329184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901952"/>
            <a:ext cx="1536192" cy="932688"/>
          </a:xfrm>
          <a:prstGeom prst="roundRect">
            <a:avLst>
              <a:gd name="adj" fmla="val 7843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901952"/>
            <a:ext cx="15361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program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(MWIS)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90688" y="2368296"/>
            <a:ext cx="329184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19872" y="1901952"/>
            <a:ext cx="1536192" cy="932688"/>
          </a:xfrm>
          <a:prstGeom prst="roundRect">
            <a:avLst>
              <a:gd name="adj" fmla="val 7843"/>
            </a:avLst>
          </a:prstGeom>
          <a:solidFill>
            <a:srgbClr val="F8E4E1"/>
          </a:solidFill>
          <a:ln w="15875">
            <a:solidFill>
              <a:srgbClr val="B84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01952"/>
            <a:ext cx="15361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perfect-graph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6064" y="2368296"/>
            <a:ext cx="329184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85248" y="1901952"/>
            <a:ext cx="1536192" cy="932688"/>
          </a:xfrm>
          <a:prstGeom prst="roundRect">
            <a:avLst>
              <a:gd name="adj" fmla="val 7843"/>
            </a:avLst>
          </a:prstGeom>
          <a:solidFill>
            <a:srgbClr val="FFF1D6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85248" y="1901952"/>
            <a:ext cx="15361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closed-form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3218688"/>
            <a:ext cx="146304" cy="146304"/>
          </a:xfrm>
          <a:prstGeom prst="ellipse">
            <a:avLst/>
          </a:prstGeom>
          <a:solidFill>
            <a:srgbClr val="257A63"/>
          </a:solidFill>
          <a:ln w="12700">
            <a:solidFill>
              <a:srgbClr val="257A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Lean-linked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90088" y="3218688"/>
            <a:ext cx="146304" cy="146304"/>
          </a:xfrm>
          <a:prstGeom prst="ellipse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derivation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21808" y="3218688"/>
            <a:ext cx="146304" cy="146304"/>
          </a:xfrm>
          <a:prstGeom prst="ellipse">
            <a:avLst/>
          </a:prstGeom>
          <a:solidFill>
            <a:srgbClr val="B84A45"/>
          </a:solidFill>
          <a:ln w="12700">
            <a:solidFill>
              <a:srgbClr val="B84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external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53528" y="3218688"/>
            <a:ext cx="146304" cy="14630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delta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3822192"/>
            <a:ext cx="52088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005072"/>
            <a:ext cx="466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CONTRACT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" y="4279392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claim:closed-form-rom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2688" y="4754880"/>
            <a:ext cx="3749040" cy="310896"/>
          </a:xfrm>
          <a:prstGeom prst="roundRect">
            <a:avLst>
              <a:gd name="adj" fmla="val 29412"/>
            </a:avLst>
          </a:prstGeom>
          <a:solidFill>
            <a:srgbClr val="FFF1D6"/>
          </a:solidFill>
          <a:ln w="6350">
            <a:solidFill>
              <a:srgbClr val="FFF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4754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LOCAL_DERIVATION_WITH_BLOCKED_IMPORTS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4448" y="3822192"/>
            <a:ext cx="5208880" cy="1938528"/>
          </a:xfrm>
          <a:prstGeom prst="roundRect">
            <a:avLst>
              <a:gd name="adj" fmla="val 2830"/>
            </a:avLst>
          </a:prstGeom>
          <a:solidFill>
            <a:srgbClr val="F8E4E1"/>
          </a:solidFill>
          <a:ln w="12700">
            <a:solidFill>
              <a:srgbClr val="B84A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8768" y="4005072"/>
            <a:ext cx="466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8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BLOCKS 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98768" y="4334256"/>
            <a:ext cx="466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contract not yet accepted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perfect-graph duality not frozen from the primary source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MathContractRegistry/contracts.json, node claim.closed-form-rom.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PILOT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frontier actually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1599133" cy="184708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73936"/>
            <a:ext cx="15991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688336"/>
            <a:ext cx="15991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nodes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3533" y="1591056"/>
            <a:ext cx="1599133" cy="184708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3533" y="1773936"/>
            <a:ext cx="15991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13533" y="2688336"/>
            <a:ext cx="15991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edges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8698" y="1591056"/>
            <a:ext cx="1599133" cy="184708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8698" y="1773936"/>
            <a:ext cx="15991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368698" y="2688336"/>
            <a:ext cx="15991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Lean-linked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3864" y="1591056"/>
            <a:ext cx="1599133" cy="184708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3864" y="1773936"/>
            <a:ext cx="15991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23864" y="2688336"/>
            <a:ext cx="15991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GAP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9029" y="1591056"/>
            <a:ext cx="1599133" cy="184708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9029" y="1773936"/>
            <a:ext cx="15991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079029" y="2688336"/>
            <a:ext cx="15991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external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34194" y="1591056"/>
            <a:ext cx="1599133" cy="1847088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4194" y="1773936"/>
            <a:ext cx="159913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934194" y="2688336"/>
            <a:ext cx="15991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blockers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3840480"/>
            <a:ext cx="10874959" cy="1700784"/>
          </a:xfrm>
          <a:prstGeom prst="roundRect">
            <a:avLst>
              <a:gd name="adj" fmla="val 3226"/>
            </a:avLst>
          </a:prstGeom>
          <a:solidFill>
            <a:srgbClr val="EAF0FF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078224"/>
            <a:ext cx="10143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registry reports GraphComplete = FALSE.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24128" y="4535424"/>
            <a:ext cx="1014343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of 74 nodes carry an explicit GAP and 8 external mathematical interfaces remain unresolved. Those are recorded states, not omissions — nothing is promoted to accepted without source alignment and a verification record.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recomputed from contracts.json and dag/claim-dag.json.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2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is the kernel, not the oracle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56816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7780">
            <a:solidFill>
              <a:srgbClr val="356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MathClaimIR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706624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statement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45536" y="2596896"/>
            <a:ext cx="292608" cy="0"/>
          </a:xfrm>
          <a:prstGeom prst="line">
            <a:avLst/>
          </a:prstGeom>
          <a:noFill/>
          <a:ln w="17780">
            <a:solidFill>
              <a:srgbClr val="6E7A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38144" y="1956816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7780">
            <a:solidFill>
              <a:srgbClr val="257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kernel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38144" y="2706624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elaboration, no sorry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25312" y="2596896"/>
            <a:ext cx="292608" cy="0"/>
          </a:xfrm>
          <a:prstGeom prst="line">
            <a:avLst/>
          </a:prstGeom>
          <a:noFill/>
          <a:ln w="17780">
            <a:solidFill>
              <a:srgbClr val="6E7A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956816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778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source-blind backtranslation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706624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declaration cold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05088" y="2596896"/>
            <a:ext cx="292608" cy="0"/>
          </a:xfrm>
          <a:prstGeom prst="line">
            <a:avLst/>
          </a:prstGeom>
          <a:noFill/>
          <a:ln w="17780">
            <a:solidFill>
              <a:srgbClr val="6E7A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97696" y="1956816"/>
            <a:ext cx="248716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 w="17780">
            <a:solidFill>
              <a:srgbClr val="735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audit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97696" y="2706624"/>
            <a:ext cx="248716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mean the claim?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3694176"/>
            <a:ext cx="10874959" cy="1664208"/>
          </a:xfrm>
          <a:prstGeom prst="roundRect">
            <a:avLst>
              <a:gd name="adj" fmla="val 4396"/>
            </a:avLst>
          </a:prstGeom>
          <a:solidFill>
            <a:srgbClr val="FFFFFF">
              <a:alpha val="8000"/>
            </a:srgbClr>
          </a:solidFill>
          <a:ln w="17780">
            <a:solidFill>
              <a:srgbClr val="B84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968496"/>
            <a:ext cx="101434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KERNEL_CHECKED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means the conclusion follows from the definitions you encoded.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24128" y="4480560"/>
            <a:ext cx="101434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certify that the encoding captures the intended physical object, the approximation regime, or the observable. That is a separate axis with a separate reviewer.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§3.2 Mathematical kernel; §8.8 Semantic-alignment review.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check refines the graph locally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3381146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810512"/>
            <a:ext cx="2978810" cy="329184"/>
          </a:xfrm>
          <a:prstGeom prst="roundRect">
            <a:avLst>
              <a:gd name="adj" fmla="val 27778"/>
            </a:avLst>
          </a:prstGeom>
          <a:solidFill>
            <a:srgbClr val="FFF1D6"/>
          </a:solidFill>
          <a:ln w="6350">
            <a:solidFill>
              <a:srgbClr val="FFF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10512"/>
            <a:ext cx="2978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LOCAL_BUILD_FAILURE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40864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lemma, bridge, or premise retrieval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48941" y="3474720"/>
            <a:ext cx="0" cy="237744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" y="3803904"/>
            <a:ext cx="2978810" cy="347472"/>
          </a:xfrm>
          <a:prstGeom prst="roundRect">
            <a:avLst>
              <a:gd name="adj" fmla="val 26316"/>
            </a:avLst>
          </a:prstGeom>
          <a:solidFill>
            <a:srgbClr val="B7791F"/>
          </a:solidFill>
          <a:ln w="635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803904"/>
            <a:ext cx="2978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EXPAND_LOCAL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5274" y="1591056"/>
            <a:ext cx="3381146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6442" y="1810512"/>
            <a:ext cx="2978810" cy="329184"/>
          </a:xfrm>
          <a:prstGeom prst="roundRect">
            <a:avLst>
              <a:gd name="adj" fmla="val 27778"/>
            </a:avLst>
          </a:prstGeom>
          <a:solidFill>
            <a:srgbClr val="EEE8F7"/>
          </a:solidFill>
          <a:ln w="6350">
            <a:solidFill>
              <a:srgbClr val="EEE8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6442" y="1810512"/>
            <a:ext cx="2978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ALIGNMENT_FAILURE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1306" y="2340864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object, lost assumption, scope or exactness drift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3474720"/>
            <a:ext cx="0" cy="237744"/>
          </a:xfrm>
          <a:prstGeom prst="line">
            <a:avLst/>
          </a:prstGeom>
          <a:noFill/>
          <a:ln w="19050">
            <a:solidFill>
              <a:srgbClr val="7356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06442" y="3803904"/>
            <a:ext cx="2978810" cy="347472"/>
          </a:xfrm>
          <a:prstGeom prst="roundRect">
            <a:avLst>
              <a:gd name="adj" fmla="val 26316"/>
            </a:avLst>
          </a:prstGeom>
          <a:solidFill>
            <a:srgbClr val="7356A3"/>
          </a:solidFill>
          <a:ln w="6350">
            <a:solidFill>
              <a:srgbClr val="735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6442" y="3803904"/>
            <a:ext cx="2978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REWIRE_OR_RESCOPE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52181" y="1591056"/>
            <a:ext cx="3381146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3349" y="1810512"/>
            <a:ext cx="2978810" cy="329184"/>
          </a:xfrm>
          <a:prstGeom prst="roundRect">
            <a:avLst>
              <a:gd name="adj" fmla="val 27778"/>
            </a:avLst>
          </a:prstGeom>
          <a:solidFill>
            <a:srgbClr val="F8E4E1"/>
          </a:solidFill>
          <a:ln w="6350">
            <a:solidFill>
              <a:srgbClr val="F8E4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3349" y="1810512"/>
            <a:ext cx="2978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SOURCE_OR_FOUNDATION_GAP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08213" y="2340864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import, missing source step, counterexample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42754" y="3474720"/>
            <a:ext cx="0" cy="237744"/>
          </a:xfrm>
          <a:prstGeom prst="line">
            <a:avLst/>
          </a:prstGeom>
          <a:noFill/>
          <a:ln w="19050">
            <a:solidFill>
              <a:srgbClr val="B84A4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353349" y="3803904"/>
            <a:ext cx="2978810" cy="347472"/>
          </a:xfrm>
          <a:prstGeom prst="roundRect">
            <a:avLst>
              <a:gd name="adj" fmla="val 26316"/>
            </a:avLst>
          </a:prstGeom>
          <a:solidFill>
            <a:srgbClr val="B84A45"/>
          </a:solidFill>
          <a:ln w="6350">
            <a:solidFill>
              <a:srgbClr val="B84A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3349" y="3803904"/>
            <a:ext cx="29788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ESCALATE_OR_BLOCK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4754880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E2F1EA"/>
          </a:solidFill>
          <a:ln w="12700">
            <a:solidFill>
              <a:srgbClr val="E2F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754880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affected region is rebuilt. The rest of the accepted closure is reused unchanged.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§6.3 DAG completion and iterative resolution.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CAUGHT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reds, found by the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5208880" cy="3218688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2880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FFF1D6"/>
          </a:solidFill>
          <a:ln w="6350">
            <a:solidFill>
              <a:srgbClr val="FFF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28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PROOF_GAP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9776" y="1828800"/>
            <a:ext cx="2651760" cy="310896"/>
          </a:xfrm>
          <a:prstGeom prst="roundRect">
            <a:avLst>
              <a:gd name="adj" fmla="val 29412"/>
            </a:avLst>
          </a:prstGeom>
          <a:solidFill>
            <a:srgbClr val="E2F1EA"/>
          </a:solidFill>
          <a:ln w="6350">
            <a:solidFill>
              <a:srgbClr val="E2F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1828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THEOREM_NOT_REFUTED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230428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V-representation import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688336"/>
            <a:ext cx="466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reconstruction is still pending, so the import cannot be accepted yet. The registry records a repair route and keeps the downstream claim conditional.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4096512"/>
            <a:ext cx="466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statement is not claimed to be false.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4448" y="1591056"/>
            <a:ext cx="5208880" cy="3218688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B84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98768" y="182880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F8E4E1"/>
          </a:solidFill>
          <a:ln w="6350">
            <a:solidFill>
              <a:srgbClr val="F8E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8768" y="1828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37296" y="1828800"/>
            <a:ext cx="2926080" cy="310896"/>
          </a:xfrm>
          <a:prstGeom prst="roundRect">
            <a:avLst>
              <a:gd name="adj" fmla="val 29412"/>
            </a:avLst>
          </a:prstGeom>
          <a:solidFill>
            <a:srgbClr val="F8E4E1"/>
          </a:solidFill>
          <a:ln w="6350">
            <a:solidFill>
              <a:srgbClr val="F8E4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7296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EXPLICIT_COUNTEREXAMPLE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98768" y="230428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Fixed-window monotonicity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98768" y="2688336"/>
            <a:ext cx="46602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 M = {X, Z},  a free π/2 Clifford rotation about X raises the reduced functional of a suitable pure qubit from  1  to  √2.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8768" y="4096512"/>
            <a:ext cx="466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 must not be exported as a resource monotone.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512064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registry that merges these two into one “red” has destroyed the information a reader needs.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blockers fixed-window-monotonicity-false, root-reconstruction-pending.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claim carries a status vector, not one Boolean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910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fidelity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35808" y="162763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E2F1EA"/>
          </a:solidFill>
          <a:ln w="6350">
            <a:solidFill>
              <a:srgbClr val="E2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35808" y="162763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70168" y="15910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closure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47608" y="162763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E2F1EA"/>
          </a:solidFill>
          <a:ln w="6350">
            <a:solidFill>
              <a:srgbClr val="E2F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47608" y="162763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35808" y="226771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E2F1EA"/>
          </a:solidFill>
          <a:ln w="6350">
            <a:solidFill>
              <a:srgbClr val="E2F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26771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KERNEL_CHECKED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70168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alignment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47608" y="226771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EAF0FF"/>
          </a:solidFill>
          <a:ln w="6350">
            <a:solidFill>
              <a:srgbClr val="EA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47608" y="226771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AUTO_ALIGNMENT_PASSED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871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semantics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35808" y="290779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EEE8F7"/>
          </a:solidFill>
          <a:ln w="6350">
            <a:solidFill>
              <a:srgbClr val="EEE8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290779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AGENT_REVIEWED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70168" y="28712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 regime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47608" y="290779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FFF1D6"/>
          </a:solidFill>
          <a:ln w="6350">
            <a:solidFill>
              <a:srgbClr val="FFF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47608" y="290779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PARTIALLY_CHECKED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511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support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35808" y="354787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FFF1D6"/>
          </a:solidFill>
          <a:ln w="6350">
            <a:solidFill>
              <a:srgbClr val="FFF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5808" y="354787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70168" y="3511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47608" y="3547872"/>
            <a:ext cx="2785720" cy="310896"/>
          </a:xfrm>
          <a:prstGeom prst="roundRect">
            <a:avLst>
              <a:gd name="adj" fmla="val 29412"/>
            </a:avLst>
          </a:prstGeom>
          <a:solidFill>
            <a:srgbClr val="EEF0F3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47608" y="3547872"/>
            <a:ext cx="2785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NOT_APPLICABLE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608576"/>
            <a:ext cx="10874959" cy="969264"/>
          </a:xfrm>
          <a:prstGeom prst="roundRect">
            <a:avLst>
              <a:gd name="adj" fmla="val 5660"/>
            </a:avLst>
          </a:prstGeom>
          <a:solidFill>
            <a:srgbClr val="F8E4E1"/>
          </a:solidFill>
          <a:ln w="12700">
            <a:solidFill>
              <a:srgbClr val="F8E4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608576"/>
            <a:ext cx="101434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84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VERIFICATION_CLOSED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means every axis relevant to the declared scope is acceptable — for this query. It is not universal certainty, and it never propagates upward on its own.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§6.4 Verification axes; §6.5 Overall lifecycle status.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 + package manager + incremental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91056"/>
            <a:ext cx="6035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75888" y="2249424"/>
            <a:ext cx="0" cy="219456"/>
          </a:xfrm>
          <a:prstGeom prst="line">
            <a:avLst/>
          </a:prstGeom>
          <a:noFill/>
          <a:ln w="16510">
            <a:solidFill>
              <a:srgbClr val="747B8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8368" y="2468880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468880"/>
            <a:ext cx="6035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accepted closure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75888" y="3127248"/>
            <a:ext cx="0" cy="219456"/>
          </a:xfrm>
          <a:prstGeom prst="line">
            <a:avLst/>
          </a:prstGeom>
          <a:noFill/>
          <a:ln w="16510">
            <a:solidFill>
              <a:srgbClr val="747B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3346704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FFF1D6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346704"/>
            <a:ext cx="6035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missing frontier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75888" y="4005072"/>
            <a:ext cx="0" cy="219456"/>
          </a:xfrm>
          <a:prstGeom prst="line">
            <a:avLst/>
          </a:prstGeom>
          <a:noFill/>
          <a:ln w="16510">
            <a:solidFill>
              <a:srgbClr val="747B8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4224528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EEE8F7"/>
          </a:solidFill>
          <a:ln w="15875">
            <a:solidFill>
              <a:srgbClr val="735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224528"/>
            <a:ext cx="6035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only the local delta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75888" y="4882896"/>
            <a:ext cx="0" cy="219456"/>
          </a:xfrm>
          <a:prstGeom prst="line">
            <a:avLst/>
          </a:prstGeom>
          <a:noFill/>
          <a:ln w="16510">
            <a:solidFill>
              <a:srgbClr val="747B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" y="5102352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5102352"/>
            <a:ext cx="6035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the extended path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42048" y="1591056"/>
            <a:ext cx="4291279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179222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is the point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16368" y="2176272"/>
            <a:ext cx="37426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later query that shares a prefix does not rebuild it. It inherits the accepted closure and pays only for its own delta.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42048" y="3602736"/>
            <a:ext cx="4291279" cy="2121408"/>
          </a:xfrm>
          <a:prstGeom prst="roundRect">
            <a:avLst>
              <a:gd name="adj" fmla="val 2586"/>
            </a:avLst>
          </a:prstGeom>
          <a:solidFill>
            <a:srgbClr val="F8E4E1"/>
          </a:solidFill>
          <a:ln w="12700">
            <a:solidFill>
              <a:srgbClr val="B84A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380390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changes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16368" y="4151376"/>
            <a:ext cx="37426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upstream contract that changes version invalidates only the affected downstream closure — not the registry.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16368" y="5248656"/>
            <a:ext cx="3742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proposes. Only verification promotes.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§2.4 Search, registry, and incremental build; §2.5 cache.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first release has to prove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91056"/>
            <a:ext cx="516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CONTENT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20482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47088" y="2048256"/>
            <a:ext cx="397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Paper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47088" y="2743200"/>
            <a:ext cx="397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34381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47088" y="3438144"/>
            <a:ext cx="397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statements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41330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47088" y="4133088"/>
            <a:ext cx="397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declarations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70168" y="1591056"/>
            <a:ext cx="516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THE METHOD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70168" y="2185416"/>
            <a:ext cx="146304" cy="146304"/>
          </a:xfrm>
          <a:prstGeom prst="ellipse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1064" y="2048256"/>
            <a:ext cx="485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source-blind backtranslation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70168" y="2880360"/>
            <a:ext cx="146304" cy="146304"/>
          </a:xfrm>
          <a:prstGeom prst="ellipse">
            <a:avLst/>
          </a:prstGeom>
          <a:solidFill>
            <a:srgbClr val="257A63"/>
          </a:solidFill>
          <a:ln w="12700">
            <a:solidFill>
              <a:srgbClr val="257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1064" y="2743200"/>
            <a:ext cx="485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formal-alignment audit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70168" y="3575304"/>
            <a:ext cx="146304" cy="14630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1064" y="3438144"/>
            <a:ext cx="485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repair record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70168" y="4270248"/>
            <a:ext cx="146304" cy="146304"/>
          </a:xfrm>
          <a:prstGeom prst="ellipse">
            <a:avLst/>
          </a:prstGeom>
          <a:solidFill>
            <a:srgbClr val="B84A45"/>
          </a:solidFill>
          <a:ln w="12700">
            <a:solidFill>
              <a:srgbClr val="B84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1064" y="4133088"/>
            <a:ext cx="4852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review + clean rebuild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4992624"/>
            <a:ext cx="10874959" cy="969264"/>
          </a:xfrm>
          <a:prstGeom prst="roundRect">
            <a:avLst>
              <a:gd name="adj" fmla="val 5660"/>
            </a:avLst>
          </a:prstGeom>
          <a:solidFill>
            <a:srgbClr val="E2F1EA"/>
          </a:solidFill>
          <a:ln w="12700">
            <a:solidFill>
              <a:srgbClr val="E2F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992624"/>
            <a:ext cx="996055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milestone is not broad coverage. </a:t>
            </a:r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one complete, inspectable path from a target claim to its roots and back.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v0.4, §11.4 Minimal first release.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2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3716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an explicit, incomplete registry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visible frontier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fluent, unverifiable account of the literature.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4343400"/>
            <a:ext cx="1005840" cy="32004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562856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claim-level contracts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892040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whole papers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274" y="4343400"/>
            <a:ext cx="1005840" cy="32004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5274" y="4562856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separate axes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05274" y="4892040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one Boolean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2181" y="4343400"/>
            <a:ext cx="1005840" cy="32004"/>
          </a:xfrm>
          <a:prstGeom prst="rect">
            <a:avLst/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2181" y="4562856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frontier is reported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52181" y="4892040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hidden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— verification-aware incremental search over scientific claims.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18927" y="6291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356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SLIDE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— the same machinery on the computation axis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1D6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73936"/>
            <a:ext cx="20116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70048" y="2148840"/>
            <a:ext cx="384048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54096" y="177393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1D6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1773936"/>
            <a:ext cx="20116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65776" y="2148840"/>
            <a:ext cx="384048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49824" y="177393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9824" y="1773936"/>
            <a:ext cx="20116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Figure-2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61504" y="2148840"/>
            <a:ext cx="384048" cy="0"/>
          </a:xfrm>
          <a:prstGeom prst="line">
            <a:avLst/>
          </a:prstGeom>
          <a:noFill/>
          <a:ln w="17780">
            <a:solidFill>
              <a:srgbClr val="24283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45552" y="1773936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8E4E1"/>
          </a:solidFill>
          <a:ln w="15875">
            <a:solidFill>
              <a:srgbClr val="B84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1773936"/>
            <a:ext cx="20116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coverage-gain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2761488"/>
            <a:ext cx="2788920" cy="329184"/>
          </a:xfrm>
          <a:prstGeom prst="roundRect">
            <a:avLst>
              <a:gd name="adj" fmla="val 27778"/>
            </a:avLst>
          </a:prstGeom>
          <a:solidFill>
            <a:srgbClr val="EEF0F3"/>
          </a:solidFill>
          <a:ln w="6350">
            <a:solidFill>
              <a:srgbClr val="EEF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76148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7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Lean binding: NOT_APPLICABLE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3328416"/>
            <a:ext cx="520888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B84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547872"/>
            <a:ext cx="2103120" cy="310896"/>
          </a:xfrm>
          <a:prstGeom prst="roundRect">
            <a:avLst>
              <a:gd name="adj" fmla="val 29412"/>
            </a:avLst>
          </a:prstGeom>
          <a:solidFill>
            <a:srgbClr val="F8E4E1"/>
          </a:solidFill>
          <a:ln w="6350">
            <a:solidFill>
              <a:srgbClr val="F8E4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478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NOT_REPRODUCED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4005072"/>
            <a:ext cx="466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bundle ships the rendered figure — but no code, raw samples, seeds, sampling law, angle distribution, precision, tolerance, or error bars.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24448" y="3328416"/>
            <a:ext cx="5208880" cy="1755648"/>
          </a:xfrm>
          <a:prstGeom prst="roundRect">
            <a:avLst>
              <a:gd name="adj" fmla="val 3125"/>
            </a:avLst>
          </a:prstGeom>
          <a:solidFill>
            <a:srgbClr val="EAF0FF"/>
          </a:solidFill>
          <a:ln w="12700">
            <a:solidFill>
              <a:srgbClr val="356A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8768" y="3529584"/>
            <a:ext cx="46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useful contrast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98768" y="3877056"/>
            <a:ext cx="466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registry, same status machinery — but the blocker is code and metadata, not mathematics. Merging it into the math axis would misreport both.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5358384"/>
            <a:ext cx="10874959" cy="786384"/>
          </a:xfrm>
          <a:prstGeom prst="roundRect">
            <a:avLst>
              <a:gd name="adj" fmla="val 6977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358384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 blocked on mathematics.   Example B blocked on computation.   </a:t>
            </a:r>
            <a:pPr algn="ctr" indent="0" marL="0">
              <a:buNone/>
            </a:pPr>
            <a:r>
              <a:rPr lang="en-US" sz="14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exactly why the four questions stay separate.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6291072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contracts.json figure2-* nodes; blocker figure2-code-unavailable.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424" y="519836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91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· METHOD OVERVIEW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464424" y="569763"/>
            <a:ext cx="6531285" cy="29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Resolving a theorem query into a verified dependency path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464424" y="859993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is answered by a build receipt, not a reading list. Backward archaeology finds the load-bearing imports; forward verification rebuilds only what is missing.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464424" y="1251905"/>
            <a:ext cx="2656058" cy="507949"/>
          </a:xfrm>
          <a:prstGeom prst="roundRect">
            <a:avLst>
              <a:gd name="adj" fmla="val 11431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5092" y="1346271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query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595092" y="1508211"/>
            <a:ext cx="653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claim:closed-form-rom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92498" y="1759854"/>
            <a:ext cx="0" cy="507949"/>
          </a:xfrm>
          <a:prstGeom prst="line">
            <a:avLst/>
          </a:prstGeom>
          <a:noFill/>
          <a:ln w="13081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64424" y="1977573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b="1" spc="4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BACKWARD  —  dependency archaeology</a:t>
            </a:r>
            <a:endParaRPr lang="en-US" sz="710" dirty="0"/>
          </a:p>
        </p:txBody>
      </p:sp>
      <p:sp>
        <p:nvSpPr>
          <p:cNvPr id="10" name="Text 8"/>
          <p:cNvSpPr/>
          <p:nvPr/>
        </p:nvSpPr>
        <p:spPr>
          <a:xfrm>
            <a:off x="3541380" y="1977573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b="1" spc="46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FORWARD  —  verification build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464424" y="2325959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 w="13081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2469337"/>
            <a:ext cx="358490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claim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0" y="2624328"/>
            <a:ext cx="358490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statement actually asked for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1792498" y="2891973"/>
            <a:ext cx="0" cy="217719"/>
          </a:xfrm>
          <a:prstGeom prst="line">
            <a:avLst/>
          </a:prstGeom>
          <a:noFill/>
          <a:ln w="13081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4424" y="3138678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3282147"/>
            <a:ext cx="358490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local support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0" y="3437138"/>
            <a:ext cx="358490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paper proves itself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1792498" y="3704783"/>
            <a:ext cx="0" cy="217719"/>
          </a:xfrm>
          <a:prstGeom prst="line">
            <a:avLst/>
          </a:prstGeom>
          <a:noFill/>
          <a:ln w="13081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4424" y="3951488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094866"/>
            <a:ext cx="358490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premises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0" y="4249948"/>
            <a:ext cx="358490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claim + version, not the paper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1792498" y="4517502"/>
            <a:ext cx="0" cy="217719"/>
          </a:xfrm>
          <a:prstGeom prst="line">
            <a:avLst/>
          </a:prstGeom>
          <a:noFill/>
          <a:ln w="13081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4424" y="4764298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FCEAEA"/>
          </a:solidFill>
          <a:ln w="13081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07676"/>
            <a:ext cx="358490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contracts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0" y="5062667"/>
            <a:ext cx="358490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accepted, reusable, or declared frontier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3541380" y="2325959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3766" y="2469337"/>
            <a:ext cx="653128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root exports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1603766" y="2624328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unchanged, never rebuilt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4869454" y="2891973"/>
            <a:ext cx="0" cy="217719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541380" y="3138678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3766" y="3282147"/>
            <a:ext cx="653128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local delta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1603766" y="3437138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this paper's new reasoning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4869454" y="3704783"/>
            <a:ext cx="0" cy="217719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541380" y="3951488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3766" y="4094866"/>
            <a:ext cx="653128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local delta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1603766" y="4249948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residual that must be proved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4869454" y="4517502"/>
            <a:ext cx="0" cy="217719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541380" y="4764298"/>
            <a:ext cx="2656058" cy="566014"/>
          </a:xfrm>
          <a:prstGeom prst="roundRect">
            <a:avLst>
              <a:gd name="adj" fmla="val 10258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03766" y="4907676"/>
            <a:ext cx="6531285" cy="170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target export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1603766" y="5062667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contract + status vector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1792498" y="5330312"/>
            <a:ext cx="0" cy="217719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792498" y="5548031"/>
            <a:ext cx="0" cy="10159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792498" y="5649620"/>
            <a:ext cx="101590" cy="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894088" y="5649620"/>
            <a:ext cx="1335298" cy="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3229386" y="5649620"/>
            <a:ext cx="101590" cy="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flipV="1">
            <a:off x="3330976" y="5548031"/>
            <a:ext cx="0" cy="10159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flipV="1">
            <a:off x="3330976" y="2710556"/>
            <a:ext cx="0" cy="2837475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flipV="1">
            <a:off x="3330976" y="2608966"/>
            <a:ext cx="0" cy="10159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3330976" y="2608966"/>
            <a:ext cx="101590" cy="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3432566" y="2608966"/>
            <a:ext cx="58064" cy="0"/>
          </a:xfrm>
          <a:prstGeom prst="line">
            <a:avLst/>
          </a:prstGeom>
          <a:noFill/>
          <a:ln w="12319">
            <a:solidFill>
              <a:srgbClr val="9AA2AC"/>
            </a:solidFill>
            <a:prstDash val="dash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3389041" y="5715823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roots fixed  →  build forward</a:t>
            </a:r>
            <a:endParaRPr lang="en-US" sz="660" dirty="0"/>
          </a:p>
        </p:txBody>
      </p:sp>
      <p:sp>
        <p:nvSpPr>
          <p:cNvPr id="52" name="Text 50"/>
          <p:cNvSpPr/>
          <p:nvPr/>
        </p:nvSpPr>
        <p:spPr>
          <a:xfrm>
            <a:off x="6618336" y="1977573"/>
            <a:ext cx="557335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b="1" spc="46" kern="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QUERYRESOLUTION  —  the receipt</a:t>
            </a:r>
            <a:endParaRPr lang="en-US" sz="710" dirty="0"/>
          </a:p>
        </p:txBody>
      </p:sp>
      <p:sp>
        <p:nvSpPr>
          <p:cNvPr id="53" name="Shape 51"/>
          <p:cNvSpPr/>
          <p:nvPr/>
        </p:nvSpPr>
        <p:spPr>
          <a:xfrm>
            <a:off x="6618336" y="2325959"/>
            <a:ext cx="5108936" cy="478963"/>
          </a:xfrm>
          <a:prstGeom prst="roundRect">
            <a:avLst>
              <a:gd name="adj" fmla="val 12123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8122" y="2525481"/>
            <a:ext cx="79827" cy="7982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6923105" y="2415388"/>
            <a:ext cx="52685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imports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923105" y="2588026"/>
            <a:ext cx="5268590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from the registry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6618336" y="2862986"/>
            <a:ext cx="5108936" cy="478963"/>
          </a:xfrm>
          <a:prstGeom prst="roundRect">
            <a:avLst>
              <a:gd name="adj" fmla="val 12123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38122" y="3062508"/>
            <a:ext cx="79827" cy="7982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9" name="Text 57"/>
          <p:cNvSpPr/>
          <p:nvPr/>
        </p:nvSpPr>
        <p:spPr>
          <a:xfrm>
            <a:off x="6923105" y="2952323"/>
            <a:ext cx="52685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closure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23105" y="3125053"/>
            <a:ext cx="5268590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actually used</a:t>
            </a:r>
            <a:endParaRPr lang="en-US" sz="660" dirty="0"/>
          </a:p>
        </p:txBody>
      </p:sp>
      <p:sp>
        <p:nvSpPr>
          <p:cNvPr id="61" name="Shape 59"/>
          <p:cNvSpPr/>
          <p:nvPr/>
        </p:nvSpPr>
        <p:spPr>
          <a:xfrm>
            <a:off x="6618336" y="3400014"/>
            <a:ext cx="5108936" cy="478963"/>
          </a:xfrm>
          <a:prstGeom prst="roundRect">
            <a:avLst>
              <a:gd name="adj" fmla="val 12123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38122" y="3599536"/>
            <a:ext cx="79827" cy="79827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63" name="Text 61"/>
          <p:cNvSpPr/>
          <p:nvPr/>
        </p:nvSpPr>
        <p:spPr>
          <a:xfrm>
            <a:off x="6923105" y="3489350"/>
            <a:ext cx="52685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delta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923105" y="3662081"/>
            <a:ext cx="5268590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query had to build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6618336" y="3936949"/>
            <a:ext cx="5108936" cy="478963"/>
          </a:xfrm>
          <a:prstGeom prst="roundRect">
            <a:avLst>
              <a:gd name="adj" fmla="val 12123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38122" y="4136563"/>
            <a:ext cx="79827" cy="79827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7" name="Text 65"/>
          <p:cNvSpPr/>
          <p:nvPr/>
        </p:nvSpPr>
        <p:spPr>
          <a:xfrm>
            <a:off x="6923105" y="4026378"/>
            <a:ext cx="52685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frontier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923105" y="4199108"/>
            <a:ext cx="5268590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unresolved source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6618336" y="4473976"/>
            <a:ext cx="5108936" cy="478963"/>
          </a:xfrm>
          <a:prstGeom prst="roundRect">
            <a:avLst>
              <a:gd name="adj" fmla="val 12123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38122" y="4673590"/>
            <a:ext cx="79827" cy="79827"/>
          </a:xfrm>
          <a:prstGeom prst="ellipse">
            <a:avLst/>
          </a:prstGeom>
          <a:solidFill>
            <a:srgbClr val="9AA2AC"/>
          </a:solidFill>
          <a:ln/>
        </p:spPr>
      </p:sp>
      <p:sp>
        <p:nvSpPr>
          <p:cNvPr id="71" name="Text 69"/>
          <p:cNvSpPr/>
          <p:nvPr/>
        </p:nvSpPr>
        <p:spPr>
          <a:xfrm>
            <a:off x="6923105" y="4563405"/>
            <a:ext cx="52685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versions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23105" y="4736135"/>
            <a:ext cx="5268590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the whole closure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6618336" y="5083607"/>
            <a:ext cx="5108936" cy="696681"/>
          </a:xfrm>
          <a:prstGeom prst="roundRect">
            <a:avLst>
              <a:gd name="adj" fmla="val 8334"/>
            </a:avLst>
          </a:prstGeom>
          <a:solidFill>
            <a:srgbClr val="F4F6F8"/>
          </a:solidFill>
          <a:ln/>
        </p:spPr>
      </p:sp>
      <p:sp>
        <p:nvSpPr>
          <p:cNvPr id="74" name="Text 72"/>
          <p:cNvSpPr/>
          <p:nvPr/>
        </p:nvSpPr>
        <p:spPr>
          <a:xfrm>
            <a:off x="6777990" y="5191597"/>
            <a:ext cx="541370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Cached, then reused.</a:t>
            </a:r>
            <a:endParaRPr lang="en-US" sz="770" dirty="0"/>
          </a:p>
        </p:txBody>
      </p:sp>
      <p:sp>
        <p:nvSpPr>
          <p:cNvPr id="75" name="Text 73"/>
          <p:cNvSpPr/>
          <p:nvPr/>
        </p:nvSpPr>
        <p:spPr>
          <a:xfrm>
            <a:off x="6777990" y="5373837"/>
            <a:ext cx="541370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later query sharing a prefix inherits the accepted</a:t>
            </a:r>
            <a:endParaRPr lang="en-US" sz="710" dirty="0"/>
          </a:p>
        </p:txBody>
      </p:sp>
      <p:sp>
        <p:nvSpPr>
          <p:cNvPr id="76" name="Text 74"/>
          <p:cNvSpPr/>
          <p:nvPr/>
        </p:nvSpPr>
        <p:spPr>
          <a:xfrm>
            <a:off x="6777990" y="5519044"/>
            <a:ext cx="541370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and pays only for its own delta.</a:t>
            </a:r>
            <a:endParaRPr lang="en-US" sz="710" dirty="0"/>
          </a:p>
        </p:txBody>
      </p:sp>
      <p:sp>
        <p:nvSpPr>
          <p:cNvPr id="77" name="Shape 75"/>
          <p:cNvSpPr/>
          <p:nvPr/>
        </p:nvSpPr>
        <p:spPr>
          <a:xfrm>
            <a:off x="464424" y="5925403"/>
            <a:ext cx="11262848" cy="420898"/>
          </a:xfrm>
          <a:prstGeom prst="roundRect">
            <a:avLst>
              <a:gd name="adj" fmla="val 13795"/>
            </a:avLst>
          </a:prstGeom>
          <a:solidFill>
            <a:srgbClr val="F4F6F8"/>
          </a:solidFill>
          <a:ln/>
        </p:spPr>
      </p:sp>
      <p:sp>
        <p:nvSpPr>
          <p:cNvPr id="78" name="Text 76"/>
          <p:cNvSpPr/>
          <p:nvPr/>
        </p:nvSpPr>
        <p:spPr>
          <a:xfrm>
            <a:off x="624078" y="6058357"/>
            <a:ext cx="653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invariants: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535552" y="6058357"/>
            <a:ext cx="653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reusable unit is the claim-level contract, not the paper — and the frontier is reported, never hidden.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95987" y="6387541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  ·  §2.1 two opposite directions  ·  §2.5 QueryResolution</a:t>
            </a:r>
            <a:endParaRPr lang="en-US" sz="6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424" y="447233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91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· VERIFICATION SEMANTICS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464424" y="497159"/>
            <a:ext cx="6531285" cy="29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claim carries four independent verification axes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464424" y="787481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axis answers a different question, has its own status enum, and is promoted by its own evidence. Collapsing them into a single Boolean destroys the information a reader needs.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464424" y="1977573"/>
            <a:ext cx="1944837" cy="957925"/>
          </a:xfrm>
          <a:prstGeom prst="roundRect">
            <a:avLst>
              <a:gd name="adj" fmla="val 6061"/>
            </a:avLst>
          </a:prstGeom>
          <a:solidFill>
            <a:srgbClr val="14171C"/>
          </a:solidFill>
          <a:ln/>
        </p:spPr>
      </p:sp>
      <p:sp>
        <p:nvSpPr>
          <p:cNvPr id="6" name="Text 4"/>
          <p:cNvSpPr/>
          <p:nvPr/>
        </p:nvSpPr>
        <p:spPr>
          <a:xfrm>
            <a:off x="609630" y="2134941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" b="1" spc="80" kern="0" dirty="0">
                <a:solidFill>
                  <a:srgbClr val="8F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CLAIM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609630" y="2346808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claim:closed-form-rom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609630" y="2572664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status —</a:t>
            </a:r>
            <a:endParaRPr lang="en-US" sz="710" dirty="0"/>
          </a:p>
        </p:txBody>
      </p:sp>
      <p:sp>
        <p:nvSpPr>
          <p:cNvPr id="9" name="Text 7"/>
          <p:cNvSpPr/>
          <p:nvPr/>
        </p:nvSpPr>
        <p:spPr>
          <a:xfrm>
            <a:off x="609630" y="2717780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B9C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status vector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873776" y="1585752"/>
            <a:ext cx="3410803" cy="928848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8892" y="1774393"/>
            <a:ext cx="203180" cy="203180"/>
          </a:xfrm>
          <a:prstGeom prst="ellipse">
            <a:avLst/>
          </a:prstGeom>
          <a:solidFill>
            <a:srgbClr val="3A4048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1806672"/>
            <a:ext cx="6240963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3309214" y="1786280"/>
            <a:ext cx="6531285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fidelity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3033431" y="2050176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paper actually state?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3033431" y="2246955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the other three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6473220" y="1664117"/>
            <a:ext cx="5718475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ENUM</a:t>
            </a:r>
            <a:endParaRPr lang="en-US" sz="570" dirty="0"/>
          </a:p>
        </p:txBody>
      </p:sp>
      <p:sp>
        <p:nvSpPr>
          <p:cNvPr id="17" name="Shape 15"/>
          <p:cNvSpPr/>
          <p:nvPr/>
        </p:nvSpPr>
        <p:spPr>
          <a:xfrm>
            <a:off x="6473220" y="1846997"/>
            <a:ext cx="555772" cy="174193"/>
          </a:xfrm>
          <a:prstGeom prst="roundRect">
            <a:avLst>
              <a:gd name="adj" fmla="val 49974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3485510" y="1877720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UNCHECKED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473220" y="2064715"/>
            <a:ext cx="414040" cy="174193"/>
          </a:xfrm>
          <a:prstGeom prst="roundRect">
            <a:avLst>
              <a:gd name="adj" fmla="val 49974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3414644" y="2095439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6473220" y="2282434"/>
            <a:ext cx="603047" cy="174193"/>
          </a:xfrm>
          <a:prstGeom prst="roundRect">
            <a:avLst>
              <a:gd name="adj" fmla="val 49974"/>
            </a:avLst>
          </a:prstGeom>
          <a:solidFill>
            <a:srgbClr val="FC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3509101" y="2313158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MISALIGNED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8838956" y="1664117"/>
            <a:ext cx="3352739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ONLY BY</a:t>
            </a:r>
            <a:endParaRPr lang="en-US" sz="570" dirty="0"/>
          </a:p>
        </p:txBody>
      </p:sp>
      <p:sp>
        <p:nvSpPr>
          <p:cNvPr id="24" name="Text 22"/>
          <p:cNvSpPr/>
          <p:nvPr/>
        </p:nvSpPr>
        <p:spPr>
          <a:xfrm>
            <a:off x="8838956" y="1846997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 bundle + span-level anchor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8838956" y="1984888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2409353" y="2456536"/>
            <a:ext cx="159654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569007" y="2456536"/>
            <a:ext cx="87051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flipV="1">
            <a:off x="2656058" y="2369485"/>
            <a:ext cx="0" cy="87051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flipV="1">
            <a:off x="2656058" y="2137227"/>
            <a:ext cx="0" cy="232258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 flipV="1">
            <a:off x="2656058" y="2050176"/>
            <a:ext cx="0" cy="87051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2656058" y="2050176"/>
            <a:ext cx="87051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2743109" y="2050176"/>
            <a:ext cx="79827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873776" y="2630729"/>
            <a:ext cx="3410803" cy="928848"/>
          </a:xfrm>
          <a:prstGeom prst="roundRect">
            <a:avLst>
              <a:gd name="adj" fmla="val 6251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8892" y="2819370"/>
            <a:ext cx="203180" cy="2031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2851648"/>
            <a:ext cx="6240963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309214" y="2831348"/>
            <a:ext cx="6531285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correctness</a:t>
            </a:r>
            <a:endParaRPr lang="en-US" sz="890" dirty="0"/>
          </a:p>
        </p:txBody>
      </p:sp>
      <p:sp>
        <p:nvSpPr>
          <p:cNvPr id="37" name="Text 35"/>
          <p:cNvSpPr/>
          <p:nvPr/>
        </p:nvSpPr>
        <p:spPr>
          <a:xfrm>
            <a:off x="3033431" y="3095153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conclusion follow from the encoded assumptions?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3033431" y="3292023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the other three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6473220" y="2709093"/>
            <a:ext cx="5718475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ENUM</a:t>
            </a:r>
            <a:endParaRPr lang="en-US" sz="570" dirty="0"/>
          </a:p>
        </p:txBody>
      </p:sp>
      <p:sp>
        <p:nvSpPr>
          <p:cNvPr id="40" name="Shape 38"/>
          <p:cNvSpPr/>
          <p:nvPr/>
        </p:nvSpPr>
        <p:spPr>
          <a:xfrm>
            <a:off x="6473220" y="2891973"/>
            <a:ext cx="1075517" cy="174193"/>
          </a:xfrm>
          <a:prstGeom prst="roundRect">
            <a:avLst>
              <a:gd name="adj" fmla="val 49974"/>
            </a:avLst>
          </a:prstGeom>
          <a:solidFill>
            <a:srgbClr val="F4F6F8"/>
          </a:solidFill>
          <a:ln/>
        </p:spPr>
      </p:sp>
      <p:sp>
        <p:nvSpPr>
          <p:cNvPr id="41" name="Text 39"/>
          <p:cNvSpPr/>
          <p:nvPr/>
        </p:nvSpPr>
        <p:spPr>
          <a:xfrm>
            <a:off x="3745291" y="2922788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PARTIALLY_FORMALIZED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473220" y="3109692"/>
            <a:ext cx="792053" cy="174193"/>
          </a:xfrm>
          <a:prstGeom prst="roundRect">
            <a:avLst>
              <a:gd name="adj" fmla="val 49974"/>
            </a:avLst>
          </a:prstGeom>
          <a:solidFill>
            <a:srgbClr val="E8EFFD"/>
          </a:solidFill>
          <a:ln/>
        </p:spPr>
      </p:sp>
      <p:sp>
        <p:nvSpPr>
          <p:cNvPr id="43" name="Text 41"/>
          <p:cNvSpPr/>
          <p:nvPr/>
        </p:nvSpPr>
        <p:spPr>
          <a:xfrm>
            <a:off x="3603559" y="3140507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KERNEL_CHECKED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6473220" y="3327410"/>
            <a:ext cx="414040" cy="174193"/>
          </a:xfrm>
          <a:prstGeom prst="roundRect">
            <a:avLst>
              <a:gd name="adj" fmla="val 49974"/>
            </a:avLst>
          </a:prstGeom>
          <a:solidFill>
            <a:srgbClr val="FCEAEA"/>
          </a:solidFill>
          <a:ln/>
        </p:spPr>
      </p:sp>
      <p:sp>
        <p:nvSpPr>
          <p:cNvPr id="45" name="Text 43"/>
          <p:cNvSpPr/>
          <p:nvPr/>
        </p:nvSpPr>
        <p:spPr>
          <a:xfrm>
            <a:off x="3414644" y="3358134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838956" y="2709093"/>
            <a:ext cx="3352739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ONLY BY</a:t>
            </a:r>
            <a:endParaRPr lang="en-US" sz="570" dirty="0"/>
          </a:p>
        </p:txBody>
      </p:sp>
      <p:sp>
        <p:nvSpPr>
          <p:cNvPr id="47" name="Text 45"/>
          <p:cNvSpPr/>
          <p:nvPr/>
        </p:nvSpPr>
        <p:spPr>
          <a:xfrm>
            <a:off x="8838956" y="2891973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+ pinned mathlib, no sorry /</a:t>
            </a:r>
            <a:endParaRPr lang="en-US" sz="710" dirty="0"/>
          </a:p>
        </p:txBody>
      </p:sp>
      <p:sp>
        <p:nvSpPr>
          <p:cNvPr id="48" name="Text 46"/>
          <p:cNvSpPr/>
          <p:nvPr/>
        </p:nvSpPr>
        <p:spPr>
          <a:xfrm>
            <a:off x="8838956" y="3029864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2409353" y="2456536"/>
            <a:ext cx="159654" cy="0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2569007" y="2456536"/>
            <a:ext cx="87051" cy="0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656058" y="2456536"/>
            <a:ext cx="0" cy="87051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2656058" y="2543678"/>
            <a:ext cx="0" cy="464424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2656058" y="3008102"/>
            <a:ext cx="0" cy="87051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656058" y="3095153"/>
            <a:ext cx="87051" cy="0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743109" y="3095153"/>
            <a:ext cx="79827" cy="0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873776" y="3675705"/>
            <a:ext cx="3410803" cy="928848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18892" y="3864437"/>
            <a:ext cx="203180" cy="203180"/>
          </a:xfrm>
          <a:prstGeom prst="ellipse">
            <a:avLst/>
          </a:prstGeom>
          <a:solidFill>
            <a:srgbClr val="3A4048"/>
          </a:solidFill>
          <a:ln/>
        </p:spPr>
      </p:sp>
      <p:sp>
        <p:nvSpPr>
          <p:cNvPr id="58" name="Text 56"/>
          <p:cNvSpPr/>
          <p:nvPr/>
        </p:nvSpPr>
        <p:spPr>
          <a:xfrm>
            <a:off x="0" y="3896624"/>
            <a:ext cx="6240963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3309214" y="3876324"/>
            <a:ext cx="6531285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reproducibility</a:t>
            </a:r>
            <a:endParaRPr lang="en-US" sz="890" dirty="0"/>
          </a:p>
        </p:txBody>
      </p:sp>
      <p:sp>
        <p:nvSpPr>
          <p:cNvPr id="60" name="Text 58"/>
          <p:cNvSpPr/>
          <p:nvPr/>
        </p:nvSpPr>
        <p:spPr>
          <a:xfrm>
            <a:off x="3033431" y="4140220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reported number be regenerated?</a:t>
            </a:r>
            <a:endParaRPr lang="en-US" sz="710" dirty="0"/>
          </a:p>
        </p:txBody>
      </p:sp>
      <p:sp>
        <p:nvSpPr>
          <p:cNvPr id="61" name="Text 59"/>
          <p:cNvSpPr/>
          <p:nvPr/>
        </p:nvSpPr>
        <p:spPr>
          <a:xfrm>
            <a:off x="3033431" y="4336999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the other three</a:t>
            </a:r>
            <a:endParaRPr lang="en-US" sz="660" dirty="0"/>
          </a:p>
        </p:txBody>
      </p:sp>
      <p:sp>
        <p:nvSpPr>
          <p:cNvPr id="62" name="Text 60"/>
          <p:cNvSpPr/>
          <p:nvPr/>
        </p:nvSpPr>
        <p:spPr>
          <a:xfrm>
            <a:off x="6473220" y="3754069"/>
            <a:ext cx="5718475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ENUM</a:t>
            </a:r>
            <a:endParaRPr lang="en-US" sz="570" dirty="0"/>
          </a:p>
        </p:txBody>
      </p:sp>
      <p:sp>
        <p:nvSpPr>
          <p:cNvPr id="63" name="Shape 61"/>
          <p:cNvSpPr/>
          <p:nvPr/>
        </p:nvSpPr>
        <p:spPr>
          <a:xfrm>
            <a:off x="6473220" y="3936949"/>
            <a:ext cx="744779" cy="174193"/>
          </a:xfrm>
          <a:prstGeom prst="roundRect">
            <a:avLst>
              <a:gd name="adj" fmla="val 49974"/>
            </a:avLst>
          </a:prstGeom>
          <a:solidFill>
            <a:srgbClr val="F4F6F8"/>
          </a:solidFill>
          <a:ln/>
        </p:spPr>
      </p:sp>
      <p:sp>
        <p:nvSpPr>
          <p:cNvPr id="64" name="Text 62"/>
          <p:cNvSpPr/>
          <p:nvPr/>
        </p:nvSpPr>
        <p:spPr>
          <a:xfrm>
            <a:off x="3579967" y="3967764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NOT_ATTEMPTED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6473220" y="4154668"/>
            <a:ext cx="603047" cy="174193"/>
          </a:xfrm>
          <a:prstGeom prst="roundRect">
            <a:avLst>
              <a:gd name="adj" fmla="val 49974"/>
            </a:avLst>
          </a:prstGeom>
          <a:solidFill>
            <a:srgbClr val="F4F6F8"/>
          </a:solidFill>
          <a:ln/>
        </p:spPr>
      </p:sp>
      <p:sp>
        <p:nvSpPr>
          <p:cNvPr id="66" name="Text 64"/>
          <p:cNvSpPr/>
          <p:nvPr/>
        </p:nvSpPr>
        <p:spPr>
          <a:xfrm>
            <a:off x="3509101" y="4185483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REPRODUCED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6473220" y="4372386"/>
            <a:ext cx="461315" cy="174193"/>
          </a:xfrm>
          <a:prstGeom prst="roundRect">
            <a:avLst>
              <a:gd name="adj" fmla="val 49974"/>
            </a:avLst>
          </a:prstGeom>
          <a:solidFill>
            <a:srgbClr val="FCEAEA"/>
          </a:solidFill>
          <a:ln/>
        </p:spPr>
      </p:sp>
      <p:sp>
        <p:nvSpPr>
          <p:cNvPr id="68" name="Text 66"/>
          <p:cNvSpPr/>
          <p:nvPr/>
        </p:nvSpPr>
        <p:spPr>
          <a:xfrm>
            <a:off x="3438235" y="4403202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8838956" y="3754069"/>
            <a:ext cx="3352739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ONLY BY</a:t>
            </a:r>
            <a:endParaRPr lang="en-US" sz="570" dirty="0"/>
          </a:p>
        </p:txBody>
      </p:sp>
      <p:sp>
        <p:nvSpPr>
          <p:cNvPr id="70" name="Text 68"/>
          <p:cNvSpPr/>
          <p:nvPr/>
        </p:nvSpPr>
        <p:spPr>
          <a:xfrm>
            <a:off x="8838956" y="3936949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data + seed + tolerance, rerun</a:t>
            </a:r>
            <a:endParaRPr lang="en-US" sz="710" dirty="0"/>
          </a:p>
        </p:txBody>
      </p:sp>
      <p:sp>
        <p:nvSpPr>
          <p:cNvPr id="71" name="Text 69"/>
          <p:cNvSpPr/>
          <p:nvPr/>
        </p:nvSpPr>
        <p:spPr>
          <a:xfrm>
            <a:off x="8838956" y="4074841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clean checkout</a:t>
            </a:r>
            <a:endParaRPr lang="en-US" sz="710" dirty="0"/>
          </a:p>
        </p:txBody>
      </p:sp>
      <p:sp>
        <p:nvSpPr>
          <p:cNvPr id="72" name="Shape 70"/>
          <p:cNvSpPr/>
          <p:nvPr/>
        </p:nvSpPr>
        <p:spPr>
          <a:xfrm>
            <a:off x="2409353" y="2456536"/>
            <a:ext cx="159654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2569007" y="2456536"/>
            <a:ext cx="87051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2656058" y="2456536"/>
            <a:ext cx="0" cy="87051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2656058" y="2543678"/>
            <a:ext cx="0" cy="1509492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2656058" y="4053078"/>
            <a:ext cx="0" cy="87051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2656058" y="4140220"/>
            <a:ext cx="87051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2743109" y="4140220"/>
            <a:ext cx="79827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2873776" y="4720773"/>
            <a:ext cx="3410803" cy="928848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018892" y="4909414"/>
            <a:ext cx="203180" cy="203180"/>
          </a:xfrm>
          <a:prstGeom prst="ellipse">
            <a:avLst/>
          </a:prstGeom>
          <a:solidFill>
            <a:srgbClr val="3A4048"/>
          </a:solidFill>
          <a:ln/>
        </p:spPr>
      </p:sp>
      <p:sp>
        <p:nvSpPr>
          <p:cNvPr id="81" name="Text 79"/>
          <p:cNvSpPr/>
          <p:nvPr/>
        </p:nvSpPr>
        <p:spPr>
          <a:xfrm>
            <a:off x="0" y="4941600"/>
            <a:ext cx="6240963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09214" y="4921301"/>
            <a:ext cx="6531285" cy="182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Physical-semantic alignment</a:t>
            </a:r>
            <a:endParaRPr lang="en-US" sz="890" dirty="0"/>
          </a:p>
        </p:txBody>
      </p:sp>
      <p:sp>
        <p:nvSpPr>
          <p:cNvPr id="83" name="Text 81"/>
          <p:cNvSpPr/>
          <p:nvPr/>
        </p:nvSpPr>
        <p:spPr>
          <a:xfrm>
            <a:off x="3033431" y="5185197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formal object mean the intended physics?</a:t>
            </a:r>
            <a:endParaRPr lang="en-US" sz="710" dirty="0"/>
          </a:p>
        </p:txBody>
      </p:sp>
      <p:sp>
        <p:nvSpPr>
          <p:cNvPr id="84" name="Text 82"/>
          <p:cNvSpPr/>
          <p:nvPr/>
        </p:nvSpPr>
        <p:spPr>
          <a:xfrm>
            <a:off x="3033431" y="5381976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the other three</a:t>
            </a:r>
            <a:endParaRPr lang="en-US" sz="660" dirty="0"/>
          </a:p>
        </p:txBody>
      </p:sp>
      <p:sp>
        <p:nvSpPr>
          <p:cNvPr id="85" name="Text 83"/>
          <p:cNvSpPr/>
          <p:nvPr/>
        </p:nvSpPr>
        <p:spPr>
          <a:xfrm>
            <a:off x="6473220" y="4799137"/>
            <a:ext cx="5718475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ENUM</a:t>
            </a:r>
            <a:endParaRPr lang="en-US" sz="570" dirty="0"/>
          </a:p>
        </p:txBody>
      </p:sp>
      <p:sp>
        <p:nvSpPr>
          <p:cNvPr id="86" name="Shape 84"/>
          <p:cNvSpPr/>
          <p:nvPr/>
        </p:nvSpPr>
        <p:spPr>
          <a:xfrm>
            <a:off x="6473220" y="4982017"/>
            <a:ext cx="792053" cy="174193"/>
          </a:xfrm>
          <a:prstGeom prst="roundRect">
            <a:avLst>
              <a:gd name="adj" fmla="val 49974"/>
            </a:avLst>
          </a:prstGeom>
          <a:solidFill>
            <a:srgbClr val="F4F6F8"/>
          </a:solidFill>
          <a:ln/>
        </p:spPr>
      </p:sp>
      <p:sp>
        <p:nvSpPr>
          <p:cNvPr id="87" name="Text 85"/>
          <p:cNvSpPr/>
          <p:nvPr/>
        </p:nvSpPr>
        <p:spPr>
          <a:xfrm>
            <a:off x="3603559" y="5012741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AGENT_REVIEWED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473220" y="5199736"/>
            <a:ext cx="792053" cy="174193"/>
          </a:xfrm>
          <a:prstGeom prst="roundRect">
            <a:avLst>
              <a:gd name="adj" fmla="val 49974"/>
            </a:avLst>
          </a:prstGeom>
          <a:solidFill>
            <a:srgbClr val="F4F6F8"/>
          </a:solidFill>
          <a:ln/>
        </p:spPr>
      </p:sp>
      <p:sp>
        <p:nvSpPr>
          <p:cNvPr id="89" name="Text 87"/>
          <p:cNvSpPr/>
          <p:nvPr/>
        </p:nvSpPr>
        <p:spPr>
          <a:xfrm>
            <a:off x="3603559" y="5230459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HUMAN_REVIEWED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6473220" y="5417363"/>
            <a:ext cx="555772" cy="174193"/>
          </a:xfrm>
          <a:prstGeom prst="roundRect">
            <a:avLst>
              <a:gd name="adj" fmla="val 49974"/>
            </a:avLst>
          </a:prstGeom>
          <a:solidFill>
            <a:srgbClr val="FCEAEA"/>
          </a:solidFill>
          <a:ln/>
        </p:spPr>
      </p:sp>
      <p:sp>
        <p:nvSpPr>
          <p:cNvPr id="91" name="Text 89"/>
          <p:cNvSpPr/>
          <p:nvPr/>
        </p:nvSpPr>
        <p:spPr>
          <a:xfrm>
            <a:off x="3485510" y="5448178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CONTESTED</a:t>
            </a:r>
            <a:endParaRPr lang="en-US" sz="600" dirty="0"/>
          </a:p>
        </p:txBody>
      </p:sp>
      <p:sp>
        <p:nvSpPr>
          <p:cNvPr id="92" name="Text 90"/>
          <p:cNvSpPr/>
          <p:nvPr/>
        </p:nvSpPr>
        <p:spPr>
          <a:xfrm>
            <a:off x="8838956" y="4799137"/>
            <a:ext cx="3352739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" b="1" spc="69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ONLY BY</a:t>
            </a:r>
            <a:endParaRPr lang="en-US" sz="570" dirty="0"/>
          </a:p>
        </p:txBody>
      </p:sp>
      <p:sp>
        <p:nvSpPr>
          <p:cNvPr id="93" name="Text 91"/>
          <p:cNvSpPr/>
          <p:nvPr/>
        </p:nvSpPr>
        <p:spPr>
          <a:xfrm>
            <a:off x="8838956" y="4982017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reviewer — no kernel can decide</a:t>
            </a:r>
            <a:endParaRPr lang="en-US" sz="710" dirty="0"/>
          </a:p>
        </p:txBody>
      </p:sp>
      <p:sp>
        <p:nvSpPr>
          <p:cNvPr id="94" name="Text 92"/>
          <p:cNvSpPr/>
          <p:nvPr/>
        </p:nvSpPr>
        <p:spPr>
          <a:xfrm>
            <a:off x="8838956" y="5119908"/>
            <a:ext cx="3352739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</a:t>
            </a:r>
            <a:endParaRPr lang="en-US" sz="710" dirty="0"/>
          </a:p>
        </p:txBody>
      </p:sp>
      <p:sp>
        <p:nvSpPr>
          <p:cNvPr id="95" name="Shape 93"/>
          <p:cNvSpPr/>
          <p:nvPr/>
        </p:nvSpPr>
        <p:spPr>
          <a:xfrm>
            <a:off x="2409353" y="2456536"/>
            <a:ext cx="159654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2569007" y="2456536"/>
            <a:ext cx="87051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2656058" y="2456536"/>
            <a:ext cx="0" cy="87051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2656058" y="2543678"/>
            <a:ext cx="0" cy="2554468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2656058" y="5098146"/>
            <a:ext cx="0" cy="87051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2656058" y="5185197"/>
            <a:ext cx="87051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2743109" y="5185197"/>
            <a:ext cx="79827" cy="0"/>
          </a:xfrm>
          <a:prstGeom prst="line">
            <a:avLst/>
          </a:prstGeom>
          <a:noFill/>
          <a:ln w="9398">
            <a:solidFill>
              <a:srgbClr val="D4D9E0"/>
            </a:solidFill>
            <a:prstDash val="dash"/>
            <a:headEnd type="none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464424" y="5939942"/>
            <a:ext cx="11262848" cy="449976"/>
          </a:xfrm>
          <a:prstGeom prst="roundRect">
            <a:avLst>
              <a:gd name="adj" fmla="val 12904"/>
            </a:avLst>
          </a:prstGeom>
          <a:solidFill>
            <a:srgbClr val="FCEAEA"/>
          </a:solidFill>
          <a:ln/>
        </p:spPr>
      </p:sp>
      <p:sp>
        <p:nvSpPr>
          <p:cNvPr id="103" name="Text 101"/>
          <p:cNvSpPr/>
          <p:nvPr/>
        </p:nvSpPr>
        <p:spPr>
          <a:xfrm>
            <a:off x="638617" y="6093744"/>
            <a:ext cx="6531285" cy="176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Lean build answers axis 2 only</a:t>
            </a:r>
            <a:endParaRPr lang="en-US" sz="860" dirty="0"/>
          </a:p>
        </p:txBody>
      </p:sp>
      <p:sp>
        <p:nvSpPr>
          <p:cNvPr id="104" name="Text 102"/>
          <p:cNvSpPr/>
          <p:nvPr/>
        </p:nvSpPr>
        <p:spPr>
          <a:xfrm>
            <a:off x="2815712" y="6101883"/>
            <a:ext cx="653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only under the definitions you encoded. It certifies nothing on axes 1, 3, or 4.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195987" y="6460053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  ·  §3 trusted verification layers  ·  §6.4 verification axes</a:t>
            </a:r>
            <a:endParaRPr lang="en-US" sz="6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424" y="810067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91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· MINIMAL DATA MODEL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464424" y="859993"/>
            <a:ext cx="6531285" cy="29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reusable unit is a claim-level contract, not a paper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464424" y="1150315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citation binds two documents. A MathContract binds one normalized statement to one version, so a later query can import it without re-reading the paper.</a:t>
            </a:r>
            <a:endParaRPr lang="en-US" sz="710" dirty="0"/>
          </a:p>
        </p:txBody>
      </p:sp>
      <p:sp>
        <p:nvSpPr>
          <p:cNvPr id="5" name="Text 3"/>
          <p:cNvSpPr/>
          <p:nvPr/>
        </p:nvSpPr>
        <p:spPr>
          <a:xfrm>
            <a:off x="464424" y="1572951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DEPENDENCY BINDS TO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64424" y="1832458"/>
            <a:ext cx="3309214" cy="1146566"/>
          </a:xfrm>
          <a:prstGeom prst="roundRect">
            <a:avLst>
              <a:gd name="adj" fmla="val 5064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078" y="1944472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paper-level  (citation graph)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624078" y="2180844"/>
            <a:ext cx="1248156" cy="333847"/>
          </a:xfrm>
          <a:prstGeom prst="roundRect">
            <a:avLst>
              <a:gd name="adj" fmla="val 17393"/>
            </a:avLst>
          </a:prstGeom>
          <a:solidFill>
            <a:srgbClr val="F4F6F8"/>
          </a:solidFill>
          <a:ln w="8763">
            <a:solidFill>
              <a:srgbClr val="D4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274296"/>
            <a:ext cx="2496403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A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365736" y="2180844"/>
            <a:ext cx="1248156" cy="333847"/>
          </a:xfrm>
          <a:prstGeom prst="roundRect">
            <a:avLst>
              <a:gd name="adj" fmla="val 17393"/>
            </a:avLst>
          </a:prstGeom>
          <a:solidFill>
            <a:srgbClr val="F4F6F8"/>
          </a:solidFill>
          <a:ln w="8763">
            <a:solidFill>
              <a:srgbClr val="D4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2274296"/>
            <a:ext cx="5979719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B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1872325" y="2347722"/>
            <a:ext cx="493502" cy="0"/>
          </a:xfrm>
          <a:prstGeom prst="line">
            <a:avLst/>
          </a:prstGeom>
          <a:noFill/>
          <a:ln w="11557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0" y="2182581"/>
            <a:ext cx="423806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24078" y="2634844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result? Under which hypotheses?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624078" y="2779959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Load-bearing, or background? Unanswerable.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464424" y="3182295"/>
            <a:ext cx="3309214" cy="1277234"/>
          </a:xfrm>
          <a:prstGeom prst="roundRect">
            <a:avLst>
              <a:gd name="adj" fmla="val 4546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078" y="3294309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claim-level  (AgtXIv)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24078" y="3530590"/>
            <a:ext cx="1378824" cy="377373"/>
          </a:xfrm>
          <a:prstGeom prst="roundRect">
            <a:avLst>
              <a:gd name="adj" fmla="val 15386"/>
            </a:avLst>
          </a:prstGeom>
          <a:solidFill>
            <a:srgbClr val="FFFFFF"/>
          </a:solidFill>
          <a:ln w="9398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3588654"/>
            <a:ext cx="2626980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Claim A.3</a:t>
            </a:r>
            <a:endParaRPr lang="en-US" sz="710" dirty="0"/>
          </a:p>
        </p:txBody>
      </p:sp>
      <p:sp>
        <p:nvSpPr>
          <p:cNvPr id="20" name="Text 18"/>
          <p:cNvSpPr/>
          <p:nvPr/>
        </p:nvSpPr>
        <p:spPr>
          <a:xfrm>
            <a:off x="0" y="3746845"/>
            <a:ext cx="2626980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importing statement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2235159" y="3530590"/>
            <a:ext cx="1378824" cy="377373"/>
          </a:xfrm>
          <a:prstGeom prst="roundRect">
            <a:avLst>
              <a:gd name="adj" fmla="val 15386"/>
            </a:avLst>
          </a:prstGeom>
          <a:solidFill>
            <a:srgbClr val="FFFFFF"/>
          </a:solidFill>
          <a:ln w="9398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3588654"/>
            <a:ext cx="5849142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Theorem B.2</a:t>
            </a:r>
            <a:endParaRPr lang="en-US" sz="710" dirty="0"/>
          </a:p>
        </p:txBody>
      </p:sp>
      <p:sp>
        <p:nvSpPr>
          <p:cNvPr id="23" name="Text 21"/>
          <p:cNvSpPr/>
          <p:nvPr/>
        </p:nvSpPr>
        <p:spPr>
          <a:xfrm>
            <a:off x="0" y="3746845"/>
            <a:ext cx="5849142" cy="117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imported statement</a:t>
            </a:r>
            <a:endParaRPr lang="en-US" sz="570" dirty="0"/>
          </a:p>
        </p:txBody>
      </p:sp>
      <p:sp>
        <p:nvSpPr>
          <p:cNvPr id="24" name="Shape 22"/>
          <p:cNvSpPr/>
          <p:nvPr/>
        </p:nvSpPr>
        <p:spPr>
          <a:xfrm>
            <a:off x="2002902" y="3719322"/>
            <a:ext cx="232258" cy="0"/>
          </a:xfrm>
          <a:prstGeom prst="line">
            <a:avLst/>
          </a:prstGeom>
          <a:noFill/>
          <a:ln w="13843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24078" y="4013576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 +  an explicit assumption-matching record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624078" y="4187769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to a contract version, so it can be reused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4179997" y="1572951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MATHCONTRACT — WHAT ONE RECORD MUST CARRY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179997" y="1832458"/>
            <a:ext cx="7547275" cy="3381726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3081">
            <a:solidFill>
              <a:srgbClr val="1417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79997" y="1832458"/>
            <a:ext cx="7547275" cy="377373"/>
          </a:xfrm>
          <a:prstGeom prst="roundRect">
            <a:avLst>
              <a:gd name="adj" fmla="val 15386"/>
            </a:avLst>
          </a:prstGeom>
          <a:solidFill>
            <a:srgbClr val="14171C"/>
          </a:solidFill>
          <a:ln/>
        </p:spPr>
      </p:sp>
      <p:sp>
        <p:nvSpPr>
          <p:cNvPr id="30" name="Shape 28"/>
          <p:cNvSpPr/>
          <p:nvPr/>
        </p:nvSpPr>
        <p:spPr>
          <a:xfrm>
            <a:off x="4179997" y="2122780"/>
            <a:ext cx="7547275" cy="87051"/>
          </a:xfrm>
          <a:prstGeom prst="rect">
            <a:avLst/>
          </a:prstGeom>
          <a:solidFill>
            <a:srgbClr val="14171C"/>
          </a:solidFill>
          <a:ln/>
        </p:spPr>
      </p:sp>
      <p:sp>
        <p:nvSpPr>
          <p:cNvPr id="31" name="Text 29"/>
          <p:cNvSpPr/>
          <p:nvPr/>
        </p:nvSpPr>
        <p:spPr>
          <a:xfrm>
            <a:off x="4339651" y="1958188"/>
            <a:ext cx="653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math-contract:claim.closed-form-rom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769346" y="1934047"/>
            <a:ext cx="328635" cy="174193"/>
          </a:xfrm>
          <a:prstGeom prst="roundRect">
            <a:avLst>
              <a:gd name="adj" fmla="val 49974"/>
            </a:avLst>
          </a:prstGeom>
          <a:solidFill>
            <a:srgbClr val="2E3440"/>
          </a:solidFill>
          <a:ln/>
        </p:spPr>
      </p:sp>
      <p:sp>
        <p:nvSpPr>
          <p:cNvPr id="33" name="Text 31"/>
          <p:cNvSpPr/>
          <p:nvPr/>
        </p:nvSpPr>
        <p:spPr>
          <a:xfrm>
            <a:off x="9675541" y="1960748"/>
            <a:ext cx="2516154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v0.4</a:t>
            </a:r>
            <a:endParaRPr lang="en-US" sz="630" dirty="0"/>
          </a:p>
        </p:txBody>
      </p:sp>
      <p:sp>
        <p:nvSpPr>
          <p:cNvPr id="34" name="Shape 32"/>
          <p:cNvSpPr/>
          <p:nvPr/>
        </p:nvSpPr>
        <p:spPr>
          <a:xfrm>
            <a:off x="4339651" y="2413010"/>
            <a:ext cx="58064" cy="58064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35" name="Text 33"/>
          <p:cNvSpPr/>
          <p:nvPr/>
        </p:nvSpPr>
        <p:spPr>
          <a:xfrm>
            <a:off x="4499305" y="2368570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statement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5994258" y="2376708"/>
            <a:ext cx="619743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quantifiers · domain · exactness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4339651" y="2572664"/>
            <a:ext cx="7227966" cy="0"/>
          </a:xfrm>
          <a:prstGeom prst="line">
            <a:avLst/>
          </a:prstGeom>
          <a:noFill/>
          <a:ln w="7239">
            <a:solidFill>
              <a:srgbClr val="EDF0F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39651" y="2703332"/>
            <a:ext cx="58064" cy="58064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39" name="Text 37"/>
          <p:cNvSpPr/>
          <p:nvPr/>
        </p:nvSpPr>
        <p:spPr>
          <a:xfrm>
            <a:off x="4499305" y="2658892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994258" y="2667030"/>
            <a:ext cx="619743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Pauli-active dependency; G_M perfect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4339651" y="2862986"/>
            <a:ext cx="7227966" cy="0"/>
          </a:xfrm>
          <a:prstGeom prst="line">
            <a:avLst/>
          </a:prstGeom>
          <a:noFill/>
          <a:ln w="7239">
            <a:solidFill>
              <a:srgbClr val="EDF0F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339651" y="2993563"/>
            <a:ext cx="58064" cy="58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499305" y="2949214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imports</a:t>
            </a:r>
            <a:endParaRPr lang="en-US" sz="770" dirty="0"/>
          </a:p>
        </p:txBody>
      </p:sp>
      <p:sp>
        <p:nvSpPr>
          <p:cNvPr id="44" name="Text 42"/>
          <p:cNvSpPr/>
          <p:nvPr/>
        </p:nvSpPr>
        <p:spPr>
          <a:xfrm>
            <a:off x="5994258" y="2957261"/>
            <a:ext cx="619743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exact-graph-program · perfect-graph-antiblocker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4339651" y="3153217"/>
            <a:ext cx="7227966" cy="0"/>
          </a:xfrm>
          <a:prstGeom prst="line">
            <a:avLst/>
          </a:prstGeom>
          <a:noFill/>
          <a:ln w="7239">
            <a:solidFill>
              <a:srgbClr val="EDF0F4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4339651" y="3283885"/>
            <a:ext cx="58064" cy="58064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47" name="Text 45"/>
          <p:cNvSpPr/>
          <p:nvPr/>
        </p:nvSpPr>
        <p:spPr>
          <a:xfrm>
            <a:off x="4499305" y="3239445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anchor</a:t>
            </a:r>
            <a:endParaRPr lang="en-US" sz="770" dirty="0"/>
          </a:p>
        </p:txBody>
      </p:sp>
      <p:sp>
        <p:nvSpPr>
          <p:cNvPr id="48" name="Text 46"/>
          <p:cNvSpPr/>
          <p:nvPr/>
        </p:nvSpPr>
        <p:spPr>
          <a:xfrm>
            <a:off x="5994258" y="3247583"/>
            <a:ext cx="619743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bundle hash + span in draft.tex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4339651" y="3443539"/>
            <a:ext cx="7227966" cy="0"/>
          </a:xfrm>
          <a:prstGeom prst="line">
            <a:avLst/>
          </a:prstGeom>
          <a:noFill/>
          <a:ln w="7239">
            <a:solidFill>
              <a:srgbClr val="EDF0F4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4339651" y="3574115"/>
            <a:ext cx="58064" cy="58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4499305" y="3529767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binding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5994258" y="3537814"/>
            <a:ext cx="619743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declaration, or an explicit GAP — never blank</a:t>
            </a:r>
            <a:endParaRPr lang="en-US" sz="710" dirty="0"/>
          </a:p>
        </p:txBody>
      </p:sp>
      <p:sp>
        <p:nvSpPr>
          <p:cNvPr id="53" name="Shape 51"/>
          <p:cNvSpPr/>
          <p:nvPr/>
        </p:nvSpPr>
        <p:spPr>
          <a:xfrm>
            <a:off x="4339651" y="3733770"/>
            <a:ext cx="7227966" cy="0"/>
          </a:xfrm>
          <a:prstGeom prst="line">
            <a:avLst/>
          </a:prstGeom>
          <a:noFill/>
          <a:ln w="7239">
            <a:solidFill>
              <a:srgbClr val="EDF0F4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4339651" y="3864437"/>
            <a:ext cx="58064" cy="58064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55" name="Text 53"/>
          <p:cNvSpPr/>
          <p:nvPr/>
        </p:nvSpPr>
        <p:spPr>
          <a:xfrm>
            <a:off x="4499305" y="3819997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vector</a:t>
            </a:r>
            <a:endParaRPr lang="en-US" sz="770" dirty="0"/>
          </a:p>
        </p:txBody>
      </p:sp>
      <p:sp>
        <p:nvSpPr>
          <p:cNvPr id="56" name="Text 54"/>
          <p:cNvSpPr/>
          <p:nvPr/>
        </p:nvSpPr>
        <p:spPr>
          <a:xfrm>
            <a:off x="5994258" y="3828136"/>
            <a:ext cx="619743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 per axis, never one Boolean</a:t>
            </a:r>
            <a:endParaRPr lang="en-US" sz="710" dirty="0"/>
          </a:p>
        </p:txBody>
      </p:sp>
      <p:sp>
        <p:nvSpPr>
          <p:cNvPr id="57" name="Shape 55"/>
          <p:cNvSpPr/>
          <p:nvPr/>
        </p:nvSpPr>
        <p:spPr>
          <a:xfrm>
            <a:off x="4339651" y="4024092"/>
            <a:ext cx="7227966" cy="0"/>
          </a:xfrm>
          <a:prstGeom prst="line">
            <a:avLst/>
          </a:prstGeom>
          <a:noFill/>
          <a:ln w="7239">
            <a:solidFill>
              <a:srgbClr val="EDF0F4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4339651" y="4154668"/>
            <a:ext cx="58064" cy="5806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9" name="Text 57"/>
          <p:cNvSpPr/>
          <p:nvPr/>
        </p:nvSpPr>
        <p:spPr>
          <a:xfrm>
            <a:off x="4499305" y="4110319"/>
            <a:ext cx="6531285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</a:t>
            </a:r>
            <a:endParaRPr lang="en-US" sz="770" dirty="0"/>
          </a:p>
        </p:txBody>
      </p:sp>
      <p:sp>
        <p:nvSpPr>
          <p:cNvPr id="60" name="Text 58"/>
          <p:cNvSpPr/>
          <p:nvPr/>
        </p:nvSpPr>
        <p:spPr>
          <a:xfrm>
            <a:off x="5994258" y="4118366"/>
            <a:ext cx="619743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stops promotion, named and open</a:t>
            </a:r>
            <a:endParaRPr lang="en-US" sz="710" dirty="0"/>
          </a:p>
        </p:txBody>
      </p:sp>
      <p:sp>
        <p:nvSpPr>
          <p:cNvPr id="61" name="Shape 59"/>
          <p:cNvSpPr/>
          <p:nvPr/>
        </p:nvSpPr>
        <p:spPr>
          <a:xfrm>
            <a:off x="4339651" y="4517502"/>
            <a:ext cx="7227966" cy="537027"/>
          </a:xfrm>
          <a:prstGeom prst="roundRect">
            <a:avLst>
              <a:gd name="adj" fmla="val 10812"/>
            </a:avLst>
          </a:prstGeom>
          <a:solidFill>
            <a:srgbClr val="F4F6F8"/>
          </a:solidFill>
          <a:ln/>
        </p:spPr>
      </p:sp>
      <p:sp>
        <p:nvSpPr>
          <p:cNvPr id="62" name="Text 60"/>
          <p:cNvSpPr/>
          <p:nvPr/>
        </p:nvSpPr>
        <p:spPr>
          <a:xfrm>
            <a:off x="4470319" y="4615983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importer binds to</a:t>
            </a:r>
            <a:endParaRPr lang="en-US" sz="690" dirty="0"/>
          </a:p>
        </p:txBody>
      </p:sp>
      <p:sp>
        <p:nvSpPr>
          <p:cNvPr id="63" name="Shape 61"/>
          <p:cNvSpPr/>
          <p:nvPr/>
        </p:nvSpPr>
        <p:spPr>
          <a:xfrm>
            <a:off x="5471770" y="4604644"/>
            <a:ext cx="774040" cy="174193"/>
          </a:xfrm>
          <a:prstGeom prst="roundRect">
            <a:avLst>
              <a:gd name="adj" fmla="val 49974"/>
            </a:avLst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2593147" y="4631345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contract@v0.4</a:t>
            </a:r>
            <a:endParaRPr lang="en-US" sz="630" dirty="0"/>
          </a:p>
        </p:txBody>
      </p:sp>
      <p:sp>
        <p:nvSpPr>
          <p:cNvPr id="65" name="Text 63"/>
          <p:cNvSpPr/>
          <p:nvPr/>
        </p:nvSpPr>
        <p:spPr>
          <a:xfrm>
            <a:off x="6502207" y="4615983"/>
            <a:ext cx="5689488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to “the paper”.</a:t>
            </a:r>
            <a:endParaRPr lang="en-US" sz="690" dirty="0"/>
          </a:p>
        </p:txBody>
      </p:sp>
      <p:sp>
        <p:nvSpPr>
          <p:cNvPr id="66" name="Text 64"/>
          <p:cNvSpPr/>
          <p:nvPr/>
        </p:nvSpPr>
        <p:spPr>
          <a:xfrm>
            <a:off x="4470319" y="4819162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upstream version bump invalidates only the affected downstream closure.</a:t>
            </a:r>
            <a:endParaRPr lang="en-US" sz="690" dirty="0"/>
          </a:p>
        </p:txBody>
      </p:sp>
      <p:sp>
        <p:nvSpPr>
          <p:cNvPr id="67" name="Text 65"/>
          <p:cNvSpPr/>
          <p:nvPr/>
        </p:nvSpPr>
        <p:spPr>
          <a:xfrm>
            <a:off x="4179997" y="5433639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 NEED NOT REACH ACCEPTANCE IN ONE PASS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4179997" y="5664159"/>
            <a:ext cx="461315" cy="20318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69" name="Text 67"/>
          <p:cNvSpPr/>
          <p:nvPr/>
        </p:nvSpPr>
        <p:spPr>
          <a:xfrm>
            <a:off x="1145012" y="5709422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INDEXED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4677613" y="5765749"/>
            <a:ext cx="145115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859030" y="5664159"/>
            <a:ext cx="603047" cy="20318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72" name="Text 70"/>
          <p:cNvSpPr/>
          <p:nvPr/>
        </p:nvSpPr>
        <p:spPr>
          <a:xfrm>
            <a:off x="1894911" y="5709422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5498379" y="5765749"/>
            <a:ext cx="145115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679796" y="5664159"/>
            <a:ext cx="933785" cy="20318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75" name="Text 73"/>
          <p:cNvSpPr/>
          <p:nvPr/>
        </p:nvSpPr>
        <p:spPr>
          <a:xfrm>
            <a:off x="2881092" y="5709422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DEPENDENCY_MAPPED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6649883" y="5765749"/>
            <a:ext cx="145115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6831300" y="5664159"/>
            <a:ext cx="980968" cy="20318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78" name="Text 76"/>
          <p:cNvSpPr/>
          <p:nvPr/>
        </p:nvSpPr>
        <p:spPr>
          <a:xfrm>
            <a:off x="4056096" y="5709422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FORMALLY_CONNECTED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7848570" y="5765749"/>
            <a:ext cx="145115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8029986" y="5664159"/>
            <a:ext cx="933785" cy="203180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/>
        </p:spPr>
      </p:sp>
      <p:sp>
        <p:nvSpPr>
          <p:cNvPr id="81" name="Text 79"/>
          <p:cNvSpPr/>
          <p:nvPr/>
        </p:nvSpPr>
        <p:spPr>
          <a:xfrm>
            <a:off x="5231191" y="5709422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ACCEPTED_CONTRACT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424" y="4678893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424" y="4847326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exports many results at different maturity.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64424" y="5006980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reuse to the paper inherits all of them —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64424" y="5166634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the ones that are still unverified.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5195987" y="6097219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  ·  §2.3 claim-level inheritance  ·  §5.0 MathContract  ·  §2.6 progressive standardization</a:t>
            </a:r>
            <a:endParaRPr lang="en-US" sz="6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424" y="955274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91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· QUERY EXECUTION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464424" y="1005200"/>
            <a:ext cx="6531285" cy="29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registry behaves like a package manager with an incremental build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464424" y="1295430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expensive offline path standardizes contracts once. The online path reuses the accepted closure and pays only for the frontier that is actually missing.</a:t>
            </a:r>
            <a:endParaRPr lang="en-US" sz="710" dirty="0"/>
          </a:p>
        </p:txBody>
      </p:sp>
      <p:sp>
        <p:nvSpPr>
          <p:cNvPr id="5" name="Text 3"/>
          <p:cNvSpPr/>
          <p:nvPr/>
        </p:nvSpPr>
        <p:spPr>
          <a:xfrm>
            <a:off x="464424" y="1805208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 —  done once, amortised over every later query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64424" y="2050176"/>
            <a:ext cx="1683593" cy="391912"/>
          </a:xfrm>
          <a:prstGeom prst="roundRect">
            <a:avLst>
              <a:gd name="adj" fmla="val 14816"/>
            </a:avLst>
          </a:prstGeom>
          <a:solidFill>
            <a:srgbClr val="F4F6F8"/>
          </a:solidFill>
          <a:ln w="9398">
            <a:solidFill>
              <a:srgbClr val="D4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176729"/>
            <a:ext cx="2612532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sources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162556" y="2246132"/>
            <a:ext cx="101590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78685" y="2050176"/>
            <a:ext cx="1683593" cy="391912"/>
          </a:xfrm>
          <a:prstGeom prst="roundRect">
            <a:avLst>
              <a:gd name="adj" fmla="val 14816"/>
            </a:avLst>
          </a:prstGeom>
          <a:solidFill>
            <a:srgbClr val="F4F6F8"/>
          </a:solidFill>
          <a:ln w="9398">
            <a:solidFill>
              <a:srgbClr val="D4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176729"/>
            <a:ext cx="6240963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candidates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976817" y="2246132"/>
            <a:ext cx="101590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92946" y="2050176"/>
            <a:ext cx="1683593" cy="391912"/>
          </a:xfrm>
          <a:prstGeom prst="roundRect">
            <a:avLst>
              <a:gd name="adj" fmla="val 14816"/>
            </a:avLst>
          </a:prstGeom>
          <a:solidFill>
            <a:srgbClr val="F4F6F8"/>
          </a:solidFill>
          <a:ln w="9398">
            <a:solidFill>
              <a:srgbClr val="D4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9146" y="2176729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contracts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791078" y="2246132"/>
            <a:ext cx="101590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07207" y="2050176"/>
            <a:ext cx="1683593" cy="391912"/>
          </a:xfrm>
          <a:prstGeom prst="roundRect">
            <a:avLst>
              <a:gd name="adj" fmla="val 14816"/>
            </a:avLst>
          </a:prstGeom>
          <a:solidFill>
            <a:srgbClr val="F4F6F8"/>
          </a:solidFill>
          <a:ln w="9398">
            <a:solidFill>
              <a:srgbClr val="D4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315" y="2176729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dependencies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7605339" y="2246132"/>
            <a:ext cx="101590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1376" y="2050176"/>
            <a:ext cx="1683593" cy="391912"/>
          </a:xfrm>
          <a:prstGeom prst="roundRect">
            <a:avLst>
              <a:gd name="adj" fmla="val 14816"/>
            </a:avLst>
          </a:prstGeom>
          <a:solidFill>
            <a:srgbClr val="F4F6F8"/>
          </a:solidFill>
          <a:ln w="9398">
            <a:solidFill>
              <a:srgbClr val="D4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7576" y="2176729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declarations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9419509" y="2246132"/>
            <a:ext cx="101590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35638" y="2050176"/>
            <a:ext cx="1683593" cy="391912"/>
          </a:xfrm>
          <a:prstGeom prst="roundRect">
            <a:avLst>
              <a:gd name="adj" fmla="val 14816"/>
            </a:avLst>
          </a:prstGeom>
          <a:solidFill>
            <a:srgbClr val="F4F6F8"/>
          </a:solidFill>
          <a:ln w="9398">
            <a:solidFill>
              <a:srgbClr val="D4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3173" y="2176729"/>
            <a:ext cx="3628522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verified closures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464424" y="2703332"/>
            <a:ext cx="11262848" cy="0"/>
          </a:xfrm>
          <a:prstGeom prst="line">
            <a:avLst/>
          </a:prstGeom>
          <a:noFill/>
          <a:ln w="10922">
            <a:solidFill>
              <a:srgbClr val="E6EAF0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464424" y="2879171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 —  what a single query actually costs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64424" y="3153217"/>
            <a:ext cx="1683593" cy="696681"/>
          </a:xfrm>
          <a:prstGeom prst="roundRect">
            <a:avLst>
              <a:gd name="adj" fmla="val 8334"/>
            </a:avLst>
          </a:prstGeom>
          <a:solidFill>
            <a:srgbClr val="F4F6F8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8790" y="3247583"/>
            <a:ext cx="188641" cy="188641"/>
          </a:xfrm>
          <a:prstGeom prst="ellipse">
            <a:avLst/>
          </a:prstGeom>
          <a:solidFill>
            <a:srgbClr val="3A4048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3272546"/>
            <a:ext cx="1306220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0" y="3466856"/>
            <a:ext cx="2612532" cy="155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query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0" y="3629894"/>
            <a:ext cx="2612532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to a contract address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2162556" y="3501603"/>
            <a:ext cx="101590" cy="0"/>
          </a:xfrm>
          <a:prstGeom prst="line">
            <a:avLst/>
          </a:prstGeom>
          <a:noFill/>
          <a:ln w="10922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278685" y="3153217"/>
            <a:ext cx="1683593" cy="696681"/>
          </a:xfrm>
          <a:prstGeom prst="roundRect">
            <a:avLst>
              <a:gd name="adj" fmla="val 8334"/>
            </a:avLst>
          </a:prstGeom>
          <a:solidFill>
            <a:srgbClr val="F4F6F8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3051" y="3247583"/>
            <a:ext cx="188641" cy="188641"/>
          </a:xfrm>
          <a:prstGeom prst="ellipse">
            <a:avLst/>
          </a:prstGeom>
          <a:solidFill>
            <a:srgbClr val="3A4048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3272546"/>
            <a:ext cx="4934742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0" y="3466856"/>
            <a:ext cx="6240963" cy="155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candidates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0" y="3629894"/>
            <a:ext cx="6240963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proposes, never promotes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3976817" y="3501603"/>
            <a:ext cx="101590" cy="0"/>
          </a:xfrm>
          <a:prstGeom prst="line">
            <a:avLst/>
          </a:prstGeom>
          <a:noFill/>
          <a:ln w="10922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92946" y="3153217"/>
            <a:ext cx="1683593" cy="696681"/>
          </a:xfrm>
          <a:prstGeom prst="roundRect">
            <a:avLst>
              <a:gd name="adj" fmla="val 8334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87312" y="3247583"/>
            <a:ext cx="188641" cy="1886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5990" y="3272546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1669146" y="3466856"/>
            <a:ext cx="6531285" cy="155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accepted closure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669146" y="3629894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rebuild cost</a:t>
            </a:r>
            <a:endParaRPr lang="en-US" sz="630" dirty="0"/>
          </a:p>
        </p:txBody>
      </p:sp>
      <p:sp>
        <p:nvSpPr>
          <p:cNvPr id="42" name="Shape 40"/>
          <p:cNvSpPr/>
          <p:nvPr/>
        </p:nvSpPr>
        <p:spPr>
          <a:xfrm>
            <a:off x="5791078" y="3501603"/>
            <a:ext cx="101590" cy="0"/>
          </a:xfrm>
          <a:prstGeom prst="line">
            <a:avLst/>
          </a:prstGeom>
          <a:noFill/>
          <a:ln w="14478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07207" y="3153217"/>
            <a:ext cx="1683593" cy="696681"/>
          </a:xfrm>
          <a:prstGeom prst="roundRect">
            <a:avLst>
              <a:gd name="adj" fmla="val 8334"/>
            </a:avLst>
          </a:prstGeom>
          <a:solidFill>
            <a:srgbClr val="FCEAEA"/>
          </a:solidFill>
          <a:ln w="13081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01482" y="3247583"/>
            <a:ext cx="188641" cy="188641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2830251" y="3272546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483315" y="3466856"/>
            <a:ext cx="6531285" cy="155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missing frontier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83315" y="3629894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unresolved import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7605339" y="3501603"/>
            <a:ext cx="101590" cy="0"/>
          </a:xfrm>
          <a:prstGeom prst="line">
            <a:avLst/>
          </a:prstGeom>
          <a:noFill/>
          <a:ln w="14478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721376" y="3153217"/>
            <a:ext cx="1683593" cy="696681"/>
          </a:xfrm>
          <a:prstGeom prst="roundRect">
            <a:avLst>
              <a:gd name="adj" fmla="val 8334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5743" y="3247583"/>
            <a:ext cx="188641" cy="1886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4644420" y="3272546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5297576" y="3466856"/>
            <a:ext cx="6531285" cy="155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only the local delta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297576" y="3629894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sole new work</a:t>
            </a:r>
            <a:endParaRPr lang="en-US" sz="630" dirty="0"/>
          </a:p>
        </p:txBody>
      </p:sp>
      <p:sp>
        <p:nvSpPr>
          <p:cNvPr id="54" name="Shape 52"/>
          <p:cNvSpPr/>
          <p:nvPr/>
        </p:nvSpPr>
        <p:spPr>
          <a:xfrm>
            <a:off x="9419509" y="3501603"/>
            <a:ext cx="101590" cy="0"/>
          </a:xfrm>
          <a:prstGeom prst="line">
            <a:avLst/>
          </a:prstGeom>
          <a:noFill/>
          <a:ln w="14478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535638" y="3153217"/>
            <a:ext cx="1683593" cy="696681"/>
          </a:xfrm>
          <a:prstGeom prst="roundRect">
            <a:avLst>
              <a:gd name="adj" fmla="val 8334"/>
            </a:avLst>
          </a:prstGeom>
          <a:solidFill>
            <a:srgbClr val="F4F6F8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30004" y="3247583"/>
            <a:ext cx="188641" cy="188641"/>
          </a:xfrm>
          <a:prstGeom prst="ellipse">
            <a:avLst/>
          </a:prstGeom>
          <a:solidFill>
            <a:srgbClr val="3A4048"/>
          </a:solidFill>
          <a:ln/>
        </p:spPr>
      </p:sp>
      <p:sp>
        <p:nvSpPr>
          <p:cNvPr id="57" name="Text 55"/>
          <p:cNvSpPr/>
          <p:nvPr/>
        </p:nvSpPr>
        <p:spPr>
          <a:xfrm>
            <a:off x="7256953" y="3272546"/>
            <a:ext cx="4934742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8563173" y="3466856"/>
            <a:ext cx="3628522" cy="155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the extended path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563173" y="3629894"/>
            <a:ext cx="3628522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query inherits it</a:t>
            </a:r>
            <a:endParaRPr lang="en-US" sz="630" dirty="0"/>
          </a:p>
        </p:txBody>
      </p:sp>
      <p:sp>
        <p:nvSpPr>
          <p:cNvPr id="60" name="Shape 58"/>
          <p:cNvSpPr/>
          <p:nvPr/>
        </p:nvSpPr>
        <p:spPr>
          <a:xfrm>
            <a:off x="5994258" y="3966027"/>
            <a:ext cx="0" cy="116129"/>
          </a:xfrm>
          <a:prstGeom prst="line">
            <a:avLst/>
          </a:prstGeom>
          <a:noFill/>
          <a:ln w="10922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5994258" y="4082156"/>
            <a:ext cx="3323661" cy="0"/>
          </a:xfrm>
          <a:prstGeom prst="line">
            <a:avLst/>
          </a:prstGeom>
          <a:noFill/>
          <a:ln w="10922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 flipV="1">
            <a:off x="9317919" y="3966027"/>
            <a:ext cx="0" cy="116129"/>
          </a:xfrm>
          <a:prstGeom prst="line">
            <a:avLst/>
          </a:prstGeom>
          <a:noFill/>
          <a:ln w="10922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63" name="Text 61"/>
          <p:cNvSpPr/>
          <p:nvPr/>
        </p:nvSpPr>
        <p:spPr>
          <a:xfrm>
            <a:off x="4390492" y="4140220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part this query pays for</a:t>
            </a:r>
            <a:endParaRPr lang="en-US" sz="710" dirty="0"/>
          </a:p>
        </p:txBody>
      </p:sp>
      <p:sp>
        <p:nvSpPr>
          <p:cNvPr id="64" name="Text 62"/>
          <p:cNvSpPr/>
          <p:nvPr/>
        </p:nvSpPr>
        <p:spPr>
          <a:xfrm>
            <a:off x="464424" y="4432188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UPSTREAM CONTRACT CHANGES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 flipV="1">
            <a:off x="1076432" y="4897892"/>
            <a:ext cx="859262" cy="202174"/>
          </a:xfrm>
          <a:prstGeom prst="line">
            <a:avLst/>
          </a:prstGeom>
          <a:noFill/>
          <a:ln w="10922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076432" y="5183185"/>
            <a:ext cx="859262" cy="202174"/>
          </a:xfrm>
          <a:prstGeom prst="line">
            <a:avLst/>
          </a:prstGeom>
          <a:noFill/>
          <a:ln w="10922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2314986" y="4851349"/>
            <a:ext cx="849020" cy="0"/>
          </a:xfrm>
          <a:prstGeom prst="line">
            <a:avLst/>
          </a:prstGeom>
          <a:noFill/>
          <a:ln w="14478">
            <a:solidFill>
              <a:srgbClr val="DC2626"/>
            </a:solidFill>
            <a:prstDash val="dash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2314986" y="5431902"/>
            <a:ext cx="849020" cy="0"/>
          </a:xfrm>
          <a:prstGeom prst="line">
            <a:avLst/>
          </a:prstGeom>
          <a:noFill/>
          <a:ln w="10922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543849" y="4892954"/>
            <a:ext cx="859262" cy="202174"/>
          </a:xfrm>
          <a:prstGeom prst="line">
            <a:avLst/>
          </a:prstGeom>
          <a:noFill/>
          <a:ln w="14478">
            <a:solidFill>
              <a:srgbClr val="DC2626"/>
            </a:solidFill>
            <a:prstDash val="dash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3543849" y="5188214"/>
            <a:ext cx="859262" cy="202174"/>
          </a:xfrm>
          <a:prstGeom prst="line">
            <a:avLst/>
          </a:prstGeom>
          <a:noFill/>
          <a:ln w="10922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40207" y="4982017"/>
            <a:ext cx="319308" cy="319308"/>
          </a:xfrm>
          <a:prstGeom prst="ellipse">
            <a:avLst/>
          </a:prstGeom>
          <a:solidFill>
            <a:srgbClr val="FFFFFF"/>
          </a:solidFill>
          <a:ln w="14478">
            <a:solidFill>
              <a:srgbClr val="2563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0" y="5084430"/>
            <a:ext cx="1799722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1973915" y="4691695"/>
            <a:ext cx="319308" cy="319308"/>
          </a:xfrm>
          <a:prstGeom prst="ellipse">
            <a:avLst/>
          </a:prstGeom>
          <a:solidFill>
            <a:srgbClr val="FFFFFF"/>
          </a:solidFill>
          <a:ln w="14478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0" y="4794199"/>
            <a:ext cx="4267048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60" dirty="0"/>
          </a:p>
        </p:txBody>
      </p:sp>
      <p:sp>
        <p:nvSpPr>
          <p:cNvPr id="75" name="Shape 73"/>
          <p:cNvSpPr/>
          <p:nvPr/>
        </p:nvSpPr>
        <p:spPr>
          <a:xfrm>
            <a:off x="1973915" y="5272248"/>
            <a:ext cx="319308" cy="319308"/>
          </a:xfrm>
          <a:prstGeom prst="ellipse">
            <a:avLst/>
          </a:prstGeom>
          <a:solidFill>
            <a:srgbClr val="FFFFFF"/>
          </a:solidFill>
          <a:ln w="14478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0" y="5374752"/>
            <a:ext cx="4267048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60" dirty="0"/>
          </a:p>
        </p:txBody>
      </p:sp>
      <p:sp>
        <p:nvSpPr>
          <p:cNvPr id="77" name="Shape 75"/>
          <p:cNvSpPr/>
          <p:nvPr/>
        </p:nvSpPr>
        <p:spPr>
          <a:xfrm>
            <a:off x="3207532" y="4691695"/>
            <a:ext cx="319308" cy="319308"/>
          </a:xfrm>
          <a:prstGeom prst="ellipse">
            <a:avLst/>
          </a:prstGeom>
          <a:solidFill>
            <a:srgbClr val="FCEAEA"/>
          </a:solidFill>
          <a:ln w="14478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1590" y="4794199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60" dirty="0"/>
          </a:p>
        </p:txBody>
      </p:sp>
      <p:sp>
        <p:nvSpPr>
          <p:cNvPr id="79" name="Shape 77"/>
          <p:cNvSpPr/>
          <p:nvPr/>
        </p:nvSpPr>
        <p:spPr>
          <a:xfrm>
            <a:off x="3207532" y="5272248"/>
            <a:ext cx="319308" cy="319308"/>
          </a:xfrm>
          <a:prstGeom prst="ellipse">
            <a:avLst/>
          </a:prstGeom>
          <a:solidFill>
            <a:srgbClr val="FFFFFF"/>
          </a:solidFill>
          <a:ln w="14478">
            <a:solidFill>
              <a:srgbClr val="2563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1590" y="5374752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660" dirty="0"/>
          </a:p>
        </p:txBody>
      </p:sp>
      <p:sp>
        <p:nvSpPr>
          <p:cNvPr id="81" name="Shape 79"/>
          <p:cNvSpPr/>
          <p:nvPr/>
        </p:nvSpPr>
        <p:spPr>
          <a:xfrm>
            <a:off x="4441241" y="4982017"/>
            <a:ext cx="319308" cy="319308"/>
          </a:xfrm>
          <a:prstGeom prst="ellipse">
            <a:avLst/>
          </a:prstGeom>
          <a:solidFill>
            <a:srgbClr val="FCEAEA"/>
          </a:solidFill>
          <a:ln w="14478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35298" y="5084430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60" dirty="0"/>
          </a:p>
        </p:txBody>
      </p:sp>
      <p:sp>
        <p:nvSpPr>
          <p:cNvPr id="83" name="Text 81"/>
          <p:cNvSpPr/>
          <p:nvPr/>
        </p:nvSpPr>
        <p:spPr>
          <a:xfrm>
            <a:off x="0" y="5396514"/>
            <a:ext cx="1799722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bump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5254051" y="4735220"/>
            <a:ext cx="6473220" cy="841797"/>
          </a:xfrm>
          <a:prstGeom prst="roundRect">
            <a:avLst>
              <a:gd name="adj" fmla="val 6898"/>
            </a:avLst>
          </a:prstGeom>
          <a:solidFill>
            <a:srgbClr val="F4F6F8"/>
          </a:solidFill>
          <a:ln/>
        </p:spPr>
      </p:sp>
      <p:sp>
        <p:nvSpPr>
          <p:cNvPr id="85" name="Shape 83"/>
          <p:cNvSpPr/>
          <p:nvPr/>
        </p:nvSpPr>
        <p:spPr>
          <a:xfrm>
            <a:off x="5399166" y="4909414"/>
            <a:ext cx="87051" cy="87051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6" name="Text 84"/>
          <p:cNvSpPr/>
          <p:nvPr/>
        </p:nvSpPr>
        <p:spPr>
          <a:xfrm>
            <a:off x="5573359" y="4887651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invalidated — must be rechecked</a:t>
            </a:r>
            <a:endParaRPr lang="en-US" sz="710" dirty="0"/>
          </a:p>
        </p:txBody>
      </p:sp>
      <p:sp>
        <p:nvSpPr>
          <p:cNvPr id="87" name="Shape 85"/>
          <p:cNvSpPr/>
          <p:nvPr/>
        </p:nvSpPr>
        <p:spPr>
          <a:xfrm>
            <a:off x="5399166" y="5141671"/>
            <a:ext cx="87051" cy="8705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5573359" y="5119908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— stays accepted, no rebuild</a:t>
            </a:r>
            <a:endParaRPr lang="en-US" sz="710" dirty="0"/>
          </a:p>
        </p:txBody>
      </p:sp>
      <p:sp>
        <p:nvSpPr>
          <p:cNvPr id="89" name="Text 87"/>
          <p:cNvSpPr/>
          <p:nvPr/>
        </p:nvSpPr>
        <p:spPr>
          <a:xfrm>
            <a:off x="5442692" y="5334427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Invalidation follows the dependency edges, not the calendar.</a:t>
            </a:r>
            <a:endParaRPr lang="en-US" sz="690" dirty="0"/>
          </a:p>
        </p:txBody>
      </p:sp>
      <p:sp>
        <p:nvSpPr>
          <p:cNvPr id="90" name="Text 88"/>
          <p:cNvSpPr/>
          <p:nvPr/>
        </p:nvSpPr>
        <p:spPr>
          <a:xfrm>
            <a:off x="5195987" y="5952104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  ·  §2.4 search, registry and incremental build  ·  §2.5 QueryResolution cache</a:t>
            </a:r>
            <a:endParaRPr lang="en-US" sz="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424" y="1100389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91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· FORMALIZATION LOOP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464424" y="1150315"/>
            <a:ext cx="6531285" cy="29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is the trusted kernel — it is not an oracle for physics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464424" y="1440637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decides one thing: does the conclusion follow from the encoded assumptions. Whether the encoding is the intended object is decided by a separate, source-blind audit.</a:t>
            </a:r>
            <a:endParaRPr lang="en-US" sz="710" dirty="0"/>
          </a:p>
        </p:txBody>
      </p:sp>
      <p:sp>
        <p:nvSpPr>
          <p:cNvPr id="5" name="Shape 3"/>
          <p:cNvSpPr/>
          <p:nvPr/>
        </p:nvSpPr>
        <p:spPr>
          <a:xfrm>
            <a:off x="464424" y="2093702"/>
            <a:ext cx="2177095" cy="783732"/>
          </a:xfrm>
          <a:prstGeom prst="roundRect">
            <a:avLst>
              <a:gd name="adj" fmla="val 7409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189531"/>
            <a:ext cx="3105942" cy="176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MathClaimIR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0" y="2421148"/>
            <a:ext cx="3105942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statement,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0" y="2544501"/>
            <a:ext cx="3105942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quantifiers, domain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2670597" y="2485614"/>
            <a:ext cx="275783" cy="0"/>
          </a:xfrm>
          <a:prstGeom prst="line">
            <a:avLst/>
          </a:prstGeom>
          <a:noFill/>
          <a:ln w="14478">
            <a:solidFill>
              <a:srgbClr val="3A404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5366" y="2093702"/>
            <a:ext cx="2177095" cy="783732"/>
          </a:xfrm>
          <a:prstGeom prst="roundRect">
            <a:avLst>
              <a:gd name="adj" fmla="val 7409"/>
            </a:avLst>
          </a:prstGeom>
          <a:solidFill>
            <a:srgbClr val="E8EFFD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" y="2189531"/>
            <a:ext cx="6531285" cy="176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+ mathlib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98271" y="2421148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environment,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798271" y="2544501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sorry / admit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5181448" y="2485614"/>
            <a:ext cx="275783" cy="0"/>
          </a:xfrm>
          <a:prstGeom prst="line">
            <a:avLst/>
          </a:prstGeom>
          <a:noFill/>
          <a:ln w="14478">
            <a:solidFill>
              <a:srgbClr val="3A404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309" y="2093702"/>
            <a:ext cx="2177095" cy="783732"/>
          </a:xfrm>
          <a:prstGeom prst="roundRect">
            <a:avLst>
              <a:gd name="adj" fmla="val 7409"/>
            </a:avLst>
          </a:prstGeom>
          <a:solidFill>
            <a:srgbClr val="FFFFFF"/>
          </a:solidFill>
          <a:ln w="13081">
            <a:solidFill>
              <a:srgbClr val="1417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9214" y="2146005"/>
            <a:ext cx="6531285" cy="176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source-blind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309214" y="2283897"/>
            <a:ext cx="6531285" cy="176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backtranslation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309214" y="2479213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the declaration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3309214" y="2602565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seeing the paper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7692390" y="2485614"/>
            <a:ext cx="275783" cy="0"/>
          </a:xfrm>
          <a:prstGeom prst="line">
            <a:avLst/>
          </a:prstGeom>
          <a:noFill/>
          <a:ln w="14478">
            <a:solidFill>
              <a:srgbClr val="3A404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97160" y="2093702"/>
            <a:ext cx="2177095" cy="783732"/>
          </a:xfrm>
          <a:prstGeom prst="roundRect">
            <a:avLst>
              <a:gd name="adj" fmla="val 7409"/>
            </a:avLst>
          </a:prstGeom>
          <a:solidFill>
            <a:srgbClr val="FCEAEA"/>
          </a:solidFill>
          <a:ln w="13081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9719" y="2189531"/>
            <a:ext cx="6211976" cy="176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audit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5979719" y="2421148"/>
            <a:ext cx="6211976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restatement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5979719" y="2544501"/>
            <a:ext cx="6211976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source claim?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9085753" y="2877434"/>
            <a:ext cx="0" cy="275783"/>
          </a:xfrm>
          <a:prstGeom prst="line">
            <a:avLst/>
          </a:prstGeom>
          <a:noFill/>
          <a:ln w="14478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97160" y="3254807"/>
            <a:ext cx="2177095" cy="449976"/>
          </a:xfrm>
          <a:prstGeom prst="roundRect">
            <a:avLst>
              <a:gd name="adj" fmla="val 12904"/>
            </a:avLst>
          </a:prstGeom>
          <a:solidFill>
            <a:srgbClr val="FFFFFF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9719" y="3329696"/>
            <a:ext cx="62119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79719" y="3495203"/>
            <a:ext cx="6211976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the math axis only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7997160" y="3820912"/>
            <a:ext cx="2177095" cy="449976"/>
          </a:xfrm>
          <a:prstGeom prst="roundRect">
            <a:avLst>
              <a:gd name="adj" fmla="val 12904"/>
            </a:avLst>
          </a:prstGeom>
          <a:solidFill>
            <a:srgbClr val="FFFFFF"/>
          </a:solidFill>
          <a:ln w="13081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79719" y="3895801"/>
            <a:ext cx="62119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detected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79719" y="4061216"/>
            <a:ext cx="6211976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rewire or rescope, do not promote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 flipH="1">
            <a:off x="7837505" y="4045854"/>
            <a:ext cx="159654" cy="0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H="1">
            <a:off x="7750454" y="4045854"/>
            <a:ext cx="87051" cy="0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flipV="1">
            <a:off x="7750454" y="3958803"/>
            <a:ext cx="0" cy="87051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7750454" y="3051627"/>
            <a:ext cx="0" cy="907085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flipV="1">
            <a:off x="7750454" y="2964576"/>
            <a:ext cx="0" cy="87051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flipH="1">
            <a:off x="7663312" y="2964576"/>
            <a:ext cx="87051" cy="0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flipH="1">
            <a:off x="1640068" y="2964576"/>
            <a:ext cx="6023244" cy="0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H="1">
            <a:off x="1553017" y="2964576"/>
            <a:ext cx="87051" cy="0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flipV="1">
            <a:off x="1553017" y="2877434"/>
            <a:ext cx="0" cy="87051"/>
          </a:xfrm>
          <a:prstGeom prst="line">
            <a:avLst/>
          </a:prstGeom>
          <a:noFill/>
          <a:ln w="12319">
            <a:solidFill>
              <a:srgbClr val="DC2626"/>
            </a:solidFill>
            <a:prstDash val="dash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683593" y="3030779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the encoding, re-enter the loop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464424" y="4532041"/>
            <a:ext cx="5486309" cy="1088502"/>
          </a:xfrm>
          <a:prstGeom prst="roundRect">
            <a:avLst>
              <a:gd name="adj" fmla="val 5334"/>
            </a:avLst>
          </a:prstGeom>
          <a:solidFill>
            <a:srgbClr val="FFFFFF"/>
          </a:solidFill>
          <a:ln w="13081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078" y="4677156"/>
            <a:ext cx="823509" cy="188641"/>
          </a:xfrm>
          <a:prstGeom prst="roundRect">
            <a:avLst>
              <a:gd name="adj" fmla="val 50024"/>
            </a:avLst>
          </a:prstGeom>
          <a:solidFill>
            <a:srgbClr val="E8EFFD"/>
          </a:solidFill>
          <a:ln/>
        </p:spPr>
      </p:sp>
      <p:sp>
        <p:nvSpPr>
          <p:cNvPr id="44" name="Text 42"/>
          <p:cNvSpPr/>
          <p:nvPr/>
        </p:nvSpPr>
        <p:spPr>
          <a:xfrm>
            <a:off x="0" y="4711172"/>
            <a:ext cx="2071756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KERNEL_CHECKED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624078" y="4984303"/>
            <a:ext cx="653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conclusion follows from the definitions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4078" y="5143957"/>
            <a:ext cx="653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assumptions you encoded.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4078" y="5348874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Mechanically checkable. Reproducible from a clean environment.</a:t>
            </a:r>
            <a:endParaRPr lang="en-US" sz="690" dirty="0"/>
          </a:p>
        </p:txBody>
      </p:sp>
      <p:sp>
        <p:nvSpPr>
          <p:cNvPr id="48" name="Shape 46"/>
          <p:cNvSpPr/>
          <p:nvPr/>
        </p:nvSpPr>
        <p:spPr>
          <a:xfrm>
            <a:off x="6240963" y="4532041"/>
            <a:ext cx="5486309" cy="1088502"/>
          </a:xfrm>
          <a:prstGeom prst="roundRect">
            <a:avLst>
              <a:gd name="adj" fmla="val 5334"/>
            </a:avLst>
          </a:prstGeom>
          <a:solidFill>
            <a:srgbClr val="FFFFFF"/>
          </a:solidFill>
          <a:ln w="13081">
            <a:solidFill>
              <a:srgbClr val="DC26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617" y="4677156"/>
            <a:ext cx="872978" cy="188641"/>
          </a:xfrm>
          <a:prstGeom prst="roundRect">
            <a:avLst>
              <a:gd name="adj" fmla="val 50024"/>
            </a:avLst>
          </a:prstGeom>
          <a:solidFill>
            <a:srgbClr val="FCEAEA"/>
          </a:solidFill>
          <a:ln/>
        </p:spPr>
      </p:sp>
      <p:sp>
        <p:nvSpPr>
          <p:cNvPr id="50" name="Text 48"/>
          <p:cNvSpPr/>
          <p:nvPr/>
        </p:nvSpPr>
        <p:spPr>
          <a:xfrm>
            <a:off x="3571555" y="4711172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UNDECIDED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6400617" y="4984303"/>
            <a:ext cx="57910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that encoding is the physical object,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00617" y="5143957"/>
            <a:ext cx="57910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regime, and observable you meant.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617" y="5348874"/>
            <a:ext cx="5791078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domain reviewer. No kernel can settle it.</a:t>
            </a:r>
            <a:endParaRPr lang="en-US" sz="690" dirty="0"/>
          </a:p>
        </p:txBody>
      </p:sp>
      <p:sp>
        <p:nvSpPr>
          <p:cNvPr id="54" name="Text 52"/>
          <p:cNvSpPr/>
          <p:nvPr/>
        </p:nvSpPr>
        <p:spPr>
          <a:xfrm>
            <a:off x="5195987" y="5806989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  ·  §3.2 mathematical kernel  ·  §8.7 kernel checks  ·  §8.8 semantic-alignment review</a:t>
            </a:r>
            <a:endParaRPr lang="en-US" sz="6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424" y="519836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spc="91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· LIFECYCLE AND FAILURE SEMANTICS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464424" y="569763"/>
            <a:ext cx="6531285" cy="29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check refines the graph locally — it never silently promotes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464424" y="859993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node carries a lifecycle state. A failure is classified before it is repaired, and two different kinds of red are never merged into one.</a:t>
            </a:r>
            <a:endParaRPr lang="en-US" sz="710" dirty="0"/>
          </a:p>
        </p:txBody>
      </p:sp>
      <p:sp>
        <p:nvSpPr>
          <p:cNvPr id="5" name="Text 3"/>
          <p:cNvSpPr/>
          <p:nvPr/>
        </p:nvSpPr>
        <p:spPr>
          <a:xfrm>
            <a:off x="464424" y="1369771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OF A NODE, CHAIN, OR EXPORT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464424" y="1643817"/>
            <a:ext cx="544525" cy="23225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695480"/>
            <a:ext cx="1473464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</a:t>
            </a:r>
            <a:endParaRPr lang="en-US" sz="660" dirty="0"/>
          </a:p>
        </p:txBody>
      </p:sp>
      <p:sp>
        <p:nvSpPr>
          <p:cNvPr id="8" name="Shape 6"/>
          <p:cNvSpPr/>
          <p:nvPr/>
        </p:nvSpPr>
        <p:spPr>
          <a:xfrm>
            <a:off x="1052566" y="1759854"/>
            <a:ext cx="174193" cy="0"/>
          </a:xfrm>
          <a:prstGeom prst="line">
            <a:avLst/>
          </a:prstGeom>
          <a:noFill/>
          <a:ln w="11557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70284" y="1643817"/>
            <a:ext cx="958474" cy="23225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695480"/>
            <a:ext cx="3499043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SOURCE_VALIDATED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2272284" y="1759854"/>
            <a:ext cx="174193" cy="0"/>
          </a:xfrm>
          <a:prstGeom prst="line">
            <a:avLst/>
          </a:prstGeom>
          <a:noFill/>
          <a:ln w="11557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90003" y="1643817"/>
            <a:ext cx="1010229" cy="23225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1695480"/>
            <a:ext cx="5990234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DEPENDENCY_MAPPED</a:t>
            </a:r>
            <a:endParaRPr lang="en-US" sz="660" dirty="0"/>
          </a:p>
        </p:txBody>
      </p:sp>
      <p:sp>
        <p:nvSpPr>
          <p:cNvPr id="14" name="Shape 12"/>
          <p:cNvSpPr/>
          <p:nvPr/>
        </p:nvSpPr>
        <p:spPr>
          <a:xfrm>
            <a:off x="3543757" y="1759854"/>
            <a:ext cx="174193" cy="0"/>
          </a:xfrm>
          <a:prstGeom prst="line">
            <a:avLst/>
          </a:prstGeom>
          <a:noFill/>
          <a:ln w="11557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61476" y="1643817"/>
            <a:ext cx="1061984" cy="23225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1026871" y="1695480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PARTIALLY_VERIFIED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4866985" y="1759854"/>
            <a:ext cx="174193" cy="0"/>
          </a:xfrm>
          <a:prstGeom prst="line">
            <a:avLst/>
          </a:prstGeom>
          <a:noFill/>
          <a:ln w="11557">
            <a:solidFill>
              <a:srgbClr val="9AA2A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84704" y="1643817"/>
            <a:ext cx="1113739" cy="232258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/>
        </p:spPr>
      </p:sp>
      <p:sp>
        <p:nvSpPr>
          <p:cNvPr id="19" name="Text 17"/>
          <p:cNvSpPr/>
          <p:nvPr/>
        </p:nvSpPr>
        <p:spPr>
          <a:xfrm>
            <a:off x="2375977" y="1695480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VERIFICATION_CLOSED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464424" y="2122780"/>
            <a:ext cx="477042" cy="203180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2163928"/>
            <a:ext cx="1405981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1028609" y="2163105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import or evidence is unresolved</a:t>
            </a:r>
            <a:endParaRPr lang="en-US" sz="690" dirty="0"/>
          </a:p>
        </p:txBody>
      </p:sp>
      <p:sp>
        <p:nvSpPr>
          <p:cNvPr id="23" name="Shape 21"/>
          <p:cNvSpPr/>
          <p:nvPr/>
        </p:nvSpPr>
        <p:spPr>
          <a:xfrm>
            <a:off x="2973446" y="2122780"/>
            <a:ext cx="526603" cy="203180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2163928"/>
            <a:ext cx="647349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DISPUTED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3587100" y="2163105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literature does not agree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5253319" y="2122780"/>
            <a:ext cx="625541" cy="203180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2300448" y="2163928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SUPERSEDED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5965911" y="2163105"/>
            <a:ext cx="6225784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newer version replaces it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464424" y="2471075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VERIFICATION_CLOSED is query-scoped: every axis relevant to the declared scope is acceptable — for this query.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464424" y="2630729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universal certainty, and it does not propagate upward on its own.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464424" y="2964576"/>
            <a:ext cx="11262848" cy="0"/>
          </a:xfrm>
          <a:prstGeom prst="line">
            <a:avLst/>
          </a:prstGeom>
          <a:noFill/>
          <a:ln w="10922">
            <a:solidFill>
              <a:srgbClr val="E6EAF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464424" y="3140507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IS CLASSIFIED BEFORE IT IS REPAIRED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64424" y="3414461"/>
            <a:ext cx="3580059" cy="1553017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630" y="3559668"/>
            <a:ext cx="1028243" cy="188641"/>
          </a:xfrm>
          <a:prstGeom prst="roundRect">
            <a:avLst>
              <a:gd name="adj" fmla="val 50024"/>
            </a:avLst>
          </a:prstGeom>
          <a:solidFill>
            <a:srgbClr val="F4F6F8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3597615"/>
            <a:ext cx="224741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LOCAL_BUILD_FAILURE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09630" y="3864437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lemma, bridge, unfolding, or premise</a:t>
            </a:r>
            <a:endParaRPr lang="en-US" sz="710" dirty="0"/>
          </a:p>
        </p:txBody>
      </p:sp>
      <p:sp>
        <p:nvSpPr>
          <p:cNvPr id="37" name="Text 35"/>
          <p:cNvSpPr/>
          <p:nvPr/>
        </p:nvSpPr>
        <p:spPr>
          <a:xfrm>
            <a:off x="609630" y="4002329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2254453" y="4227271"/>
            <a:ext cx="0" cy="145115"/>
          </a:xfrm>
          <a:prstGeom prst="line">
            <a:avLst/>
          </a:prstGeom>
          <a:noFill/>
          <a:ln w="13081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09630" y="4430451"/>
            <a:ext cx="697504" cy="188641"/>
          </a:xfrm>
          <a:prstGeom prst="roundRect">
            <a:avLst>
              <a:gd name="adj" fmla="val 50024"/>
            </a:avLst>
          </a:prstGeom>
          <a:solidFill>
            <a:srgbClr val="E8EFFD"/>
          </a:solidFill>
          <a:ln/>
        </p:spPr>
      </p:sp>
      <p:sp>
        <p:nvSpPr>
          <p:cNvPr id="40" name="Text 38"/>
          <p:cNvSpPr/>
          <p:nvPr/>
        </p:nvSpPr>
        <p:spPr>
          <a:xfrm>
            <a:off x="0" y="4468490"/>
            <a:ext cx="191667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EXPAND_LOCAL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09630" y="4641769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missing step, rebuild this region only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4305818" y="3414461"/>
            <a:ext cx="3580059" cy="1553017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50933" y="3559668"/>
            <a:ext cx="933785" cy="188641"/>
          </a:xfrm>
          <a:prstGeom prst="roundRect">
            <a:avLst>
              <a:gd name="adj" fmla="val 50024"/>
            </a:avLst>
          </a:prstGeom>
          <a:solidFill>
            <a:srgbClr val="F4F6F8"/>
          </a:solidFill>
          <a:ln/>
        </p:spPr>
      </p:sp>
      <p:sp>
        <p:nvSpPr>
          <p:cNvPr id="44" name="Text 42"/>
          <p:cNvSpPr/>
          <p:nvPr/>
        </p:nvSpPr>
        <p:spPr>
          <a:xfrm>
            <a:off x="1652138" y="3597615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ALIGNMENT_FAILURE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450933" y="3864437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object, lost assumption, scope or</a:t>
            </a:r>
            <a:endParaRPr lang="en-US" sz="710" dirty="0"/>
          </a:p>
        </p:txBody>
      </p:sp>
      <p:sp>
        <p:nvSpPr>
          <p:cNvPr id="46" name="Text 44"/>
          <p:cNvSpPr/>
          <p:nvPr/>
        </p:nvSpPr>
        <p:spPr>
          <a:xfrm>
            <a:off x="4450933" y="4002329"/>
            <a:ext cx="6531285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exactness drift</a:t>
            </a:r>
            <a:endParaRPr lang="en-US" sz="710" dirty="0"/>
          </a:p>
        </p:txBody>
      </p:sp>
      <p:sp>
        <p:nvSpPr>
          <p:cNvPr id="47" name="Shape 45"/>
          <p:cNvSpPr/>
          <p:nvPr/>
        </p:nvSpPr>
        <p:spPr>
          <a:xfrm>
            <a:off x="6095848" y="4227271"/>
            <a:ext cx="0" cy="145115"/>
          </a:xfrm>
          <a:prstGeom prst="line">
            <a:avLst/>
          </a:prstGeom>
          <a:noFill/>
          <a:ln w="13081">
            <a:solidFill>
              <a:srgbClr val="3A4048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450933" y="4430451"/>
            <a:ext cx="933785" cy="188641"/>
          </a:xfrm>
          <a:prstGeom prst="roundRect">
            <a:avLst>
              <a:gd name="adj" fmla="val 50024"/>
            </a:avLst>
          </a:prstGeom>
          <a:solidFill>
            <a:srgbClr val="F4F6F8"/>
          </a:solidFill>
          <a:ln/>
        </p:spPr>
      </p:sp>
      <p:sp>
        <p:nvSpPr>
          <p:cNvPr id="49" name="Text 47"/>
          <p:cNvSpPr/>
          <p:nvPr/>
        </p:nvSpPr>
        <p:spPr>
          <a:xfrm>
            <a:off x="1652138" y="4468490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REWIRE_OR_RESCOPE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450933" y="4641769"/>
            <a:ext cx="6531285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re-encode or narrow the claim, then re-audit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8147121" y="3414461"/>
            <a:ext cx="3580059" cy="1553017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10160">
            <a:solidFill>
              <a:srgbClr val="D4D9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92328" y="3559668"/>
            <a:ext cx="1264432" cy="188641"/>
          </a:xfrm>
          <a:prstGeom prst="roundRect">
            <a:avLst>
              <a:gd name="adj" fmla="val 50024"/>
            </a:avLst>
          </a:prstGeom>
          <a:solidFill>
            <a:srgbClr val="F4F6F8"/>
          </a:solidFill>
          <a:ln/>
        </p:spPr>
      </p:sp>
      <p:sp>
        <p:nvSpPr>
          <p:cNvPr id="53" name="Text 51"/>
          <p:cNvSpPr/>
          <p:nvPr/>
        </p:nvSpPr>
        <p:spPr>
          <a:xfrm>
            <a:off x="5658856" y="3597615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SOURCE_OR_FOUNDATION_GAP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8292328" y="3864437"/>
            <a:ext cx="389936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import, missing source step,</a:t>
            </a:r>
            <a:endParaRPr lang="en-US" sz="710" dirty="0"/>
          </a:p>
        </p:txBody>
      </p:sp>
      <p:sp>
        <p:nvSpPr>
          <p:cNvPr id="55" name="Text 53"/>
          <p:cNvSpPr/>
          <p:nvPr/>
        </p:nvSpPr>
        <p:spPr>
          <a:xfrm>
            <a:off x="8292328" y="4002329"/>
            <a:ext cx="3899367" cy="146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1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counterexample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9937242" y="4227271"/>
            <a:ext cx="0" cy="145115"/>
          </a:xfrm>
          <a:prstGeom prst="line">
            <a:avLst/>
          </a:prstGeom>
          <a:noFill/>
          <a:ln w="13081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292328" y="4430451"/>
            <a:ext cx="933785" cy="188641"/>
          </a:xfrm>
          <a:prstGeom prst="roundRect">
            <a:avLst>
              <a:gd name="adj" fmla="val 50024"/>
            </a:avLst>
          </a:prstGeom>
          <a:solidFill>
            <a:srgbClr val="FCEAEA"/>
          </a:solidFill>
          <a:ln/>
        </p:spPr>
      </p:sp>
      <p:sp>
        <p:nvSpPr>
          <p:cNvPr id="58" name="Text 56"/>
          <p:cNvSpPr/>
          <p:nvPr/>
        </p:nvSpPr>
        <p:spPr>
          <a:xfrm>
            <a:off x="5493532" y="4468490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ESCALATE_OR_BLOCK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8292328" y="4641769"/>
            <a:ext cx="3899367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blocker; do not fill the gap with</a:t>
            </a:r>
            <a:endParaRPr lang="en-US" sz="660" dirty="0"/>
          </a:p>
        </p:txBody>
      </p:sp>
      <p:sp>
        <p:nvSpPr>
          <p:cNvPr id="60" name="Text 58"/>
          <p:cNvSpPr/>
          <p:nvPr/>
        </p:nvSpPr>
        <p:spPr>
          <a:xfrm>
            <a:off x="8292328" y="4765121"/>
            <a:ext cx="3899367" cy="135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A4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</a:t>
            </a:r>
            <a:endParaRPr lang="en-US" sz="660" dirty="0"/>
          </a:p>
        </p:txBody>
      </p:sp>
      <p:sp>
        <p:nvSpPr>
          <p:cNvPr id="61" name="Text 59"/>
          <p:cNvSpPr/>
          <p:nvPr/>
        </p:nvSpPr>
        <p:spPr>
          <a:xfrm>
            <a:off x="464424" y="5172395"/>
            <a:ext cx="653128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spc="74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REDS — MERGING THEM DESTROYS THE INFORMATION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64424" y="5446441"/>
            <a:ext cx="5500756" cy="928848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11557">
            <a:solidFill>
              <a:srgbClr val="E8B4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078" y="5591556"/>
            <a:ext cx="576072" cy="188641"/>
          </a:xfrm>
          <a:prstGeom prst="roundRect">
            <a:avLst>
              <a:gd name="adj" fmla="val 50024"/>
            </a:avLst>
          </a:prstGeom>
          <a:solidFill>
            <a:srgbClr val="FCEAEA"/>
          </a:solidFill>
          <a:ln/>
        </p:spPr>
      </p:sp>
      <p:sp>
        <p:nvSpPr>
          <p:cNvPr id="64" name="Text 62"/>
          <p:cNvSpPr/>
          <p:nvPr/>
        </p:nvSpPr>
        <p:spPr>
          <a:xfrm>
            <a:off x="0" y="5625572"/>
            <a:ext cx="1824228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PROOF_GAP</a:t>
            </a:r>
            <a:endParaRPr lang="en-US" sz="630" dirty="0"/>
          </a:p>
        </p:txBody>
      </p:sp>
      <p:sp>
        <p:nvSpPr>
          <p:cNvPr id="65" name="Shape 63"/>
          <p:cNvSpPr/>
          <p:nvPr/>
        </p:nvSpPr>
        <p:spPr>
          <a:xfrm>
            <a:off x="1553017" y="5591556"/>
            <a:ext cx="1070945" cy="188641"/>
          </a:xfrm>
          <a:prstGeom prst="roundRect">
            <a:avLst>
              <a:gd name="adj" fmla="val 50024"/>
            </a:avLst>
          </a:prstGeom>
          <a:solidFill>
            <a:srgbClr val="F4F6F8"/>
          </a:solidFill>
          <a:ln/>
        </p:spPr>
      </p:sp>
      <p:sp>
        <p:nvSpPr>
          <p:cNvPr id="66" name="Text 64"/>
          <p:cNvSpPr/>
          <p:nvPr/>
        </p:nvSpPr>
        <p:spPr>
          <a:xfrm>
            <a:off x="0" y="5625572"/>
            <a:ext cx="4176979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3A4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THEOREM_NOT_REFUTED</a:t>
            </a:r>
            <a:endParaRPr lang="en-US" sz="630" dirty="0"/>
          </a:p>
        </p:txBody>
      </p:sp>
      <p:sp>
        <p:nvSpPr>
          <p:cNvPr id="67" name="Text 65"/>
          <p:cNvSpPr/>
          <p:nvPr/>
        </p:nvSpPr>
        <p:spPr>
          <a:xfrm>
            <a:off x="624078" y="5877763"/>
            <a:ext cx="6531285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 is incomplete; the statement still stands.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624078" y="6060095"/>
            <a:ext cx="6531285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repair path and keep the claim conditional.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6226515" y="5446441"/>
            <a:ext cx="5500756" cy="928848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13843">
            <a:solidFill>
              <a:srgbClr val="DC262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86170" y="5591556"/>
            <a:ext cx="675010" cy="188641"/>
          </a:xfrm>
          <a:prstGeom prst="roundRect">
            <a:avLst>
              <a:gd name="adj" fmla="val 50024"/>
            </a:avLst>
          </a:prstGeom>
          <a:solidFill>
            <a:srgbClr val="FCEAEA"/>
          </a:solidFill>
          <a:ln/>
        </p:spPr>
      </p:sp>
      <p:sp>
        <p:nvSpPr>
          <p:cNvPr id="71" name="Text 69"/>
          <p:cNvSpPr/>
          <p:nvPr/>
        </p:nvSpPr>
        <p:spPr>
          <a:xfrm>
            <a:off x="3457986" y="5625572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CLAIM_FALSE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7344004" y="5591556"/>
            <a:ext cx="1268913" cy="188641"/>
          </a:xfrm>
          <a:prstGeom prst="roundRect">
            <a:avLst>
              <a:gd name="adj" fmla="val 50024"/>
            </a:avLst>
          </a:prstGeom>
          <a:solidFill>
            <a:srgbClr val="FCEAEA"/>
          </a:solidFill>
          <a:ln/>
        </p:spPr>
      </p:sp>
      <p:sp>
        <p:nvSpPr>
          <p:cNvPr id="73" name="Text 71"/>
          <p:cNvSpPr/>
          <p:nvPr/>
        </p:nvSpPr>
        <p:spPr>
          <a:xfrm>
            <a:off x="4712909" y="5625572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EXPLICIT_COUNTEREXAMPLE</a:t>
            </a:r>
            <a:endParaRPr lang="en-US" sz="630" dirty="0"/>
          </a:p>
        </p:txBody>
      </p:sp>
      <p:sp>
        <p:nvSpPr>
          <p:cNvPr id="74" name="Text 72"/>
          <p:cNvSpPr/>
          <p:nvPr/>
        </p:nvSpPr>
        <p:spPr>
          <a:xfrm>
            <a:off x="6386170" y="5877763"/>
            <a:ext cx="5805526" cy="152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417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instance refutes it — it must be retracted.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6386170" y="6060095"/>
            <a:ext cx="5805526" cy="141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only the properties that survive.</a:t>
            </a:r>
            <a:endParaRPr lang="en-US" sz="690" dirty="0"/>
          </a:p>
        </p:txBody>
      </p:sp>
      <p:sp>
        <p:nvSpPr>
          <p:cNvPr id="76" name="Text 74"/>
          <p:cNvSpPr/>
          <p:nvPr/>
        </p:nvSpPr>
        <p:spPr>
          <a:xfrm>
            <a:off x="5195987" y="6387541"/>
            <a:ext cx="6531285" cy="129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9A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AgtXIv v0.4  ·  §6.3 DAG completion and iterative resolution  ·  §6.5 lifecycle status  ·  §6.6 public justification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AgtXIv - verification-aware incremental search</dc:title>
  <dc:subject>PptxGenJS Presentation</dc:subject>
  <dc:creator>AgtXIv</dc:creator>
  <cp:lastModifiedBy>AgtXIv</cp:lastModifiedBy>
  <cp:revision>1</cp:revision>
  <dcterms:created xsi:type="dcterms:W3CDTF">2026-08-19T09:06:20Z</dcterms:created>
  <dcterms:modified xsi:type="dcterms:W3CDTF">2026-08-19T09:06:20Z</dcterms:modified>
</cp:coreProperties>
</file>