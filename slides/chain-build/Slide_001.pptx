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62" r:id="rId3"/>
    <p:sldId id="268" r:id="rId4"/>
    <p:sldId id="295" r:id="rId5"/>
    <p:sldId id="296" r:id="rId6"/>
    <p:sldId id="297" r:id="rId7"/>
    <p:sldId id="284" r:id="rId8"/>
    <p:sldId id="298" r:id="rId9"/>
    <p:sldId id="299" r:id="rId10"/>
    <p:sldId id="287" r:id="rId11"/>
    <p:sldId id="257" r:id="rId12"/>
    <p:sldId id="288" r:id="rId13"/>
    <p:sldId id="260" r:id="rId14"/>
    <p:sldId id="289" r:id="rId15"/>
    <p:sldId id="290" r:id="rId16"/>
    <p:sldId id="291" r:id="rId17"/>
    <p:sldId id="292" r:id="rId18"/>
    <p:sldId id="293" r:id="rId19"/>
    <p:sldId id="300" r:id="rId20"/>
    <p:sldId id="315" r:id="rId21"/>
    <p:sldId id="316" r:id="rId22"/>
    <p:sldId id="317" r:id="rId23"/>
    <p:sldId id="318" r:id="rId24"/>
    <p:sldId id="263" r:id="rId25"/>
    <p:sldId id="267" r:id="rId26"/>
    <p:sldId id="279" r:id="rId27"/>
    <p:sldId id="285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50"/>
    <p:restoredTop sz="94659"/>
  </p:normalViewPr>
  <p:slideViewPr>
    <p:cSldViewPr snapToGrid="0">
      <p:cViewPr varScale="1">
        <p:scale>
          <a:sx n="146" d="100"/>
          <a:sy n="146" d="100"/>
        </p:scale>
        <p:origin x="1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67E4-6C01-4844-BD48-521DE5952AF2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F87E6C-E7EC-1248-838B-74833D8CC88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000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0438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</a:p>
          <a:p>
            <a:pPr rtl="0"/>
            <a:endParaRPr kumimoji="1" lang="nl-NL" altLang="zh-CN" dirty="0"/>
          </a:p>
          <a:p>
            <a:pPr rtl="0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did two calls answer differently</a:t>
            </a:r>
            <a:br>
              <a:rPr kumimoji="1" lang="nl-NL" altLang="zh-CN" dirty="0"/>
            </a:br>
            <a:br>
              <a:rPr kumimoji="1" lang="nl-NL" altLang="zh-CN" dirty="0"/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分词（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模型计算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按解码规则选择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追加到已有序列，重复上述过程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转回文本（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443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C9919-842D-C487-C849-061B56475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13E02B-F11B-482E-23E2-3449BB417D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D84668-3E62-5DF0-95DD-B059EA510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</a:p>
          <a:p>
            <a:pPr rtl="0"/>
            <a:endParaRPr kumimoji="1" lang="nl-NL" altLang="zh-CN" dirty="0"/>
          </a:p>
          <a:p>
            <a:pPr rtl="0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did two calls answer differently</a:t>
            </a:r>
            <a:br>
              <a:rPr kumimoji="1" lang="nl-NL" altLang="zh-CN" dirty="0"/>
            </a:br>
            <a:br>
              <a:rPr kumimoji="1" lang="nl-NL" altLang="zh-CN" dirty="0"/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分词（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模型计算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按解码规则选择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追加到已有序列，重复上述过程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转回文本（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F3E07-378B-4EA7-60DE-831859266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0703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2F291-6E02-344D-5AC8-9548D0194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D9D054-7DAC-B0D8-6CDC-178FCB737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4FC18B-2689-27FF-F13C-5CBAD3DF3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</a:p>
          <a:p>
            <a:pPr rtl="0"/>
            <a:endParaRPr kumimoji="1" lang="nl-NL" altLang="zh-CN" dirty="0"/>
          </a:p>
          <a:p>
            <a:pPr rtl="0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did two calls answer differently</a:t>
            </a:r>
            <a:br>
              <a:rPr kumimoji="1" lang="nl-NL" altLang="zh-CN" dirty="0"/>
            </a:br>
            <a:br>
              <a:rPr kumimoji="1" lang="nl-NL" altLang="zh-CN" dirty="0"/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分词（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模型计算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按解码规则选择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追加到已有序列，重复上述过程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转回文本（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6454CE-D19B-D314-5B49-E5BD24155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9639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844DF-EEDC-0518-8D93-F54B7F5D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1B1EFF-441D-3B2D-E787-1BF3E52B1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01323F-6B1E-B9E3-9D65-95186E7C9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</a:p>
          <a:p>
            <a:pPr rtl="0"/>
            <a:endParaRPr kumimoji="1" lang="nl-NL" altLang="zh-CN" dirty="0"/>
          </a:p>
          <a:p>
            <a:pPr rtl="0"/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did two calls answer differently</a:t>
            </a:r>
            <a:br>
              <a:rPr kumimoji="1" lang="nl-NL" altLang="zh-CN" dirty="0"/>
            </a:br>
            <a:br>
              <a:rPr kumimoji="1" lang="nl-NL" altLang="zh-CN" dirty="0"/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分词（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模型计算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按解码规则选择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追加到已有序列，重复上述过程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转回文本（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A8E771-BF3F-4F24-9E4C-B7DC56F01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77376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0702-2869-5823-5E1A-BA8DE95D8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0860E8-31FD-DC0A-A073-3BC2E3C72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CE5455-8658-14B1-1163-65EC1B37E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  <a:br>
              <a:rPr kumimoji="1" lang="nl-NL" altLang="zh-CN" dirty="0"/>
            </a:br>
            <a:br>
              <a:rPr kumimoji="1" lang="nl-NL" altLang="zh-CN" dirty="0"/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分词（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模型计算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按解码规则选择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追加到已有序列，重复上述过程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转回文本（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6DBF8B-4781-63CE-8B6C-1E215A8AE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7910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92C4-BA10-3C0C-4884-7F485D15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AFDD84-5DDF-7C2B-EBC3-5B1D9B56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47910FD-72B2-CDBC-BB37-1838C7FC7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  <a:br>
              <a:rPr kumimoji="1" lang="nl-NL" altLang="zh-CN" dirty="0"/>
            </a:br>
            <a:br>
              <a:rPr kumimoji="1" lang="nl-NL" altLang="zh-CN" dirty="0"/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分词（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模型计算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按解码规则选择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追加到已有序列，重复上述过程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转回文本（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5A3AD2-43AA-6331-1F45-EB56496F4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34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045E-8C7F-52A7-00A7-3B260D50F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31168A-93CF-0960-9861-0D925DC00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815AB7-40B4-0C73-6D64-AD94FE6D0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  <a:br>
              <a:rPr kumimoji="1" lang="nl-NL" altLang="zh-CN" dirty="0"/>
            </a:br>
            <a:br>
              <a:rPr kumimoji="1" lang="nl-NL" altLang="zh-CN" dirty="0"/>
            </a:b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分词（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输入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模型计算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下一个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按解码规则选择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一个新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</a:t>
            </a:r>
          </a:p>
          <a:p>
            <a:pPr rtl="0"/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追加到已有序列，重复上述过程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token 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序列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↓ 转回文本（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detokenization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pPr rtl="0"/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输出文本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59A384-428C-CAA6-E8BB-EB3CCCB52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3071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6F656-5F7D-2CA9-E723-908628178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93B911-4F82-0774-8013-B1A119EC3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507795-7E45-E036-966C-19A9C83B0F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How</a:t>
            </a:r>
            <a:r>
              <a:rPr kumimoji="1" lang="zh-CN" altLang="en-US" dirty="0"/>
              <a:t> </a:t>
            </a:r>
            <a:r>
              <a:rPr kumimoji="1" lang="nl-NL" altLang="zh-CN" dirty="0" err="1"/>
              <a:t>many</a:t>
            </a:r>
            <a:r>
              <a:rPr kumimoji="1" lang="nl-NL" altLang="zh-CN" dirty="0"/>
              <a:t> of </a:t>
            </a:r>
            <a:r>
              <a:rPr kumimoji="1" lang="nl-NL" altLang="zh-CN" dirty="0" err="1"/>
              <a:t>you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know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what</a:t>
            </a:r>
            <a:r>
              <a:rPr kumimoji="1" lang="nl-NL" altLang="zh-CN" dirty="0"/>
              <a:t> is API?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how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many</a:t>
            </a:r>
            <a:r>
              <a:rPr kumimoji="1" lang="nl-NL" altLang="zh-CN" dirty="0"/>
              <a:t> of </a:t>
            </a:r>
            <a:r>
              <a:rPr kumimoji="1" lang="nl-NL" altLang="zh-CN" dirty="0" err="1"/>
              <a:t>you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know</a:t>
            </a:r>
            <a:r>
              <a:rPr kumimoji="1" lang="nl-NL" altLang="zh-CN" dirty="0"/>
              <a:t>/ have </a:t>
            </a:r>
            <a:r>
              <a:rPr kumimoji="1" lang="nl-NL" altLang="zh-CN" dirty="0" err="1"/>
              <a:t>tried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set up </a:t>
            </a:r>
            <a:r>
              <a:rPr kumimoji="1" lang="nl-NL" altLang="zh-CN" dirty="0" err="1"/>
              <a:t>an</a:t>
            </a:r>
            <a:r>
              <a:rPr kumimoji="1" lang="nl-NL" altLang="zh-CN" dirty="0"/>
              <a:t> agent in codex/</a:t>
            </a:r>
            <a:r>
              <a:rPr kumimoji="1" lang="nl-NL" altLang="zh-CN" dirty="0" err="1"/>
              <a:t>claude</a:t>
            </a:r>
            <a:r>
              <a:rPr kumimoji="1" lang="nl-NL" altLang="zh-CN" dirty="0"/>
              <a:t> … </a:t>
            </a:r>
            <a:br>
              <a:rPr kumimoji="1" lang="nl-NL" altLang="zh-CN" dirty="0"/>
            </a:br>
            <a:r>
              <a:rPr kumimoji="1" lang="nl-NL" altLang="zh-CN" dirty="0" err="1"/>
              <a:t>with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help of python package API, we </a:t>
            </a:r>
            <a:r>
              <a:rPr kumimoji="1" lang="nl-NL" altLang="zh-CN" dirty="0" err="1"/>
              <a:t>could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easily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use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this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np.mean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function</a:t>
            </a:r>
            <a:r>
              <a:rPr kumimoji="1" lang="nl-NL" altLang="zh-CN" dirty="0"/>
              <a:t>, </a:t>
            </a:r>
            <a:r>
              <a:rPr kumimoji="1" lang="nl-NL" altLang="zh-CN" dirty="0" err="1"/>
              <a:t>this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because</a:t>
            </a:r>
            <a:r>
              <a:rPr kumimoji="1" lang="nl-NL" altLang="zh-CN" dirty="0"/>
              <a:t> API is </a:t>
            </a:r>
            <a:r>
              <a:rPr kumimoji="1" lang="nl-NL" altLang="zh-CN" dirty="0" err="1"/>
              <a:t>written</a:t>
            </a:r>
            <a:r>
              <a:rPr kumimoji="1" lang="nl-NL" altLang="zh-CN" dirty="0"/>
              <a:t> in a way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illustrate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how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use</a:t>
            </a:r>
            <a:r>
              <a:rPr kumimoji="1" lang="nl-NL" altLang="zh-CN" dirty="0"/>
              <a:t> it. </a:t>
            </a:r>
            <a:br>
              <a:rPr kumimoji="1" lang="nl-NL" altLang="zh-CN" dirty="0"/>
            </a:br>
            <a:r>
              <a:rPr kumimoji="1" lang="nl-NL" altLang="zh-CN" dirty="0"/>
              <a:t>SO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actual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definition</a:t>
            </a:r>
            <a:r>
              <a:rPr kumimoji="1" lang="nl-NL" altLang="zh-CN" dirty="0"/>
              <a:t> of agent is a bit </a:t>
            </a:r>
            <a:r>
              <a:rPr kumimoji="1" lang="nl-NL" altLang="zh-CN" dirty="0" err="1"/>
              <a:t>ambigious</a:t>
            </a:r>
            <a:r>
              <a:rPr kumimoji="1" lang="nl-NL" altLang="zh-CN" dirty="0"/>
              <a:t>, like </a:t>
            </a:r>
            <a:r>
              <a:rPr kumimoji="1" lang="nl-NL" altLang="zh-CN" dirty="0" err="1"/>
              <a:t>how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much</a:t>
            </a:r>
            <a:r>
              <a:rPr kumimoji="1" lang="nl-NL" altLang="zh-CN" dirty="0"/>
              <a:t> level of 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020593-EF67-0447-9CBB-6365C94E6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24217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in, a distribution over next tokens out. Stateless: nothing carries between calls, and the weights never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calls the model repeatedly, decides what to do next, and stops when it judges the work done. The model is the engine; the loop is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protocol loaded into the context when the task matches it — drawn dashed, because it is advice. The model can read it and not follow it, and nothing records that it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published convention for exposing a tool so that any model can call it. It standardises the plug; it says nothing about what comes through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compiler, a database, a filesystem. The result returns to the loop, which calls the model again — this return arrow is the whole reason it is called an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machine-checked contract: which fields a valid record must have, which types, and — crucially — that no field nobody agreed to may be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only arrow on the diagram that rejects. A record that does not conform is not repaired or accepted with a warning; it is refused.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prompt, the skill and the tool call are all requests — they can be ignored, and the transcript looks the same either way. Only the schema can make an answer impossible to express.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/>
              <a:t>I </a:t>
            </a:r>
            <a:r>
              <a:rPr kumimoji="1" lang="nl-NL" altLang="zh-CN" dirty="0" err="1"/>
              <a:t>don’t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mean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debate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morality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drama </a:t>
            </a:r>
            <a:r>
              <a:rPr kumimoji="1" lang="nl-NL" altLang="zh-CN" dirty="0" err="1"/>
              <a:t>behind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, I </a:t>
            </a:r>
            <a:r>
              <a:rPr kumimoji="1" lang="nl-NL" altLang="zh-CN" dirty="0" err="1"/>
              <a:t>just</a:t>
            </a:r>
            <a:r>
              <a:rPr kumimoji="1" lang="nl-NL" altLang="zh-CN" dirty="0"/>
              <a:t> want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point out </a:t>
            </a:r>
            <a:r>
              <a:rPr kumimoji="1" lang="nl-NL" altLang="zh-CN" dirty="0" err="1"/>
              <a:t>that</a:t>
            </a:r>
            <a:r>
              <a:rPr kumimoji="1" lang="nl-NL" altLang="zh-CN" dirty="0"/>
              <a:t> as </a:t>
            </a:r>
            <a:r>
              <a:rPr kumimoji="1" lang="nl-NL" altLang="zh-CN" dirty="0" err="1"/>
              <a:t>theorist</a:t>
            </a:r>
            <a:r>
              <a:rPr kumimoji="1" lang="nl-NL" altLang="zh-CN" dirty="0"/>
              <a:t>, we </a:t>
            </a:r>
            <a:r>
              <a:rPr kumimoji="1" lang="nl-NL" altLang="zh-CN" dirty="0" err="1"/>
              <a:t>usually</a:t>
            </a:r>
            <a:r>
              <a:rPr kumimoji="1" lang="nl-NL" altLang="zh-CN" dirty="0"/>
              <a:t> have </a:t>
            </a:r>
            <a:r>
              <a:rPr kumimoji="1" lang="nl-NL" altLang="zh-CN" dirty="0" err="1"/>
              <a:t>two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typical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working</a:t>
            </a:r>
            <a:r>
              <a:rPr kumimoji="1" lang="nl-NL" altLang="zh-CN" dirty="0"/>
              <a:t> mode </a:t>
            </a:r>
            <a:r>
              <a:rPr kumimoji="1" lang="nl-NL" altLang="zh-CN" dirty="0" err="1"/>
              <a:t>while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interacting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with</a:t>
            </a:r>
            <a:r>
              <a:rPr kumimoji="1" lang="nl-NL" altLang="zh-CN" dirty="0"/>
              <a:t> AI: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paper/</a:t>
            </a:r>
            <a:r>
              <a:rPr kumimoji="1" lang="nl-NL" altLang="zh-CN" dirty="0" err="1"/>
              <a:t>book</a:t>
            </a:r>
            <a:r>
              <a:rPr kumimoji="1" lang="nl-NL" altLang="zh-CN" dirty="0"/>
              <a:t>/thesis, </a:t>
            </a:r>
            <a:r>
              <a:rPr kumimoji="1" lang="nl-NL" altLang="zh-CN" dirty="0" err="1"/>
              <a:t>another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try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discover </a:t>
            </a:r>
            <a:r>
              <a:rPr kumimoji="1" lang="nl-NL" altLang="zh-CN" dirty="0" err="1"/>
              <a:t>if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there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niche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generate</a:t>
            </a:r>
            <a:r>
              <a:rPr kumimoji="1" lang="nl-NL" altLang="zh-CN" dirty="0"/>
              <a:t> new </a:t>
            </a:r>
            <a:r>
              <a:rPr kumimoji="1" lang="nl-NL" altLang="zh-CN" dirty="0" err="1"/>
              <a:t>theorem</a:t>
            </a:r>
            <a:r>
              <a:rPr kumimoji="1" lang="nl-NL" altLang="zh-CN" dirty="0"/>
              <a:t>/or disprove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conjectures</a:t>
            </a:r>
            <a:r>
              <a:rPr kumimoji="1" lang="nl-NL" altLang="zh-CN" dirty="0"/>
              <a:t>, etc.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modes </a:t>
            </a:r>
            <a:r>
              <a:rPr kumimoji="1" lang="nl-NL" altLang="zh-CN" dirty="0" err="1"/>
              <a:t>can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be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entangled</a:t>
            </a:r>
            <a:r>
              <a:rPr kumimoji="1" lang="nl-NL" altLang="zh-CN" dirty="0"/>
              <a:t>, </a:t>
            </a:r>
            <a:r>
              <a:rPr kumimoji="1" lang="nl-NL" altLang="zh-CN" dirty="0" err="1"/>
              <a:t>sometimes</a:t>
            </a:r>
            <a:r>
              <a:rPr kumimoji="1" lang="nl-NL" altLang="zh-CN" dirty="0"/>
              <a:t> we first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field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move forward, or we </a:t>
            </a:r>
            <a:r>
              <a:rPr kumimoji="1" lang="nl-NL" altLang="zh-CN" dirty="0" err="1"/>
              <a:t>moved</a:t>
            </a:r>
            <a:r>
              <a:rPr kumimoji="1" lang="nl-NL" altLang="zh-CN" dirty="0"/>
              <a:t> forward first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go back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check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previous</a:t>
            </a:r>
            <a:r>
              <a:rPr kumimoji="1" lang="nl-NL" altLang="zh-CN" dirty="0"/>
              <a:t> research.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850487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2EABF-AC9E-39CD-B222-8312BB673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7CC1D1-E754-69B1-8053-CDAA78D14C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A14EA9-E069-5F21-D8D4-226155803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/>
              <a:t>I </a:t>
            </a:r>
            <a:r>
              <a:rPr kumimoji="1" lang="nl-NL" altLang="zh-CN" dirty="0" err="1"/>
              <a:t>don’t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mean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debate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morality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drama </a:t>
            </a:r>
            <a:r>
              <a:rPr kumimoji="1" lang="nl-NL" altLang="zh-CN" dirty="0" err="1"/>
              <a:t>behind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, I </a:t>
            </a:r>
            <a:r>
              <a:rPr kumimoji="1" lang="nl-NL" altLang="zh-CN" dirty="0" err="1"/>
              <a:t>just</a:t>
            </a:r>
            <a:r>
              <a:rPr kumimoji="1" lang="nl-NL" altLang="zh-CN" dirty="0"/>
              <a:t> want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point out </a:t>
            </a:r>
            <a:r>
              <a:rPr kumimoji="1" lang="nl-NL" altLang="zh-CN" dirty="0" err="1"/>
              <a:t>that</a:t>
            </a:r>
            <a:r>
              <a:rPr kumimoji="1" lang="nl-NL" altLang="zh-CN" dirty="0"/>
              <a:t> as </a:t>
            </a:r>
            <a:r>
              <a:rPr kumimoji="1" lang="nl-NL" altLang="zh-CN" dirty="0" err="1"/>
              <a:t>theorist</a:t>
            </a:r>
            <a:r>
              <a:rPr kumimoji="1" lang="nl-NL" altLang="zh-CN" dirty="0"/>
              <a:t>, we </a:t>
            </a:r>
            <a:r>
              <a:rPr kumimoji="1" lang="nl-NL" altLang="zh-CN" dirty="0" err="1"/>
              <a:t>usually</a:t>
            </a:r>
            <a:r>
              <a:rPr kumimoji="1" lang="nl-NL" altLang="zh-CN" dirty="0"/>
              <a:t> have </a:t>
            </a:r>
            <a:r>
              <a:rPr kumimoji="1" lang="nl-NL" altLang="zh-CN" dirty="0" err="1"/>
              <a:t>two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typical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working</a:t>
            </a:r>
            <a:r>
              <a:rPr kumimoji="1" lang="nl-NL" altLang="zh-CN" dirty="0"/>
              <a:t> mode </a:t>
            </a:r>
            <a:r>
              <a:rPr kumimoji="1" lang="nl-NL" altLang="zh-CN" dirty="0" err="1"/>
              <a:t>while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interacting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with</a:t>
            </a:r>
            <a:r>
              <a:rPr kumimoji="1" lang="nl-NL" altLang="zh-CN" dirty="0"/>
              <a:t> AI: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paper/</a:t>
            </a:r>
            <a:r>
              <a:rPr kumimoji="1" lang="nl-NL" altLang="zh-CN" dirty="0" err="1"/>
              <a:t>book</a:t>
            </a:r>
            <a:r>
              <a:rPr kumimoji="1" lang="nl-NL" altLang="zh-CN" dirty="0"/>
              <a:t>/thesis, </a:t>
            </a:r>
            <a:r>
              <a:rPr kumimoji="1" lang="nl-NL" altLang="zh-CN" dirty="0" err="1"/>
              <a:t>another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try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discover </a:t>
            </a:r>
            <a:r>
              <a:rPr kumimoji="1" lang="nl-NL" altLang="zh-CN" dirty="0" err="1"/>
              <a:t>if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there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niche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generate</a:t>
            </a:r>
            <a:r>
              <a:rPr kumimoji="1" lang="nl-NL" altLang="zh-CN" dirty="0"/>
              <a:t> new </a:t>
            </a:r>
            <a:r>
              <a:rPr kumimoji="1" lang="nl-NL" altLang="zh-CN" dirty="0" err="1"/>
              <a:t>theorem</a:t>
            </a:r>
            <a:r>
              <a:rPr kumimoji="1" lang="nl-NL" altLang="zh-CN" dirty="0"/>
              <a:t>/or disprove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conjectures</a:t>
            </a:r>
            <a:r>
              <a:rPr kumimoji="1" lang="nl-NL" altLang="zh-CN" dirty="0"/>
              <a:t>, etc.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modes </a:t>
            </a:r>
            <a:r>
              <a:rPr kumimoji="1" lang="nl-NL" altLang="zh-CN" dirty="0" err="1"/>
              <a:t>can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be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entangled</a:t>
            </a:r>
            <a:r>
              <a:rPr kumimoji="1" lang="nl-NL" altLang="zh-CN" dirty="0"/>
              <a:t>, </a:t>
            </a:r>
            <a:r>
              <a:rPr kumimoji="1" lang="nl-NL" altLang="zh-CN" dirty="0" err="1"/>
              <a:t>sometimes</a:t>
            </a:r>
            <a:r>
              <a:rPr kumimoji="1" lang="nl-NL" altLang="zh-CN" dirty="0"/>
              <a:t> we first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field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move forward, or we </a:t>
            </a:r>
            <a:r>
              <a:rPr kumimoji="1" lang="nl-NL" altLang="zh-CN" dirty="0" err="1"/>
              <a:t>moved</a:t>
            </a:r>
            <a:r>
              <a:rPr kumimoji="1" lang="nl-NL" altLang="zh-CN" dirty="0"/>
              <a:t> forward first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go back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check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previous</a:t>
            </a:r>
            <a:r>
              <a:rPr kumimoji="1" lang="nl-NL" altLang="zh-CN" dirty="0"/>
              <a:t> research.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6491AF-2B30-2505-C956-47AE34672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49288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674F2-BC5F-3952-B830-6CEA8E0A9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642CCD-B6E6-B860-C354-7FC140A0A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0BA3B1-823A-4E29-B71D-868C38EAF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/>
              <a:t>I </a:t>
            </a:r>
            <a:r>
              <a:rPr kumimoji="1" lang="nl-NL" altLang="zh-CN" dirty="0" err="1"/>
              <a:t>don’t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mean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debate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morality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drama </a:t>
            </a:r>
            <a:r>
              <a:rPr kumimoji="1" lang="nl-NL" altLang="zh-CN" dirty="0" err="1"/>
              <a:t>behind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, I </a:t>
            </a:r>
            <a:r>
              <a:rPr kumimoji="1" lang="nl-NL" altLang="zh-CN" dirty="0" err="1"/>
              <a:t>just</a:t>
            </a:r>
            <a:r>
              <a:rPr kumimoji="1" lang="nl-NL" altLang="zh-CN" dirty="0"/>
              <a:t> want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point out </a:t>
            </a:r>
            <a:r>
              <a:rPr kumimoji="1" lang="nl-NL" altLang="zh-CN" dirty="0" err="1"/>
              <a:t>that</a:t>
            </a:r>
            <a:r>
              <a:rPr kumimoji="1" lang="nl-NL" altLang="zh-CN" dirty="0"/>
              <a:t> as </a:t>
            </a:r>
            <a:r>
              <a:rPr kumimoji="1" lang="nl-NL" altLang="zh-CN" dirty="0" err="1"/>
              <a:t>theorist</a:t>
            </a:r>
            <a:r>
              <a:rPr kumimoji="1" lang="nl-NL" altLang="zh-CN" dirty="0"/>
              <a:t>, we </a:t>
            </a:r>
            <a:r>
              <a:rPr kumimoji="1" lang="nl-NL" altLang="zh-CN" dirty="0" err="1"/>
              <a:t>usually</a:t>
            </a:r>
            <a:r>
              <a:rPr kumimoji="1" lang="nl-NL" altLang="zh-CN" dirty="0"/>
              <a:t> have </a:t>
            </a:r>
            <a:r>
              <a:rPr kumimoji="1" lang="nl-NL" altLang="zh-CN" dirty="0" err="1"/>
              <a:t>two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typical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working</a:t>
            </a:r>
            <a:r>
              <a:rPr kumimoji="1" lang="nl-NL" altLang="zh-CN" dirty="0"/>
              <a:t> mode </a:t>
            </a:r>
            <a:r>
              <a:rPr kumimoji="1" lang="nl-NL" altLang="zh-CN" dirty="0" err="1"/>
              <a:t>while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interacting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with</a:t>
            </a:r>
            <a:r>
              <a:rPr kumimoji="1" lang="nl-NL" altLang="zh-CN" dirty="0"/>
              <a:t> AI: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paper/</a:t>
            </a:r>
            <a:r>
              <a:rPr kumimoji="1" lang="nl-NL" altLang="zh-CN" dirty="0" err="1"/>
              <a:t>book</a:t>
            </a:r>
            <a:r>
              <a:rPr kumimoji="1" lang="nl-NL" altLang="zh-CN" dirty="0"/>
              <a:t>/thesis, </a:t>
            </a:r>
            <a:r>
              <a:rPr kumimoji="1" lang="nl-NL" altLang="zh-CN" dirty="0" err="1"/>
              <a:t>another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try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discover </a:t>
            </a:r>
            <a:r>
              <a:rPr kumimoji="1" lang="nl-NL" altLang="zh-CN" dirty="0" err="1"/>
              <a:t>if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there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niche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generate</a:t>
            </a:r>
            <a:r>
              <a:rPr kumimoji="1" lang="nl-NL" altLang="zh-CN" dirty="0"/>
              <a:t> new </a:t>
            </a:r>
            <a:r>
              <a:rPr kumimoji="1" lang="nl-NL" altLang="zh-CN" dirty="0" err="1"/>
              <a:t>theorem</a:t>
            </a:r>
            <a:r>
              <a:rPr kumimoji="1" lang="nl-NL" altLang="zh-CN" dirty="0"/>
              <a:t>/or disprove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conjectures</a:t>
            </a:r>
            <a:r>
              <a:rPr kumimoji="1" lang="nl-NL" altLang="zh-CN" dirty="0"/>
              <a:t>, etc.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modes </a:t>
            </a:r>
            <a:r>
              <a:rPr kumimoji="1" lang="nl-NL" altLang="zh-CN" dirty="0" err="1"/>
              <a:t>can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be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entangled</a:t>
            </a:r>
            <a:r>
              <a:rPr kumimoji="1" lang="nl-NL" altLang="zh-CN" dirty="0"/>
              <a:t>, </a:t>
            </a:r>
            <a:r>
              <a:rPr kumimoji="1" lang="nl-NL" altLang="zh-CN" dirty="0" err="1"/>
              <a:t>sometimes</a:t>
            </a:r>
            <a:r>
              <a:rPr kumimoji="1" lang="nl-NL" altLang="zh-CN" dirty="0"/>
              <a:t> we first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field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move forward, or we </a:t>
            </a:r>
            <a:r>
              <a:rPr kumimoji="1" lang="nl-NL" altLang="zh-CN" dirty="0" err="1"/>
              <a:t>moved</a:t>
            </a:r>
            <a:r>
              <a:rPr kumimoji="1" lang="nl-NL" altLang="zh-CN" dirty="0"/>
              <a:t> forward first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go back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check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previous</a:t>
            </a:r>
            <a:r>
              <a:rPr kumimoji="1" lang="nl-NL" altLang="zh-CN" dirty="0"/>
              <a:t> research.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B81AE-F7D1-56F4-EC3C-EA94230957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9664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317C-1DB0-59E1-257D-91CBCC0FE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BCD427-57D8-7FC7-488A-641C80AAE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A7467E-FB62-BC33-D04F-A5B719763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/>
              <a:t>I </a:t>
            </a:r>
            <a:r>
              <a:rPr kumimoji="1" lang="nl-NL" altLang="zh-CN" dirty="0" err="1"/>
              <a:t>don’t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mean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debate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morality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drama </a:t>
            </a:r>
            <a:r>
              <a:rPr kumimoji="1" lang="nl-NL" altLang="zh-CN" dirty="0" err="1"/>
              <a:t>behind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, I </a:t>
            </a:r>
            <a:r>
              <a:rPr kumimoji="1" lang="nl-NL" altLang="zh-CN" dirty="0" err="1"/>
              <a:t>just</a:t>
            </a:r>
            <a:r>
              <a:rPr kumimoji="1" lang="nl-NL" altLang="zh-CN" dirty="0"/>
              <a:t> want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point out </a:t>
            </a:r>
            <a:r>
              <a:rPr kumimoji="1" lang="nl-NL" altLang="zh-CN" dirty="0" err="1"/>
              <a:t>that</a:t>
            </a:r>
            <a:r>
              <a:rPr kumimoji="1" lang="nl-NL" altLang="zh-CN" dirty="0"/>
              <a:t> as </a:t>
            </a:r>
            <a:r>
              <a:rPr kumimoji="1" lang="nl-NL" altLang="zh-CN" dirty="0" err="1"/>
              <a:t>theorist</a:t>
            </a:r>
            <a:r>
              <a:rPr kumimoji="1" lang="nl-NL" altLang="zh-CN" dirty="0"/>
              <a:t>, we </a:t>
            </a:r>
            <a:r>
              <a:rPr kumimoji="1" lang="nl-NL" altLang="zh-CN" dirty="0" err="1"/>
              <a:t>usually</a:t>
            </a:r>
            <a:r>
              <a:rPr kumimoji="1" lang="nl-NL" altLang="zh-CN" dirty="0"/>
              <a:t> have </a:t>
            </a:r>
            <a:r>
              <a:rPr kumimoji="1" lang="nl-NL" altLang="zh-CN" dirty="0" err="1"/>
              <a:t>two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typical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working</a:t>
            </a:r>
            <a:r>
              <a:rPr kumimoji="1" lang="nl-NL" altLang="zh-CN" dirty="0"/>
              <a:t> mode </a:t>
            </a:r>
            <a:r>
              <a:rPr kumimoji="1" lang="nl-NL" altLang="zh-CN" dirty="0" err="1"/>
              <a:t>while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interacting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with</a:t>
            </a:r>
            <a:r>
              <a:rPr kumimoji="1" lang="nl-NL" altLang="zh-CN" dirty="0"/>
              <a:t> AI: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paper/</a:t>
            </a:r>
            <a:r>
              <a:rPr kumimoji="1" lang="nl-NL" altLang="zh-CN" dirty="0" err="1"/>
              <a:t>book</a:t>
            </a:r>
            <a:r>
              <a:rPr kumimoji="1" lang="nl-NL" altLang="zh-CN" dirty="0"/>
              <a:t>/thesis, </a:t>
            </a:r>
            <a:r>
              <a:rPr kumimoji="1" lang="nl-NL" altLang="zh-CN" dirty="0" err="1"/>
              <a:t>another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try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discover </a:t>
            </a:r>
            <a:r>
              <a:rPr kumimoji="1" lang="nl-NL" altLang="zh-CN" dirty="0" err="1"/>
              <a:t>if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there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niche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generate</a:t>
            </a:r>
            <a:r>
              <a:rPr kumimoji="1" lang="nl-NL" altLang="zh-CN" dirty="0"/>
              <a:t> new </a:t>
            </a:r>
            <a:r>
              <a:rPr kumimoji="1" lang="nl-NL" altLang="zh-CN" dirty="0" err="1"/>
              <a:t>theorem</a:t>
            </a:r>
            <a:r>
              <a:rPr kumimoji="1" lang="nl-NL" altLang="zh-CN" dirty="0"/>
              <a:t>/or disprove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conjectures</a:t>
            </a:r>
            <a:r>
              <a:rPr kumimoji="1" lang="nl-NL" altLang="zh-CN" dirty="0"/>
              <a:t>, etc.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modes </a:t>
            </a:r>
            <a:r>
              <a:rPr kumimoji="1" lang="nl-NL" altLang="zh-CN" dirty="0" err="1"/>
              <a:t>can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be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entangled</a:t>
            </a:r>
            <a:r>
              <a:rPr kumimoji="1" lang="nl-NL" altLang="zh-CN" dirty="0"/>
              <a:t>, </a:t>
            </a:r>
            <a:r>
              <a:rPr kumimoji="1" lang="nl-NL" altLang="zh-CN" dirty="0" err="1"/>
              <a:t>sometimes</a:t>
            </a:r>
            <a:r>
              <a:rPr kumimoji="1" lang="nl-NL" altLang="zh-CN" dirty="0"/>
              <a:t> we first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field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move forward, or we </a:t>
            </a:r>
            <a:r>
              <a:rPr kumimoji="1" lang="nl-NL" altLang="zh-CN" dirty="0" err="1"/>
              <a:t>moved</a:t>
            </a:r>
            <a:r>
              <a:rPr kumimoji="1" lang="nl-NL" altLang="zh-CN" dirty="0"/>
              <a:t> forward first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go back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check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previous</a:t>
            </a:r>
            <a:r>
              <a:rPr kumimoji="1" lang="nl-NL" altLang="zh-CN" dirty="0"/>
              <a:t> research.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6E0FB9-781A-3DAF-6D08-4C32AE8C9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9217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A4295-8253-ECCC-7236-3B43E7C7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388F493-ED37-C311-B2F3-85DBEF3FE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E2128-86E2-4E4B-06AD-D41F05564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/>
              <a:t>I </a:t>
            </a:r>
            <a:r>
              <a:rPr kumimoji="1" lang="nl-NL" altLang="zh-CN" dirty="0" err="1"/>
              <a:t>don’t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mean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debate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morality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drama </a:t>
            </a:r>
            <a:r>
              <a:rPr kumimoji="1" lang="nl-NL" altLang="zh-CN" dirty="0" err="1"/>
              <a:t>behind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, I </a:t>
            </a:r>
            <a:r>
              <a:rPr kumimoji="1" lang="nl-NL" altLang="zh-CN" dirty="0" err="1"/>
              <a:t>just</a:t>
            </a:r>
            <a:r>
              <a:rPr kumimoji="1" lang="nl-NL" altLang="zh-CN" dirty="0"/>
              <a:t> want </a:t>
            </a:r>
            <a:r>
              <a:rPr kumimoji="1" lang="nl-NL" altLang="zh-CN" dirty="0" err="1"/>
              <a:t>it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point out </a:t>
            </a:r>
            <a:r>
              <a:rPr kumimoji="1" lang="nl-NL" altLang="zh-CN" dirty="0" err="1"/>
              <a:t>that</a:t>
            </a:r>
            <a:r>
              <a:rPr kumimoji="1" lang="nl-NL" altLang="zh-CN" dirty="0"/>
              <a:t> as </a:t>
            </a:r>
            <a:r>
              <a:rPr kumimoji="1" lang="nl-NL" altLang="zh-CN" dirty="0" err="1"/>
              <a:t>theorist</a:t>
            </a:r>
            <a:r>
              <a:rPr kumimoji="1" lang="nl-NL" altLang="zh-CN" dirty="0"/>
              <a:t>, we </a:t>
            </a:r>
            <a:r>
              <a:rPr kumimoji="1" lang="nl-NL" altLang="zh-CN" dirty="0" err="1"/>
              <a:t>usually</a:t>
            </a:r>
            <a:r>
              <a:rPr kumimoji="1" lang="nl-NL" altLang="zh-CN" dirty="0"/>
              <a:t> have </a:t>
            </a:r>
            <a:r>
              <a:rPr kumimoji="1" lang="nl-NL" altLang="zh-CN" dirty="0" err="1"/>
              <a:t>two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typical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working</a:t>
            </a:r>
            <a:r>
              <a:rPr kumimoji="1" lang="nl-NL" altLang="zh-CN" dirty="0"/>
              <a:t> mode </a:t>
            </a:r>
            <a:r>
              <a:rPr kumimoji="1" lang="nl-NL" altLang="zh-CN" dirty="0" err="1"/>
              <a:t>while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interacting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with</a:t>
            </a:r>
            <a:r>
              <a:rPr kumimoji="1" lang="nl-NL" altLang="zh-CN" dirty="0"/>
              <a:t> AI: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paper/</a:t>
            </a:r>
            <a:r>
              <a:rPr kumimoji="1" lang="nl-NL" altLang="zh-CN" dirty="0" err="1"/>
              <a:t>book</a:t>
            </a:r>
            <a:r>
              <a:rPr kumimoji="1" lang="nl-NL" altLang="zh-CN" dirty="0"/>
              <a:t>/thesis, </a:t>
            </a:r>
            <a:r>
              <a:rPr kumimoji="1" lang="nl-NL" altLang="zh-CN" dirty="0" err="1"/>
              <a:t>another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one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try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discover </a:t>
            </a:r>
            <a:r>
              <a:rPr kumimoji="1" lang="nl-NL" altLang="zh-CN" dirty="0" err="1"/>
              <a:t>if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there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niche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generate</a:t>
            </a:r>
            <a:r>
              <a:rPr kumimoji="1" lang="nl-NL" altLang="zh-CN" dirty="0"/>
              <a:t> new </a:t>
            </a:r>
            <a:r>
              <a:rPr kumimoji="1" lang="nl-NL" altLang="zh-CN" dirty="0" err="1"/>
              <a:t>theorem</a:t>
            </a:r>
            <a:r>
              <a:rPr kumimoji="1" lang="nl-NL" altLang="zh-CN" dirty="0"/>
              <a:t>/or disprove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conjectures</a:t>
            </a:r>
            <a:r>
              <a:rPr kumimoji="1" lang="nl-NL" altLang="zh-CN" dirty="0"/>
              <a:t>, etc.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modes </a:t>
            </a:r>
            <a:r>
              <a:rPr kumimoji="1" lang="nl-NL" altLang="zh-CN" dirty="0" err="1"/>
              <a:t>can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be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entangled</a:t>
            </a:r>
            <a:r>
              <a:rPr kumimoji="1" lang="nl-NL" altLang="zh-CN" dirty="0"/>
              <a:t>, </a:t>
            </a:r>
            <a:r>
              <a:rPr kumimoji="1" lang="nl-NL" altLang="zh-CN" dirty="0" err="1"/>
              <a:t>sometimes</a:t>
            </a:r>
            <a:r>
              <a:rPr kumimoji="1" lang="nl-NL" altLang="zh-CN" dirty="0"/>
              <a:t> we first </a:t>
            </a:r>
            <a:r>
              <a:rPr kumimoji="1" lang="nl-NL" altLang="zh-CN" dirty="0" err="1"/>
              <a:t>learn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field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move forward, or we </a:t>
            </a:r>
            <a:r>
              <a:rPr kumimoji="1" lang="nl-NL" altLang="zh-CN" dirty="0" err="1"/>
              <a:t>moved</a:t>
            </a:r>
            <a:r>
              <a:rPr kumimoji="1" lang="nl-NL" altLang="zh-CN" dirty="0"/>
              <a:t> forward first </a:t>
            </a:r>
            <a:r>
              <a:rPr kumimoji="1" lang="nl-NL" altLang="zh-CN" dirty="0" err="1"/>
              <a:t>then</a:t>
            </a:r>
            <a:r>
              <a:rPr kumimoji="1" lang="nl-NL" altLang="zh-CN" dirty="0"/>
              <a:t> go back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check </a:t>
            </a:r>
            <a:r>
              <a:rPr kumimoji="1" lang="nl-NL" altLang="zh-CN" dirty="0" err="1"/>
              <a:t>some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previous</a:t>
            </a:r>
            <a:r>
              <a:rPr kumimoji="1" lang="nl-NL" altLang="zh-CN" dirty="0"/>
              <a:t> research.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73A28B-6A3D-4326-4A3F-3148D3EA5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721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 err="1"/>
              <a:t>This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why</a:t>
            </a:r>
            <a:r>
              <a:rPr kumimoji="1" lang="nl-NL" altLang="zh-CN" dirty="0"/>
              <a:t> I </a:t>
            </a:r>
            <a:r>
              <a:rPr kumimoji="1" lang="nl-NL" altLang="zh-CN" dirty="0" err="1"/>
              <a:t>am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here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and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give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this</a:t>
            </a:r>
            <a:r>
              <a:rPr kumimoji="1" lang="nl-NL" altLang="zh-CN" dirty="0"/>
              <a:t> talk, I </a:t>
            </a:r>
            <a:r>
              <a:rPr kumimoji="1" lang="nl-NL" altLang="zh-CN" dirty="0" err="1"/>
              <a:t>would</a:t>
            </a:r>
            <a:r>
              <a:rPr kumimoji="1" lang="nl-NL" altLang="zh-CN" dirty="0"/>
              <a:t> like </a:t>
            </a:r>
            <a:r>
              <a:rPr kumimoji="1" lang="nl-NL" altLang="zh-CN" dirty="0" err="1"/>
              <a:t>to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explain</a:t>
            </a:r>
            <a:r>
              <a:rPr kumimoji="1" lang="nl-NL" altLang="zh-CN" dirty="0"/>
              <a:t> more </a:t>
            </a:r>
            <a:r>
              <a:rPr kumimoji="1" lang="nl-NL" altLang="zh-CN" dirty="0" err="1"/>
              <a:t>about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this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idea</a:t>
            </a:r>
            <a:r>
              <a:rPr kumimoji="1" lang="nl-NL" altLang="zh-CN" dirty="0"/>
              <a:t>, but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details takes a long story…. </a:t>
            </a:r>
            <a:r>
              <a:rPr kumimoji="1" lang="nl-NL" altLang="zh-CN" dirty="0" err="1"/>
              <a:t>Here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an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example</a:t>
            </a:r>
            <a:r>
              <a:rPr kumimoji="1" lang="nl-NL" altLang="zh-CN" dirty="0"/>
              <a:t> of </a:t>
            </a:r>
            <a:r>
              <a:rPr kumimoji="1" lang="nl-NL" altLang="zh-CN" dirty="0" err="1"/>
              <a:t>the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work</a:t>
            </a:r>
            <a:r>
              <a:rPr kumimoji="1" lang="nl-NL" altLang="zh-CN" dirty="0"/>
              <a:t> 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486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808B4-34E8-7047-CFE4-5D03CAFA2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A8A563-DD04-5337-6A77-81D230778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07C98-B250-D545-8D60-CE87FF00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F1AD8-87A2-5774-34AB-F3DBC58E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C200B4-2D49-1913-40D0-B26F9B0F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9614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21740-926B-49A4-17A3-7C328D02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BB88E1-6C8B-773C-B7B3-09A3C6225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6F9BE8-3AD4-FD87-5901-751B23F5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D89F5C-8262-EB64-CDE2-3421E4DF7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2B04F7-3FAE-23C7-7608-CE4A4383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9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F0AC1-9753-E61C-A9E9-D12313D4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8A7AEB-C4FE-B9A4-053A-1E76B1818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134026-F0D4-C9CA-02BA-A8F19A89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4B011-D1D1-DCCC-3049-2BCD51CC8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30AA13-6339-4BB1-5A1A-C72E9145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986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A6872-D0BE-6F25-3024-386383EE7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874389-DD7B-AB72-422D-362F5B8E5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AB970F-47CE-DE7C-137F-3611E0BBB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85B1-C04C-EE9B-C2F8-4CAF1A6C8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D4A5FE-43B4-F3E5-17D6-BB9BF2C49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0C769-A99B-1044-6509-6098207F6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7920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C4935-811F-A9D2-5F7B-679EB55B8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54E1B-6992-F75B-3882-CDF805F3E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71FC7-9451-7446-B20E-B4360AE92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965792-3AEE-ECE3-7BD0-030ACD2F4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52227F-77B8-2BA8-AB66-A246BC3DA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50E2EE-DAD2-7457-002C-3E18BAB0E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848CCA-1669-D206-1E71-B634C19CD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6C54963-0DD0-4FC0-5DB8-86BFD9FFC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3697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819F4-EBDF-78E7-041C-BAA264AC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DAB797-3DB5-126B-8BDB-7BACD41F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CA8154-06E6-5CE6-18EF-ABC79118B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1D75DD-C4E8-9EC6-81B9-365C4266A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21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E0C1A5-36B4-8ACB-80C7-293D2534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828113-4A19-33DA-B348-79B74982F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90DACB-4852-F215-6913-6FCA4B046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517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E90B2-1D57-3CB9-C60D-FF46ADAD6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C63ED-A5E9-1558-533F-7732496F4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F1D1C4-D64A-A9A8-0AF5-43F93D9BF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CB3DF7-E86B-9189-AB9C-5B2075FC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16899A-F6E8-99CE-6C07-ECF8C1C0B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B4B5CC-3262-348B-2D1A-7AC3D0DB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2114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C5A16-A3B8-399A-8970-AB7998AE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EB20B7-E94F-6658-F59E-8FB9CCC24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F80829-E0B7-0CCC-6B89-55B27F754D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9CED2B-3619-FCCE-B893-492D59F4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333169-0D63-87E8-7805-D53C696D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FFCB59-5A97-F1FE-E332-907D95C83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3509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877AD-FB1D-479B-8970-1F7F8A0B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B9283D-1EED-02CA-033B-2EF0C87AF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9C8710-CBEB-6ED3-7CB4-FD34AF2B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AB6F65-25A1-F94C-D507-34AE0939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5C0A23-27EF-FD81-EA5E-55F5A9505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700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CFE9A75-F102-1128-72A7-FC0FF9FCC2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3F1119-C859-0A30-84DE-8B8344683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2B3CCE-38FA-B500-930A-63C8089D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5E41D-634A-46DA-4709-E8B4348E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9CE638-EB0E-1058-97A6-572F2E0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6648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23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91AA552-E96A-C1A3-966B-53700982A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F454FF-628A-8F8D-C135-EDC357785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8B5AF2-3A51-65AF-7170-8464CD47D6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64056-0C46-F345-8AC1-82D5685A407D}" type="datetimeFigureOut">
              <a:rPr kumimoji="1" lang="zh-CN" altLang="en-US" smtClean="0"/>
              <a:t>2026/9/21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3A768-1195-8BCE-B287-77867B307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485353-E293-76A6-20BE-9777B8E2E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455B1B-E2BC-BC45-933B-AFCF5F0938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434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tobiasjosborn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tobiasjosborn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tobiasjosborn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18A6-41EA-3EEC-B1B8-33727782F6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492465-5D89-9511-453B-443E1993CF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2765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">
            <a:extLst>
              <a:ext uri="{FF2B5EF4-FFF2-40B4-BE49-F238E27FC236}">
                <a16:creationId xmlns:a16="http://schemas.microsoft.com/office/drawing/2014/main" id="{DCEEE625-1D53-6D90-39EB-D172CB9814CB}"/>
              </a:ext>
            </a:extLst>
          </p:cNvPr>
          <p:cNvSpPr/>
          <p:nvPr/>
        </p:nvSpPr>
        <p:spPr>
          <a:xfrm>
            <a:off x="1516162" y="5744173"/>
            <a:ext cx="3959352" cy="0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9BAB15F-524F-13E6-A6ED-A1461BA41CD1}"/>
              </a:ext>
            </a:extLst>
          </p:cNvPr>
          <p:cNvSpPr/>
          <p:nvPr/>
        </p:nvSpPr>
        <p:spPr>
          <a:xfrm flipV="1">
            <a:off x="1516162" y="3302725"/>
            <a:ext cx="0" cy="2441448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CC0C85B-D9F3-DA1A-03B0-F40760A2062E}"/>
              </a:ext>
            </a:extLst>
          </p:cNvPr>
          <p:cNvSpPr/>
          <p:nvPr/>
        </p:nvSpPr>
        <p:spPr>
          <a:xfrm>
            <a:off x="973180" y="3036785"/>
            <a:ext cx="914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</a:t>
            </a:r>
            <a:endParaRPr lang="en-US" sz="16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C02CCBA-5C1C-0BAB-890E-CBABAAC36FEF}"/>
              </a:ext>
            </a:extLst>
          </p:cNvPr>
          <p:cNvSpPr/>
          <p:nvPr/>
        </p:nvSpPr>
        <p:spPr>
          <a:xfrm>
            <a:off x="5612670" y="5812028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</a:t>
            </a:r>
            <a:endParaRPr lang="en-US" sz="16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B893867E-A73E-8472-DE82-0E3EF5027B5B}"/>
              </a:ext>
            </a:extLst>
          </p:cNvPr>
          <p:cNvSpPr/>
          <p:nvPr/>
        </p:nvSpPr>
        <p:spPr>
          <a:xfrm flipV="1">
            <a:off x="1635034" y="5177245"/>
            <a:ext cx="777240" cy="27432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F2DB00D2-54C7-6E01-5784-E4962C6DF727}"/>
              </a:ext>
            </a:extLst>
          </p:cNvPr>
          <p:cNvSpPr/>
          <p:nvPr/>
        </p:nvSpPr>
        <p:spPr>
          <a:xfrm flipV="1">
            <a:off x="2412274" y="4628605"/>
            <a:ext cx="640080" cy="54864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95C77DB0-BE29-17C4-2379-AD87853000FC}"/>
              </a:ext>
            </a:extLst>
          </p:cNvPr>
          <p:cNvSpPr/>
          <p:nvPr/>
        </p:nvSpPr>
        <p:spPr>
          <a:xfrm flipV="1">
            <a:off x="3052354" y="4034245"/>
            <a:ext cx="640080" cy="59436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A0634978-E0E8-C9FE-004A-41CEBBE203EA}"/>
              </a:ext>
            </a:extLst>
          </p:cNvPr>
          <p:cNvSpPr/>
          <p:nvPr/>
        </p:nvSpPr>
        <p:spPr>
          <a:xfrm flipV="1">
            <a:off x="3692434" y="3348445"/>
            <a:ext cx="731520" cy="68580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EA56EDEE-12E3-4956-DE30-3DFDD3DFAE8A}"/>
              </a:ext>
            </a:extLst>
          </p:cNvPr>
          <p:cNvSpPr/>
          <p:nvPr/>
        </p:nvSpPr>
        <p:spPr>
          <a:xfrm flipV="1">
            <a:off x="4423954" y="2726653"/>
            <a:ext cx="731520" cy="621792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6A0DE645-691C-8162-C723-1930610291E8}"/>
              </a:ext>
            </a:extLst>
          </p:cNvPr>
          <p:cNvSpPr/>
          <p:nvPr/>
        </p:nvSpPr>
        <p:spPr>
          <a:xfrm flipV="1">
            <a:off x="1635033" y="5104093"/>
            <a:ext cx="4066883" cy="237744"/>
          </a:xfrm>
          <a:prstGeom prst="line">
            <a:avLst/>
          </a:prstGeom>
          <a:noFill/>
          <a:ln w="25400">
            <a:solidFill>
              <a:srgbClr val="257A6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CEBB35FB-65FD-FF56-CB69-A63D124FA929}"/>
              </a:ext>
            </a:extLst>
          </p:cNvPr>
          <p:cNvSpPr/>
          <p:nvPr/>
        </p:nvSpPr>
        <p:spPr>
          <a:xfrm>
            <a:off x="2658291" y="2827237"/>
            <a:ext cx="304364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4A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scientific publications</a:t>
            </a:r>
            <a:endParaRPr lang="en-US" sz="16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32890AD1-0692-ACFD-F825-FA85B96E9192}"/>
              </a:ext>
            </a:extLst>
          </p:cNvPr>
          <p:cNvSpPr/>
          <p:nvPr/>
        </p:nvSpPr>
        <p:spPr>
          <a:xfrm>
            <a:off x="3495837" y="5257799"/>
            <a:ext cx="2756913" cy="3017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7A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verification bandwidth</a:t>
            </a:r>
            <a:endParaRPr lang="en-US" sz="160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B6932299-2BDB-B8E5-9B1D-E3E513C27D20}"/>
              </a:ext>
            </a:extLst>
          </p:cNvPr>
          <p:cNvSpPr/>
          <p:nvPr/>
        </p:nvSpPr>
        <p:spPr>
          <a:xfrm flipV="1">
            <a:off x="2412274" y="3429000"/>
            <a:ext cx="0" cy="2304288"/>
          </a:xfrm>
          <a:prstGeom prst="line">
            <a:avLst/>
          </a:prstGeom>
          <a:ln w="19050">
            <a:prstDash val="sysDash"/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FBE05854-1608-5BE0-C0C4-4F3BAF28F7B5}"/>
              </a:ext>
            </a:extLst>
          </p:cNvPr>
          <p:cNvSpPr/>
          <p:nvPr/>
        </p:nvSpPr>
        <p:spPr>
          <a:xfrm>
            <a:off x="1429568" y="1430166"/>
            <a:ext cx="3840481" cy="776150"/>
          </a:xfrm>
          <a:prstGeom prst="roundRect">
            <a:avLst>
              <a:gd name="adj" fmla="val 11574"/>
            </a:avLst>
          </a:prstGeom>
          <a:solidFill>
            <a:schemeClr val="bg2"/>
          </a:solidFill>
          <a:ln w="1397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(AI) read ≠ checked ≠ reusable</a:t>
            </a:r>
            <a:endParaRPr lang="en-US" sz="20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7E89486-F2E7-6E2E-7353-D0C44F1D96B7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 crisis in theoretic research</a:t>
            </a:r>
            <a:endParaRPr 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98605F-E494-05AA-2C46-8F8DE0AD18F1}"/>
              </a:ext>
            </a:extLst>
          </p:cNvPr>
          <p:cNvSpPr txBox="1"/>
          <p:nvPr/>
        </p:nvSpPr>
        <p:spPr>
          <a:xfrm>
            <a:off x="2133600" y="5778065"/>
            <a:ext cx="788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400" dirty="0"/>
              <a:t>2024</a:t>
            </a:r>
            <a:endParaRPr kumimoji="1" lang="zh-CN" alt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339C79B-1025-768B-DF23-3C0932BBD354}"/>
              </a:ext>
            </a:extLst>
          </p:cNvPr>
          <p:cNvSpPr/>
          <p:nvPr/>
        </p:nvSpPr>
        <p:spPr>
          <a:xfrm>
            <a:off x="6519018" y="3964105"/>
            <a:ext cx="5241259" cy="212173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researcher will be drowned in infinite ”recent progress” papers.</a:t>
            </a:r>
          </a:p>
          <a:p>
            <a:pPr marL="228600" indent="-228600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altLang="zh-CN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open problem be solved increases the confidence of AGI, and also the anxiety of </a:t>
            </a:r>
            <a:r>
              <a:rPr lang="en-US" altLang="zh-CN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our career</a:t>
            </a:r>
            <a:r>
              <a:rPr lang="en-US" altLang="zh-CN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Later work still needs the exact imported claim and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verification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Claims and semantic content are often exaggerated</a:t>
            </a:r>
            <a:r>
              <a:rPr lang="nl-NL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>
              <a:solidFill>
                <a:srgbClr val="242832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spcBef>
                <a:spcPts val="800"/>
              </a:spcBef>
              <a:buClr>
                <a:srgbClr val="242832"/>
              </a:buClr>
            </a:pPr>
            <a:endParaRPr lang="en-US" sz="16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3B03642-C6F5-3F04-A139-EE7FF9AB9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66" y="1005731"/>
            <a:ext cx="2573164" cy="257316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F1CFDB0-D7AD-1520-AC53-EF2D9C1E9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647" y="1108055"/>
            <a:ext cx="2240390" cy="224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9A7B41C-17A8-5239-7538-A20262FE5E77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is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inside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black box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of LLM 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reasoning</a:t>
            </a:r>
            <a:endParaRPr lang="en-US" sz="2400" dirty="0"/>
          </a:p>
        </p:txBody>
      </p:sp>
      <p:pic>
        <p:nvPicPr>
          <p:cNvPr id="30" name="Picture 2" descr="Blackbox">
            <a:extLst>
              <a:ext uri="{FF2B5EF4-FFF2-40B4-BE49-F238E27FC236}">
                <a16:creationId xmlns:a16="http://schemas.microsoft.com/office/drawing/2014/main" id="{81E28A16-1A71-213D-6D32-04F1730D46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1" t="14076" r="30353" b="14646"/>
          <a:stretch>
            <a:fillRect/>
          </a:stretch>
        </p:blipFill>
        <p:spPr bwMode="auto">
          <a:xfrm>
            <a:off x="756261" y="1408516"/>
            <a:ext cx="2399545" cy="251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75CCFE02-719C-BAD4-6968-98E05EE6E8C0}"/>
              </a:ext>
            </a:extLst>
          </p:cNvPr>
          <p:cNvGrpSpPr/>
          <p:nvPr/>
        </p:nvGrpSpPr>
        <p:grpSpPr>
          <a:xfrm>
            <a:off x="4062846" y="1163778"/>
            <a:ext cx="7512627" cy="369332"/>
            <a:chOff x="4249882" y="1724890"/>
            <a:chExt cx="5881253" cy="36933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31001B7-965A-71BE-91A3-841116584256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 :  String -&gt; String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1D8381C1-120D-162C-8703-C8EEC1598C31}"/>
                </a:ext>
              </a:extLst>
            </p:cNvPr>
            <p:cNvSpPr/>
            <p:nvPr/>
          </p:nvSpPr>
          <p:spPr>
            <a:xfrm>
              <a:off x="4249882" y="1724890"/>
              <a:ext cx="83126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0" name="Text 19">
            <a:extLst>
              <a:ext uri="{FF2B5EF4-FFF2-40B4-BE49-F238E27FC236}">
                <a16:creationId xmlns:a16="http://schemas.microsoft.com/office/drawing/2014/main" id="{1DD9DE07-DECA-FD55-1E37-8E39D189D538}"/>
              </a:ext>
            </a:extLst>
          </p:cNvPr>
          <p:cNvSpPr/>
          <p:nvPr/>
        </p:nvSpPr>
        <p:spPr>
          <a:xfrm>
            <a:off x="6358820" y="6407888"/>
            <a:ext cx="5995970" cy="4978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spcBef>
                <a:spcPts val="800"/>
              </a:spcBef>
              <a:buClr>
                <a:srgbClr val="242832"/>
              </a:buClr>
            </a:pPr>
            <a:b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Zhang Y, Khan S A, Mahmud A, et al.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npj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Artificial Intelligence, 2025, 1(1): 14.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40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AC66-1FCC-9F07-1ADB-893841882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3DD930C-F030-31FA-1948-62D35986C6E0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is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inside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black box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of LLM 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reasoning</a:t>
            </a:r>
            <a:endParaRPr lang="en-US" sz="2400" dirty="0"/>
          </a:p>
        </p:txBody>
      </p:sp>
      <p:pic>
        <p:nvPicPr>
          <p:cNvPr id="30" name="Picture 2" descr="Blackbox">
            <a:extLst>
              <a:ext uri="{FF2B5EF4-FFF2-40B4-BE49-F238E27FC236}">
                <a16:creationId xmlns:a16="http://schemas.microsoft.com/office/drawing/2014/main" id="{92673D7E-E107-CA9F-30B7-75125C0A5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1" t="14076" r="30353" b="14646"/>
          <a:stretch>
            <a:fillRect/>
          </a:stretch>
        </p:blipFill>
        <p:spPr bwMode="auto">
          <a:xfrm>
            <a:off x="756261" y="1408516"/>
            <a:ext cx="2399545" cy="251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A5B9D3BD-987B-F31A-139A-5084B6920509}"/>
              </a:ext>
            </a:extLst>
          </p:cNvPr>
          <p:cNvGrpSpPr/>
          <p:nvPr/>
        </p:nvGrpSpPr>
        <p:grpSpPr>
          <a:xfrm>
            <a:off x="4062846" y="1163778"/>
            <a:ext cx="7512627" cy="369332"/>
            <a:chOff x="4249882" y="1724890"/>
            <a:chExt cx="5881253" cy="36933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F9D96D11-8231-B8B8-BA5F-60F22C73877B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 :  String -&gt; String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AAC2B49-815F-7E91-D955-14E35BF87FB0}"/>
                </a:ext>
              </a:extLst>
            </p:cNvPr>
            <p:cNvSpPr/>
            <p:nvPr/>
          </p:nvSpPr>
          <p:spPr>
            <a:xfrm>
              <a:off x="4249882" y="1724890"/>
              <a:ext cx="83126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324E2EB-0541-6090-43AE-A242E39C9A48}"/>
              </a:ext>
            </a:extLst>
          </p:cNvPr>
          <p:cNvGrpSpPr/>
          <p:nvPr/>
        </p:nvGrpSpPr>
        <p:grpSpPr>
          <a:xfrm>
            <a:off x="4062846" y="1200351"/>
            <a:ext cx="7512627" cy="369332"/>
            <a:chOff x="4249882" y="1724890"/>
            <a:chExt cx="5881253" cy="369332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BB816D8-BC78-72A9-BE62-717163FBE1D2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 :  String -&gt; token -&gt; prob. distribution -&gt; (next) token -&gt;  String</a:t>
              </a:r>
              <a:endParaRPr kumimoji="1" lang="zh-CN" altLang="en-US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6FAC4693-0EA7-1C4F-0398-351EF3BEB2F6}"/>
                </a:ext>
              </a:extLst>
            </p:cNvPr>
            <p:cNvSpPr/>
            <p:nvPr/>
          </p:nvSpPr>
          <p:spPr>
            <a:xfrm>
              <a:off x="4249882" y="1724890"/>
              <a:ext cx="83126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843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19CC-994D-FAC8-2B29-5AE06D589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53E42B5-7D8E-B834-6E61-1D954FB7E7E8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is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inside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black box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of LLM 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reasoning</a:t>
            </a:r>
            <a:endParaRPr lang="en-US" sz="2400" dirty="0"/>
          </a:p>
        </p:txBody>
      </p:sp>
      <p:pic>
        <p:nvPicPr>
          <p:cNvPr id="30" name="Picture 2" descr="Blackbox">
            <a:extLst>
              <a:ext uri="{FF2B5EF4-FFF2-40B4-BE49-F238E27FC236}">
                <a16:creationId xmlns:a16="http://schemas.microsoft.com/office/drawing/2014/main" id="{AA14F1DE-3392-2C57-343F-EF8D2805E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1" t="14076" r="30353" b="14646"/>
          <a:stretch>
            <a:fillRect/>
          </a:stretch>
        </p:blipFill>
        <p:spPr bwMode="auto">
          <a:xfrm>
            <a:off x="756261" y="1408516"/>
            <a:ext cx="2399545" cy="251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827D17F3-B195-79BE-60DD-35C9E44E7B0E}"/>
              </a:ext>
            </a:extLst>
          </p:cNvPr>
          <p:cNvGrpSpPr/>
          <p:nvPr/>
        </p:nvGrpSpPr>
        <p:grpSpPr>
          <a:xfrm>
            <a:off x="4062846" y="1163778"/>
            <a:ext cx="7512627" cy="369332"/>
            <a:chOff x="4249882" y="1724890"/>
            <a:chExt cx="5881253" cy="36933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A1B35C8-0155-6357-BFF2-8A8FAD07494A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 :  String -&gt; String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2DD28A5-5383-91E5-6A12-4ABD419A420A}"/>
                </a:ext>
              </a:extLst>
            </p:cNvPr>
            <p:cNvSpPr/>
            <p:nvPr/>
          </p:nvSpPr>
          <p:spPr>
            <a:xfrm>
              <a:off x="4249882" y="1724890"/>
              <a:ext cx="83126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 19">
                <a:extLst>
                  <a:ext uri="{FF2B5EF4-FFF2-40B4-BE49-F238E27FC236}">
                    <a16:creationId xmlns:a16="http://schemas.microsoft.com/office/drawing/2014/main" id="{784B1206-4BE7-F8B0-3E1F-6F11AD84C495}"/>
                  </a:ext>
                </a:extLst>
              </p:cNvPr>
              <p:cNvSpPr/>
              <p:nvPr/>
            </p:nvSpPr>
            <p:spPr>
              <a:xfrm>
                <a:off x="2039026" y="5867739"/>
                <a:ext cx="11666449" cy="57672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>
                <a:noAutofit/>
              </a:bodyPr>
              <a:lstStyle/>
              <a:p>
                <a:pPr>
                  <a:spcBef>
                    <a:spcPts val="800"/>
                  </a:spcBef>
                  <a:buClr>
                    <a:srgbClr val="242832"/>
                  </a:buClr>
                </a:pPr>
                <a:r>
                  <a:rPr lang="en-US" sz="1600" dirty="0">
                    <a:solidFill>
                      <a:srgbClr val="242832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LLM outputs a conditioned probabilistic distribution </a:t>
                </a:r>
                <a14:m>
                  <m:oMath xmlns:m="http://schemas.openxmlformats.org/officeDocument/2006/math">
                    <m:r>
                      <a:rPr lang="nl-NL" altLang="zh-CN" sz="1600" b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𝐏</m:t>
                    </m:r>
                    <m:r>
                      <a:rPr lang="nl-NL" altLang="zh-CN" sz="1600" i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next</m:t>
                    </m:r>
                    <m: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token</m:t>
                    </m:r>
                    <m:r>
                      <a:rPr lang="nl-NL" altLang="zh-CN" sz="1600" i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|</m:t>
                    </m:r>
                    <m:r>
                      <m:rPr>
                        <m:sty m:val="p"/>
                      </m:rP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context</m:t>
                    </m:r>
                    <m:r>
                      <a:rPr lang="nl-NL" altLang="zh-CN" sz="1600" i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242832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, then </a:t>
                </a:r>
                <a:r>
                  <a:rPr lang="en-US" sz="1600" dirty="0">
                    <a:solidFill>
                      <a:srgbClr val="242832"/>
                    </a:solidFill>
                    <a:highlight>
                      <a:srgbClr val="FFFF00"/>
                    </a:highlight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samples</a:t>
                </a:r>
                <a:r>
                  <a:rPr lang="en-US" sz="1600" dirty="0">
                    <a:solidFill>
                      <a:srgbClr val="242832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.</a:t>
                </a:r>
              </a:p>
            </p:txBody>
          </p:sp>
        </mc:Choice>
        <mc:Fallback>
          <p:sp>
            <p:nvSpPr>
              <p:cNvPr id="36" name="Text 19">
                <a:extLst>
                  <a:ext uri="{FF2B5EF4-FFF2-40B4-BE49-F238E27FC236}">
                    <a16:creationId xmlns:a16="http://schemas.microsoft.com/office/drawing/2014/main" id="{784B1206-4BE7-F8B0-3E1F-6F11AD84C4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026" y="5867739"/>
                <a:ext cx="11666449" cy="576722"/>
              </a:xfrm>
              <a:prstGeom prst="rect">
                <a:avLst/>
              </a:prstGeom>
              <a:blipFill>
                <a:blip r:embed="rId4"/>
                <a:stretch>
                  <a:fillRect l="-1087" t="-130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892C171F-4FBD-BE6C-7391-5CFD9D69393A}"/>
              </a:ext>
            </a:extLst>
          </p:cNvPr>
          <p:cNvGrpSpPr/>
          <p:nvPr/>
        </p:nvGrpSpPr>
        <p:grpSpPr>
          <a:xfrm>
            <a:off x="4062846" y="1200351"/>
            <a:ext cx="7512627" cy="369332"/>
            <a:chOff x="4249882" y="1724890"/>
            <a:chExt cx="5881253" cy="369332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50582FC-5C63-344E-A410-6CF912B59D8F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 :  String -&gt; token -&gt; prob. distribution -&gt; (next) token -&gt;  String</a:t>
              </a:r>
              <a:endParaRPr kumimoji="1" lang="zh-CN" altLang="en-US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092385C-EC98-C760-6EDE-30F47B12A7E1}"/>
                </a:ext>
              </a:extLst>
            </p:cNvPr>
            <p:cNvSpPr/>
            <p:nvPr/>
          </p:nvSpPr>
          <p:spPr>
            <a:xfrm>
              <a:off x="4249882" y="1724890"/>
              <a:ext cx="83126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0" name="Text 19">
            <a:extLst>
              <a:ext uri="{FF2B5EF4-FFF2-40B4-BE49-F238E27FC236}">
                <a16:creationId xmlns:a16="http://schemas.microsoft.com/office/drawing/2014/main" id="{95825172-9189-EC3D-64BF-F29F99F84560}"/>
              </a:ext>
            </a:extLst>
          </p:cNvPr>
          <p:cNvSpPr/>
          <p:nvPr/>
        </p:nvSpPr>
        <p:spPr>
          <a:xfrm>
            <a:off x="6358820" y="6407888"/>
            <a:ext cx="5995970" cy="4978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spcBef>
                <a:spcPts val="800"/>
              </a:spcBef>
              <a:buClr>
                <a:srgbClr val="242832"/>
              </a:buClr>
            </a:pPr>
            <a:b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Zhang Y, Khan S A, Mahmud A, et al.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npj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Artificial Intelligence, 2025, 1(1): 14.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85A4F73-4D65-C3EC-D94C-BB8E50B6A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9030" y="1801823"/>
            <a:ext cx="3109051" cy="39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94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55421-F1BA-E174-717E-E1D5C95A9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581CA60-B5ED-EB10-FE00-1022ADE65A2D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is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inside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black box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of LLM 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reasoning</a:t>
            </a:r>
            <a:endParaRPr lang="en-US" sz="2400" dirty="0"/>
          </a:p>
        </p:txBody>
      </p:sp>
      <p:pic>
        <p:nvPicPr>
          <p:cNvPr id="30" name="Picture 2" descr="Blackbox">
            <a:extLst>
              <a:ext uri="{FF2B5EF4-FFF2-40B4-BE49-F238E27FC236}">
                <a16:creationId xmlns:a16="http://schemas.microsoft.com/office/drawing/2014/main" id="{A29990A6-D902-0BBC-29BC-3161053C28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1" t="14076" r="30353" b="14646"/>
          <a:stretch>
            <a:fillRect/>
          </a:stretch>
        </p:blipFill>
        <p:spPr bwMode="auto">
          <a:xfrm>
            <a:off x="756261" y="1408516"/>
            <a:ext cx="2399545" cy="251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A5FAE4EE-6749-3B14-05D5-F197A0F6A5E0}"/>
              </a:ext>
            </a:extLst>
          </p:cNvPr>
          <p:cNvGrpSpPr/>
          <p:nvPr/>
        </p:nvGrpSpPr>
        <p:grpSpPr>
          <a:xfrm>
            <a:off x="4062846" y="1163778"/>
            <a:ext cx="7512627" cy="369332"/>
            <a:chOff x="4249882" y="1724890"/>
            <a:chExt cx="5881253" cy="36933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1E74F00-8125-9461-0141-085CE1447DA9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 :  String -&gt; String</a:t>
              </a:r>
              <a:endParaRPr kumimoji="1"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B2577521-ADBB-34C6-9B7D-B5D751474A22}"/>
                </a:ext>
              </a:extLst>
            </p:cNvPr>
            <p:cNvSpPr/>
            <p:nvPr/>
          </p:nvSpPr>
          <p:spPr>
            <a:xfrm>
              <a:off x="4249882" y="1724890"/>
              <a:ext cx="83126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 19">
                <a:extLst>
                  <a:ext uri="{FF2B5EF4-FFF2-40B4-BE49-F238E27FC236}">
                    <a16:creationId xmlns:a16="http://schemas.microsoft.com/office/drawing/2014/main" id="{0C4A3053-5D24-98E5-856E-C1D360488EF0}"/>
                  </a:ext>
                </a:extLst>
              </p:cNvPr>
              <p:cNvSpPr/>
              <p:nvPr/>
            </p:nvSpPr>
            <p:spPr>
              <a:xfrm>
                <a:off x="2039026" y="5867739"/>
                <a:ext cx="11666449" cy="576722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t">
                <a:noAutofit/>
              </a:bodyPr>
              <a:lstStyle/>
              <a:p>
                <a:pPr>
                  <a:spcBef>
                    <a:spcPts val="800"/>
                  </a:spcBef>
                  <a:buClr>
                    <a:srgbClr val="242832"/>
                  </a:buClr>
                </a:pPr>
                <a:r>
                  <a:rPr lang="en-US" sz="1600" dirty="0">
                    <a:solidFill>
                      <a:srgbClr val="242832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LLM outputs a conditioned probabilistic distribution </a:t>
                </a:r>
                <a14:m>
                  <m:oMath xmlns:m="http://schemas.openxmlformats.org/officeDocument/2006/math">
                    <m:r>
                      <a:rPr lang="nl-NL" altLang="zh-CN" sz="1600" b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𝐏</m:t>
                    </m:r>
                    <m:r>
                      <a:rPr lang="nl-NL" altLang="zh-CN" sz="1600" i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next</m:t>
                    </m:r>
                    <m: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token</m:t>
                    </m:r>
                    <m:r>
                      <a:rPr lang="nl-NL" altLang="zh-CN" sz="1600" i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|</m:t>
                    </m:r>
                    <m:r>
                      <m:rPr>
                        <m:sty m:val="p"/>
                      </m:rPr>
                      <a:rPr lang="nl-NL" altLang="zh-CN" sz="1600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context</m:t>
                    </m:r>
                    <m:r>
                      <a:rPr lang="nl-NL" altLang="zh-CN" sz="1600" i="1">
                        <a:solidFill>
                          <a:srgbClr val="242832"/>
                        </a:solidFill>
                        <a:latin typeface="Cambria Math" panose="02040503050406030204" pitchFamily="18" charset="0"/>
                        <a:ea typeface="Roboto" pitchFamily="34" charset="-122"/>
                        <a:cs typeface="Roboto" pitchFamily="34" charset="-12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rgbClr val="242832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, then </a:t>
                </a:r>
                <a:r>
                  <a:rPr lang="en-US" sz="1600" dirty="0">
                    <a:solidFill>
                      <a:srgbClr val="242832"/>
                    </a:solidFill>
                    <a:highlight>
                      <a:srgbClr val="FFFF00"/>
                    </a:highlight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samples</a:t>
                </a:r>
                <a:r>
                  <a:rPr lang="en-US" sz="1600" dirty="0">
                    <a:solidFill>
                      <a:srgbClr val="242832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.</a:t>
                </a:r>
              </a:p>
            </p:txBody>
          </p:sp>
        </mc:Choice>
        <mc:Fallback>
          <p:sp>
            <p:nvSpPr>
              <p:cNvPr id="36" name="Text 19">
                <a:extLst>
                  <a:ext uri="{FF2B5EF4-FFF2-40B4-BE49-F238E27FC236}">
                    <a16:creationId xmlns:a16="http://schemas.microsoft.com/office/drawing/2014/main" id="{0C4A3053-5D24-98E5-856E-C1D360488E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026" y="5867739"/>
                <a:ext cx="11666449" cy="576722"/>
              </a:xfrm>
              <a:prstGeom prst="rect">
                <a:avLst/>
              </a:prstGeom>
              <a:blipFill>
                <a:blip r:embed="rId4"/>
                <a:stretch>
                  <a:fillRect l="-1087" t="-1304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组合 36">
            <a:extLst>
              <a:ext uri="{FF2B5EF4-FFF2-40B4-BE49-F238E27FC236}">
                <a16:creationId xmlns:a16="http://schemas.microsoft.com/office/drawing/2014/main" id="{43843039-D8D5-53AA-56DD-FF0C13EDFEE3}"/>
              </a:ext>
            </a:extLst>
          </p:cNvPr>
          <p:cNvGrpSpPr/>
          <p:nvPr/>
        </p:nvGrpSpPr>
        <p:grpSpPr>
          <a:xfrm>
            <a:off x="4062846" y="1200351"/>
            <a:ext cx="7512627" cy="369332"/>
            <a:chOff x="4249882" y="1724890"/>
            <a:chExt cx="5881253" cy="369332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63E60765-A18C-6912-8EA4-716FF554CB69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369332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 :  String -&gt; token -&gt; prob. distribution -&gt; (next) token -&gt;  String</a:t>
              </a:r>
              <a:endParaRPr kumimoji="1" lang="zh-CN" altLang="en-US" dirty="0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2381D6A-822B-01F0-B9ED-FC7D5BE78EE5}"/>
                </a:ext>
              </a:extLst>
            </p:cNvPr>
            <p:cNvSpPr/>
            <p:nvPr/>
          </p:nvSpPr>
          <p:spPr>
            <a:xfrm>
              <a:off x="4249882" y="1724890"/>
              <a:ext cx="83126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0" name="Text 19">
            <a:extLst>
              <a:ext uri="{FF2B5EF4-FFF2-40B4-BE49-F238E27FC236}">
                <a16:creationId xmlns:a16="http://schemas.microsoft.com/office/drawing/2014/main" id="{3621F7DB-CBE4-4652-E96E-306ADAEE0A76}"/>
              </a:ext>
            </a:extLst>
          </p:cNvPr>
          <p:cNvSpPr/>
          <p:nvPr/>
        </p:nvSpPr>
        <p:spPr>
          <a:xfrm>
            <a:off x="6358820" y="6407888"/>
            <a:ext cx="5995970" cy="4978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spcBef>
                <a:spcPts val="800"/>
              </a:spcBef>
              <a:buClr>
                <a:srgbClr val="242832"/>
              </a:buClr>
            </a:pPr>
            <a:b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Zhang Y, Khan S A, Mahmud A, et al.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npj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Artificial Intelligence, 2025, 1(1): 14.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091" name="图形 3090">
            <a:extLst>
              <a:ext uri="{FF2B5EF4-FFF2-40B4-BE49-F238E27FC236}">
                <a16:creationId xmlns:a16="http://schemas.microsoft.com/office/drawing/2014/main" id="{A054A9DD-A09D-95A4-AA0A-84DA71645F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9030" y="1821889"/>
            <a:ext cx="69342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9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66B55-7819-32E7-348E-F5D2F7FEC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8BE6170-2D84-BBBA-0FC6-CE889B0FFAD9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Momery</a:t>
            </a:r>
            <a:endParaRPr lang="en-US" sz="240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66372EA9-86F2-10C8-EB91-9FF4009DC917}"/>
              </a:ext>
            </a:extLst>
          </p:cNvPr>
          <p:cNvSpPr/>
          <p:nvPr/>
        </p:nvSpPr>
        <p:spPr>
          <a:xfrm>
            <a:off x="6577030" y="6532360"/>
            <a:ext cx="5995970" cy="248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spcBef>
                <a:spcPts val="800"/>
              </a:spcBef>
              <a:buClr>
                <a:srgbClr val="242832"/>
              </a:buClr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Tobias Osborne’s talk 2026 at UCL: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https://www.youtube.com/@tobiasjosborne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2" name="Text 19">
            <a:extLst>
              <a:ext uri="{FF2B5EF4-FFF2-40B4-BE49-F238E27FC236}">
                <a16:creationId xmlns:a16="http://schemas.microsoft.com/office/drawing/2014/main" id="{1527BB9C-36C7-7C67-23DE-62185FC7109E}"/>
              </a:ext>
            </a:extLst>
          </p:cNvPr>
          <p:cNvSpPr/>
          <p:nvPr/>
        </p:nvSpPr>
        <p:spPr>
          <a:xfrm>
            <a:off x="629187" y="1387598"/>
            <a:ext cx="10819099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</a:t>
            </a:r>
            <a:r>
              <a:rPr lang="en-US" sz="1600" dirty="0" err="1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Momery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saves previous prompts and answers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re-sends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history every time</a:t>
            </a:r>
            <a:endParaRPr lang="en-US" sz="1600" b="1" dirty="0">
              <a:solidFill>
                <a:srgbClr val="242832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4D82BFEA-CC4F-EE59-FD94-9729467152C5}"/>
              </a:ext>
            </a:extLst>
          </p:cNvPr>
          <p:cNvSpPr/>
          <p:nvPr/>
        </p:nvSpPr>
        <p:spPr>
          <a:xfrm>
            <a:off x="629188" y="987416"/>
            <a:ext cx="10819099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Normally, the conversation with LLM is a forward pass and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does not update any model weights </a:t>
            </a:r>
            <a:endParaRPr lang="en-US" sz="1600" b="1" dirty="0">
              <a:solidFill>
                <a:srgbClr val="242832"/>
              </a:solidFill>
              <a:highlight>
                <a:srgbClr val="FFFF00"/>
              </a:highlight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E652E2-FE85-D874-C031-AEA901F8B600}"/>
              </a:ext>
            </a:extLst>
          </p:cNvPr>
          <p:cNvGrpSpPr/>
          <p:nvPr/>
        </p:nvGrpSpPr>
        <p:grpSpPr>
          <a:xfrm>
            <a:off x="482561" y="1924343"/>
            <a:ext cx="3990284" cy="2031325"/>
            <a:chOff x="420780" y="2173847"/>
            <a:chExt cx="3990284" cy="203132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7A79CDD-78D5-0AA3-FD0F-D5DB31773051}"/>
                </a:ext>
              </a:extLst>
            </p:cNvPr>
            <p:cNvSpPr txBox="1"/>
            <p:nvPr/>
          </p:nvSpPr>
          <p:spPr>
            <a:xfrm>
              <a:off x="476313" y="2173847"/>
              <a:ext cx="3934751" cy="203132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Turn 1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 </a:t>
              </a:r>
              <a:r>
                <a:rPr lang="en-US" altLang="zh-CN" sz="1400" dirty="0">
                  <a:latin typeface="Courier New" panose="02070309020205020404" pitchFamily="49" charset="0"/>
                </a:rPr>
                <a:t>I am a physicist.]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 → LLM → 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Understood.]</a:t>
              </a:r>
            </a:p>
            <a:p>
              <a:pPr rtl="0">
                <a:buNone/>
              </a:pPr>
              <a:endParaRPr lang="en-US" altLang="zh-CN" sz="1400" dirty="0">
                <a:latin typeface="Courier New" panose="02070309020205020404" pitchFamily="49" charset="0"/>
              </a:endParaRP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Turn 2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I am a physicist.]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Understood.]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Explain entropy at my level.]</a:t>
              </a:r>
            </a:p>
            <a:p>
              <a:r>
                <a:rPr lang="en-US" altLang="zh-CN" sz="1400" dirty="0">
                  <a:latin typeface="Courier New" panose="02070309020205020404" pitchFamily="49" charset="0"/>
                </a:rPr>
                <a:t> → LLM → 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...]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AAA56E6-5DB9-1DE4-C57B-5984A27A9B7C}"/>
                </a:ext>
              </a:extLst>
            </p:cNvPr>
            <p:cNvSpPr/>
            <p:nvPr/>
          </p:nvSpPr>
          <p:spPr>
            <a:xfrm>
              <a:off x="420780" y="2173852"/>
              <a:ext cx="55533" cy="203132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913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21DA-D973-76BD-6F67-F1444D56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5B4E38B-44EF-F4D3-0DD2-1EEB7D710B81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Momery</a:t>
            </a:r>
            <a:endParaRPr lang="en-US" sz="240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732F86E0-407B-2A39-75A2-EA1EE9DFC836}"/>
              </a:ext>
            </a:extLst>
          </p:cNvPr>
          <p:cNvSpPr/>
          <p:nvPr/>
        </p:nvSpPr>
        <p:spPr>
          <a:xfrm>
            <a:off x="6577030" y="6532360"/>
            <a:ext cx="5995970" cy="248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spcBef>
                <a:spcPts val="800"/>
              </a:spcBef>
              <a:buClr>
                <a:srgbClr val="242832"/>
              </a:buClr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Tobias Osborne’s talk 2026 at UCL: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https://www.youtube.com/@tobiasjosborne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2" name="Text 19">
            <a:extLst>
              <a:ext uri="{FF2B5EF4-FFF2-40B4-BE49-F238E27FC236}">
                <a16:creationId xmlns:a16="http://schemas.microsoft.com/office/drawing/2014/main" id="{7ECAE8DC-EDED-9DDD-4CDE-3CDE008DBC30}"/>
              </a:ext>
            </a:extLst>
          </p:cNvPr>
          <p:cNvSpPr/>
          <p:nvPr/>
        </p:nvSpPr>
        <p:spPr>
          <a:xfrm>
            <a:off x="629187" y="1387598"/>
            <a:ext cx="10819099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</a:t>
            </a:r>
            <a:r>
              <a:rPr lang="en-US" sz="1600" dirty="0" err="1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Momery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saves previous prompts and answers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re-sends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history every time</a:t>
            </a:r>
            <a:endParaRPr lang="en-US" sz="1600" b="1" dirty="0">
              <a:solidFill>
                <a:srgbClr val="242832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24B90F-1E67-5219-12DF-D61B8D6F8642}"/>
              </a:ext>
            </a:extLst>
          </p:cNvPr>
          <p:cNvSpPr/>
          <p:nvPr/>
        </p:nvSpPr>
        <p:spPr>
          <a:xfrm>
            <a:off x="10561043" y="2263269"/>
            <a:ext cx="1475510" cy="800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nl-NL" altLang="zh-CN" dirty="0">
                <a:solidFill>
                  <a:schemeClr val="tx1"/>
                </a:solidFill>
              </a:rPr>
              <a:t>new prompt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BD5477-B1ED-52F1-6AA5-B58BECFCDB20}"/>
              </a:ext>
            </a:extLst>
          </p:cNvPr>
          <p:cNvSpPr/>
          <p:nvPr/>
        </p:nvSpPr>
        <p:spPr>
          <a:xfrm>
            <a:off x="6335932" y="2263269"/>
            <a:ext cx="4244148" cy="80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nl-NL" altLang="zh-CN" dirty="0" err="1">
                <a:solidFill>
                  <a:schemeClr val="tx1"/>
                </a:solidFill>
              </a:rPr>
              <a:t>conversation</a:t>
            </a:r>
            <a:r>
              <a:rPr kumimoji="1" lang="nl-NL" altLang="zh-CN" dirty="0">
                <a:solidFill>
                  <a:schemeClr val="tx1"/>
                </a:solidFill>
              </a:rPr>
              <a:t> </a:t>
            </a:r>
            <a:r>
              <a:rPr kumimoji="1" lang="nl-NL" altLang="zh-CN" dirty="0" err="1">
                <a:solidFill>
                  <a:schemeClr val="tx1"/>
                </a:solidFill>
              </a:rPr>
              <a:t>history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5D8F5C6-5D52-0DDB-EE8D-15E83FD9677F}"/>
              </a:ext>
            </a:extLst>
          </p:cNvPr>
          <p:cNvSpPr/>
          <p:nvPr/>
        </p:nvSpPr>
        <p:spPr>
          <a:xfrm>
            <a:off x="4590258" y="2263269"/>
            <a:ext cx="1745673" cy="8001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nl-NL" altLang="zh-CN" dirty="0">
                <a:solidFill>
                  <a:schemeClr val="tx1"/>
                </a:solidFill>
              </a:rPr>
              <a:t>system prompt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0FDA67B8-9405-CB92-D4D1-B31D528E6249}"/>
              </a:ext>
            </a:extLst>
          </p:cNvPr>
          <p:cNvSpPr/>
          <p:nvPr/>
        </p:nvSpPr>
        <p:spPr>
          <a:xfrm rot="5400000">
            <a:off x="8132385" y="-186914"/>
            <a:ext cx="387475" cy="72732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4F560F-FCD9-FBE8-B952-DB300D76E67A}"/>
              </a:ext>
            </a:extLst>
          </p:cNvPr>
          <p:cNvSpPr txBox="1"/>
          <p:nvPr/>
        </p:nvSpPr>
        <p:spPr>
          <a:xfrm>
            <a:off x="7403329" y="3660022"/>
            <a:ext cx="2109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context window</a:t>
            </a:r>
          </a:p>
          <a:p>
            <a:r>
              <a:rPr kumimoji="1" lang="en-US" altLang="zh-CN" dirty="0"/>
              <a:t>(token capacity) </a:t>
            </a:r>
            <a:endParaRPr kumimoji="1" lang="zh-CN" altLang="en-US" dirty="0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70E684C3-95CA-4065-53F8-997D9915A45F}"/>
              </a:ext>
            </a:extLst>
          </p:cNvPr>
          <p:cNvSpPr/>
          <p:nvPr/>
        </p:nvSpPr>
        <p:spPr>
          <a:xfrm>
            <a:off x="629188" y="987416"/>
            <a:ext cx="10819099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Normally, the conversation with LLM is a forward pass and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does not update any model weights </a:t>
            </a:r>
            <a:endParaRPr lang="en-US" sz="1600" b="1" dirty="0">
              <a:solidFill>
                <a:srgbClr val="242832"/>
              </a:solidFill>
              <a:highlight>
                <a:srgbClr val="FFFF00"/>
              </a:highlight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15313D2-449D-074B-431E-92C90869D4B3}"/>
              </a:ext>
            </a:extLst>
          </p:cNvPr>
          <p:cNvGrpSpPr/>
          <p:nvPr/>
        </p:nvGrpSpPr>
        <p:grpSpPr>
          <a:xfrm>
            <a:off x="482561" y="1924343"/>
            <a:ext cx="3990284" cy="2031325"/>
            <a:chOff x="420780" y="2173847"/>
            <a:chExt cx="3990284" cy="203132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496A331-1259-F511-B39C-8CD5F9914DE6}"/>
                </a:ext>
              </a:extLst>
            </p:cNvPr>
            <p:cNvSpPr txBox="1"/>
            <p:nvPr/>
          </p:nvSpPr>
          <p:spPr>
            <a:xfrm>
              <a:off x="476313" y="2173847"/>
              <a:ext cx="3934751" cy="203132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Turn 1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 </a:t>
              </a:r>
              <a:r>
                <a:rPr lang="en-US" altLang="zh-CN" sz="1400" dirty="0">
                  <a:latin typeface="Courier New" panose="02070309020205020404" pitchFamily="49" charset="0"/>
                </a:rPr>
                <a:t>I am a physicist.]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 → LLM → 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Understood.]</a:t>
              </a:r>
            </a:p>
            <a:p>
              <a:pPr rtl="0">
                <a:buNone/>
              </a:pPr>
              <a:endParaRPr lang="en-US" altLang="zh-CN" sz="1400" dirty="0">
                <a:latin typeface="Courier New" panose="02070309020205020404" pitchFamily="49" charset="0"/>
              </a:endParaRP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Turn 2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I am a physicist.]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Understood.]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Explain entropy at my level.]</a:t>
              </a:r>
            </a:p>
            <a:p>
              <a:r>
                <a:rPr lang="en-US" altLang="zh-CN" sz="1400" dirty="0">
                  <a:latin typeface="Courier New" panose="02070309020205020404" pitchFamily="49" charset="0"/>
                </a:rPr>
                <a:t> → LLM → 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...]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21FC36D-05C6-B49E-DB47-0291F1759A47}"/>
                </a:ext>
              </a:extLst>
            </p:cNvPr>
            <p:cNvSpPr/>
            <p:nvPr/>
          </p:nvSpPr>
          <p:spPr>
            <a:xfrm>
              <a:off x="420780" y="2173852"/>
              <a:ext cx="55533" cy="203132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375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FC9C-8E6C-6681-91F0-CB0BDD90B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21577D7-008E-97CF-1A54-1121E6ED8F73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Momery</a:t>
            </a:r>
            <a:endParaRPr lang="en-US" sz="2400" dirty="0"/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F0D71F15-7F66-85AB-F4AC-3BF3D5D9CFBD}"/>
              </a:ext>
            </a:extLst>
          </p:cNvPr>
          <p:cNvSpPr/>
          <p:nvPr/>
        </p:nvSpPr>
        <p:spPr>
          <a:xfrm>
            <a:off x="6577030" y="6532360"/>
            <a:ext cx="5995970" cy="248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>
              <a:spcBef>
                <a:spcPts val="800"/>
              </a:spcBef>
              <a:buClr>
                <a:srgbClr val="242832"/>
              </a:buClr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Tobias Osborne’s talk 2026 at UCL: 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https://www.youtube.com/@tobiasjosborne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2" name="Text 19">
            <a:extLst>
              <a:ext uri="{FF2B5EF4-FFF2-40B4-BE49-F238E27FC236}">
                <a16:creationId xmlns:a16="http://schemas.microsoft.com/office/drawing/2014/main" id="{819845DF-8B8A-D09F-990F-4D7992595C32}"/>
              </a:ext>
            </a:extLst>
          </p:cNvPr>
          <p:cNvSpPr/>
          <p:nvPr/>
        </p:nvSpPr>
        <p:spPr>
          <a:xfrm>
            <a:off x="629187" y="1387598"/>
            <a:ext cx="10819099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</a:t>
            </a:r>
            <a:r>
              <a:rPr lang="en-US" sz="1600" dirty="0" err="1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Momery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saves previous prompts and answers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re-sends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history every time</a:t>
            </a:r>
            <a:endParaRPr lang="en-US" sz="1600" b="1" dirty="0">
              <a:solidFill>
                <a:srgbClr val="242832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4A9DD7-FC0D-DD69-4A0E-18D561198897}"/>
              </a:ext>
            </a:extLst>
          </p:cNvPr>
          <p:cNvSpPr/>
          <p:nvPr/>
        </p:nvSpPr>
        <p:spPr>
          <a:xfrm>
            <a:off x="10561043" y="2263269"/>
            <a:ext cx="1475510" cy="800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nl-NL" altLang="zh-CN" dirty="0">
                <a:solidFill>
                  <a:schemeClr val="tx1"/>
                </a:solidFill>
              </a:rPr>
              <a:t>new prompt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27CA2B9-21FB-B8F9-B52E-569777E24A98}"/>
              </a:ext>
            </a:extLst>
          </p:cNvPr>
          <p:cNvSpPr/>
          <p:nvPr/>
        </p:nvSpPr>
        <p:spPr>
          <a:xfrm>
            <a:off x="6335932" y="2263269"/>
            <a:ext cx="4244148" cy="8001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nl-NL" altLang="zh-CN" dirty="0" err="1">
                <a:solidFill>
                  <a:schemeClr val="tx1"/>
                </a:solidFill>
              </a:rPr>
              <a:t>conversation</a:t>
            </a:r>
            <a:r>
              <a:rPr kumimoji="1" lang="nl-NL" altLang="zh-CN" dirty="0">
                <a:solidFill>
                  <a:schemeClr val="tx1"/>
                </a:solidFill>
              </a:rPr>
              <a:t> </a:t>
            </a:r>
            <a:r>
              <a:rPr kumimoji="1" lang="nl-NL" altLang="zh-CN" dirty="0" err="1">
                <a:solidFill>
                  <a:schemeClr val="tx1"/>
                </a:solidFill>
              </a:rPr>
              <a:t>history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4BD990-1C0B-CF2E-F24D-7E320A7C360E}"/>
              </a:ext>
            </a:extLst>
          </p:cNvPr>
          <p:cNvSpPr/>
          <p:nvPr/>
        </p:nvSpPr>
        <p:spPr>
          <a:xfrm>
            <a:off x="4590258" y="2263269"/>
            <a:ext cx="1745673" cy="80010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nl-NL" altLang="zh-CN" dirty="0">
                <a:solidFill>
                  <a:schemeClr val="tx1"/>
                </a:solidFill>
              </a:rPr>
              <a:t>system prompt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AE167AAD-9661-970D-AB74-0B4386FDC1C5}"/>
              </a:ext>
            </a:extLst>
          </p:cNvPr>
          <p:cNvSpPr/>
          <p:nvPr/>
        </p:nvSpPr>
        <p:spPr>
          <a:xfrm rot="5400000">
            <a:off x="8132385" y="-186914"/>
            <a:ext cx="387475" cy="72732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A5FFAF-AEF9-FAEC-F9E8-F11169540E51}"/>
              </a:ext>
            </a:extLst>
          </p:cNvPr>
          <p:cNvSpPr txBox="1"/>
          <p:nvPr/>
        </p:nvSpPr>
        <p:spPr>
          <a:xfrm>
            <a:off x="7403329" y="3660022"/>
            <a:ext cx="2109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context window</a:t>
            </a:r>
          </a:p>
          <a:p>
            <a:r>
              <a:rPr kumimoji="1" lang="en-US" altLang="zh-CN" dirty="0"/>
              <a:t>(token capacity) </a:t>
            </a:r>
            <a:endParaRPr kumimoji="1" lang="zh-CN" altLang="en-US" dirty="0"/>
          </a:p>
        </p:txBody>
      </p:sp>
      <p:sp>
        <p:nvSpPr>
          <p:cNvPr id="9" name="Text 19">
            <a:extLst>
              <a:ext uri="{FF2B5EF4-FFF2-40B4-BE49-F238E27FC236}">
                <a16:creationId xmlns:a16="http://schemas.microsoft.com/office/drawing/2014/main" id="{E4792A04-DC27-8962-671A-71E36C7E0013}"/>
              </a:ext>
            </a:extLst>
          </p:cNvPr>
          <p:cNvSpPr/>
          <p:nvPr/>
        </p:nvSpPr>
        <p:spPr>
          <a:xfrm>
            <a:off x="629188" y="987416"/>
            <a:ext cx="10819099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Normally, the conversation with LLM is a forward pass and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does not update any model weights </a:t>
            </a:r>
            <a:endParaRPr lang="en-US" sz="1600" b="1" dirty="0">
              <a:solidFill>
                <a:srgbClr val="242832"/>
              </a:solidFill>
              <a:highlight>
                <a:srgbClr val="FFFF00"/>
              </a:highlight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F12C90D-F099-A010-EB39-A39B29146E7A}"/>
              </a:ext>
            </a:extLst>
          </p:cNvPr>
          <p:cNvGrpSpPr/>
          <p:nvPr/>
        </p:nvGrpSpPr>
        <p:grpSpPr>
          <a:xfrm>
            <a:off x="482561" y="1924343"/>
            <a:ext cx="3990284" cy="2031325"/>
            <a:chOff x="420780" y="2173847"/>
            <a:chExt cx="3990284" cy="203132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07090A2-7BE2-C021-80E0-131F4AC2A697}"/>
                </a:ext>
              </a:extLst>
            </p:cNvPr>
            <p:cNvSpPr txBox="1"/>
            <p:nvPr/>
          </p:nvSpPr>
          <p:spPr>
            <a:xfrm>
              <a:off x="476313" y="2173847"/>
              <a:ext cx="3934751" cy="2031325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/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Turn 1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 </a:t>
              </a:r>
              <a:r>
                <a:rPr lang="en-US" altLang="zh-CN" sz="1400" dirty="0">
                  <a:latin typeface="Courier New" panose="02070309020205020404" pitchFamily="49" charset="0"/>
                </a:rPr>
                <a:t>I am a physicist.]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 → LLM → 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Understood.]</a:t>
              </a:r>
            </a:p>
            <a:p>
              <a:pPr rtl="0">
                <a:buNone/>
              </a:pPr>
              <a:endParaRPr lang="en-US" altLang="zh-CN" sz="1400" dirty="0">
                <a:latin typeface="Courier New" panose="02070309020205020404" pitchFamily="49" charset="0"/>
              </a:endParaRP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Turn 2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I am a physicist.]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Understood.]</a:t>
              </a:r>
            </a:p>
            <a:p>
              <a:pPr rtl="0">
                <a:buNone/>
              </a:pPr>
              <a:r>
                <a:rPr lang="en-US" altLang="zh-CN" sz="1400" dirty="0">
                  <a:latin typeface="Courier New" panose="02070309020205020404" pitchFamily="49" charset="0"/>
                </a:rPr>
                <a:t>[</a:t>
              </a:r>
              <a:r>
                <a:rPr lang="en-US" altLang="zh-CN" sz="14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User: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Explain entropy at my level.]</a:t>
              </a:r>
            </a:p>
            <a:p>
              <a:r>
                <a:rPr lang="en-US" altLang="zh-CN" sz="1400" dirty="0">
                  <a:latin typeface="Courier New" panose="02070309020205020404" pitchFamily="49" charset="0"/>
                </a:rPr>
                <a:t> → LLM → [</a:t>
              </a:r>
              <a:r>
                <a:rPr lang="en-US" altLang="zh-CN" sz="1400" dirty="0">
                  <a:solidFill>
                    <a:srgbClr val="002060"/>
                  </a:solidFill>
                  <a:latin typeface="Courier New" panose="02070309020205020404" pitchFamily="49" charset="0"/>
                </a:rPr>
                <a:t>Response:</a:t>
              </a:r>
              <a:r>
                <a:rPr lang="en-US" altLang="zh-CN" sz="1400" dirty="0">
                  <a:latin typeface="Courier New" panose="02070309020205020404" pitchFamily="49" charset="0"/>
                </a:rPr>
                <a:t> ...]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8AD9707-718A-8174-ADDF-4E05BC502591}"/>
                </a:ext>
              </a:extLst>
            </p:cNvPr>
            <p:cNvSpPr/>
            <p:nvPr/>
          </p:nvSpPr>
          <p:spPr>
            <a:xfrm>
              <a:off x="420780" y="2173852"/>
              <a:ext cx="55533" cy="203132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Text 19">
            <a:extLst>
              <a:ext uri="{FF2B5EF4-FFF2-40B4-BE49-F238E27FC236}">
                <a16:creationId xmlns:a16="http://schemas.microsoft.com/office/drawing/2014/main" id="{D45B09A4-621A-A585-94B3-CE20FC734C69}"/>
              </a:ext>
            </a:extLst>
          </p:cNvPr>
          <p:cNvSpPr/>
          <p:nvPr/>
        </p:nvSpPr>
        <p:spPr>
          <a:xfrm>
            <a:off x="1037850" y="4686896"/>
            <a:ext cx="10116300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algn="l">
              <a:spcBef>
                <a:spcPts val="800"/>
              </a:spcBef>
              <a:buClr>
                <a:srgbClr val="242832"/>
              </a:buClr>
            </a:pPr>
            <a:r>
              <a:rPr lang="en-US" sz="2000" b="1" dirty="0">
                <a:solidFill>
                  <a:srgbClr val="242832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When the context window is exceeded, the compression/truncation/selection must be applied</a:t>
            </a:r>
          </a:p>
        </p:txBody>
      </p:sp>
    </p:spTree>
    <p:extLst>
      <p:ext uri="{BB962C8B-B14F-4D97-AF65-F5344CB8AC3E}">
        <p14:creationId xmlns:p14="http://schemas.microsoft.com/office/powerpoint/2010/main" val="3646478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5CA00-D244-4824-5D04-85533B52C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299696AE-C79F-6082-B7A6-66D36E343632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API/Agent/MCP/schema/skills … prompt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sorcery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from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LLM era</a:t>
            </a:r>
            <a:endParaRPr lang="en-US" sz="2400" dirty="0"/>
          </a:p>
        </p:txBody>
      </p:sp>
      <p:sp>
        <p:nvSpPr>
          <p:cNvPr id="2" name="Text 19">
            <a:extLst>
              <a:ext uri="{FF2B5EF4-FFF2-40B4-BE49-F238E27FC236}">
                <a16:creationId xmlns:a16="http://schemas.microsoft.com/office/drawing/2014/main" id="{44DDDDAC-AD72-B3A4-EC05-2FE4F35A536D}"/>
              </a:ext>
            </a:extLst>
          </p:cNvPr>
          <p:cNvSpPr/>
          <p:nvPr/>
        </p:nvSpPr>
        <p:spPr>
          <a:xfrm>
            <a:off x="1843401" y="4233679"/>
            <a:ext cx="8980315" cy="47548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is a </a:t>
            </a: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a </a:t>
            </a:r>
            <a:r>
              <a:rPr lang="en-US" sz="1600" dirty="0">
                <a:solidFill>
                  <a:srgbClr val="242832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LLM  as its core</a:t>
            </a: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execute high-level tasks: LLM decides next step</a:t>
            </a:r>
            <a:endParaRPr lang="en-US" sz="1600" b="1" dirty="0">
              <a:solidFill>
                <a:srgbClr val="242832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3" name="Shape 20">
            <a:extLst>
              <a:ext uri="{FF2B5EF4-FFF2-40B4-BE49-F238E27FC236}">
                <a16:creationId xmlns:a16="http://schemas.microsoft.com/office/drawing/2014/main" id="{E45D49FF-406A-5CCF-3A7A-7AD46A8E2D6C}"/>
              </a:ext>
            </a:extLst>
          </p:cNvPr>
          <p:cNvSpPr/>
          <p:nvPr/>
        </p:nvSpPr>
        <p:spPr>
          <a:xfrm>
            <a:off x="6467017" y="2999365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1">
            <a:extLst>
              <a:ext uri="{FF2B5EF4-FFF2-40B4-BE49-F238E27FC236}">
                <a16:creationId xmlns:a16="http://schemas.microsoft.com/office/drawing/2014/main" id="{631AE3AC-C2BA-7EFA-6ABE-2EE77BC92553}"/>
              </a:ext>
            </a:extLst>
          </p:cNvPr>
          <p:cNvSpPr/>
          <p:nvPr/>
        </p:nvSpPr>
        <p:spPr>
          <a:xfrm>
            <a:off x="6467017" y="2999365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600" dirty="0"/>
          </a:p>
        </p:txBody>
      </p:sp>
      <p:sp>
        <p:nvSpPr>
          <p:cNvPr id="7" name="Shape 24">
            <a:extLst>
              <a:ext uri="{FF2B5EF4-FFF2-40B4-BE49-F238E27FC236}">
                <a16:creationId xmlns:a16="http://schemas.microsoft.com/office/drawing/2014/main" id="{C4F09F45-1B37-EF3C-F703-19E3B0C7D951}"/>
              </a:ext>
            </a:extLst>
          </p:cNvPr>
          <p:cNvSpPr/>
          <p:nvPr/>
        </p:nvSpPr>
        <p:spPr>
          <a:xfrm>
            <a:off x="8900798" y="2977586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  <p:txBody>
          <a:bodyPr/>
          <a:lstStyle/>
          <a:p>
            <a:pPr algn="ctr"/>
            <a:r>
              <a:rPr lang="en-US" altLang="zh-CN" sz="16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altLang="zh-CN" sz="1600" dirty="0"/>
          </a:p>
        </p:txBody>
      </p:sp>
      <p:sp>
        <p:nvSpPr>
          <p:cNvPr id="8" name="Text 25">
            <a:extLst>
              <a:ext uri="{FF2B5EF4-FFF2-40B4-BE49-F238E27FC236}">
                <a16:creationId xmlns:a16="http://schemas.microsoft.com/office/drawing/2014/main" id="{127E93D7-7B28-56C3-763E-3677EF389057}"/>
              </a:ext>
            </a:extLst>
          </p:cNvPr>
          <p:cNvSpPr/>
          <p:nvPr/>
        </p:nvSpPr>
        <p:spPr>
          <a:xfrm>
            <a:off x="2638653" y="2373037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r>
              <a:rPr lang="en-US" sz="16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API</a:t>
            </a:r>
            <a:endParaRPr lang="en-US" sz="1600" dirty="0"/>
          </a:p>
        </p:txBody>
      </p:sp>
      <p:sp>
        <p:nvSpPr>
          <p:cNvPr id="12" name="Shape 28">
            <a:extLst>
              <a:ext uri="{FF2B5EF4-FFF2-40B4-BE49-F238E27FC236}">
                <a16:creationId xmlns:a16="http://schemas.microsoft.com/office/drawing/2014/main" id="{7B612D99-6133-3467-5E7E-9B49A082A8D7}"/>
              </a:ext>
            </a:extLst>
          </p:cNvPr>
          <p:cNvSpPr/>
          <p:nvPr/>
        </p:nvSpPr>
        <p:spPr>
          <a:xfrm>
            <a:off x="7637447" y="3118641"/>
            <a:ext cx="1260000" cy="0"/>
          </a:xfrm>
          <a:prstGeom prst="line">
            <a:avLst/>
          </a:prstGeom>
          <a:noFill/>
          <a:ln w="16510">
            <a:solidFill>
              <a:srgbClr val="257A6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C0431AF-12AD-DEF1-840D-DE6F15A3CC63}"/>
              </a:ext>
            </a:extLst>
          </p:cNvPr>
          <p:cNvGrpSpPr/>
          <p:nvPr/>
        </p:nvGrpSpPr>
        <p:grpSpPr>
          <a:xfrm>
            <a:off x="1798598" y="2924666"/>
            <a:ext cx="3169864" cy="646332"/>
            <a:chOff x="4249882" y="1724889"/>
            <a:chExt cx="5881253" cy="64633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FABB668-B8F7-E18B-57AC-A737BD8BDB50}"/>
                </a:ext>
              </a:extLst>
            </p:cNvPr>
            <p:cNvSpPr txBox="1"/>
            <p:nvPr/>
          </p:nvSpPr>
          <p:spPr>
            <a:xfrm>
              <a:off x="4333008" y="1724890"/>
              <a:ext cx="5798127" cy="646331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import </a:t>
              </a:r>
              <a:r>
                <a:rPr kumimoji="1" lang="en-US" altLang="zh-CN" dirty="0" err="1"/>
                <a:t>numpy</a:t>
              </a:r>
              <a:r>
                <a:rPr kumimoji="1" lang="en-US" altLang="zh-CN" dirty="0"/>
                <a:t> as np</a:t>
              </a:r>
            </a:p>
            <a:p>
              <a:r>
                <a:rPr kumimoji="1" lang="nl-NL" altLang="zh-CN" dirty="0" err="1"/>
                <a:t>result</a:t>
              </a:r>
              <a:r>
                <a:rPr kumimoji="1" lang="nl-NL" altLang="zh-CN" dirty="0"/>
                <a:t> = </a:t>
              </a:r>
              <a:r>
                <a:rPr kumimoji="1" lang="nl-NL" altLang="zh-CN" dirty="0" err="1"/>
                <a:t>np.mean</a:t>
              </a:r>
              <a:r>
                <a:rPr kumimoji="1" lang="nl-NL" altLang="zh-CN" dirty="0"/>
                <a:t>([1, 2, 3]) </a:t>
              </a:r>
              <a:endParaRPr kumimoji="1" lang="zh-CN" altLang="en-US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D6DF7BC-D4AE-B88E-377A-6E279311DAA3}"/>
                </a:ext>
              </a:extLst>
            </p:cNvPr>
            <p:cNvSpPr/>
            <p:nvPr/>
          </p:nvSpPr>
          <p:spPr>
            <a:xfrm>
              <a:off x="4249882" y="1724889"/>
              <a:ext cx="83126" cy="6463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78701BC6-7DB2-3450-8E21-4D815F2BD93D}"/>
              </a:ext>
            </a:extLst>
          </p:cNvPr>
          <p:cNvCxnSpPr>
            <a:cxnSpLocks/>
          </p:cNvCxnSpPr>
          <p:nvPr/>
        </p:nvCxnSpPr>
        <p:spPr>
          <a:xfrm>
            <a:off x="5372099" y="2373037"/>
            <a:ext cx="0" cy="141160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 25">
            <a:extLst>
              <a:ext uri="{FF2B5EF4-FFF2-40B4-BE49-F238E27FC236}">
                <a16:creationId xmlns:a16="http://schemas.microsoft.com/office/drawing/2014/main" id="{E8ECAC15-954C-77DB-159E-B360686F359D}"/>
              </a:ext>
            </a:extLst>
          </p:cNvPr>
          <p:cNvSpPr/>
          <p:nvPr/>
        </p:nvSpPr>
        <p:spPr>
          <a:xfrm>
            <a:off x="7526480" y="2317166"/>
            <a:ext cx="174221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</a:t>
            </a:r>
            <a:endParaRPr lang="en-US" sz="1600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6B39EF-2961-C3A6-584A-CD551FBCBED8}"/>
              </a:ext>
            </a:extLst>
          </p:cNvPr>
          <p:cNvSpPr txBox="1"/>
          <p:nvPr/>
        </p:nvSpPr>
        <p:spPr>
          <a:xfrm>
            <a:off x="7870621" y="2830817"/>
            <a:ext cx="9372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400" dirty="0"/>
              <a:t>Prompt</a:t>
            </a:r>
            <a:endParaRPr kumimoji="1" lang="zh-CN" altLang="en-US" sz="1400" dirty="0"/>
          </a:p>
        </p:txBody>
      </p:sp>
      <p:cxnSp>
        <p:nvCxnSpPr>
          <p:cNvPr id="22" name="直线连接符 21">
            <a:extLst>
              <a:ext uri="{FF2B5EF4-FFF2-40B4-BE49-F238E27FC236}">
                <a16:creationId xmlns:a16="http://schemas.microsoft.com/office/drawing/2014/main" id="{513CC529-9E0C-663D-03F0-D0A5173CE1B8}"/>
              </a:ext>
            </a:extLst>
          </p:cNvPr>
          <p:cNvCxnSpPr>
            <a:cxnSpLocks/>
          </p:cNvCxnSpPr>
          <p:nvPr/>
        </p:nvCxnSpPr>
        <p:spPr>
          <a:xfrm flipV="1">
            <a:off x="10178874" y="2870977"/>
            <a:ext cx="188968" cy="18681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54855DDA-03D4-DD9D-3724-80892B135D5F}"/>
              </a:ext>
            </a:extLst>
          </p:cNvPr>
          <p:cNvCxnSpPr>
            <a:cxnSpLocks/>
          </p:cNvCxnSpPr>
          <p:nvPr/>
        </p:nvCxnSpPr>
        <p:spPr>
          <a:xfrm>
            <a:off x="10178874" y="3124865"/>
            <a:ext cx="19603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线连接符 25">
            <a:extLst>
              <a:ext uri="{FF2B5EF4-FFF2-40B4-BE49-F238E27FC236}">
                <a16:creationId xmlns:a16="http://schemas.microsoft.com/office/drawing/2014/main" id="{81A5007F-209A-93AC-F8E0-63328B3619F4}"/>
              </a:ext>
            </a:extLst>
          </p:cNvPr>
          <p:cNvCxnSpPr>
            <a:cxnSpLocks/>
          </p:cNvCxnSpPr>
          <p:nvPr/>
        </p:nvCxnSpPr>
        <p:spPr>
          <a:xfrm>
            <a:off x="10185936" y="3200533"/>
            <a:ext cx="181906" cy="16972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5DEAFEEC-3540-E2F4-8E1F-6E42372DA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486" y="2658420"/>
            <a:ext cx="318248" cy="31824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1A778A64-79C5-7069-94AF-32B0A3772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6558" y="3024865"/>
            <a:ext cx="236104" cy="2340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F172AE17-9127-C8B0-ED1E-E5BAF9F00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9260" y="3293230"/>
            <a:ext cx="376529" cy="374848"/>
          </a:xfrm>
          <a:prstGeom prst="rect">
            <a:avLst/>
          </a:prstGeom>
        </p:spPr>
      </p:pic>
      <p:sp>
        <p:nvSpPr>
          <p:cNvPr id="40" name="Shape 28">
            <a:extLst>
              <a:ext uri="{FF2B5EF4-FFF2-40B4-BE49-F238E27FC236}">
                <a16:creationId xmlns:a16="http://schemas.microsoft.com/office/drawing/2014/main" id="{087DA19D-56F6-23E5-202B-61A29DB52962}"/>
              </a:ext>
            </a:extLst>
          </p:cNvPr>
          <p:cNvSpPr/>
          <p:nvPr/>
        </p:nvSpPr>
        <p:spPr>
          <a:xfrm>
            <a:off x="7656496" y="3293230"/>
            <a:ext cx="1260000" cy="0"/>
          </a:xfrm>
          <a:prstGeom prst="line">
            <a:avLst/>
          </a:prstGeom>
          <a:noFill/>
          <a:ln w="16510">
            <a:solidFill>
              <a:srgbClr val="346AE6"/>
            </a:solidFill>
            <a:prstDash val="solid"/>
            <a:headEnd type="triangl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202C38D-E115-6D48-8372-D9FFAF853D90}"/>
              </a:ext>
            </a:extLst>
          </p:cNvPr>
          <p:cNvSpPr txBox="1"/>
          <p:nvPr/>
        </p:nvSpPr>
        <p:spPr>
          <a:xfrm>
            <a:off x="7819624" y="3272529"/>
            <a:ext cx="1193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400" dirty="0"/>
              <a:t>Response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8710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34564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a distribution over next tokens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11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6B969E05-3443-C490-7C15-60751FDD0224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API/Agent/MCP/schema/skills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43247" y="3447288"/>
            <a:ext cx="76539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calls the model repeatedly, decides what to do next, and stops when it judges the work done. 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1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5017E0DE-7136-908D-B7E5-A19D20C3035B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API/Agent/MCP/schema/skills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protocol loaded into the context when the task matches it — drawn dashed, because it is advice. The model can read it and not follow it, and nothing records that it did.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1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2E0CE33D-7DBC-D896-71CD-365207ECBA95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skill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en-US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is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 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stuctural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prompt document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49283" y="5234940"/>
            <a:ext cx="68538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convention for exposing a tool so that any model can call it. 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standardises the plug.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1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1628E92D-8B2D-F85B-D444-7278EAD262C2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MCP: Model Context Protocol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compiler, a database, a filesystem. The result returns to the loop, which calls the model again.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1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08035A9C-F0CF-B538-6534-786C990A0BFB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Agent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uses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tools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and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loop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669280" y="3040380"/>
            <a:ext cx="123444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5833872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contract: A valid record must output correct types with respect to contract</a:t>
            </a: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1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E97175DC-EB68-A560-2A23-FB1BB2ABB789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Schema: a machine-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checked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contract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669280" y="3040380"/>
            <a:ext cx="123444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5833872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3040380"/>
            <a:ext cx="256032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372600" y="3040380"/>
            <a:ext cx="256032" cy="283464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 → recorded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→ REFUSED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that does not conform is not repaired or accepted with a warning, but it is refused.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100" dirty="0"/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36BB3828-B388-D370-0059-DDAA762CB6DC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Schema: a machine-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checked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contract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575554" y="3566160"/>
            <a:ext cx="0" cy="822960"/>
          </a:xfrm>
          <a:prstGeom prst="line">
            <a:avLst/>
          </a:prstGeom>
          <a:noFill/>
          <a:ln w="15875">
            <a:solidFill>
              <a:srgbClr val="8A8A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 txBox="1"/>
          <p:nvPr/>
        </p:nvSpPr>
        <p:spPr>
          <a:xfrm>
            <a:off x="5648706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 txBox="1"/>
          <p:nvPr/>
        </p:nvSpPr>
        <p:spPr>
          <a:xfrm>
            <a:off x="2560320" y="2724912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40280" y="2514600"/>
            <a:ext cx="3429000" cy="1051560"/>
          </a:xfrm>
          <a:prstGeom prst="roundRect">
            <a:avLst>
              <a:gd name="adj" fmla="val 10435"/>
            </a:avLst>
          </a:prstGeom>
          <a:ln w="2222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 txBox="1"/>
          <p:nvPr/>
        </p:nvSpPr>
        <p:spPr>
          <a:xfrm>
            <a:off x="2240280" y="22402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60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the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solidFill>
            <a:srgbClr val="1A1A16"/>
          </a:solidFill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2514600"/>
            <a:ext cx="1325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3040380"/>
            <a:ext cx="41148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ln w="15875">
            <a:solidFill>
              <a:srgbClr val="8A8A80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 txBox="1"/>
          <p:nvPr/>
        </p:nvSpPr>
        <p:spPr>
          <a:xfrm>
            <a:off x="2240280" y="1188720"/>
            <a:ext cx="3429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· a written procedure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80" y="1810512"/>
            <a:ext cx="0" cy="704088"/>
          </a:xfrm>
          <a:prstGeom prst="line">
            <a:avLst/>
          </a:prstGeom>
          <a:noFill/>
          <a:ln w="15875">
            <a:solidFill>
              <a:srgbClr val="8A8A80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 txBox="1"/>
          <p:nvPr/>
        </p:nvSpPr>
        <p:spPr>
          <a:xfrm>
            <a:off x="4046220" y="19568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context — advice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 txBox="1"/>
          <p:nvPr/>
        </p:nvSpPr>
        <p:spPr>
          <a:xfrm>
            <a:off x="2468880" y="438912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50657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socket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6674" y="3566160"/>
            <a:ext cx="0" cy="82296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 txBox="1"/>
          <p:nvPr/>
        </p:nvSpPr>
        <p:spPr>
          <a:xfrm>
            <a:off x="3179826" y="3767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ln w="15875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 txBox="1"/>
          <p:nvPr/>
        </p:nvSpPr>
        <p:spPr>
          <a:xfrm>
            <a:off x="4343400" y="4389120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5065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compiler · a database · a filesystem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86200" y="4700016"/>
            <a:ext cx="457200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669280" y="3040380"/>
            <a:ext cx="1234440" cy="0"/>
          </a:xfrm>
          <a:prstGeom prst="line">
            <a:avLst/>
          </a:prstGeom>
          <a:noFill/>
          <a:ln w="19050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 txBox="1"/>
          <p:nvPr/>
        </p:nvSpPr>
        <p:spPr>
          <a:xfrm>
            <a:off x="5833872" y="27294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solidFill>
            <a:srgbClr val="065A82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 txBox="1"/>
          <p:nvPr/>
        </p:nvSpPr>
        <p:spPr>
          <a:xfrm>
            <a:off x="690372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6393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machine-checked contract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3040380"/>
            <a:ext cx="256032" cy="0"/>
          </a:xfrm>
          <a:prstGeom prst="line">
            <a:avLst/>
          </a:prstGeom>
          <a:noFill/>
          <a:ln w="15875">
            <a:solidFill>
              <a:srgbClr val="1A1A1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9372600" y="3040380"/>
            <a:ext cx="256032" cy="283464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ln w="12700">
            <a:solidFill>
              <a:srgbClr val="1A1A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 txBox="1"/>
          <p:nvPr/>
        </p:nvSpPr>
        <p:spPr>
          <a:xfrm>
            <a:off x="9875520" y="23774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 → recorded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ln w="2222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 txBox="1"/>
          <p:nvPr/>
        </p:nvSpPr>
        <p:spPr>
          <a:xfrm>
            <a:off x="9875520" y="309067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→ REFUSED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53212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A1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prompt, the skill and the tool call are all requests — they can be ignored, and the transcript looks the same either way. Only the schema can make an answer impossible to express.</a:t>
            </a:r>
            <a:endParaRPr lang="en-US" dirty="0"/>
          </a:p>
        </p:txBody>
      </p:sp>
      <p:sp>
        <p:nvSpPr>
          <p:cNvPr id="37" name="Text 35"/>
          <p:cNvSpPr txBox="1"/>
          <p:nvPr/>
        </p:nvSpPr>
        <p:spPr>
          <a:xfrm>
            <a:off x="10881360" y="4572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100" dirty="0"/>
          </a:p>
        </p:txBody>
      </p:sp>
      <p:sp>
        <p:nvSpPr>
          <p:cNvPr id="38" name="Text 0">
            <a:extLst>
              <a:ext uri="{FF2B5EF4-FFF2-40B4-BE49-F238E27FC236}">
                <a16:creationId xmlns:a16="http://schemas.microsoft.com/office/drawing/2014/main" id="{03BE5760-9E59-2810-E701-2F89AF74E874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Schema: a machine-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checked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contract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44CD721A-0C4A-FAFD-4A79-1160C15FB677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“Please help me …”</a:t>
            </a:r>
            <a:endParaRPr lang="en-US" sz="24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42D0839-338C-AAAA-E539-E1FB540C3B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6371" y="1594406"/>
            <a:ext cx="5220000" cy="1800000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5E14D8B6-55E6-5E85-EE51-C97834DF34B1}"/>
              </a:ext>
            </a:extLst>
          </p:cNvPr>
          <p:cNvSpPr/>
          <p:nvPr/>
        </p:nvSpPr>
        <p:spPr>
          <a:xfrm>
            <a:off x="5958366" y="2078326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Learn backwards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4755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FD49-45B4-6495-092A-DEA92FD49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65585B0B-5B5D-9D0A-2712-1CB72D140F99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“Please help me …”</a:t>
            </a:r>
            <a:endParaRPr lang="en-US" sz="24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8B48A66-85B2-2578-748F-317FE89FD7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6371" y="1594406"/>
            <a:ext cx="5220000" cy="180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09B5E41-B068-52D1-C655-B979FAB2497E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4" y="1688567"/>
            <a:ext cx="4998523" cy="1671002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F6689566-4E93-5225-7B66-E8CFAFA5F28A}"/>
              </a:ext>
            </a:extLst>
          </p:cNvPr>
          <p:cNvSpPr/>
          <p:nvPr/>
        </p:nvSpPr>
        <p:spPr>
          <a:xfrm>
            <a:off x="5958366" y="2078326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Learn backwards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8758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765A0-3995-03B2-2973-9EEB2764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7A8B2589-2A5C-89AC-2FA6-148A10D8CD49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“Please help me …”</a:t>
            </a:r>
            <a:endParaRPr lang="en-US" sz="24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03578850-E6A9-A06D-5A57-47D080F8275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6371" y="1594406"/>
            <a:ext cx="5220000" cy="180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8626CF6B-54E5-A96A-B66D-D03097D7DB9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4" y="1688567"/>
            <a:ext cx="4998523" cy="16710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D1A4AD-A83A-6DCC-88B3-45A996EFB9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749" y="1028903"/>
            <a:ext cx="2841261" cy="27581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A4348A-C944-FD91-F063-5FAAAB788E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787" y="3692794"/>
            <a:ext cx="7772400" cy="2444196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4A560A16-A39C-3E81-941E-0956E38B1476}"/>
              </a:ext>
            </a:extLst>
          </p:cNvPr>
          <p:cNvSpPr/>
          <p:nvPr/>
        </p:nvSpPr>
        <p:spPr>
          <a:xfrm>
            <a:off x="5958366" y="2078326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Learn backwards</a:t>
            </a:r>
            <a:endParaRPr lang="en-US" sz="24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0FD23841-9553-6A75-C79C-0380E813827C}"/>
              </a:ext>
            </a:extLst>
          </p:cNvPr>
          <p:cNvSpPr/>
          <p:nvPr/>
        </p:nvSpPr>
        <p:spPr>
          <a:xfrm>
            <a:off x="9274974" y="4415014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Reasoning forwards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08762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87CF2-7784-4449-4783-2CC5631C7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F9082D97-FE71-4CAA-DD92-5C2DFBCC300A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“Please help me …”</a:t>
            </a:r>
            <a:endParaRPr lang="en-US" sz="24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6885FFE0-B135-C31F-8DF6-CA6964BAE1A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6371" y="1594406"/>
            <a:ext cx="5220000" cy="180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90735EA-DD78-3C70-0942-AE951D0EF9B0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4" y="1688567"/>
            <a:ext cx="4998523" cy="16710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B64D4B8-A1C8-9038-FDA8-3F3822C750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749" y="1028903"/>
            <a:ext cx="2841261" cy="27581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0BE45D2-4C7B-7FF8-B64A-1B6F6D30E1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356" y="3657866"/>
            <a:ext cx="7772400" cy="244419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25910AF-96AE-EBE0-699A-7853E0C213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352" y="3657866"/>
            <a:ext cx="7772400" cy="2294385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9F85EB0B-F1CC-FC1B-CA50-EE67B32D7637}"/>
              </a:ext>
            </a:extLst>
          </p:cNvPr>
          <p:cNvSpPr/>
          <p:nvPr/>
        </p:nvSpPr>
        <p:spPr>
          <a:xfrm>
            <a:off x="5958366" y="2078326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Learn backwards</a:t>
            </a:r>
            <a:endParaRPr lang="en-US" sz="24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50B0C900-53EA-025E-A082-1A77610F70CD}"/>
              </a:ext>
            </a:extLst>
          </p:cNvPr>
          <p:cNvSpPr/>
          <p:nvPr/>
        </p:nvSpPr>
        <p:spPr>
          <a:xfrm>
            <a:off x="9274974" y="4415014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Reasoning forwards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73024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CAA9D-55C4-353C-EDF0-05813328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31AF6AF1-B7E3-1E21-E515-46399E21B27A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“Please help me …”</a:t>
            </a:r>
            <a:endParaRPr lang="en-US" sz="24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43029C6-BE96-70F5-10B3-EACCF4FBA38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6371" y="1594406"/>
            <a:ext cx="5220000" cy="180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86E9A61-E46B-7824-7ECA-23B5A36EE37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06124" y="1688567"/>
            <a:ext cx="4998523" cy="167100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327BA19-5621-27E7-E77F-2D82A25DE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749" y="1028903"/>
            <a:ext cx="2841261" cy="27581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8A6F5C-ACBE-060C-0F9D-9A3D09E5D5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356" y="3657866"/>
            <a:ext cx="7772400" cy="244419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4C777B6-73BD-38C0-200E-3AC30610A3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616" y="3764219"/>
            <a:ext cx="8136249" cy="2231490"/>
          </a:xfrm>
          <a:prstGeom prst="rect">
            <a:avLst/>
          </a:prstGeom>
        </p:spPr>
      </p:pic>
      <p:sp>
        <p:nvSpPr>
          <p:cNvPr id="15" name="Text 0">
            <a:extLst>
              <a:ext uri="{FF2B5EF4-FFF2-40B4-BE49-F238E27FC236}">
                <a16:creationId xmlns:a16="http://schemas.microsoft.com/office/drawing/2014/main" id="{A8233D1E-3470-BB4C-1118-4BB47E3CEEEE}"/>
              </a:ext>
            </a:extLst>
          </p:cNvPr>
          <p:cNvSpPr/>
          <p:nvPr/>
        </p:nvSpPr>
        <p:spPr>
          <a:xfrm>
            <a:off x="5958366" y="2078326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Learn backwards</a:t>
            </a:r>
            <a:endParaRPr lang="en-US" sz="240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36AF9A26-F3F4-6205-D0C3-18F5D1D0B712}"/>
              </a:ext>
            </a:extLst>
          </p:cNvPr>
          <p:cNvSpPr/>
          <p:nvPr/>
        </p:nvSpPr>
        <p:spPr>
          <a:xfrm>
            <a:off x="9274974" y="4415014"/>
            <a:ext cx="27863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Reasoning forwards</a:t>
            </a:r>
            <a:endParaRPr lang="en-US" sz="24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077E7E47-C099-D67D-E6CE-01C7EB5FB0F2}"/>
              </a:ext>
            </a:extLst>
          </p:cNvPr>
          <p:cNvSpPr/>
          <p:nvPr/>
        </p:nvSpPr>
        <p:spPr>
          <a:xfrm>
            <a:off x="4477254" y="6254362"/>
            <a:ext cx="42095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Or, sometimes together 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73619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5">
            <a:extLst>
              <a:ext uri="{FF2B5EF4-FFF2-40B4-BE49-F238E27FC236}">
                <a16:creationId xmlns:a16="http://schemas.microsoft.com/office/drawing/2014/main" id="{74D4125E-ABB5-801D-8008-C0CAA8BFB295}"/>
              </a:ext>
            </a:extLst>
          </p:cNvPr>
          <p:cNvSpPr/>
          <p:nvPr/>
        </p:nvSpPr>
        <p:spPr>
          <a:xfrm>
            <a:off x="2072409" y="972532"/>
            <a:ext cx="3657599" cy="960120"/>
          </a:xfrm>
          <a:prstGeom prst="roundRect">
            <a:avLst>
              <a:gd name="adj" fmla="val 4629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story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did the paper actually state?</a:t>
            </a:r>
            <a:endParaRPr lang="en-US" sz="12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44B51EE-FA38-6B60-A53D-F28D6CDAAF80}"/>
              </a:ext>
            </a:extLst>
          </p:cNvPr>
          <p:cNvSpPr/>
          <p:nvPr/>
        </p:nvSpPr>
        <p:spPr>
          <a:xfrm>
            <a:off x="5804032" y="972532"/>
            <a:ext cx="4892040" cy="960120"/>
          </a:xfrm>
          <a:prstGeom prst="roundRect">
            <a:avLst>
              <a:gd name="adj" fmla="val 4629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correctness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conclusion follow from encoded assumptions?</a:t>
            </a:r>
            <a:endParaRPr lang="en-US" sz="12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4650221-316D-D24B-7487-27E804FF6A07}"/>
              </a:ext>
            </a:extLst>
          </p:cNvPr>
          <p:cNvSpPr/>
          <p:nvPr/>
        </p:nvSpPr>
        <p:spPr>
          <a:xfrm>
            <a:off x="2072409" y="2015383"/>
            <a:ext cx="3657600" cy="960120"/>
          </a:xfrm>
          <a:prstGeom prst="roundRect">
            <a:avLst>
              <a:gd name="adj" fmla="val 4629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 reproducibility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the numerical result be reproduced?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3A44098-6E49-54AF-3096-4717E6C63F17}"/>
              </a:ext>
            </a:extLst>
          </p:cNvPr>
          <p:cNvSpPr/>
          <p:nvPr/>
        </p:nvSpPr>
        <p:spPr>
          <a:xfrm>
            <a:off x="5804032" y="2015383"/>
            <a:ext cx="4892040" cy="960120"/>
          </a:xfrm>
          <a:prstGeom prst="roundRect">
            <a:avLst>
              <a:gd name="adj" fmla="val 4629"/>
            </a:avLst>
          </a:prstGeom>
          <a:solidFill>
            <a:srgbClr val="EEE8F7"/>
          </a:solidFill>
          <a:ln w="3810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Physical-semantic alignment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formal object represent the intended physics?</a:t>
            </a:r>
            <a:endParaRPr lang="en-US" sz="12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610DE0D1-FFA8-B020-C3BB-AE69E1C36B00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 we actually care, and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…</a:t>
            </a: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what we can trust? (as theorists)</a:t>
            </a:r>
            <a:endParaRPr 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A650449-0A5B-8B23-73C2-16790779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578" y="3381330"/>
            <a:ext cx="3095010" cy="24969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177F417-9D9C-DE5A-ACCC-3A5A722AEC5E}"/>
              </a:ext>
            </a:extLst>
          </p:cNvPr>
          <p:cNvSpPr txBox="1"/>
          <p:nvPr/>
        </p:nvSpPr>
        <p:spPr>
          <a:xfrm>
            <a:off x="3476068" y="5988799"/>
            <a:ext cx="24571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reverse </a:t>
            </a:r>
            <a:r>
              <a:rPr kumimoji="1" lang="nl-NL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mathematics</a:t>
            </a:r>
            <a:r>
              <a:rPr kumimoji="1" lang="nl-NL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zoo,</a:t>
            </a: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founded by Damir Dzhafarov</a:t>
            </a:r>
            <a:r>
              <a:rPr kumimoji="1" lang="nl-NL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2019</a:t>
            </a:r>
            <a:endParaRPr kumimoji="1"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096FB55-8AD9-A979-6EE9-3D1F9C001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466" y="3336474"/>
            <a:ext cx="2410098" cy="1205049"/>
          </a:xfrm>
          <a:prstGeom prst="rect">
            <a:avLst/>
          </a:prstGeom>
        </p:spPr>
      </p:pic>
      <p:pic>
        <p:nvPicPr>
          <p:cNvPr id="13" name="Picture 2" descr="The Lean 4 Theorem Prover and Programming Language | Springer Nature Link">
            <a:extLst>
              <a:ext uri="{FF2B5EF4-FFF2-40B4-BE49-F238E27FC236}">
                <a16:creationId xmlns:a16="http://schemas.microsoft.com/office/drawing/2014/main" id="{058E66E4-05FB-3D8D-5913-34FAE1D03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460" y="4618515"/>
            <a:ext cx="2474686" cy="117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F1A7E98-53A7-3260-6DDC-670A5AF904AC}"/>
              </a:ext>
            </a:extLst>
          </p:cNvPr>
          <p:cNvSpPr txBox="1"/>
          <p:nvPr/>
        </p:nvSpPr>
        <p:spPr>
          <a:xfrm>
            <a:off x="6430377" y="5958626"/>
            <a:ext cx="37855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Lean 4 Theorem Prover and Programming Language</a:t>
            </a:r>
          </a:p>
          <a:p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Moura L, Ullrich S.</a:t>
            </a:r>
            <a:r>
              <a:rPr kumimoji="1" lang="nl-NL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2021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E0366F3-2FBE-8EAA-D5BF-FC245E921E3E}"/>
              </a:ext>
            </a:extLst>
          </p:cNvPr>
          <p:cNvSpPr/>
          <p:nvPr/>
        </p:nvSpPr>
        <p:spPr>
          <a:xfrm>
            <a:off x="2894699" y="3271378"/>
            <a:ext cx="7321268" cy="3321307"/>
          </a:xfrm>
          <a:prstGeom prst="roundRect">
            <a:avLst>
              <a:gd name="adj" fmla="val 4629"/>
            </a:avLst>
          </a:prstGeom>
          <a:noFill/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73FBFCC1-DCFB-A0A1-F7A7-3FF294D8C01E}"/>
              </a:ext>
            </a:extLst>
          </p:cNvPr>
          <p:cNvSpPr/>
          <p:nvPr/>
        </p:nvSpPr>
        <p:spPr>
          <a:xfrm>
            <a:off x="163168" y="3271378"/>
            <a:ext cx="2529283" cy="3314622"/>
          </a:xfrm>
          <a:prstGeom prst="roundRect">
            <a:avLst>
              <a:gd name="adj" fmla="val 4629"/>
            </a:avLst>
          </a:prstGeom>
          <a:noFill/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5126" name="Picture 6" descr="Paper Formatting – Writing for the Sciences">
            <a:extLst>
              <a:ext uri="{FF2B5EF4-FFF2-40B4-BE49-F238E27FC236}">
                <a16:creationId xmlns:a16="http://schemas.microsoft.com/office/drawing/2014/main" id="{EA64A3F9-14AB-FE62-BD95-C99B1DBF9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31" y="3329791"/>
            <a:ext cx="2332556" cy="291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AD7765A-8EF6-0193-0617-6B52014500D2}"/>
              </a:ext>
            </a:extLst>
          </p:cNvPr>
          <p:cNvSpPr txBox="1"/>
          <p:nvPr/>
        </p:nvSpPr>
        <p:spPr>
          <a:xfrm>
            <a:off x="579408" y="6221624"/>
            <a:ext cx="1899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Paper </a:t>
            </a:r>
            <a:r>
              <a:rPr kumimoji="1" lang="nl-NL" altLang="zh-CN" sz="1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formatting</a:t>
            </a:r>
            <a:r>
              <a:rPr kumimoji="1" lang="nl-NL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SUNY</a:t>
            </a:r>
            <a:endParaRPr kumimoji="1"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D4753D-4471-3997-7811-F59501268B3E}"/>
              </a:ext>
            </a:extLst>
          </p:cNvPr>
          <p:cNvSpPr txBox="1"/>
          <p:nvPr/>
        </p:nvSpPr>
        <p:spPr>
          <a:xfrm>
            <a:off x="10119592" y="2172040"/>
            <a:ext cx="5020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?</a:t>
            </a:r>
            <a:endParaRPr kumimoji="1" lang="zh-CN" altLang="en-US" sz="6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94E5125C-5BC2-7589-4AD7-0FA2FD7321F4}"/>
              </a:ext>
            </a:extLst>
          </p:cNvPr>
          <p:cNvSpPr/>
          <p:nvPr/>
        </p:nvSpPr>
        <p:spPr>
          <a:xfrm>
            <a:off x="10418215" y="3271378"/>
            <a:ext cx="1603881" cy="3314623"/>
          </a:xfrm>
          <a:prstGeom prst="roundRect">
            <a:avLst>
              <a:gd name="adj" fmla="val 4629"/>
            </a:avLst>
          </a:prstGeom>
          <a:noFill/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D2F7A69-FD23-6ECB-F5BB-4B1427730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841" y="3489961"/>
            <a:ext cx="896834" cy="89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68A72D33-E501-C25A-A9F8-3186FAA03C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841" y="4525604"/>
            <a:ext cx="896834" cy="89683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37F4876-58CE-B3AD-8573-FB3B25571B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1569" y="5449656"/>
            <a:ext cx="955106" cy="100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33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0E716793-E995-E3AF-3520-771050B75CBD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Imaging paper as an agent</a:t>
            </a:r>
            <a:endParaRPr 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4EBF8A-A4AD-2A7F-8522-213B1B467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988686"/>
            <a:ext cx="5852915" cy="2732237"/>
          </a:xfrm>
          <a:prstGeom prst="rect">
            <a:avLst/>
          </a:prstGeom>
        </p:spPr>
      </p:pic>
      <p:pic>
        <p:nvPicPr>
          <p:cNvPr id="7" name="Picture 2" descr="Fig. 1: Overview of Paper2Agent.">
            <a:extLst>
              <a:ext uri="{FF2B5EF4-FFF2-40B4-BE49-F238E27FC236}">
                <a16:creationId xmlns:a16="http://schemas.microsoft.com/office/drawing/2014/main" id="{95CF6110-F03F-287B-496F-F763DADAC3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46"/>
          <a:stretch>
            <a:fillRect/>
          </a:stretch>
        </p:blipFill>
        <p:spPr bwMode="auto">
          <a:xfrm>
            <a:off x="5799430" y="676656"/>
            <a:ext cx="5852915" cy="335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649368-DE97-5E5C-EFDD-662C7D1D7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4157055"/>
            <a:ext cx="5862782" cy="21315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328002E-61CB-A948-D5E9-7579819ACB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640" y="4147679"/>
            <a:ext cx="4717473" cy="215033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17D67BF-BA00-6BA2-4611-18211CF6163A}"/>
              </a:ext>
            </a:extLst>
          </p:cNvPr>
          <p:cNvSpPr txBox="1"/>
          <p:nvPr/>
        </p:nvSpPr>
        <p:spPr>
          <a:xfrm>
            <a:off x="6787718" y="6355437"/>
            <a:ext cx="4321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nl-NL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paper no </a:t>
            </a:r>
            <a:r>
              <a:rPr kumimoji="1" lang="nl-NL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kumimoji="1" lang="nl-NL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nl-NL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kumimoji="1" lang="nl-NL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static</a:t>
            </a:r>
            <a:r>
              <a:rPr kumimoji="1" lang="nl-NL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, but </a:t>
            </a:r>
            <a:r>
              <a:rPr kumimoji="1" lang="nl-NL" altLang="zh-CN" b="1" dirty="0" err="1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an</a:t>
            </a:r>
            <a:r>
              <a:rPr kumimoji="1" lang="nl-NL" altLang="zh-CN" b="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agent</a:t>
            </a:r>
            <a:endParaRPr kumimoji="1" lang="zh-CN" altLang="en-US" b="1" dirty="0">
              <a:solidFill>
                <a:srgbClr val="FF0000"/>
              </a:solidFill>
              <a:highlight>
                <a:srgbClr val="FFFF00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079C1C6F-60D0-94D7-29A7-B6BF1C514EE7}"/>
              </a:ext>
            </a:extLst>
          </p:cNvPr>
          <p:cNvCxnSpPr/>
          <p:nvPr/>
        </p:nvCxnSpPr>
        <p:spPr>
          <a:xfrm flipV="1">
            <a:off x="104731" y="4101185"/>
            <a:ext cx="11998036" cy="9376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727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4D60-BF4B-6F68-B9DC-7D598EC8C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C3688F2C-8C7F-2B6F-9CE2-461D3B35E58C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How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formalization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works</a:t>
            </a:r>
            <a:endParaRPr lang="en-US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6A9DCD-5956-05DA-269D-A8E386CB2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05" y="3576917"/>
            <a:ext cx="6051684" cy="260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521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0D4B-234C-9F5D-E70D-A35BFBD9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D0C4DAB9-AB9E-1A84-0110-81D22B789E24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Autoformalization</a:t>
            </a:r>
            <a:endParaRPr lang="en-US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CC34E93-5F8D-9C19-BCEC-429E02E30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64" y="1000115"/>
            <a:ext cx="5678054" cy="194538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5C35E47-3108-75FD-FC2D-56877A0F0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64" y="2945501"/>
            <a:ext cx="5847946" cy="35318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14EBAB0-4E44-E762-47FA-5AA913C57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993" y="271414"/>
            <a:ext cx="5564399" cy="17013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7A3C92-458C-6047-4818-5CA26BABC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2345" y="2007222"/>
            <a:ext cx="3311236" cy="4470169"/>
          </a:xfrm>
          <a:prstGeom prst="rect">
            <a:avLst/>
          </a:prstGeom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6776AA7E-050C-FB10-894C-0FAA6795086D}"/>
              </a:ext>
            </a:extLst>
          </p:cNvPr>
          <p:cNvCxnSpPr>
            <a:cxnSpLocks/>
          </p:cNvCxnSpPr>
          <p:nvPr/>
        </p:nvCxnSpPr>
        <p:spPr>
          <a:xfrm>
            <a:off x="6208353" y="135707"/>
            <a:ext cx="1022888" cy="6586586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93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2648</Words>
  <Application>Microsoft Macintosh PowerPoint</Application>
  <PresentationFormat>宽屏</PresentationFormat>
  <Paragraphs>340</Paragraphs>
  <Slides>27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等线</vt:lpstr>
      <vt:lpstr>等线 Light</vt:lpstr>
      <vt:lpstr>Arial</vt:lpstr>
      <vt:lpstr>Calibri</vt:lpstr>
      <vt:lpstr>Cambria</vt:lpstr>
      <vt:lpstr>Cambria Math</vt:lpstr>
      <vt:lpstr>Courier New</vt:lpstr>
      <vt:lpstr>Roboto</vt:lpstr>
      <vt:lpstr>Roboto Condensed</vt:lpstr>
      <vt:lpstr>Tahoma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Y. (Yingjian)</dc:creator>
  <cp:lastModifiedBy>Liu, Y. (Yingjian)</cp:lastModifiedBy>
  <cp:revision>1</cp:revision>
  <dcterms:created xsi:type="dcterms:W3CDTF">2026-09-21T14:36:47Z</dcterms:created>
  <dcterms:modified xsi:type="dcterms:W3CDTF">2026-09-21T14:38:17Z</dcterms:modified>
</cp:coreProperties>
</file>