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34"/>
    <p:sldId id="257" r:id="rId3"/>
    <p:sldId id="258" r:id="rId35"/>
    <p:sldId id="259" r:id="rId4"/>
    <p:sldId id="260" r:id="rId5"/>
    <p:sldId id="261" r:id="rId7"/>
    <p:sldId id="262" r:id="rId9"/>
    <p:sldId id="263" r:id="rId10"/>
    <p:sldId id="264" r:id="rId11"/>
    <p:sldId id="265" r:id="rId12"/>
    <p:sldId id="266" r:id="rId13"/>
    <p:sldId id="267" r:id="rId14"/>
    <p:sldId id="268" r:id="rId15"/>
    <p:sldId id="269" r:id="rId16"/>
    <p:sldId id="270" r:id="rId17"/>
    <p:sldId id="271" r:id="rId18"/>
    <p:sldId id="272" r:id="rId19"/>
    <p:sldId id="273" r:id="rId36"/>
    <p:sldId id="274" r:id="rId21"/>
    <p:sldId id="275" r:id="rId23"/>
    <p:sldId id="276" r:id="rId24"/>
    <p:sldId id="277" r:id="rId25"/>
    <p:sldId id="278" r:id="rId37"/>
    <p:sldId id="279" r:id="rId38"/>
    <p:sldId id="280" r:id="rId26"/>
    <p:sldId id="281" r:id="rId27"/>
    <p:sldId id="282" r:id="rId39"/>
    <p:sldId id="283" r:id="rId40"/>
    <p:sldId id="284" r:id="rId41"/>
    <p:sldId id="285" r:id="rId28"/>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50"/>
    <p:restoredTop sz="94659"/>
  </p:normalViewPr>
  <p:slideViewPr>
    <p:cSldViewPr snapToGrid="0">
      <p:cViewPr varScale="1">
        <p:scale>
          <a:sx n="146" d="100"/>
          <a:sy n="146" d="100"/>
        </p:scale>
        <p:origin x="10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slide" Target="slides/slide26.xml"/><Relationship Id="rId30" Type="http://schemas.openxmlformats.org/officeDocument/2006/relationships/presProps" Target="presProps.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E67E4-6C01-4844-BD48-521DE5952AF2}" type="datetimeFigureOut">
              <a:rPr kumimoji="1" lang="zh-CN" altLang="en-US" smtClean="0"/>
              <a:t>2026/9/21</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F87E6C-E7EC-1248-838B-74833D8CC888}" type="slidenum">
              <a:rPr kumimoji="1" lang="zh-CN" altLang="en-US" smtClean="0"/>
              <a:t>‹#›</a:t>
            </a:fld>
            <a:endParaRPr kumimoji="1" lang="zh-CN" altLang="en-US"/>
          </a:p>
        </p:txBody>
      </p:sp>
    </p:spTree>
    <p:extLst>
      <p:ext uri="{BB962C8B-B14F-4D97-AF65-F5344CB8AC3E}">
        <p14:creationId xmlns:p14="http://schemas.microsoft.com/office/powerpoint/2010/main" val="590006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a:t>
            </a:fld>
            <a:endParaRPr kumimoji="1" lang="zh-CN" altLang="en-US"/>
          </a:p>
        </p:txBody>
      </p:sp>
    </p:spTree>
    <p:extLst>
      <p:ext uri="{BB962C8B-B14F-4D97-AF65-F5344CB8AC3E}">
        <p14:creationId xmlns:p14="http://schemas.microsoft.com/office/powerpoint/2010/main" val="2010438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3</a:t>
            </a:fld>
            <a:endParaRPr kumimoji="1" lang="zh-CN" altLang="en-US"/>
          </a:p>
        </p:txBody>
      </p:sp>
    </p:spTree>
    <p:extLst>
      <p:ext uri="{BB962C8B-B14F-4D97-AF65-F5344CB8AC3E}">
        <p14:creationId xmlns:p14="http://schemas.microsoft.com/office/powerpoint/2010/main" val="4844384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C9919-842D-C487-C849-061B564754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13E02B-F11B-482E-23E2-3449BB417D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FD84668-3E62-5DF0-95DD-B059EA5104C0}"/>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304F3E07-378B-4EA7-60DE-831859266802}"/>
              </a:ext>
            </a:extLst>
          </p:cNvPr>
          <p:cNvSpPr>
            <a:spLocks noGrp="1"/>
          </p:cNvSpPr>
          <p:nvPr>
            <p:ph type="sldNum" sz="quarter" idx="5"/>
          </p:nvPr>
        </p:nvSpPr>
        <p:spPr/>
        <p:txBody>
          <a:bodyPr/>
          <a:lstStyle/>
          <a:p>
            <a:fld id="{D7130D8E-37E8-D04A-ADB3-2189714D1CA4}" type="slidenum">
              <a:rPr kumimoji="1" lang="zh-CN" altLang="en-US" smtClean="0"/>
              <a:t>4</a:t>
            </a:fld>
            <a:endParaRPr kumimoji="1" lang="zh-CN" altLang="en-US"/>
          </a:p>
        </p:txBody>
      </p:sp>
    </p:spTree>
    <p:extLst>
      <p:ext uri="{BB962C8B-B14F-4D97-AF65-F5344CB8AC3E}">
        <p14:creationId xmlns:p14="http://schemas.microsoft.com/office/powerpoint/2010/main" val="39307030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44DF-EEDC-0518-8D93-F54B7F5DF4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1B1EFF-441D-3B2D-E787-1BF3E52B193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01323F-6B1E-B9E3-9D65-95186E7C9042}"/>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A7A8E771-BF3F-4F24-9E4C-B7DC56F015D0}"/>
              </a:ext>
            </a:extLst>
          </p:cNvPr>
          <p:cNvSpPr>
            <a:spLocks noGrp="1"/>
          </p:cNvSpPr>
          <p:nvPr>
            <p:ph type="sldNum" sz="quarter" idx="5"/>
          </p:nvPr>
        </p:nvSpPr>
        <p:spPr/>
        <p:txBody>
          <a:bodyPr/>
          <a:lstStyle/>
          <a:p>
            <a:fld id="{D7130D8E-37E8-D04A-ADB3-2189714D1CA4}" type="slidenum">
              <a:rPr kumimoji="1" lang="zh-CN" altLang="en-US" smtClean="0"/>
              <a:t>6</a:t>
            </a:fld>
            <a:endParaRPr kumimoji="1" lang="zh-CN" altLang="en-US"/>
          </a:p>
        </p:txBody>
      </p:sp>
    </p:spTree>
    <p:extLst>
      <p:ext uri="{BB962C8B-B14F-4D97-AF65-F5344CB8AC3E}">
        <p14:creationId xmlns:p14="http://schemas.microsoft.com/office/powerpoint/2010/main" val="2877376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992C4-BA10-3C0C-4884-7F485D1505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2AFDD84-5DDF-7C2B-EBC3-5B1D9B5656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47910FD-72B2-CDBC-BB37-1838C7FC792A}"/>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05A3AD2-43AA-6331-1F45-EB56496F4EBD}"/>
              </a:ext>
            </a:extLst>
          </p:cNvPr>
          <p:cNvSpPr>
            <a:spLocks noGrp="1"/>
          </p:cNvSpPr>
          <p:nvPr>
            <p:ph type="sldNum" sz="quarter" idx="5"/>
          </p:nvPr>
        </p:nvSpPr>
        <p:spPr/>
        <p:txBody>
          <a:bodyPr/>
          <a:lstStyle/>
          <a:p>
            <a:fld id="{D7130D8E-37E8-D04A-ADB3-2189714D1CA4}" type="slidenum">
              <a:rPr kumimoji="1" lang="zh-CN" altLang="en-US" smtClean="0"/>
              <a:t>8</a:t>
            </a:fld>
            <a:endParaRPr kumimoji="1" lang="zh-CN" altLang="en-US"/>
          </a:p>
        </p:txBody>
      </p:sp>
    </p:spTree>
    <p:extLst>
      <p:ext uri="{BB962C8B-B14F-4D97-AF65-F5344CB8AC3E}">
        <p14:creationId xmlns:p14="http://schemas.microsoft.com/office/powerpoint/2010/main" val="33134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B045E-8C7F-52A7-00A7-3B260D50F22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C31168A-93CF-0960-9861-0D925DC007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9815AB7-40B4-0C73-6D64-AD94FE6D02F4}"/>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859A384-428C-CAA6-E8BB-EB3CCCB5265D}"/>
              </a:ext>
            </a:extLst>
          </p:cNvPr>
          <p:cNvSpPr>
            <a:spLocks noGrp="1"/>
          </p:cNvSpPr>
          <p:nvPr>
            <p:ph type="sldNum" sz="quarter" idx="5"/>
          </p:nvPr>
        </p:nvSpPr>
        <p:spPr/>
        <p:txBody>
          <a:bodyPr/>
          <a:lstStyle/>
          <a:p>
            <a:fld id="{D7130D8E-37E8-D04A-ADB3-2189714D1CA4}" type="slidenum">
              <a:rPr kumimoji="1" lang="zh-CN" altLang="en-US" smtClean="0"/>
              <a:t>9</a:t>
            </a:fld>
            <a:endParaRPr kumimoji="1" lang="zh-CN" altLang="en-US"/>
          </a:p>
        </p:txBody>
      </p:sp>
    </p:spTree>
    <p:extLst>
      <p:ext uri="{BB962C8B-B14F-4D97-AF65-F5344CB8AC3E}">
        <p14:creationId xmlns:p14="http://schemas.microsoft.com/office/powerpoint/2010/main" val="913071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6F656-5F7D-2CA9-E723-9086281789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3B911-4F82-0774-8013-B1A119EC3EB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507795-7E45-E036-966C-19A9C83B0FAE}"/>
              </a:ext>
            </a:extLst>
          </p:cNvPr>
          <p:cNvSpPr>
            <a:spLocks noGrp="1"/>
          </p:cNvSpPr>
          <p:nvPr>
            <p:ph type="body" idx="1"/>
          </p:nvPr>
        </p:nvSpPr>
        <p:spPr/>
        <p:txBody>
          <a:bodyPr/>
          <a:lstStyle/>
          <a:p>
            <a:r>
              <a:rPr kumimoji="1" lang="en-US" altLang="zh-CN" dirty="0"/>
              <a:t>How</a:t>
            </a:r>
            <a:r>
              <a:rPr kumimoji="1" lang="zh-CN" altLang="en-US"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a:t>
            </a:r>
            <a:r>
              <a:rPr kumimoji="1" lang="nl-NL" altLang="zh-CN" dirty="0" err="1"/>
              <a:t>what</a:t>
            </a:r>
            <a:r>
              <a:rPr kumimoji="1" lang="nl-NL" altLang="zh-CN" dirty="0"/>
              <a:t> is API? </a:t>
            </a:r>
            <a:r>
              <a:rPr kumimoji="1" lang="nl-NL" altLang="zh-CN" dirty="0" err="1"/>
              <a:t>Then</a:t>
            </a:r>
            <a:r>
              <a:rPr kumimoji="1" lang="nl-NL" altLang="zh-CN" dirty="0"/>
              <a:t> </a:t>
            </a:r>
            <a:r>
              <a:rPr kumimoji="1" lang="nl-NL" altLang="zh-CN" dirty="0" err="1"/>
              <a:t>how</a:t>
            </a:r>
            <a:r>
              <a:rPr kumimoji="1" lang="nl-NL" altLang="zh-CN"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have </a:t>
            </a:r>
            <a:r>
              <a:rPr kumimoji="1" lang="nl-NL" altLang="zh-CN" dirty="0" err="1"/>
              <a:t>tried</a:t>
            </a:r>
            <a:r>
              <a:rPr kumimoji="1" lang="nl-NL" altLang="zh-CN" dirty="0"/>
              <a:t> </a:t>
            </a:r>
            <a:r>
              <a:rPr kumimoji="1" lang="nl-NL" altLang="zh-CN" dirty="0" err="1"/>
              <a:t>to</a:t>
            </a:r>
            <a:r>
              <a:rPr kumimoji="1" lang="nl-NL" altLang="zh-CN" dirty="0"/>
              <a:t> set up </a:t>
            </a:r>
            <a:r>
              <a:rPr kumimoji="1" lang="nl-NL" altLang="zh-CN" dirty="0" err="1"/>
              <a:t>an</a:t>
            </a:r>
            <a:r>
              <a:rPr kumimoji="1" lang="nl-NL" altLang="zh-CN" dirty="0"/>
              <a:t> agent in codex/</a:t>
            </a:r>
            <a:r>
              <a:rPr kumimoji="1" lang="nl-NL" altLang="zh-CN" dirty="0" err="1"/>
              <a:t>claude</a:t>
            </a:r>
            <a:r>
              <a:rPr kumimoji="1" lang="nl-NL" altLang="zh-CN" dirty="0"/>
              <a:t> … </a:t>
            </a:r>
            <a:br>
              <a:rPr kumimoji="1" lang="nl-NL" altLang="zh-CN" dirty="0"/>
            </a:br>
            <a:r>
              <a:rPr kumimoji="1" lang="nl-NL" altLang="zh-CN" dirty="0" err="1"/>
              <a:t>with</a:t>
            </a:r>
            <a:r>
              <a:rPr kumimoji="1" lang="nl-NL" altLang="zh-CN" dirty="0"/>
              <a:t> </a:t>
            </a:r>
            <a:r>
              <a:rPr kumimoji="1" lang="nl-NL" altLang="zh-CN" dirty="0" err="1"/>
              <a:t>the</a:t>
            </a:r>
            <a:r>
              <a:rPr kumimoji="1" lang="nl-NL" altLang="zh-CN" dirty="0"/>
              <a:t> help of python package API, we </a:t>
            </a:r>
            <a:r>
              <a:rPr kumimoji="1" lang="nl-NL" altLang="zh-CN" dirty="0" err="1"/>
              <a:t>could</a:t>
            </a:r>
            <a:r>
              <a:rPr kumimoji="1" lang="nl-NL" altLang="zh-CN" dirty="0"/>
              <a:t> </a:t>
            </a:r>
            <a:r>
              <a:rPr kumimoji="1" lang="nl-NL" altLang="zh-CN" dirty="0" err="1"/>
              <a:t>easily</a:t>
            </a:r>
            <a:r>
              <a:rPr kumimoji="1" lang="nl-NL" altLang="zh-CN" dirty="0"/>
              <a:t> </a:t>
            </a:r>
            <a:r>
              <a:rPr kumimoji="1" lang="nl-NL" altLang="zh-CN" dirty="0" err="1"/>
              <a:t>use</a:t>
            </a:r>
            <a:r>
              <a:rPr kumimoji="1" lang="nl-NL" altLang="zh-CN" dirty="0"/>
              <a:t> </a:t>
            </a:r>
            <a:r>
              <a:rPr kumimoji="1" lang="nl-NL" altLang="zh-CN" dirty="0" err="1"/>
              <a:t>this</a:t>
            </a:r>
            <a:r>
              <a:rPr kumimoji="1" lang="nl-NL" altLang="zh-CN" dirty="0"/>
              <a:t> </a:t>
            </a:r>
            <a:r>
              <a:rPr kumimoji="1" lang="nl-NL" altLang="zh-CN" dirty="0" err="1"/>
              <a:t>np.mean</a:t>
            </a:r>
            <a:r>
              <a:rPr kumimoji="1" lang="nl-NL" altLang="zh-CN" dirty="0"/>
              <a:t> </a:t>
            </a:r>
            <a:r>
              <a:rPr kumimoji="1" lang="nl-NL" altLang="zh-CN" dirty="0" err="1"/>
              <a:t>function</a:t>
            </a:r>
            <a:r>
              <a:rPr kumimoji="1" lang="nl-NL" altLang="zh-CN" dirty="0"/>
              <a:t>, </a:t>
            </a:r>
            <a:r>
              <a:rPr kumimoji="1" lang="nl-NL" altLang="zh-CN" dirty="0" err="1"/>
              <a:t>this</a:t>
            </a:r>
            <a:r>
              <a:rPr kumimoji="1" lang="nl-NL" altLang="zh-CN" dirty="0"/>
              <a:t> is </a:t>
            </a:r>
            <a:r>
              <a:rPr kumimoji="1" lang="nl-NL" altLang="zh-CN" dirty="0" err="1"/>
              <a:t>because</a:t>
            </a:r>
            <a:r>
              <a:rPr kumimoji="1" lang="nl-NL" altLang="zh-CN" dirty="0"/>
              <a:t> API is </a:t>
            </a:r>
            <a:r>
              <a:rPr kumimoji="1" lang="nl-NL" altLang="zh-CN" dirty="0" err="1"/>
              <a:t>written</a:t>
            </a:r>
            <a:r>
              <a:rPr kumimoji="1" lang="nl-NL" altLang="zh-CN" dirty="0"/>
              <a:t> in a way </a:t>
            </a:r>
            <a:r>
              <a:rPr kumimoji="1" lang="nl-NL" altLang="zh-CN" dirty="0" err="1"/>
              <a:t>to</a:t>
            </a:r>
            <a:r>
              <a:rPr kumimoji="1" lang="nl-NL" altLang="zh-CN" dirty="0"/>
              <a:t> </a:t>
            </a:r>
            <a:r>
              <a:rPr kumimoji="1" lang="nl-NL" altLang="zh-CN" dirty="0" err="1"/>
              <a:t>illustrate</a:t>
            </a:r>
            <a:r>
              <a:rPr kumimoji="1" lang="nl-NL" altLang="zh-CN" dirty="0"/>
              <a:t> </a:t>
            </a:r>
            <a:r>
              <a:rPr kumimoji="1" lang="nl-NL" altLang="zh-CN" dirty="0" err="1"/>
              <a:t>how</a:t>
            </a:r>
            <a:r>
              <a:rPr kumimoji="1" lang="nl-NL" altLang="zh-CN" dirty="0"/>
              <a:t> </a:t>
            </a:r>
            <a:r>
              <a:rPr kumimoji="1" lang="nl-NL" altLang="zh-CN" dirty="0" err="1"/>
              <a:t>to</a:t>
            </a:r>
            <a:r>
              <a:rPr kumimoji="1" lang="nl-NL" altLang="zh-CN" dirty="0"/>
              <a:t> </a:t>
            </a:r>
            <a:r>
              <a:rPr kumimoji="1" lang="nl-NL" altLang="zh-CN" dirty="0" err="1"/>
              <a:t>use</a:t>
            </a:r>
            <a:r>
              <a:rPr kumimoji="1" lang="nl-NL" altLang="zh-CN" dirty="0"/>
              <a:t> it. </a:t>
            </a:r>
            <a:br>
              <a:rPr kumimoji="1" lang="nl-NL" altLang="zh-CN" dirty="0"/>
            </a:br>
            <a:r>
              <a:rPr kumimoji="1" lang="nl-NL" altLang="zh-CN" dirty="0"/>
              <a:t>SO </a:t>
            </a:r>
            <a:r>
              <a:rPr kumimoji="1" lang="nl-NL" altLang="zh-CN" dirty="0" err="1"/>
              <a:t>the</a:t>
            </a:r>
            <a:r>
              <a:rPr kumimoji="1" lang="nl-NL" altLang="zh-CN" dirty="0"/>
              <a:t> </a:t>
            </a:r>
            <a:r>
              <a:rPr kumimoji="1" lang="nl-NL" altLang="zh-CN" dirty="0" err="1"/>
              <a:t>actual</a:t>
            </a:r>
            <a:r>
              <a:rPr kumimoji="1" lang="nl-NL" altLang="zh-CN" dirty="0"/>
              <a:t> </a:t>
            </a:r>
            <a:r>
              <a:rPr kumimoji="1" lang="nl-NL" altLang="zh-CN" dirty="0" err="1"/>
              <a:t>definition</a:t>
            </a:r>
            <a:r>
              <a:rPr kumimoji="1" lang="nl-NL" altLang="zh-CN" dirty="0"/>
              <a:t> of agent is a bit </a:t>
            </a:r>
            <a:r>
              <a:rPr kumimoji="1" lang="nl-NL" altLang="zh-CN" dirty="0" err="1"/>
              <a:t>ambigious</a:t>
            </a:r>
            <a:r>
              <a:rPr kumimoji="1" lang="nl-NL" altLang="zh-CN" dirty="0"/>
              <a:t>, like </a:t>
            </a:r>
            <a:r>
              <a:rPr kumimoji="1" lang="nl-NL" altLang="zh-CN" dirty="0" err="1"/>
              <a:t>how</a:t>
            </a:r>
            <a:r>
              <a:rPr kumimoji="1" lang="nl-NL" altLang="zh-CN" dirty="0"/>
              <a:t> </a:t>
            </a:r>
            <a:r>
              <a:rPr kumimoji="1" lang="nl-NL" altLang="zh-CN" dirty="0" err="1"/>
              <a:t>much</a:t>
            </a:r>
            <a:r>
              <a:rPr kumimoji="1" lang="nl-NL" altLang="zh-CN" dirty="0"/>
              <a:t> level of </a:t>
            </a:r>
            <a:endParaRPr kumimoji="1" lang="zh-CN" altLang="en-US" dirty="0"/>
          </a:p>
        </p:txBody>
      </p:sp>
      <p:sp>
        <p:nvSpPr>
          <p:cNvPr id="4" name="灯片编号占位符 3">
            <a:extLst>
              <a:ext uri="{FF2B5EF4-FFF2-40B4-BE49-F238E27FC236}">
                <a16:creationId xmlns:a16="http://schemas.microsoft.com/office/drawing/2014/main" id="{3C020593-EF67-0447-9CBB-6365C94E6E28}"/>
              </a:ext>
            </a:extLst>
          </p:cNvPr>
          <p:cNvSpPr>
            <a:spLocks noGrp="1"/>
          </p:cNvSpPr>
          <p:nvPr>
            <p:ph type="sldNum" sz="quarter" idx="5"/>
          </p:nvPr>
        </p:nvSpPr>
        <p:spPr/>
        <p:txBody>
          <a:bodyPr/>
          <a:lstStyle/>
          <a:p>
            <a:fld id="{D7130D8E-37E8-D04A-ADB3-2189714D1CA4}" type="slidenum">
              <a:rPr kumimoji="1" lang="zh-CN" altLang="en-US" smtClean="0"/>
              <a:t>10</a:t>
            </a:fld>
            <a:endParaRPr kumimoji="1" lang="zh-CN" altLang="en-US"/>
          </a:p>
        </p:txBody>
      </p:sp>
    </p:spTree>
    <p:extLst>
      <p:ext uri="{BB962C8B-B14F-4D97-AF65-F5344CB8AC3E}">
        <p14:creationId xmlns:p14="http://schemas.microsoft.com/office/powerpoint/2010/main" val="2402421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in, a distribution over next tokens out. Stateless: nothing carries between calls, and the weights never change.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calls the model repeatedly, decides what to do next, and stops when it judges the work done. The model is the engine; the loop is the agent.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loaded into the context when the task matches it — drawn dashed, because it is advice. The model can read it and not follow it, and nothing records that it did.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published convention for exposing a tool so that any model can call it. It standardises the plug; it says nothing about what comes through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compiler, a database, a filesystem. The result returns to the loop, which calls the model again — this return arrow is the whole reason it is called an agent.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machine-checked contract: which fields a valid record must have, which types, and — crucially — that no field nobody agreed to may be added.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arrow on the diagram that rejects. A record that does not conform is not repaired or accepted with a warning; it is refused.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the skill and the tool call are all requests — they can be ignored, and the transcript looks the same either way. Only the schema can make an answer impossible to express.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2EABF-AC9E-39CD-B222-8312BB6736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7CC1D1-E754-69B1-8053-CDAA78D14C3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2A14EA9-E069-5F21-D8D4-226155803222}"/>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A46491AF-2B30-2505-C956-47AE3467246E}"/>
              </a:ext>
            </a:extLst>
          </p:cNvPr>
          <p:cNvSpPr>
            <a:spLocks noGrp="1"/>
          </p:cNvSpPr>
          <p:nvPr>
            <p:ph type="sldNum" sz="quarter" idx="5"/>
          </p:nvPr>
        </p:nvSpPr>
        <p:spPr/>
        <p:txBody>
          <a:bodyPr/>
          <a:lstStyle/>
          <a:p>
            <a:fld id="{D7130D8E-37E8-D04A-ADB3-2189714D1CA4}" type="slidenum">
              <a:rPr kumimoji="1" lang="zh-CN" altLang="en-US" smtClean="0"/>
              <a:t>20</a:t>
            </a:fld>
            <a:endParaRPr kumimoji="1" lang="zh-CN" altLang="en-US"/>
          </a:p>
        </p:txBody>
      </p:sp>
    </p:spTree>
    <p:extLst>
      <p:ext uri="{BB962C8B-B14F-4D97-AF65-F5344CB8AC3E}">
        <p14:creationId xmlns:p14="http://schemas.microsoft.com/office/powerpoint/2010/main" val="20149288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317C-1DB0-59E1-257D-91CBCC0FEC9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5BCD427-57D8-7FC7-488A-641C80AAE12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9A7467E-FB62-BC33-D04F-A5B719763C83}"/>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8B6E0FB9-781A-3DAF-6D08-4C32AE8C977A}"/>
              </a:ext>
            </a:extLst>
          </p:cNvPr>
          <p:cNvSpPr>
            <a:spLocks noGrp="1"/>
          </p:cNvSpPr>
          <p:nvPr>
            <p:ph type="sldNum" sz="quarter" idx="5"/>
          </p:nvPr>
        </p:nvSpPr>
        <p:spPr/>
        <p:txBody>
          <a:bodyPr/>
          <a:lstStyle/>
          <a:p>
            <a:fld id="{D7130D8E-37E8-D04A-ADB3-2189714D1CA4}" type="slidenum">
              <a:rPr kumimoji="1" lang="zh-CN" altLang="en-US" smtClean="0"/>
              <a:t>22</a:t>
            </a:fld>
            <a:endParaRPr kumimoji="1" lang="zh-CN" altLang="en-US"/>
          </a:p>
        </p:txBody>
      </p:sp>
    </p:spTree>
    <p:extLst>
      <p:ext uri="{BB962C8B-B14F-4D97-AF65-F5344CB8AC3E}">
        <p14:creationId xmlns:p14="http://schemas.microsoft.com/office/powerpoint/2010/main" val="1639217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A4295-8253-ECCC-7236-3B43E7C7849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388F493-ED37-C311-B2F3-85DBEF3FE5F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FE2128-86E2-4E4B-06AD-D41F05564246}"/>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1473A28B-6A3D-4326-4A3F-3148D3EA5104}"/>
              </a:ext>
            </a:extLst>
          </p:cNvPr>
          <p:cNvSpPr>
            <a:spLocks noGrp="1"/>
          </p:cNvSpPr>
          <p:nvPr>
            <p:ph type="sldNum" sz="quarter" idx="5"/>
          </p:nvPr>
        </p:nvSpPr>
        <p:spPr/>
        <p:txBody>
          <a:bodyPr/>
          <a:lstStyle/>
          <a:p>
            <a:fld id="{D7130D8E-37E8-D04A-ADB3-2189714D1CA4}" type="slidenum">
              <a:rPr kumimoji="1" lang="zh-CN" altLang="en-US" smtClean="0"/>
              <a:t>23</a:t>
            </a:fld>
            <a:endParaRPr kumimoji="1" lang="zh-CN" altLang="en-US"/>
          </a:p>
        </p:txBody>
      </p:sp>
    </p:spTree>
    <p:extLst>
      <p:ext uri="{BB962C8B-B14F-4D97-AF65-F5344CB8AC3E}">
        <p14:creationId xmlns:p14="http://schemas.microsoft.com/office/powerpoint/2010/main" val="14772181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nl-NL" altLang="zh-CN" dirty="0" err="1"/>
              <a:t>This</a:t>
            </a:r>
            <a:r>
              <a:rPr kumimoji="1" lang="nl-NL" altLang="zh-CN" dirty="0"/>
              <a:t> is </a:t>
            </a:r>
            <a:r>
              <a:rPr kumimoji="1" lang="nl-NL" altLang="zh-CN" dirty="0" err="1"/>
              <a:t>why</a:t>
            </a:r>
            <a:r>
              <a:rPr kumimoji="1" lang="nl-NL" altLang="zh-CN" dirty="0"/>
              <a:t> I </a:t>
            </a:r>
            <a:r>
              <a:rPr kumimoji="1" lang="nl-NL" altLang="zh-CN" dirty="0" err="1"/>
              <a:t>am</a:t>
            </a:r>
            <a:r>
              <a:rPr kumimoji="1" lang="nl-NL" altLang="zh-CN" dirty="0"/>
              <a:t> </a:t>
            </a:r>
            <a:r>
              <a:rPr kumimoji="1" lang="nl-NL" altLang="zh-CN" dirty="0" err="1"/>
              <a:t>here</a:t>
            </a:r>
            <a:r>
              <a:rPr kumimoji="1" lang="nl-NL" altLang="zh-CN" dirty="0"/>
              <a:t> </a:t>
            </a:r>
            <a:r>
              <a:rPr kumimoji="1" lang="nl-NL" altLang="zh-CN" dirty="0" err="1"/>
              <a:t>and</a:t>
            </a:r>
            <a:r>
              <a:rPr kumimoji="1" lang="nl-NL" altLang="zh-CN" dirty="0"/>
              <a:t> </a:t>
            </a:r>
            <a:r>
              <a:rPr kumimoji="1" lang="nl-NL" altLang="zh-CN" dirty="0" err="1"/>
              <a:t>give</a:t>
            </a:r>
            <a:r>
              <a:rPr kumimoji="1" lang="nl-NL" altLang="zh-CN" dirty="0"/>
              <a:t> </a:t>
            </a:r>
            <a:r>
              <a:rPr kumimoji="1" lang="nl-NL" altLang="zh-CN" dirty="0" err="1"/>
              <a:t>this</a:t>
            </a:r>
            <a:r>
              <a:rPr kumimoji="1" lang="nl-NL" altLang="zh-CN" dirty="0"/>
              <a:t> talk, I </a:t>
            </a:r>
            <a:r>
              <a:rPr kumimoji="1" lang="nl-NL" altLang="zh-CN" dirty="0" err="1"/>
              <a:t>would</a:t>
            </a:r>
            <a:r>
              <a:rPr kumimoji="1" lang="nl-NL" altLang="zh-CN" dirty="0"/>
              <a:t> like </a:t>
            </a:r>
            <a:r>
              <a:rPr kumimoji="1" lang="nl-NL" altLang="zh-CN" dirty="0" err="1"/>
              <a:t>to</a:t>
            </a:r>
            <a:r>
              <a:rPr kumimoji="1" lang="nl-NL" altLang="zh-CN" dirty="0"/>
              <a:t> </a:t>
            </a:r>
            <a:r>
              <a:rPr kumimoji="1" lang="nl-NL" altLang="zh-CN" dirty="0" err="1"/>
              <a:t>explain</a:t>
            </a:r>
            <a:r>
              <a:rPr kumimoji="1" lang="nl-NL" altLang="zh-CN" dirty="0"/>
              <a:t> more </a:t>
            </a:r>
            <a:r>
              <a:rPr kumimoji="1" lang="nl-NL" altLang="zh-CN" dirty="0" err="1"/>
              <a:t>about</a:t>
            </a:r>
            <a:r>
              <a:rPr kumimoji="1" lang="nl-NL" altLang="zh-CN" dirty="0"/>
              <a:t> </a:t>
            </a:r>
            <a:r>
              <a:rPr kumimoji="1" lang="nl-NL" altLang="zh-CN" dirty="0" err="1"/>
              <a:t>this</a:t>
            </a:r>
            <a:r>
              <a:rPr kumimoji="1" lang="nl-NL" altLang="zh-CN" dirty="0"/>
              <a:t> </a:t>
            </a:r>
            <a:r>
              <a:rPr kumimoji="1" lang="nl-NL" altLang="zh-CN" dirty="0" err="1"/>
              <a:t>idea</a:t>
            </a:r>
            <a:r>
              <a:rPr kumimoji="1" lang="nl-NL" altLang="zh-CN" dirty="0"/>
              <a:t>, but </a:t>
            </a:r>
            <a:r>
              <a:rPr kumimoji="1" lang="nl-NL" altLang="zh-CN" dirty="0" err="1"/>
              <a:t>the</a:t>
            </a:r>
            <a:r>
              <a:rPr kumimoji="1" lang="nl-NL" altLang="zh-CN" dirty="0"/>
              <a:t> details takes a long story…. </a:t>
            </a:r>
            <a:r>
              <a:rPr kumimoji="1" lang="nl-NL" altLang="zh-CN" dirty="0" err="1"/>
              <a:t>Here</a:t>
            </a:r>
            <a:r>
              <a:rPr kumimoji="1" lang="nl-NL" altLang="zh-CN" dirty="0"/>
              <a:t> is </a:t>
            </a:r>
            <a:r>
              <a:rPr kumimoji="1" lang="nl-NL" altLang="zh-CN" dirty="0" err="1"/>
              <a:t>an</a:t>
            </a:r>
            <a:r>
              <a:rPr kumimoji="1" lang="nl-NL" altLang="zh-CN" dirty="0"/>
              <a:t> </a:t>
            </a:r>
            <a:r>
              <a:rPr kumimoji="1" lang="nl-NL" altLang="zh-CN" dirty="0" err="1"/>
              <a:t>example</a:t>
            </a:r>
            <a:r>
              <a:rPr kumimoji="1" lang="nl-NL" altLang="zh-CN" dirty="0"/>
              <a:t> of </a:t>
            </a:r>
            <a:r>
              <a:rPr kumimoji="1" lang="nl-NL" altLang="zh-CN" dirty="0" err="1"/>
              <a:t>the</a:t>
            </a:r>
            <a:r>
              <a:rPr kumimoji="1" lang="nl-NL" altLang="zh-CN" dirty="0"/>
              <a:t> </a:t>
            </a:r>
            <a:r>
              <a:rPr kumimoji="1" lang="nl-NL" altLang="zh-CN" dirty="0" err="1"/>
              <a:t>work</a:t>
            </a:r>
            <a:r>
              <a:rPr kumimoji="1" lang="nl-NL" altLang="zh-CN" dirty="0"/>
              <a:t> </a:t>
            </a:r>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25</a:t>
            </a:fld>
            <a:endParaRPr kumimoji="1" lang="zh-CN" altLang="en-US"/>
          </a:p>
        </p:txBody>
      </p:sp>
    </p:spTree>
    <p:extLst>
      <p:ext uri="{BB962C8B-B14F-4D97-AF65-F5344CB8AC3E}">
        <p14:creationId xmlns:p14="http://schemas.microsoft.com/office/powerpoint/2010/main" val="13948629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B808B4-34E8-7047-CFE4-5D03CAFA22E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EBA8A563-DD04-5337-6A77-81D230778B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0AF07C98-B250-D545-8D60-CE87FF00CD2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72AF1AD8-87A2-5774-34AB-F3DBC58E75F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3C200B4-2D49-1913-40D0-B26F9B0FC09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69614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21740-926B-49A4-17A3-7C328D020F6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BBB88E1-6C8B-773C-B7B3-09A3C62251E6}"/>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46F9BE8-3AD4-FD87-5901-751B23F5A35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3BD89F5C-8262-EB64-CDE2-3421E4DF717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C2B04F7-3FAE-23C7-7608-CE4A4383034E}"/>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2339029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6F0AC1-9753-E61C-A9E9-D12313D42071}"/>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98A7AEB-C4FE-B9A4-053A-1E76B1818B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37134026-F0D4-C9CA-02BA-A8F19A893302}"/>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D374B011-D1D1-DCCC-3049-2BCD51CC8CA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430AA13-6339-4BB1-5A1A-C72E9145E16C}"/>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58986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BA6872-D0BE-6F25-3024-386383EE767B}"/>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DA874389-DD7B-AB72-422D-362F5B8E541E}"/>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1CAB970F-47CE-DE7C-137F-3611E0BBB8A7}"/>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D8BA85B1-C04C-EE9B-C2F8-4CAF1A6C857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0CD4A5FE-43B4-F3E5-17D6-BB9BF2C4926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0C769-A99B-1044-6509-6098207F6D2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167920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CC4935-811F-A9D2-5F7B-679EB55B8E89}"/>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3554E1B-6992-F75B-3882-CDF805F3ED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BBB71FC7-9451-7446-B20E-B4360AE92080}"/>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30965792-3AEE-ECE3-7BD0-030ACD2F43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BA52227F-77B8-2BA8-AB66-A246BC3DAB53}"/>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1150E2EE-DAD2-7457-002C-3E18BAB0E768}"/>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8" name="页脚占位符 7">
            <a:extLst>
              <a:ext uri="{FF2B5EF4-FFF2-40B4-BE49-F238E27FC236}">
                <a16:creationId xmlns:a16="http://schemas.microsoft.com/office/drawing/2014/main" id="{62848CCA-1669-D206-1E71-B634C19CDF6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86C54963-0DD0-4FC0-5DB8-86BFD9FFCD6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036977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819F4-EBDF-78E7-041C-BAA264ACCB0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ECDAB797-3DB5-126B-8BDB-7BACD41FBDA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4" name="页脚占位符 3">
            <a:extLst>
              <a:ext uri="{FF2B5EF4-FFF2-40B4-BE49-F238E27FC236}">
                <a16:creationId xmlns:a16="http://schemas.microsoft.com/office/drawing/2014/main" id="{17CA8154-06E6-5CE6-18EF-ABC79118B92F}"/>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4F1D75DD-C4E8-9EC6-81B9-365C4266AA19}"/>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07921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6E0C1A5-36B4-8ACB-80C7-293D2534915F}"/>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3" name="页脚占位符 2">
            <a:extLst>
              <a:ext uri="{FF2B5EF4-FFF2-40B4-BE49-F238E27FC236}">
                <a16:creationId xmlns:a16="http://schemas.microsoft.com/office/drawing/2014/main" id="{51828113-4A19-33DA-B348-79B74982FD8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3090DACB-4852-F215-6913-6FCA4B046D28}"/>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135170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DE90B2-1D57-3CB9-C60D-FF46ADAD673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53DC63ED-A5E9-1558-533F-7732496F4E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96F1D1C4-D64A-A9A8-0AF5-43F93D9BF9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7CB3DF7-E86B-9189-AB9C-5B2075FC35B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B16899A-F6E8-99CE-6C07-ECF8C1C0B55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B4B5CC-3262-348B-2D1A-7AC3D0DB3BDA}"/>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772114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7C5A16-A3B8-399A-8970-AB7998AE94A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2FEB20B7-E94F-6658-F59E-8FB9CCC24D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63F80829-E0B7-0CCC-6B89-55B27F754D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E9CED2B-3619-FCCE-B893-492D59F4B2D9}"/>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4333169-0D63-87E8-7805-D53C696DD86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FFCB59-5A97-F1FE-E332-907D95C83906}"/>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0350949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8877AD-FB1D-479B-8970-1F7F8A0B98BE}"/>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BB9283D-1EED-02CA-033B-2EF0C87AFD3D}"/>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D9C8710-CBEB-6ED3-7CB4-FD34AF2B8204}"/>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09AB6F65-25A1-F94C-D507-34AE0939FD3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EF5C0A23-27EF-FD81-EA5E-55F5A950520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927000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CFE9A75-F102-1128-72A7-FC0FF9FCC25E}"/>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C93F1119-C859-0A30-84DE-8B83446835C0}"/>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B2B3CCE-38FA-B500-930A-63C8089DE5AB}"/>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5C85E41D-634A-46DA-4709-E8B4348E735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09CE638-EB0E-1058-97A6-572F2E0E1522}"/>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6566480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6237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91AA552-E96A-C1A3-966B-53700982A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CF454FF-628A-8F8D-C135-EDC357785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F8B5AF2-3A51-65AF-7170-8464CD47D6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8F83A768-1195-8BCE-B287-77867B307D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FB485353-E293-76A6-20BE-9777B8E2E5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7243440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jpe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7.xml"/><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7.xml"/><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7.xml"/><Relationship Id="rId3"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5">
            <a:extLst>
              <a:ext uri="{FF2B5EF4-FFF2-40B4-BE49-F238E27FC236}">
                <a16:creationId xmlns:a16="http://schemas.microsoft.com/office/drawing/2014/main" id="{DCEEE625-1D53-6D90-39EB-D172CB9814CB}"/>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C9BAB15F-524F-13E6-A6ED-A1461BA41CD1}"/>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5CC0C85B-D9F3-DA1A-03B0-F40760A2062E}"/>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FC02CCBA-5C1C-0BAB-890E-CBABAAC36FEF}"/>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B893867E-A73E-8472-DE82-0E3EF5027B5B}"/>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F2DB00D2-54C7-6E01-5784-E4962C6DF727}"/>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95C77DB0-BE29-17C4-2379-AD87853000FC}"/>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A0634978-E0E8-C9FE-004A-41CEBBE203EA}"/>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EA56EDEE-12E3-4956-DE30-3DFDD3DFAE8A}"/>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6A0DE645-691C-8162-C723-1930610291E8}"/>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CEBB35FB-65FD-FF56-CB69-A63D124FA929}"/>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32890AD1-0692-ACFD-F825-FA85B96E9192}"/>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B6932299-2BDB-B8E5-9B1D-E3E513C27D20}"/>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7" name="Text 18">
            <a:extLst>
              <a:ext uri="{FF2B5EF4-FFF2-40B4-BE49-F238E27FC236}">
                <a16:creationId xmlns:a16="http://schemas.microsoft.com/office/drawing/2014/main" id="{FBE05854-1608-5BE0-C0C4-4F3BAF28F7B5}"/>
              </a:ext>
            </a:extLst>
          </p:cNvPr>
          <p:cNvSpPr/>
          <p:nvPr/>
        </p:nvSpPr>
        <p:spPr>
          <a:xfrm>
            <a:off x="1429568" y="1430166"/>
            <a:ext cx="3840481" cy="776150"/>
          </a:xfrm>
          <a:prstGeom prst="roundRect">
            <a:avLst>
              <a:gd name="adj" fmla="val 11574"/>
            </a:avLst>
          </a:prstGeom>
          <a:solidFill>
            <a:schemeClr val="bg2"/>
          </a:solidFill>
          <a:ln w="13970">
            <a:solidFill>
              <a:schemeClr val="tx1">
                <a:lumMod val="50000"/>
                <a:lumOff val="50000"/>
              </a:schemeClr>
            </a:solidFill>
          </a:ln>
        </p:spPr>
        <p:txBody>
          <a:bodyPr wrap="square" lIns="508" tIns="508" rIns="508" bIns="508" rtlCol="0" anchor="ctr">
            <a:noAutofit/>
          </a:bodyPr>
          <a:lstStyle/>
          <a:p>
            <a:pPr marL="0" indent="0" algn="ctr">
              <a:buNone/>
            </a:pPr>
            <a:r>
              <a:rPr lang="en-US" sz="2000" dirty="0">
                <a:solidFill>
                  <a:srgbClr val="242832"/>
                </a:solidFill>
                <a:latin typeface="Roboto" pitchFamily="34" charset="0"/>
                <a:ea typeface="Roboto" pitchFamily="34" charset="-122"/>
                <a:cs typeface="Roboto" pitchFamily="34" charset="-120"/>
              </a:rPr>
              <a:t>(AI) read ≠ checked ≠ reusable</a:t>
            </a:r>
            <a:endParaRPr lang="en-US" sz="2000" dirty="0"/>
          </a:p>
        </p:txBody>
      </p:sp>
      <p:sp>
        <p:nvSpPr>
          <p:cNvPr id="18" name="Text 0">
            <a:extLst>
              <a:ext uri="{FF2B5EF4-FFF2-40B4-BE49-F238E27FC236}">
                <a16:creationId xmlns:a16="http://schemas.microsoft.com/office/drawing/2014/main" id="{57E89486-F2E7-6E2E-7353-D0C44F1D96B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9498605F-E494-05AA-2C46-8F8DE0AD18F1}"/>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20" name="Text 19">
            <a:extLst>
              <a:ext uri="{FF2B5EF4-FFF2-40B4-BE49-F238E27FC236}">
                <a16:creationId xmlns:a16="http://schemas.microsoft.com/office/drawing/2014/main" id="{8339C79B-1025-768B-DF23-3C0932BBD354}"/>
              </a:ext>
            </a:extLst>
          </p:cNvPr>
          <p:cNvSpPr/>
          <p:nvPr/>
        </p:nvSpPr>
        <p:spPr>
          <a:xfrm>
            <a:off x="6519018" y="3964105"/>
            <a:ext cx="5241259" cy="2121737"/>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Human researcher will be drowned in infinite ”recent progress” papers.</a:t>
            </a:r>
          </a:p>
          <a:p>
            <a:pPr marL="228600" indent="-228600">
              <a:spcBef>
                <a:spcPts val="800"/>
              </a:spcBef>
              <a:buClr>
                <a:srgbClr val="242832"/>
              </a:buClr>
              <a:buFont typeface="Arial"/>
              <a:buChar char="•"/>
            </a:pPr>
            <a:r>
              <a:rPr lang="en-US" altLang="zh-CN" sz="1600" dirty="0">
                <a:solidFill>
                  <a:srgbClr val="242832"/>
                </a:solidFill>
                <a:latin typeface="Roboto" pitchFamily="34" charset="0"/>
                <a:ea typeface="Roboto" pitchFamily="34" charset="-122"/>
                <a:cs typeface="Roboto" pitchFamily="34" charset="-120"/>
              </a:rPr>
              <a:t>Any open problem be solved increases the confidence of AGI, and also the anxiety of </a:t>
            </a:r>
            <a:r>
              <a:rPr b="1" lang="en-US" altLang="zh-CN" sz="1600" dirty="0">
                <a:solidFill>
                  <a:srgbClr val="C00000"/>
                </a:solidFill>
                <a:latin typeface="Roboto" pitchFamily="34" charset="0"/>
                <a:ea typeface="Roboto" pitchFamily="34" charset="-122"/>
                <a:cs typeface="Roboto" pitchFamily="34" charset="-120"/>
              </a:rPr>
              <a:t>our career</a:t>
            </a:r>
            <a:r>
              <a:rPr lang="en-US" altLang="zh-CN"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Later work still needs the exact imported claim and </a:t>
            </a:r>
            <a:r>
              <a:rPr b="1" lang="en-US" sz="1600" dirty="0">
                <a:solidFill>
                  <a:srgbClr val="C00000"/>
                </a:solidFill>
                <a:latin typeface="Roboto" pitchFamily="34" charset="0"/>
                <a:ea typeface="Roboto" pitchFamily="34" charset="-122"/>
                <a:cs typeface="Roboto" pitchFamily="34" charset="-120"/>
              </a:rPr>
              <a:t>verification</a:t>
            </a:r>
            <a:r>
              <a:rPr lang="en-US"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Claims and semantic content are often exaggerated</a:t>
            </a:r>
            <a:r>
              <a:rPr lang="nl-NL" sz="1600" dirty="0">
                <a:solidFill>
                  <a:srgbClr val="242832"/>
                </a:solidFill>
                <a:latin typeface="Roboto" pitchFamily="34" charset="0"/>
                <a:ea typeface="Roboto" pitchFamily="34" charset="-122"/>
                <a:cs typeface="Roboto" pitchFamily="34" charset="-120"/>
              </a:rPr>
              <a:t>.</a:t>
            </a:r>
            <a:endParaRPr lang="en-US" sz="1600" dirty="0">
              <a:solidFill>
                <a:srgbClr val="242832"/>
              </a:solidFill>
              <a:latin typeface="Roboto" pitchFamily="34" charset="0"/>
              <a:ea typeface="Roboto" pitchFamily="34" charset="-122"/>
              <a:cs typeface="Roboto" pitchFamily="34" charset="-120"/>
            </a:endParaRPr>
          </a:p>
          <a:p>
            <a:pPr algn="l">
              <a:spcBef>
                <a:spcPts val="800"/>
              </a:spcBef>
              <a:buClr>
                <a:srgbClr val="242832"/>
              </a:buClr>
            </a:pPr>
            <a:endParaRPr lang="en-US" sz="1600" dirty="0"/>
          </a:p>
        </p:txBody>
      </p:sp>
      <p:pic>
        <p:nvPicPr>
          <p:cNvPr id="21" name="图片 20">
            <a:extLst>
              <a:ext uri="{FF2B5EF4-FFF2-40B4-BE49-F238E27FC236}">
                <a16:creationId xmlns:a16="http://schemas.microsoft.com/office/drawing/2014/main" id="{B3B03642-C6F5-3F04-A139-EE7FF9AB9596}"/>
              </a:ext>
            </a:extLst>
          </p:cNvPr>
          <p:cNvPicPr>
            <a:picLocks noChangeAspect="1"/>
          </p:cNvPicPr>
          <p:nvPr/>
        </p:nvPicPr>
        <p:blipFill>
          <a:blip r:embed="rId3"/>
          <a:stretch>
            <a:fillRect/>
          </a:stretch>
        </p:blipFill>
        <p:spPr>
          <a:xfrm>
            <a:off x="6405266" y="1005731"/>
            <a:ext cx="2573164" cy="2573164"/>
          </a:xfrm>
          <a:prstGeom prst="rect">
            <a:avLst/>
          </a:prstGeom>
        </p:spPr>
      </p:pic>
      <p:pic>
        <p:nvPicPr>
          <p:cNvPr id="22" name="图片 21">
            <a:extLst>
              <a:ext uri="{FF2B5EF4-FFF2-40B4-BE49-F238E27FC236}">
                <a16:creationId xmlns:a16="http://schemas.microsoft.com/office/drawing/2014/main" id="{CF1CFDB0-D7AD-1520-AC53-EF2D9C1E995C}"/>
              </a:ext>
            </a:extLst>
          </p:cNvPr>
          <p:cNvPicPr>
            <a:picLocks noChangeAspect="1"/>
          </p:cNvPicPr>
          <p:nvPr/>
        </p:nvPicPr>
        <p:blipFill>
          <a:blip r:embed="rId4"/>
          <a:stretch>
            <a:fillRect/>
          </a:stretch>
        </p:blipFill>
        <p:spPr>
          <a:xfrm>
            <a:off x="9139647" y="1108055"/>
            <a:ext cx="2240390" cy="2240390"/>
          </a:xfrm>
          <a:prstGeom prst="rect">
            <a:avLst/>
          </a:prstGeom>
        </p:spPr>
      </p:pic>
      <p:sp>
        <p:nvSpPr>
          <p:cNvPr id="900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2970362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A9A7B41C-17A8-5239-7538-A20262FE5E7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81E28A16-1A71-213D-6D32-04F1730D465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75CCFE02-719C-BAD4-6968-98E05EE6E8C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D31001B7-965A-71BE-91A3-841116584256}"/>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1D8381C1-120D-162C-8703-C8EEC1598C31}"/>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1DD9DE07-DECA-FD55-1E37-8E39D189D538}"/>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sp>
        <p:nvSpPr>
          <p:cNvPr id="900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4</a:t>
            </a:r>
          </a:p>
        </p:txBody>
      </p:sp>
    </p:spTree>
    <p:extLst>
      <p:ext uri="{BB962C8B-B14F-4D97-AF65-F5344CB8AC3E}">
        <p14:creationId xmlns:p14="http://schemas.microsoft.com/office/powerpoint/2010/main" val="1075400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AC66-1FCC-9F07-1ADB-89384188256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73DD930C-F030-31FA-1948-62D35986C6E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92673D7E-E107-CA9F-30B7-75125C0A54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B9D3BD-987B-F31A-139A-5084B6920509}"/>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F9D96D11-8231-B8B8-BA5F-60F22C73877B}"/>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FAAC2B49-815F-7E91-D955-14E35BF87FB0}"/>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37" name="组合 36">
            <a:extLst>
              <a:ext uri="{FF2B5EF4-FFF2-40B4-BE49-F238E27FC236}">
                <a16:creationId xmlns:a16="http://schemas.microsoft.com/office/drawing/2014/main" id="{8324E2EB-0541-6090-43AE-A242E39C9A48}"/>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EBB816D8-BC78-72A9-BE62-717163FBE1D2}"/>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6FAC4693-0EA7-1C4F-0398-351EF3BEB2F6}"/>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5</a:t>
            </a:r>
          </a:p>
        </p:txBody>
      </p:sp>
    </p:spTree>
    <p:extLst>
      <p:ext uri="{BB962C8B-B14F-4D97-AF65-F5344CB8AC3E}">
        <p14:creationId xmlns:p14="http://schemas.microsoft.com/office/powerpoint/2010/main" val="1408434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55421-F1BA-E174-717E-E1D5C95A9F69}"/>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581CA60-B5ED-EB10-FE00-1022ADE65A2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A29990A6-D902-0BBC-29BC-3161053C28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FAE4EE-6749-3B14-05D5-F197A0F6A5E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C1E74F00-8125-9461-0141-085CE1447DA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B2577521-ADBB-34C6-9B7D-B5D751474A22}"/>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mc:AlternateContent xmlns:mc="http://schemas.openxmlformats.org/markup-compatibility/2006">
        <mc:Choice xmlns:a14="http://schemas.microsoft.com/office/drawing/2010/main" Requires="a14">
          <p:sp>
            <p:nvSpPr>
              <p:cNvPr id="36" name="Text 19">
                <a:extLst>
                  <a:ext uri="{FF2B5EF4-FFF2-40B4-BE49-F238E27FC236}">
                    <a16:creationId xmlns:a16="http://schemas.microsoft.com/office/drawing/2014/main" id="{0C4A3053-5D24-98E5-856E-C1D360488EF0}"/>
                  </a:ext>
                </a:extLst>
              </p:cNvPr>
              <p:cNvSpPr/>
              <p:nvPr/>
            </p:nvSpPr>
            <p:spPr>
              <a:xfrm>
                <a:off x="2039026" y="5867739"/>
                <a:ext cx="11666449" cy="576722"/>
              </a:xfrm>
              <a:prstGeom prst="rect">
                <a:avLst/>
              </a:prstGeom>
              <a:noFill/>
              <a:ln/>
            </p:spPr>
            <p:txBody>
              <a:bodyPr wrap="square" lIns="254" tIns="254" rIns="254" bIns="254" rtlCol="0" anchor="t">
                <a:noAutofit/>
              </a:bodyPr>
              <a:lstStyle/>
              <a:p>
                <a:pPr>
                  <a:spcBef>
                    <a:spcPts val="800"/>
                  </a:spcBef>
                  <a:buClr>
                    <a:srgbClr val="242832"/>
                  </a:buClr>
                </a:pPr>
                <a:r>
                  <a:rPr lang="en-US" sz="1600" dirty="0">
                    <a:solidFill>
                      <a:srgbClr val="242832"/>
                    </a:solidFill>
                    <a:latin typeface="Roboto" pitchFamily="34" charset="0"/>
                    <a:ea typeface="Roboto" pitchFamily="34" charset="-122"/>
                    <a:cs typeface="Roboto" pitchFamily="34" charset="-120"/>
                  </a:rPr>
                  <a:t>LLM outputs a conditioned probabilistic distribution </a:t>
                </a:r>
                <a14:m>
                  <m:oMath xmlns:m="http://schemas.openxmlformats.org/officeDocument/2006/math">
                    <m:r>
                      <a:rPr lang="nl-NL" altLang="zh-CN" sz="1600" b="1">
                        <a:solidFill>
                          <a:srgbClr val="242832"/>
                        </a:solidFill>
                        <a:latin typeface="Cambria Math" panose="02040503050406030204" pitchFamily="18" charset="0"/>
                        <a:ea typeface="Roboto" pitchFamily="34" charset="-122"/>
                        <a:cs typeface="Roboto" pitchFamily="34" charset="-120"/>
                      </a:rPr>
                      <m:t>𝐏</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next</m:t>
                    </m:r>
                    <m:r>
                      <a:rPr lang="nl-NL" altLang="zh-CN" sz="1600">
                        <a:solidFill>
                          <a:srgbClr val="242832"/>
                        </a:solidFill>
                        <a:latin typeface="Cambria Math" panose="02040503050406030204" pitchFamily="18" charset="0"/>
                        <a:ea typeface="Roboto" pitchFamily="34" charset="-122"/>
                        <a:cs typeface="Roboto" pitchFamily="34" charset="-120"/>
                      </a:rPr>
                      <m:t> </m:t>
                    </m:r>
                    <m:r>
                      <m:rPr>
                        <m:sty m:val="p"/>
                      </m:rPr>
                      <a:rPr lang="nl-NL" altLang="zh-CN" sz="1600">
                        <a:solidFill>
                          <a:srgbClr val="242832"/>
                        </a:solidFill>
                        <a:latin typeface="Cambria Math" panose="02040503050406030204" pitchFamily="18" charset="0"/>
                        <a:ea typeface="Roboto" pitchFamily="34" charset="-122"/>
                        <a:cs typeface="Roboto" pitchFamily="34" charset="-120"/>
                      </a:rPr>
                      <m:t>token</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context</m:t>
                    </m:r>
                    <m:r>
                      <a:rPr lang="nl-NL" altLang="zh-CN" sz="1600" i="1">
                        <a:solidFill>
                          <a:srgbClr val="242832"/>
                        </a:solidFill>
                        <a:latin typeface="Cambria Math" panose="02040503050406030204" pitchFamily="18" charset="0"/>
                        <a:ea typeface="Roboto" pitchFamily="34" charset="-122"/>
                        <a:cs typeface="Roboto" pitchFamily="34" charset="-120"/>
                      </a:rPr>
                      <m:t>)</m:t>
                    </m:r>
                  </m:oMath>
                </a14:m>
                <a:r>
                  <a:rPr lang="en-US" sz="1600" dirty="0">
                    <a:solidFill>
                      <a:srgbClr val="242832"/>
                    </a:solidFill>
                    <a:latin typeface="Roboto" pitchFamily="34" charset="0"/>
                    <a:ea typeface="Roboto" pitchFamily="34" charset="-122"/>
                    <a:cs typeface="Roboto" pitchFamily="34" charset="-120"/>
                  </a:rPr>
                  <a:t>, then </a:t>
                </a:r>
                <a:r>
                  <a:rPr b="1" lang="en-US" sz="1600" dirty="0">
                    <a:solidFill>
                      <a:srgbClr val="C00000"/>
                    </a:solidFill>
                    <a:latin typeface="Roboto" pitchFamily="34" charset="0"/>
                    <a:ea typeface="Roboto" pitchFamily="34" charset="-122"/>
                    <a:cs typeface="Roboto" pitchFamily="34" charset="-120"/>
                  </a:rPr>
                  <a:t>samples</a:t>
                </a:r>
                <a:r>
                  <a:rPr lang="en-US" sz="1600" dirty="0">
                    <a:solidFill>
                      <a:srgbClr val="242832"/>
                    </a:solidFill>
                    <a:latin typeface="Roboto" pitchFamily="34" charset="0"/>
                    <a:ea typeface="Roboto" pitchFamily="34" charset="-122"/>
                    <a:cs typeface="Roboto" pitchFamily="34" charset="-120"/>
                  </a:rPr>
                  <a:t>.</a:t>
                </a:r>
              </a:p>
            </p:txBody>
          </p:sp>
        </mc:Choice>
        <mc:Fallback>
          <p:sp>
            <p:nvSpPr>
              <p:cNvPr id="36" name="Text 19">
                <a:extLst>
                  <a:ext uri="{FF2B5EF4-FFF2-40B4-BE49-F238E27FC236}">
                    <a16:creationId xmlns:a16="http://schemas.microsoft.com/office/drawing/2014/main" id="{0C4A3053-5D24-98E5-856E-C1D360488EF0}"/>
                  </a:ext>
                </a:extLst>
              </p:cNvPr>
              <p:cNvSpPr>
                <a:spLocks noRot="1" noChangeAspect="1" noMove="1" noResize="1" noEditPoints="1" noAdjustHandles="1" noChangeArrowheads="1" noChangeShapeType="1" noTextEdit="1"/>
              </p:cNvSpPr>
              <p:nvPr/>
            </p:nvSpPr>
            <p:spPr>
              <a:xfrm>
                <a:off x="2039026" y="5867739"/>
                <a:ext cx="11666449" cy="576722"/>
              </a:xfrm>
              <a:prstGeom prst="rect">
                <a:avLst/>
              </a:prstGeom>
              <a:blipFill>
                <a:blip r:embed="rId4"/>
                <a:stretch>
                  <a:fillRect l="-1087" t="-13043"/>
                </a:stretch>
              </a:blipFill>
              <a:ln/>
            </p:spPr>
            <p:txBody>
              <a:bodyPr/>
              <a:lstStyle/>
              <a:p>
                <a:r>
                  <a:rPr lang="zh-CN" altLang="en-US">
                    <a:noFill/>
                  </a:rPr>
                  <a:t> </a:t>
                </a:r>
              </a:p>
            </p:txBody>
          </p:sp>
        </mc:Fallback>
      </mc:AlternateContent>
      <p:grpSp>
        <p:nvGrpSpPr>
          <p:cNvPr id="37" name="组合 36">
            <a:extLst>
              <a:ext uri="{FF2B5EF4-FFF2-40B4-BE49-F238E27FC236}">
                <a16:creationId xmlns:a16="http://schemas.microsoft.com/office/drawing/2014/main" id="{43843039-D8D5-53AA-56DD-FF0C13EDFEE3}"/>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63E60765-A18C-6912-8EA4-716FF554CB6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12381D6A-822B-01F0-B9ED-FC7D5BE78EE5}"/>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3621F7DB-CBE4-4652-E96E-306ADAEE0A76}"/>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3091" name="图形 3090">
            <a:extLst>
              <a:ext uri="{FF2B5EF4-FFF2-40B4-BE49-F238E27FC236}">
                <a16:creationId xmlns:a16="http://schemas.microsoft.com/office/drawing/2014/main" id="{A054A9DD-A09D-95A4-AA0A-84DA71645FA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69030" y="1821889"/>
            <a:ext cx="6934200" cy="3975100"/>
          </a:xfrm>
          <a:prstGeom prst="rect">
            <a:avLst/>
          </a:prstGeom>
        </p:spPr>
      </p:pic>
      <p:sp>
        <p:nvSpPr>
          <p:cNvPr id="900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6</a:t>
            </a:r>
          </a:p>
        </p:txBody>
      </p:sp>
    </p:spTree>
    <p:extLst>
      <p:ext uri="{BB962C8B-B14F-4D97-AF65-F5344CB8AC3E}">
        <p14:creationId xmlns:p14="http://schemas.microsoft.com/office/powerpoint/2010/main" val="295329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21DA-D973-76BD-6F67-F1444D5603B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05B4E38B-44EF-F4D3-0DD2-1EEB7D710B81}"/>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732F86E0-407B-2A39-75A2-EA1EE9DFC836}"/>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7ECAE8DC-EDED-9DDD-4CDE-3CDE008DBC30}"/>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E24B90F-1E67-5219-12DF-D61B8D6F8642}"/>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5FBD5477-B1ED-52F1-6AA5-B58BECFCDB20}"/>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A5D8F5C6-5D52-0DDB-EE8D-15E83FD9677F}"/>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0FDA67B8-9405-CB92-D4D1-B31D528E6249}"/>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544F560F-FCD9-FBE8-B952-DB300D76E67A}"/>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70E684C3-95CA-4065-53F8-997D9915A45F}"/>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C15313D2-449D-074B-431E-92C90869D4B3}"/>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A496A331-1259-F511-B39C-8CD5F9914DE6}"/>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121FC36D-05C6-B49E-DB47-0291F1759A47}"/>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7</a:t>
            </a:r>
          </a:p>
        </p:txBody>
      </p:sp>
    </p:spTree>
    <p:extLst>
      <p:ext uri="{BB962C8B-B14F-4D97-AF65-F5344CB8AC3E}">
        <p14:creationId xmlns:p14="http://schemas.microsoft.com/office/powerpoint/2010/main" val="174375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FC9C-8E6C-6681-91F0-CB0BDD90B732}"/>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21577D7-008E-97CF-1A54-1121E6ED8F73}"/>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F0D71F15-7F66-85AB-F4AC-3BF3D5D9CFBD}"/>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819845DF-8B8A-D09F-990F-4D7992595C32}"/>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54A9DD7-FC0D-DD69-4A0E-18D561198897}"/>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E27CA2B9-21FB-B8F9-B52E-569777E24A98}"/>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B54BD990-1C0B-CF2E-F24D-7E320A7C360E}"/>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AE167AAD-9661-970D-AB74-0B4386FDC1C5}"/>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48A5FFAF-AEF9-FAEC-F9E8-F11169540E51}"/>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E4792A04-DC27-8962-671A-71E36C7E0013}"/>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FF12C90D-F099-A010-EB39-A39B29146E7A}"/>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907090A2-7BE2-C021-80E0-131F4AC2A697}"/>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68AD9707-718A-8174-ADDF-4E05BC502591}"/>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18" name="Text 19">
            <a:extLst>
              <a:ext uri="{FF2B5EF4-FFF2-40B4-BE49-F238E27FC236}">
                <a16:creationId xmlns:a16="http://schemas.microsoft.com/office/drawing/2014/main" id="{D45B09A4-621A-A585-94B3-CE20FC734C69}"/>
              </a:ext>
            </a:extLst>
          </p:cNvPr>
          <p:cNvSpPr/>
          <p:nvPr/>
        </p:nvSpPr>
        <p:spPr>
          <a:xfrm>
            <a:off x="1037850" y="4686896"/>
            <a:ext cx="10116300" cy="475489"/>
          </a:xfrm>
          <a:prstGeom prst="rect">
            <a:avLst/>
          </a:prstGeom>
          <a:noFill/>
          <a:ln/>
        </p:spPr>
        <p:txBody>
          <a:bodyPr wrap="square" lIns="254" tIns="254" rIns="254" bIns="254" rtlCol="0" anchor="t">
            <a:noAutofit/>
          </a:bodyPr>
          <a:lstStyle/>
          <a:p>
            <a:pPr algn="l">
              <a:spcBef>
                <a:spcPts val="800"/>
              </a:spcBef>
              <a:buClr>
                <a:srgbClr val="242832"/>
              </a:buClr>
            </a:pPr>
            <a:r>
              <a:rPr lang="en-US" sz="2000" b="1" dirty="0">
                <a:solidFill>
                  <a:srgbClr val="242832"/>
                </a:solidFill>
                <a:latin typeface="Times New Roman" panose="02020603050405020304" pitchFamily="18" charset="0"/>
                <a:ea typeface="Roboto" pitchFamily="34" charset="-122"/>
                <a:cs typeface="Times New Roman" panose="02020603050405020304" pitchFamily="18" charset="0"/>
              </a:rPr>
              <a:t>When the context window is exceeded, the compression/truncation/selection must be applied</a:t>
            </a:r>
          </a:p>
        </p:txBody>
      </p:sp>
      <p:sp>
        <p:nvSpPr>
          <p:cNvPr id="9008"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8</a:t>
            </a:r>
          </a:p>
        </p:txBody>
      </p:sp>
    </p:spTree>
    <p:extLst>
      <p:ext uri="{BB962C8B-B14F-4D97-AF65-F5344CB8AC3E}">
        <p14:creationId xmlns:p14="http://schemas.microsoft.com/office/powerpoint/2010/main" val="3646478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5CA00-D244-4824-5D04-85533B52C1F6}"/>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299696AE-C79F-6082-B7A6-66D36E34363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 … prompt </a:t>
            </a:r>
            <a:r>
              <a:rPr lang="nl-NL" sz="2400" b="1" dirty="0" err="1">
                <a:solidFill>
                  <a:srgbClr val="242832"/>
                </a:solidFill>
                <a:latin typeface="Roboto Condensed" pitchFamily="34" charset="0"/>
                <a:ea typeface="Roboto Condensed" pitchFamily="34" charset="-122"/>
                <a:cs typeface="Roboto Condensed" pitchFamily="34" charset="-120"/>
              </a:rPr>
              <a:t>sorcery</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from</a:t>
            </a:r>
            <a:r>
              <a:rPr lang="nl-NL" sz="2400" b="1" dirty="0">
                <a:solidFill>
                  <a:srgbClr val="242832"/>
                </a:solidFill>
                <a:latin typeface="Roboto Condensed" pitchFamily="34" charset="0"/>
                <a:ea typeface="Roboto Condensed" pitchFamily="34" charset="-122"/>
                <a:cs typeface="Roboto Condensed" pitchFamily="34" charset="-120"/>
              </a:rPr>
              <a:t> LLM era</a:t>
            </a:r>
            <a:endParaRPr lang="en-US" sz="2400" dirty="0"/>
          </a:p>
        </p:txBody>
      </p:sp>
      <p:sp>
        <p:nvSpPr>
          <p:cNvPr id="2" name="Text 19">
            <a:extLst>
              <a:ext uri="{FF2B5EF4-FFF2-40B4-BE49-F238E27FC236}">
                <a16:creationId xmlns:a16="http://schemas.microsoft.com/office/drawing/2014/main" id="{44DDDDAC-AD72-B3A4-EC05-2FE4F35A536D}"/>
              </a:ext>
            </a:extLst>
          </p:cNvPr>
          <p:cNvSpPr/>
          <p:nvPr/>
        </p:nvSpPr>
        <p:spPr>
          <a:xfrm>
            <a:off x="1843401" y="4233679"/>
            <a:ext cx="8980315"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Agent is a </a:t>
            </a:r>
            <a:r>
              <a:rPr lang="en-US" sz="1600" b="1" dirty="0">
                <a:solidFill>
                  <a:srgbClr val="242832"/>
                </a:solidFill>
                <a:latin typeface="Roboto" pitchFamily="34" charset="0"/>
                <a:ea typeface="Roboto" pitchFamily="34" charset="-122"/>
                <a:cs typeface="Roboto" pitchFamily="34" charset="-120"/>
              </a:rPr>
              <a:t>system</a:t>
            </a:r>
            <a:r>
              <a:rPr lang="en-US" sz="1600" dirty="0">
                <a:solidFill>
                  <a:srgbClr val="242832"/>
                </a:solidFill>
                <a:latin typeface="Roboto" pitchFamily="34" charset="0"/>
                <a:ea typeface="Roboto" pitchFamily="34" charset="-122"/>
                <a:cs typeface="Roboto" pitchFamily="34" charset="-120"/>
              </a:rPr>
              <a:t> with a </a:t>
            </a:r>
            <a:r>
              <a:rPr b="1" lang="en-US" sz="1600" dirty="0">
                <a:solidFill>
                  <a:srgbClr val="C00000"/>
                </a:solidFill>
                <a:latin typeface="Roboto" pitchFamily="34" charset="0"/>
                <a:ea typeface="Roboto" pitchFamily="34" charset="-122"/>
                <a:cs typeface="Roboto" pitchFamily="34" charset="-120"/>
              </a:rPr>
              <a:t>LLM  as its core</a:t>
            </a:r>
            <a:r>
              <a:rPr lang="en-US" sz="1600" dirty="0">
                <a:solidFill>
                  <a:srgbClr val="242832"/>
                </a:solidFill>
                <a:latin typeface="Roboto" pitchFamily="34" charset="0"/>
                <a:ea typeface="Roboto" pitchFamily="34" charset="-122"/>
                <a:cs typeface="Roboto" pitchFamily="34" charset="-120"/>
              </a:rPr>
              <a:t> to execute high-level tasks: LLM decides next step</a:t>
            </a:r>
            <a:endParaRPr lang="en-US" sz="1600" b="1" dirty="0">
              <a:solidFill>
                <a:srgbClr val="242832"/>
              </a:solidFill>
              <a:latin typeface="Roboto" pitchFamily="34" charset="0"/>
              <a:ea typeface="Roboto" pitchFamily="34" charset="-122"/>
              <a:cs typeface="Roboto" pitchFamily="34" charset="-120"/>
            </a:endParaRPr>
          </a:p>
        </p:txBody>
      </p:sp>
      <p:sp>
        <p:nvSpPr>
          <p:cNvPr id="3" name="Shape 20">
            <a:extLst>
              <a:ext uri="{FF2B5EF4-FFF2-40B4-BE49-F238E27FC236}">
                <a16:creationId xmlns:a16="http://schemas.microsoft.com/office/drawing/2014/main" id="{E45D49FF-406A-5CCF-3A7A-7AD46A8E2D6C}"/>
              </a:ext>
            </a:extLst>
          </p:cNvPr>
          <p:cNvSpPr/>
          <p:nvPr/>
        </p:nvSpPr>
        <p:spPr>
          <a:xfrm>
            <a:off x="6467017" y="2999365"/>
            <a:ext cx="1170432" cy="402336"/>
          </a:xfrm>
          <a:prstGeom prst="roundRect">
            <a:avLst>
              <a:gd name="adj" fmla="val 18182"/>
            </a:avLst>
          </a:prstGeom>
          <a:solidFill>
            <a:srgbClr val="E2F1EA"/>
          </a:solidFill>
          <a:ln w="15875">
            <a:solidFill>
              <a:srgbClr val="257A63"/>
            </a:solidFill>
            <a:prstDash val="solid"/>
          </a:ln>
        </p:spPr>
        <p:txBody>
          <a:bodyPr/>
          <a:lstStyle/>
          <a:p>
            <a:endParaRPr lang="zh-CN" altLang="en-US"/>
          </a:p>
        </p:txBody>
      </p:sp>
      <p:sp>
        <p:nvSpPr>
          <p:cNvPr id="4" name="Text 21">
            <a:extLst>
              <a:ext uri="{FF2B5EF4-FFF2-40B4-BE49-F238E27FC236}">
                <a16:creationId xmlns:a16="http://schemas.microsoft.com/office/drawing/2014/main" id="{631AE3AC-C2BA-7EFA-6ABE-2EE77BC92553}"/>
              </a:ext>
            </a:extLst>
          </p:cNvPr>
          <p:cNvSpPr/>
          <p:nvPr/>
        </p:nvSpPr>
        <p:spPr>
          <a:xfrm>
            <a:off x="6467017" y="2999365"/>
            <a:ext cx="1170432"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Client</a:t>
            </a:r>
            <a:endParaRPr lang="en-US" sz="1600" dirty="0"/>
          </a:p>
        </p:txBody>
      </p:sp>
      <p:sp>
        <p:nvSpPr>
          <p:cNvPr id="7" name="Shape 24">
            <a:extLst>
              <a:ext uri="{FF2B5EF4-FFF2-40B4-BE49-F238E27FC236}">
                <a16:creationId xmlns:a16="http://schemas.microsoft.com/office/drawing/2014/main" id="{C4F09F45-1B37-EF3C-F703-19E3B0C7D951}"/>
              </a:ext>
            </a:extLst>
          </p:cNvPr>
          <p:cNvSpPr/>
          <p:nvPr/>
        </p:nvSpPr>
        <p:spPr>
          <a:xfrm>
            <a:off x="8900798" y="2977586"/>
            <a:ext cx="1170432" cy="402336"/>
          </a:xfrm>
          <a:prstGeom prst="roundRect">
            <a:avLst>
              <a:gd name="adj" fmla="val 18182"/>
            </a:avLst>
          </a:prstGeom>
          <a:solidFill>
            <a:srgbClr val="EAF0FF"/>
          </a:solidFill>
          <a:ln w="15875">
            <a:solidFill>
              <a:srgbClr val="356AE6"/>
            </a:solidFill>
            <a:prstDash val="solid"/>
          </a:ln>
        </p:spPr>
        <p:txBody>
          <a:bodyPr/>
          <a:lstStyle/>
          <a:p>
            <a:pPr algn="ctr"/>
            <a:r>
              <a:rPr lang="en-US" altLang="zh-CN" sz="1600" b="1" dirty="0">
                <a:solidFill>
                  <a:srgbClr val="242832"/>
                </a:solidFill>
                <a:latin typeface="Arial" pitchFamily="34" charset="0"/>
                <a:ea typeface="Arial" pitchFamily="34" charset="-122"/>
                <a:cs typeface="Arial" pitchFamily="34" charset="-120"/>
              </a:rPr>
              <a:t>API</a:t>
            </a:r>
            <a:endParaRPr lang="en-US" altLang="zh-CN" sz="1600" dirty="0"/>
          </a:p>
        </p:txBody>
      </p:sp>
      <p:sp>
        <p:nvSpPr>
          <p:cNvPr id="8" name="Text 25">
            <a:extLst>
              <a:ext uri="{FF2B5EF4-FFF2-40B4-BE49-F238E27FC236}">
                <a16:creationId xmlns:a16="http://schemas.microsoft.com/office/drawing/2014/main" id="{127E93D7-7B28-56C3-763E-3677EF389057}"/>
              </a:ext>
            </a:extLst>
          </p:cNvPr>
          <p:cNvSpPr/>
          <p:nvPr/>
        </p:nvSpPr>
        <p:spPr>
          <a:xfrm>
            <a:off x="2638653" y="2373037"/>
            <a:ext cx="1170432" cy="402336"/>
          </a:xfrm>
          <a:prstGeom prst="rect">
            <a:avLst/>
          </a:prstGeom>
          <a:noFill/>
          <a:ln/>
        </p:spPr>
        <p:txBody>
          <a:bodyPr wrap="square" lIns="508" tIns="508" rIns="508" bIns="508" rtlCol="0" anchor="ctr"/>
          <a:lstStyle/>
          <a:p>
            <a:pPr marL="0" indent="0" algn="ctr">
              <a:buNone/>
            </a:pPr>
            <a:r>
              <a:rPr lang="en-US" sz="1600" b="1" dirty="0" err="1">
                <a:solidFill>
                  <a:srgbClr val="242832"/>
                </a:solidFill>
                <a:latin typeface="Arial" pitchFamily="34" charset="0"/>
                <a:ea typeface="Arial" pitchFamily="34" charset="-122"/>
                <a:cs typeface="Arial" pitchFamily="34" charset="-120"/>
              </a:rPr>
              <a:t>Numpy</a:t>
            </a:r>
            <a:r>
              <a:rPr lang="en-US" sz="1600" b="1" dirty="0">
                <a:solidFill>
                  <a:srgbClr val="242832"/>
                </a:solidFill>
                <a:latin typeface="Arial" pitchFamily="34" charset="0"/>
                <a:ea typeface="Arial" pitchFamily="34" charset="-122"/>
                <a:cs typeface="Arial" pitchFamily="34" charset="-120"/>
              </a:rPr>
              <a:t> API</a:t>
            </a:r>
            <a:endParaRPr lang="en-US" sz="1600" dirty="0"/>
          </a:p>
        </p:txBody>
      </p:sp>
      <p:sp>
        <p:nvSpPr>
          <p:cNvPr id="12" name="Shape 28">
            <a:extLst>
              <a:ext uri="{FF2B5EF4-FFF2-40B4-BE49-F238E27FC236}">
                <a16:creationId xmlns:a16="http://schemas.microsoft.com/office/drawing/2014/main" id="{7B612D99-6133-3467-5E7E-9B49A082A8D7}"/>
              </a:ext>
            </a:extLst>
          </p:cNvPr>
          <p:cNvSpPr/>
          <p:nvPr/>
        </p:nvSpPr>
        <p:spPr>
          <a:xfrm>
            <a:off x="7637447" y="3118641"/>
            <a:ext cx="1260000" cy="0"/>
          </a:xfrm>
          <a:prstGeom prst="line">
            <a:avLst/>
          </a:prstGeom>
          <a:noFill/>
          <a:ln w="16510">
            <a:solidFill>
              <a:srgbClr val="257A63"/>
            </a:solidFill>
            <a:prstDash val="solid"/>
            <a:tailEnd type="triangle"/>
          </a:ln>
        </p:spPr>
        <p:txBody>
          <a:bodyPr/>
          <a:lstStyle/>
          <a:p>
            <a:endParaRPr lang="zh-CN" altLang="en-US"/>
          </a:p>
        </p:txBody>
      </p:sp>
      <p:grpSp>
        <p:nvGrpSpPr>
          <p:cNvPr id="15" name="组合 14">
            <a:extLst>
              <a:ext uri="{FF2B5EF4-FFF2-40B4-BE49-F238E27FC236}">
                <a16:creationId xmlns:a16="http://schemas.microsoft.com/office/drawing/2014/main" id="{FC0431AF-12AD-DEF1-840D-DE6F15A3CC63}"/>
              </a:ext>
            </a:extLst>
          </p:cNvPr>
          <p:cNvGrpSpPr/>
          <p:nvPr/>
        </p:nvGrpSpPr>
        <p:grpSpPr>
          <a:xfrm>
            <a:off x="1798598" y="2924666"/>
            <a:ext cx="3169864" cy="646332"/>
            <a:chOff x="4249882" y="1724889"/>
            <a:chExt cx="5881253" cy="646332"/>
          </a:xfrm>
        </p:grpSpPr>
        <p:sp>
          <p:nvSpPr>
            <p:cNvPr id="16" name="文本框 15">
              <a:extLst>
                <a:ext uri="{FF2B5EF4-FFF2-40B4-BE49-F238E27FC236}">
                  <a16:creationId xmlns:a16="http://schemas.microsoft.com/office/drawing/2014/main" id="{1FABB668-B8F7-E18B-57AC-A737BD8BDB50}"/>
                </a:ext>
              </a:extLst>
            </p:cNvPr>
            <p:cNvSpPr txBox="1"/>
            <p:nvPr/>
          </p:nvSpPr>
          <p:spPr>
            <a:xfrm>
              <a:off x="4333008" y="1724890"/>
              <a:ext cx="5798127" cy="646331"/>
            </a:xfrm>
            <a:prstGeom prst="rect">
              <a:avLst/>
            </a:prstGeom>
            <a:solidFill>
              <a:schemeClr val="bg2"/>
            </a:solidFill>
          </p:spPr>
          <p:txBody>
            <a:bodyPr wrap="square" rtlCol="0">
              <a:spAutoFit/>
            </a:bodyPr>
            <a:lstStyle/>
            <a:p>
              <a:r>
                <a:rPr kumimoji="1" lang="en-US" altLang="zh-CN" dirty="0"/>
                <a:t>import </a:t>
              </a:r>
              <a:r>
                <a:rPr kumimoji="1" lang="en-US" altLang="zh-CN" dirty="0" err="1"/>
                <a:t>numpy</a:t>
              </a:r>
              <a:r>
                <a:rPr kumimoji="1" lang="en-US" altLang="zh-CN" dirty="0"/>
                <a:t> as np</a:t>
              </a:r>
            </a:p>
            <a:p>
              <a:r>
                <a:rPr kumimoji="1" lang="nl-NL" altLang="zh-CN" dirty="0" err="1"/>
                <a:t>result</a:t>
              </a:r>
              <a:r>
                <a:rPr kumimoji="1" lang="nl-NL" altLang="zh-CN" dirty="0"/>
                <a:t> = </a:t>
              </a:r>
              <a:r>
                <a:rPr kumimoji="1" lang="nl-NL" altLang="zh-CN" dirty="0" err="1"/>
                <a:t>np.mean</a:t>
              </a:r>
              <a:r>
                <a:rPr kumimoji="1" lang="nl-NL" altLang="zh-CN" dirty="0"/>
                <a:t>([1, 2, 3]) </a:t>
              </a:r>
              <a:endParaRPr kumimoji="1" lang="zh-CN" altLang="en-US" dirty="0"/>
            </a:p>
          </p:txBody>
        </p:sp>
        <p:sp>
          <p:nvSpPr>
            <p:cNvPr id="17" name="矩形 16">
              <a:extLst>
                <a:ext uri="{FF2B5EF4-FFF2-40B4-BE49-F238E27FC236}">
                  <a16:creationId xmlns:a16="http://schemas.microsoft.com/office/drawing/2014/main" id="{9D6DF7BC-D4AE-B88E-377A-6E279311DAA3}"/>
                </a:ext>
              </a:extLst>
            </p:cNvPr>
            <p:cNvSpPr/>
            <p:nvPr/>
          </p:nvSpPr>
          <p:spPr>
            <a:xfrm>
              <a:off x="4249882" y="1724889"/>
              <a:ext cx="83126" cy="64632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cxnSp>
        <p:nvCxnSpPr>
          <p:cNvPr id="18" name="直线连接符 17">
            <a:extLst>
              <a:ext uri="{FF2B5EF4-FFF2-40B4-BE49-F238E27FC236}">
                <a16:creationId xmlns:a16="http://schemas.microsoft.com/office/drawing/2014/main" id="{78701BC6-7DB2-3450-8E21-4D815F2BD93D}"/>
              </a:ext>
            </a:extLst>
          </p:cNvPr>
          <p:cNvCxnSpPr>
            <a:cxnSpLocks/>
          </p:cNvCxnSpPr>
          <p:nvPr/>
        </p:nvCxnSpPr>
        <p:spPr>
          <a:xfrm>
            <a:off x="5372099" y="2373037"/>
            <a:ext cx="0" cy="1411602"/>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0" name="Text 25">
            <a:extLst>
              <a:ext uri="{FF2B5EF4-FFF2-40B4-BE49-F238E27FC236}">
                <a16:creationId xmlns:a16="http://schemas.microsoft.com/office/drawing/2014/main" id="{E8ECAC15-954C-77DB-159E-B360686F359D}"/>
              </a:ext>
            </a:extLst>
          </p:cNvPr>
          <p:cNvSpPr/>
          <p:nvPr/>
        </p:nvSpPr>
        <p:spPr>
          <a:xfrm>
            <a:off x="7526480" y="2317166"/>
            <a:ext cx="1742210"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LLM API</a:t>
            </a:r>
            <a:endParaRPr lang="en-US" sz="1600" dirty="0"/>
          </a:p>
        </p:txBody>
      </p:sp>
      <p:sp>
        <p:nvSpPr>
          <p:cNvPr id="21" name="文本框 20">
            <a:extLst>
              <a:ext uri="{FF2B5EF4-FFF2-40B4-BE49-F238E27FC236}">
                <a16:creationId xmlns:a16="http://schemas.microsoft.com/office/drawing/2014/main" id="{846B39EF-2961-C3A6-584A-CD551FBCBED8}"/>
              </a:ext>
            </a:extLst>
          </p:cNvPr>
          <p:cNvSpPr txBox="1"/>
          <p:nvPr/>
        </p:nvSpPr>
        <p:spPr>
          <a:xfrm>
            <a:off x="7870621" y="2830817"/>
            <a:ext cx="937258" cy="307777"/>
          </a:xfrm>
          <a:prstGeom prst="rect">
            <a:avLst/>
          </a:prstGeom>
          <a:noFill/>
        </p:spPr>
        <p:txBody>
          <a:bodyPr wrap="square" rtlCol="0">
            <a:spAutoFit/>
          </a:bodyPr>
          <a:lstStyle/>
          <a:p>
            <a:r>
              <a:rPr kumimoji="1" lang="nl-NL" altLang="zh-CN" sz="1400" dirty="0"/>
              <a:t>Prompt</a:t>
            </a:r>
            <a:endParaRPr kumimoji="1" lang="zh-CN" altLang="en-US" sz="1400" dirty="0"/>
          </a:p>
        </p:txBody>
      </p:sp>
      <p:cxnSp>
        <p:nvCxnSpPr>
          <p:cNvPr id="22" name="直线连接符 21">
            <a:extLst>
              <a:ext uri="{FF2B5EF4-FFF2-40B4-BE49-F238E27FC236}">
                <a16:creationId xmlns:a16="http://schemas.microsoft.com/office/drawing/2014/main" id="{513CC529-9E0C-663D-03F0-D0A5173CE1B8}"/>
              </a:ext>
            </a:extLst>
          </p:cNvPr>
          <p:cNvCxnSpPr>
            <a:cxnSpLocks/>
          </p:cNvCxnSpPr>
          <p:nvPr/>
        </p:nvCxnSpPr>
        <p:spPr>
          <a:xfrm flipV="1">
            <a:off x="10178874" y="2870977"/>
            <a:ext cx="188968" cy="186819"/>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4" name="直线连接符 23">
            <a:extLst>
              <a:ext uri="{FF2B5EF4-FFF2-40B4-BE49-F238E27FC236}">
                <a16:creationId xmlns:a16="http://schemas.microsoft.com/office/drawing/2014/main" id="{54855DDA-03D4-DD9D-3724-80892B135D5F}"/>
              </a:ext>
            </a:extLst>
          </p:cNvPr>
          <p:cNvCxnSpPr>
            <a:cxnSpLocks/>
          </p:cNvCxnSpPr>
          <p:nvPr/>
        </p:nvCxnSpPr>
        <p:spPr>
          <a:xfrm>
            <a:off x="10178874" y="3124865"/>
            <a:ext cx="196031" cy="0"/>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6" name="直线连接符 25">
            <a:extLst>
              <a:ext uri="{FF2B5EF4-FFF2-40B4-BE49-F238E27FC236}">
                <a16:creationId xmlns:a16="http://schemas.microsoft.com/office/drawing/2014/main" id="{81A5007F-209A-93AC-F8E0-63328B3619F4}"/>
              </a:ext>
            </a:extLst>
          </p:cNvPr>
          <p:cNvCxnSpPr>
            <a:cxnSpLocks/>
          </p:cNvCxnSpPr>
          <p:nvPr/>
        </p:nvCxnSpPr>
        <p:spPr>
          <a:xfrm>
            <a:off x="10185936" y="3200533"/>
            <a:ext cx="181906" cy="169726"/>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pic>
        <p:nvPicPr>
          <p:cNvPr id="31" name="图片 30">
            <a:extLst>
              <a:ext uri="{FF2B5EF4-FFF2-40B4-BE49-F238E27FC236}">
                <a16:creationId xmlns:a16="http://schemas.microsoft.com/office/drawing/2014/main" id="{5DEAFEEC-3540-E2F4-8E1F-6E42372DA91F}"/>
              </a:ext>
            </a:extLst>
          </p:cNvPr>
          <p:cNvPicPr>
            <a:picLocks noChangeAspect="1"/>
          </p:cNvPicPr>
          <p:nvPr/>
        </p:nvPicPr>
        <p:blipFill>
          <a:blip r:embed="rId3"/>
          <a:stretch>
            <a:fillRect/>
          </a:stretch>
        </p:blipFill>
        <p:spPr>
          <a:xfrm>
            <a:off x="10475486" y="2658420"/>
            <a:ext cx="318248" cy="318248"/>
          </a:xfrm>
          <a:prstGeom prst="rect">
            <a:avLst/>
          </a:prstGeom>
        </p:spPr>
      </p:pic>
      <p:pic>
        <p:nvPicPr>
          <p:cNvPr id="32" name="图片 31">
            <a:extLst>
              <a:ext uri="{FF2B5EF4-FFF2-40B4-BE49-F238E27FC236}">
                <a16:creationId xmlns:a16="http://schemas.microsoft.com/office/drawing/2014/main" id="{1A778A64-79C5-7069-94AF-32B0A3772B64}"/>
              </a:ext>
            </a:extLst>
          </p:cNvPr>
          <p:cNvPicPr>
            <a:picLocks noChangeAspect="1"/>
          </p:cNvPicPr>
          <p:nvPr/>
        </p:nvPicPr>
        <p:blipFill>
          <a:blip r:embed="rId4"/>
          <a:stretch>
            <a:fillRect/>
          </a:stretch>
        </p:blipFill>
        <p:spPr>
          <a:xfrm>
            <a:off x="10516558" y="3024865"/>
            <a:ext cx="236104" cy="234001"/>
          </a:xfrm>
          <a:prstGeom prst="rect">
            <a:avLst/>
          </a:prstGeom>
        </p:spPr>
      </p:pic>
      <p:pic>
        <p:nvPicPr>
          <p:cNvPr id="33" name="图片 32">
            <a:extLst>
              <a:ext uri="{FF2B5EF4-FFF2-40B4-BE49-F238E27FC236}">
                <a16:creationId xmlns:a16="http://schemas.microsoft.com/office/drawing/2014/main" id="{F172AE17-9127-C8B0-ED1E-E5BAF9F00485}"/>
              </a:ext>
            </a:extLst>
          </p:cNvPr>
          <p:cNvPicPr>
            <a:picLocks noChangeAspect="1"/>
          </p:cNvPicPr>
          <p:nvPr/>
        </p:nvPicPr>
        <p:blipFill>
          <a:blip r:embed="rId5"/>
          <a:stretch>
            <a:fillRect/>
          </a:stretch>
        </p:blipFill>
        <p:spPr>
          <a:xfrm>
            <a:off x="10459260" y="3293230"/>
            <a:ext cx="376529" cy="374848"/>
          </a:xfrm>
          <a:prstGeom prst="rect">
            <a:avLst/>
          </a:prstGeom>
        </p:spPr>
      </p:pic>
      <p:sp>
        <p:nvSpPr>
          <p:cNvPr id="40" name="Shape 28">
            <a:extLst>
              <a:ext uri="{FF2B5EF4-FFF2-40B4-BE49-F238E27FC236}">
                <a16:creationId xmlns:a16="http://schemas.microsoft.com/office/drawing/2014/main" id="{087DA19D-56F6-23E5-202B-61A29DB52962}"/>
              </a:ext>
            </a:extLst>
          </p:cNvPr>
          <p:cNvSpPr/>
          <p:nvPr/>
        </p:nvSpPr>
        <p:spPr>
          <a:xfrm>
            <a:off x="7656496" y="3293230"/>
            <a:ext cx="1260000" cy="0"/>
          </a:xfrm>
          <a:prstGeom prst="line">
            <a:avLst/>
          </a:prstGeom>
          <a:noFill/>
          <a:ln w="16510">
            <a:solidFill>
              <a:srgbClr val="346AE6"/>
            </a:solidFill>
            <a:prstDash val="solid"/>
            <a:headEnd type="triangle"/>
            <a:tailEnd type="none"/>
          </a:ln>
        </p:spPr>
        <p:txBody>
          <a:bodyPr/>
          <a:lstStyle/>
          <a:p>
            <a:endParaRPr lang="zh-CN" altLang="en-US"/>
          </a:p>
        </p:txBody>
      </p:sp>
      <p:sp>
        <p:nvSpPr>
          <p:cNvPr id="41" name="文本框 40">
            <a:extLst>
              <a:ext uri="{FF2B5EF4-FFF2-40B4-BE49-F238E27FC236}">
                <a16:creationId xmlns:a16="http://schemas.microsoft.com/office/drawing/2014/main" id="{6202C38D-E115-6D48-8372-D9FFAF853D90}"/>
              </a:ext>
            </a:extLst>
          </p:cNvPr>
          <p:cNvSpPr txBox="1"/>
          <p:nvPr/>
        </p:nvSpPr>
        <p:spPr>
          <a:xfrm>
            <a:off x="7819624" y="3272529"/>
            <a:ext cx="1193825" cy="307777"/>
          </a:xfrm>
          <a:prstGeom prst="rect">
            <a:avLst/>
          </a:prstGeom>
          <a:noFill/>
        </p:spPr>
        <p:txBody>
          <a:bodyPr wrap="square" rtlCol="0">
            <a:spAutoFit/>
          </a:bodyPr>
          <a:lstStyle/>
          <a:p>
            <a:r>
              <a:rPr kumimoji="1" lang="nl-NL" altLang="zh-CN" sz="1400" dirty="0"/>
              <a:t>Response</a:t>
            </a:r>
            <a:endParaRPr kumimoji="1" lang="zh-CN" altLang="en-US" sz="1400" dirty="0"/>
          </a:p>
        </p:txBody>
      </p:sp>
      <p:sp>
        <p:nvSpPr>
          <p:cNvPr id="900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9</a:t>
            </a:r>
          </a:p>
        </p:txBody>
      </p:sp>
    </p:spTree>
    <p:extLst>
      <p:ext uri="{BB962C8B-B14F-4D97-AF65-F5344CB8AC3E}">
        <p14:creationId xmlns:p14="http://schemas.microsoft.com/office/powerpoint/2010/main" val="1787103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25400">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2000" b="1" dirty="0">
                <a:solidFill>
                  <a:srgbClr val="1A1A16"/>
                </a:solidFill>
                <a:latin typeface="Cambria" pitchFamily="34" charset="0"/>
                <a:ea typeface="Cambria" pitchFamily="34" charset="-122"/>
                <a:cs typeface="Cambria" pitchFamily="34" charset="-120"/>
              </a:rPr>
              <a:t>LLM</a:t>
            </a:r>
            <a:endParaRPr lang="en-US" sz="2000" dirty="0"/>
          </a:p>
        </p:txBody>
      </p:sp>
      <p:sp>
        <p:nvSpPr>
          <p:cNvPr id="5" name="Text 3"/>
          <p:cNvSpPr txBox="1"/>
          <p:nvPr/>
        </p:nvSpPr>
        <p:spPr>
          <a:xfrm>
            <a:off x="2560320" y="3456432"/>
            <a:ext cx="2788920" cy="274320"/>
          </a:xfrm>
          <a:prstGeom prst="rect">
            <a:avLst/>
          </a:prstGeom>
          <a:noFill/>
          <a:ln/>
        </p:spPr>
        <p:txBody>
          <a:bodyPr wrap="square" lIns="0" tIns="0" rIns="0" bIns="0" rtlCol="0" anchor="ctr"/>
          <a:lstStyle/>
          <a:p>
            <a:pPr marL="0" indent="0" algn="ctr">
              <a:buNone/>
            </a:pPr>
            <a:r>
              <a:rPr lang="en-US" sz="1100" i="1"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1 / 9</a:t>
            </a:r>
            <a:endParaRPr lang="en-US" sz="1100" dirty="0"/>
          </a:p>
        </p:txBody>
      </p:sp>
      <p:sp>
        <p:nvSpPr>
          <p:cNvPr id="8" name="Text 0">
            <a:extLst>
              <a:ext uri="{FF2B5EF4-FFF2-40B4-BE49-F238E27FC236}">
                <a16:creationId xmlns:a16="http://schemas.microsoft.com/office/drawing/2014/main" id="{6B969E05-3443-C490-7C15-60751FDD02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Text 5"/>
          <p:cNvSpPr txBox="1"/>
          <p:nvPr/>
        </p:nvSpPr>
        <p:spPr>
          <a:xfrm>
            <a:off x="1043247" y="3447288"/>
            <a:ext cx="7653944"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The agent calls the model repeatedly, decides what to do next, and stops when it judges the work done. </a:t>
            </a:r>
            <a:endParaRPr lang="en-US" sz="1400" dirty="0"/>
          </a:p>
        </p:txBody>
      </p:sp>
      <p:sp>
        <p:nvSpPr>
          <p:cNvPr id="8" name="Text 6"/>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2 / 9</a:t>
            </a:r>
            <a:endParaRPr lang="en-US" sz="1100" dirty="0"/>
          </a:p>
        </p:txBody>
      </p:sp>
      <p:sp>
        <p:nvSpPr>
          <p:cNvPr id="9" name="Text 0">
            <a:extLst>
              <a:ext uri="{FF2B5EF4-FFF2-40B4-BE49-F238E27FC236}">
                <a16:creationId xmlns:a16="http://schemas.microsoft.com/office/drawing/2014/main" id="{5017E0DE-7136-908D-B7E5-A19D20C3035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Text 12"/>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A protocol loaded into the context when the task matches it — drawn dashed, because it is advice. The model can read it and not follow it, and nothing records that it did.</a:t>
            </a:r>
            <a:endParaRPr lang="en-US" sz="1400" dirty="0"/>
          </a:p>
        </p:txBody>
      </p:sp>
      <p:sp>
        <p:nvSpPr>
          <p:cNvPr id="15" name="Text 13"/>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4 / 9</a:t>
            </a:r>
            <a:endParaRPr lang="en-US" sz="1100" dirty="0"/>
          </a:p>
        </p:txBody>
      </p:sp>
      <p:sp>
        <p:nvSpPr>
          <p:cNvPr id="16" name="Text 0">
            <a:extLst>
              <a:ext uri="{FF2B5EF4-FFF2-40B4-BE49-F238E27FC236}">
                <a16:creationId xmlns:a16="http://schemas.microsoft.com/office/drawing/2014/main" id="{2E0CE33D-7DBC-D896-71CD-365207ECBA95}"/>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skill</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en-US" altLang="zh-CN" sz="2400" b="1" dirty="0">
                <a:solidFill>
                  <a:srgbClr val="242832"/>
                </a:solidFill>
                <a:latin typeface="Roboto Condensed" pitchFamily="34" charset="0"/>
                <a:ea typeface="Roboto Condensed" pitchFamily="34" charset="-122"/>
                <a:cs typeface="Roboto Condensed" pitchFamily="34" charset="-120"/>
              </a:rPr>
              <a:t>is</a:t>
            </a:r>
            <a:r>
              <a:rPr lang="nl-NL" altLang="zh-CN" sz="2400" b="1" dirty="0">
                <a:solidFill>
                  <a:srgbClr val="242832"/>
                </a:solidFill>
                <a:latin typeface="Roboto Condensed" pitchFamily="34" charset="0"/>
                <a:ea typeface="Roboto Condensed" pitchFamily="34" charset="-122"/>
                <a:cs typeface="Roboto Condensed" pitchFamily="34" charset="-120"/>
              </a:rPr>
              <a:t> a </a:t>
            </a:r>
            <a:r>
              <a:rPr lang="nl-NL" altLang="zh-CN" sz="2400" b="1" dirty="0" err="1">
                <a:solidFill>
                  <a:srgbClr val="242832"/>
                </a:solidFill>
                <a:latin typeface="Roboto Condensed" pitchFamily="34" charset="0"/>
                <a:ea typeface="Roboto Condensed" pitchFamily="34" charset="-122"/>
                <a:cs typeface="Roboto Condensed" pitchFamily="34" charset="-120"/>
              </a:rPr>
              <a:t>stuctural</a:t>
            </a:r>
            <a:r>
              <a:rPr lang="nl-NL" altLang="zh-CN" sz="2400" b="1" dirty="0">
                <a:solidFill>
                  <a:srgbClr val="242832"/>
                </a:solidFill>
                <a:latin typeface="Roboto Condensed" pitchFamily="34" charset="0"/>
                <a:ea typeface="Roboto Condensed" pitchFamily="34" charset="-122"/>
                <a:cs typeface="Roboto Condensed" pitchFamily="34" charset="-120"/>
              </a:rPr>
              <a:t> prompt document</a:t>
            </a:r>
            <a:endParaRPr lang="en-US" sz="2400" dirty="0"/>
          </a:p>
        </p:txBody>
      </p:sp>
      <p:sp>
        <p:nvSpPr>
          <p:cNvPr id="901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Shape 12"/>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5" name="Text 13"/>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7" name="Shape 15"/>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18" name="Text 16"/>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19" name="Text 17"/>
          <p:cNvSpPr txBox="1"/>
          <p:nvPr/>
        </p:nvSpPr>
        <p:spPr>
          <a:xfrm>
            <a:off x="849283" y="5234940"/>
            <a:ext cx="6853844"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published convention for exposing a tool so that any model can call it. </a:t>
            </a:r>
          </a:p>
          <a:p>
            <a:pPr marL="0" indent="0">
              <a:lnSpc>
                <a:spcPct val="125000"/>
              </a:lnSpc>
              <a:buNone/>
            </a:pPr>
            <a:r>
              <a:rPr lang="en-US" dirty="0">
                <a:solidFill>
                  <a:srgbClr val="1A1A16"/>
                </a:solidFill>
                <a:latin typeface="Calibri" pitchFamily="34" charset="0"/>
                <a:ea typeface="Calibri" pitchFamily="34" charset="-122"/>
                <a:cs typeface="Calibri" pitchFamily="34" charset="-120"/>
              </a:rPr>
              <a:t>It standardises the plug.</a:t>
            </a:r>
          </a:p>
        </p:txBody>
      </p:sp>
      <p:sp>
        <p:nvSpPr>
          <p:cNvPr id="20" name="Text 18"/>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5 / 9</a:t>
            </a:r>
            <a:endParaRPr lang="en-US" sz="1100" dirty="0"/>
          </a:p>
        </p:txBody>
      </p:sp>
      <p:sp>
        <p:nvSpPr>
          <p:cNvPr id="21" name="Text 0">
            <a:extLst>
              <a:ext uri="{FF2B5EF4-FFF2-40B4-BE49-F238E27FC236}">
                <a16:creationId xmlns:a16="http://schemas.microsoft.com/office/drawing/2014/main" id="{1628E92D-8B2D-F85B-D444-7278EAD262C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MCP: Model Context Protocol</a:t>
            </a:r>
            <a:endParaRPr lang="en-US" sz="2400" dirty="0"/>
          </a:p>
        </p:txBody>
      </p:sp>
      <p:sp>
        <p:nvSpPr>
          <p:cNvPr id="9013"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Text 23"/>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compiler, a database, a filesystem. The result returns to the loop, which calls the model again.</a:t>
            </a:r>
            <a:endParaRPr lang="en-US" dirty="0"/>
          </a:p>
        </p:txBody>
      </p:sp>
      <p:sp>
        <p:nvSpPr>
          <p:cNvPr id="26" name="Text 24"/>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6 / 9</a:t>
            </a:r>
            <a:endParaRPr lang="en-US" sz="1100" dirty="0"/>
          </a:p>
        </p:txBody>
      </p:sp>
      <p:sp>
        <p:nvSpPr>
          <p:cNvPr id="27" name="Text 0">
            <a:extLst>
              <a:ext uri="{FF2B5EF4-FFF2-40B4-BE49-F238E27FC236}">
                <a16:creationId xmlns:a16="http://schemas.microsoft.com/office/drawing/2014/main" id="{08035A9C-F0CF-B538-6534-786C990A0BF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Agent </a:t>
            </a:r>
            <a:r>
              <a:rPr lang="nl-NL" sz="2400" b="1" dirty="0" err="1">
                <a:solidFill>
                  <a:srgbClr val="242832"/>
                </a:solidFill>
                <a:latin typeface="Roboto Condensed" pitchFamily="34" charset="0"/>
                <a:ea typeface="Roboto Condensed" pitchFamily="34" charset="-122"/>
                <a:cs typeface="Roboto Condensed" pitchFamily="34" charset="-120"/>
              </a:rPr>
              <a:t>uses</a:t>
            </a:r>
            <a:r>
              <a:rPr lang="nl-NL" sz="2400" b="1" dirty="0">
                <a:solidFill>
                  <a:srgbClr val="242832"/>
                </a:solidFill>
                <a:latin typeface="Roboto Condensed" pitchFamily="34" charset="0"/>
                <a:ea typeface="Roboto Condensed" pitchFamily="34" charset="-122"/>
                <a:cs typeface="Roboto Condensed" pitchFamily="34" charset="-120"/>
              </a:rPr>
              <a:t> tools </a:t>
            </a:r>
            <a:r>
              <a:rPr lang="nl-NL" sz="2400" b="1" dirty="0" err="1">
                <a:solidFill>
                  <a:srgbClr val="242832"/>
                </a:solidFill>
                <a:latin typeface="Roboto Condensed" pitchFamily="34" charset="0"/>
                <a:ea typeface="Roboto Condensed" pitchFamily="34" charset="-122"/>
                <a:cs typeface="Roboto Condensed" pitchFamily="34" charset="-120"/>
              </a:rPr>
              <a:t>and</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loop</a:t>
            </a:r>
            <a:endParaRPr lang="en-US" sz="2400" dirty="0"/>
          </a:p>
        </p:txBody>
      </p:sp>
      <p:sp>
        <p:nvSpPr>
          <p:cNvPr id="901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400" i="1" dirty="0">
                <a:solidFill>
                  <a:srgbClr val="065A82"/>
                </a:solidFill>
                <a:latin typeface="Calibri" pitchFamily="34" charset="0"/>
                <a:ea typeface="Calibri" pitchFamily="34" charset="-122"/>
                <a:cs typeface="Calibri" pitchFamily="34" charset="-120"/>
              </a:rPr>
              <a:t>a machine-checked contract</a:t>
            </a:r>
            <a:endParaRPr lang="en-US" sz="1400" dirty="0"/>
          </a:p>
        </p:txBody>
      </p:sp>
      <p:sp>
        <p:nvSpPr>
          <p:cNvPr id="30" name="Text 28"/>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machine-checked contract: A valid record must output correct types with respect to contract</a:t>
            </a:r>
            <a:endParaRPr lang="en-US" dirty="0"/>
          </a:p>
        </p:txBody>
      </p:sp>
      <p:sp>
        <p:nvSpPr>
          <p:cNvPr id="31" name="Text 29"/>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7 / 9</a:t>
            </a:r>
            <a:endParaRPr lang="en-US" sz="1100" dirty="0"/>
          </a:p>
        </p:txBody>
      </p:sp>
      <p:sp>
        <p:nvSpPr>
          <p:cNvPr id="32" name="Text 0">
            <a:extLst>
              <a:ext uri="{FF2B5EF4-FFF2-40B4-BE49-F238E27FC236}">
                <a16:creationId xmlns:a16="http://schemas.microsoft.com/office/drawing/2014/main" id="{E97175DC-EB68-A560-2A23-FB1BB2ABB78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record that does not conform is not repaired or accepted with a warning, but it is refused.</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8 / 9</a:t>
            </a:r>
            <a:endParaRPr lang="en-US" sz="1100" dirty="0"/>
          </a:p>
        </p:txBody>
      </p:sp>
      <p:sp>
        <p:nvSpPr>
          <p:cNvPr id="38" name="Text 0">
            <a:extLst>
              <a:ext uri="{FF2B5EF4-FFF2-40B4-BE49-F238E27FC236}">
                <a16:creationId xmlns:a16="http://schemas.microsoft.com/office/drawing/2014/main" id="{36BB3828-B388-D370-0059-DDAA762CB6D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The prompt, the skill and the tool call are all requests — they can be ignored, and the transcript looks the same either way. Only the schema can make an answer impossible to express.</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9 / 9</a:t>
            </a:r>
            <a:endParaRPr lang="en-US" sz="1100" dirty="0"/>
          </a:p>
        </p:txBody>
      </p:sp>
      <p:sp>
        <p:nvSpPr>
          <p:cNvPr id="38" name="Text 0">
            <a:extLst>
              <a:ext uri="{FF2B5EF4-FFF2-40B4-BE49-F238E27FC236}">
                <a16:creationId xmlns:a16="http://schemas.microsoft.com/office/drawing/2014/main" id="{03BE5760-9E59-2810-E701-2F89AF74E87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FD49-45B4-6495-092A-DEA92FD49BDE}"/>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65585B0B-5B5D-9D0A-2712-1CB72D140F9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A8B48A66-85B2-2578-748F-317FE89FD7E0}"/>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09B5E41-B068-52D1-C655-B979FAB2497E}"/>
              </a:ext>
            </a:extLst>
          </p:cNvPr>
          <p:cNvPicPr>
            <a:picLocks/>
          </p:cNvPicPr>
          <p:nvPr/>
        </p:nvPicPr>
        <p:blipFill>
          <a:blip r:embed="rId4"/>
          <a:stretch>
            <a:fillRect/>
          </a:stretch>
        </p:blipFill>
        <p:spPr>
          <a:xfrm>
            <a:off x="706124" y="1688567"/>
            <a:ext cx="4998523" cy="1671002"/>
          </a:xfrm>
          <a:prstGeom prst="rect">
            <a:avLst/>
          </a:prstGeom>
        </p:spPr>
      </p:pic>
      <p:sp>
        <p:nvSpPr>
          <p:cNvPr id="15" name="Text 0">
            <a:extLst>
              <a:ext uri="{FF2B5EF4-FFF2-40B4-BE49-F238E27FC236}">
                <a16:creationId xmlns:a16="http://schemas.microsoft.com/office/drawing/2014/main" id="{F6689566-4E93-5225-7B66-E8CFAFA5F28A}"/>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901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19</a:t>
            </a:r>
          </a:p>
        </p:txBody>
      </p:sp>
    </p:spTree>
    <p:extLst>
      <p:ext uri="{BB962C8B-B14F-4D97-AF65-F5344CB8AC3E}">
        <p14:creationId xmlns:p14="http://schemas.microsoft.com/office/powerpoint/2010/main" val="19587581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87CF2-7784-4449-4783-2CC5631C73C0}"/>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F9082D97-FE71-4CAA-DD92-5C2DFBCC300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6885FFE0-B135-C31F-8DF6-CA6964BAE1A4}"/>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A90735EA-DD78-3C70-0942-AE951D0EF9B0}"/>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EB64D4B8-A1C8-9038-FDA8-3F3822C750C9}"/>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50BE45D2-4C7B-7FF8-B64A-1B6F6D30E133}"/>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3" name="图片 12">
            <a:extLst>
              <a:ext uri="{FF2B5EF4-FFF2-40B4-BE49-F238E27FC236}">
                <a16:creationId xmlns:a16="http://schemas.microsoft.com/office/drawing/2014/main" id="{325910AF-96AE-EBE0-699A-7853E0C2131E}"/>
              </a:ext>
            </a:extLst>
          </p:cNvPr>
          <p:cNvPicPr>
            <a:picLocks noChangeAspect="1"/>
          </p:cNvPicPr>
          <p:nvPr/>
        </p:nvPicPr>
        <p:blipFill>
          <a:blip r:embed="rId7"/>
          <a:stretch>
            <a:fillRect/>
          </a:stretch>
        </p:blipFill>
        <p:spPr>
          <a:xfrm>
            <a:off x="1038352" y="3657866"/>
            <a:ext cx="7772400" cy="2294385"/>
          </a:xfrm>
          <a:prstGeom prst="rect">
            <a:avLst/>
          </a:prstGeom>
        </p:spPr>
      </p:pic>
      <p:sp>
        <p:nvSpPr>
          <p:cNvPr id="15" name="Text 0">
            <a:extLst>
              <a:ext uri="{FF2B5EF4-FFF2-40B4-BE49-F238E27FC236}">
                <a16:creationId xmlns:a16="http://schemas.microsoft.com/office/drawing/2014/main" id="{9F85EB0B-F1CC-FC1B-CA50-EE67B32D7637}"/>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50B0C900-53EA-025E-A082-1A77610F70CD}"/>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902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20</a:t>
            </a:r>
          </a:p>
        </p:txBody>
      </p:sp>
    </p:spTree>
    <p:extLst>
      <p:ext uri="{BB962C8B-B14F-4D97-AF65-F5344CB8AC3E}">
        <p14:creationId xmlns:p14="http://schemas.microsoft.com/office/powerpoint/2010/main" val="2973024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CAA9D-55C4-353C-EDF0-05813328318F}"/>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31AF6AF1-B7E3-1E21-E515-46399E21B27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543029C6-BE96-70F5-10B3-EACCF4FBA38B}"/>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86E9A61-E46B-7824-7ECA-23B5A36EE379}"/>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8327BA19-5621-27E7-E77F-2D82A25DE6C7}"/>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F18A6F5C-ACBE-060C-0F9D-9A3D09E5D542}"/>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4" name="图片 13">
            <a:extLst>
              <a:ext uri="{FF2B5EF4-FFF2-40B4-BE49-F238E27FC236}">
                <a16:creationId xmlns:a16="http://schemas.microsoft.com/office/drawing/2014/main" id="{44C777B6-73BD-38C0-200E-3AC30610A393}"/>
              </a:ext>
            </a:extLst>
          </p:cNvPr>
          <p:cNvPicPr>
            <a:picLocks noChangeAspect="1"/>
          </p:cNvPicPr>
          <p:nvPr/>
        </p:nvPicPr>
        <p:blipFill>
          <a:blip r:embed="rId7"/>
          <a:stretch>
            <a:fillRect/>
          </a:stretch>
        </p:blipFill>
        <p:spPr>
          <a:xfrm>
            <a:off x="908616" y="3764219"/>
            <a:ext cx="8136249" cy="2231490"/>
          </a:xfrm>
          <a:prstGeom prst="rect">
            <a:avLst/>
          </a:prstGeom>
        </p:spPr>
      </p:pic>
      <p:sp>
        <p:nvSpPr>
          <p:cNvPr id="15" name="Text 0">
            <a:extLst>
              <a:ext uri="{FF2B5EF4-FFF2-40B4-BE49-F238E27FC236}">
                <a16:creationId xmlns:a16="http://schemas.microsoft.com/office/drawing/2014/main" id="{A8233D1E-3470-BB4C-1118-4BB47E3CEEEE}"/>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36AF9A26-F3F4-6205-D0C3-18F5D1D0B712}"/>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17" name="Text 0">
            <a:extLst>
              <a:ext uri="{FF2B5EF4-FFF2-40B4-BE49-F238E27FC236}">
                <a16:creationId xmlns:a16="http://schemas.microsoft.com/office/drawing/2014/main" id="{077E7E47-C099-D67D-E6CE-01C7EB5FB0F2}"/>
              </a:ext>
            </a:extLst>
          </p:cNvPr>
          <p:cNvSpPr/>
          <p:nvPr/>
        </p:nvSpPr>
        <p:spPr>
          <a:xfrm>
            <a:off x="4477254" y="6254362"/>
            <a:ext cx="4209546"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Or, sometimes together …</a:t>
            </a:r>
            <a:endParaRPr lang="en-US" sz="2400" dirty="0"/>
          </a:p>
        </p:txBody>
      </p:sp>
      <p:sp>
        <p:nvSpPr>
          <p:cNvPr id="902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21</a:t>
            </a:r>
          </a:p>
        </p:txBody>
      </p:sp>
    </p:spTree>
    <p:extLst>
      <p:ext uri="{BB962C8B-B14F-4D97-AF65-F5344CB8AC3E}">
        <p14:creationId xmlns:p14="http://schemas.microsoft.com/office/powerpoint/2010/main" val="31473619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5">
            <a:extLst>
              <a:ext uri="{FF2B5EF4-FFF2-40B4-BE49-F238E27FC236}">
                <a16:creationId xmlns:a16="http://schemas.microsoft.com/office/drawing/2014/main" id="{74D4125E-ABB5-801D-8008-C0CAA8BFB295}"/>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6" name="Text 6">
            <a:extLst>
              <a:ext uri="{FF2B5EF4-FFF2-40B4-BE49-F238E27FC236}">
                <a16:creationId xmlns:a16="http://schemas.microsoft.com/office/drawing/2014/main" id="{644B51EE-FA38-6B60-A53D-F28D6CDAAF80}"/>
              </a:ext>
            </a:extLst>
          </p:cNvPr>
          <p:cNvSpPr/>
          <p:nvPr/>
        </p:nvSpPr>
        <p:spPr>
          <a:xfrm>
            <a:off x="5804032" y="972532"/>
            <a:ext cx="4892040" cy="960120"/>
          </a:xfrm>
          <a:prstGeom prst="roundRect">
            <a:avLst>
              <a:gd name="adj" fmla="val 4629"/>
            </a:avLst>
          </a:prstGeom>
          <a:solidFill>
            <a:srgbClr val="E2F1EA"/>
          </a:solidFill>
          <a:ln w="13970">
            <a:solidFill>
              <a:srgbClr val="257A6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Mathematical correctness</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conclusion follow from encoded assumptions?</a:t>
            </a:r>
            <a:endParaRPr lang="en-US" sz="1200" dirty="0"/>
          </a:p>
        </p:txBody>
      </p:sp>
      <p:sp>
        <p:nvSpPr>
          <p:cNvPr id="7" name="Text 7">
            <a:extLst>
              <a:ext uri="{FF2B5EF4-FFF2-40B4-BE49-F238E27FC236}">
                <a16:creationId xmlns:a16="http://schemas.microsoft.com/office/drawing/2014/main" id="{24650221-316D-D24B-7487-27E804FF6A07}"/>
              </a:ext>
            </a:extLst>
          </p:cNvPr>
          <p:cNvSpPr/>
          <p:nvPr/>
        </p:nvSpPr>
        <p:spPr>
          <a:xfrm>
            <a:off x="2072409" y="2015383"/>
            <a:ext cx="3657600" cy="960120"/>
          </a:xfrm>
          <a:prstGeom prst="roundRect">
            <a:avLst>
              <a:gd name="adj" fmla="val 4629"/>
            </a:avLst>
          </a:prstGeom>
          <a:solidFill>
            <a:srgbClr val="FFF1D6"/>
          </a:solidFill>
          <a:ln w="13970">
            <a:solidFill>
              <a:srgbClr val="B7791F"/>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Computational reproducibility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Can the numerical result be reproduced?</a:t>
            </a:r>
            <a:endParaRPr lang="en-US" sz="1200" dirty="0"/>
          </a:p>
        </p:txBody>
      </p:sp>
      <p:sp>
        <p:nvSpPr>
          <p:cNvPr id="8" name="Text 8">
            <a:extLst>
              <a:ext uri="{FF2B5EF4-FFF2-40B4-BE49-F238E27FC236}">
                <a16:creationId xmlns:a16="http://schemas.microsoft.com/office/drawing/2014/main" id="{23A44098-6E49-54AF-3096-4717E6C63F17}"/>
              </a:ext>
            </a:extLst>
          </p:cNvPr>
          <p:cNvSpPr/>
          <p:nvPr/>
        </p:nvSpPr>
        <p:spPr>
          <a:xfrm>
            <a:off x="5804032" y="2015383"/>
            <a:ext cx="4892040" cy="960120"/>
          </a:xfrm>
          <a:prstGeom prst="roundRect">
            <a:avLst>
              <a:gd name="adj" fmla="val 4629"/>
            </a:avLst>
          </a:prstGeom>
          <a:solidFill>
            <a:srgbClr val="EEE8F7"/>
          </a:solidFill>
          <a:ln w="38100">
            <a:solidFill>
              <a:srgbClr val="7356A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Physical-semantic alignment</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formal object represent the intended physics?</a:t>
            </a:r>
            <a:endParaRPr lang="en-US" sz="1200" dirty="0"/>
          </a:p>
        </p:txBody>
      </p:sp>
      <p:sp>
        <p:nvSpPr>
          <p:cNvPr id="9" name="Text 0">
            <a:extLst>
              <a:ext uri="{FF2B5EF4-FFF2-40B4-BE49-F238E27FC236}">
                <a16:creationId xmlns:a16="http://schemas.microsoft.com/office/drawing/2014/main" id="{610DE0D1-FFA8-B020-C3BB-AE69E1C36B0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pic>
        <p:nvPicPr>
          <p:cNvPr id="10" name="图片 9">
            <a:extLst>
              <a:ext uri="{FF2B5EF4-FFF2-40B4-BE49-F238E27FC236}">
                <a16:creationId xmlns:a16="http://schemas.microsoft.com/office/drawing/2014/main" id="{1A650449-0A5B-8B23-73C2-16790779F493}"/>
              </a:ext>
            </a:extLst>
          </p:cNvPr>
          <p:cNvPicPr>
            <a:picLocks noChangeAspect="1"/>
          </p:cNvPicPr>
          <p:nvPr/>
        </p:nvPicPr>
        <p:blipFill>
          <a:blip r:embed="rId2"/>
          <a:stretch>
            <a:fillRect/>
          </a:stretch>
        </p:blipFill>
        <p:spPr>
          <a:xfrm>
            <a:off x="3261578" y="3381330"/>
            <a:ext cx="3095010" cy="2496923"/>
          </a:xfrm>
          <a:prstGeom prst="rect">
            <a:avLst/>
          </a:prstGeom>
        </p:spPr>
      </p:pic>
      <p:sp>
        <p:nvSpPr>
          <p:cNvPr id="11" name="文本框 10">
            <a:extLst>
              <a:ext uri="{FF2B5EF4-FFF2-40B4-BE49-F238E27FC236}">
                <a16:creationId xmlns:a16="http://schemas.microsoft.com/office/drawing/2014/main" id="{5177F417-9D9C-DE5A-ACCC-3A5A722AEC5E}"/>
              </a:ext>
            </a:extLst>
          </p:cNvPr>
          <p:cNvSpPr txBox="1"/>
          <p:nvPr/>
        </p:nvSpPr>
        <p:spPr>
          <a:xfrm>
            <a:off x="3476068" y="5988799"/>
            <a:ext cx="2457125" cy="430887"/>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reverse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mathematics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zoo,</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founded by Damir Dzhafarov</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 2019</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pic>
        <p:nvPicPr>
          <p:cNvPr id="12" name="图片 11">
            <a:extLst>
              <a:ext uri="{FF2B5EF4-FFF2-40B4-BE49-F238E27FC236}">
                <a16:creationId xmlns:a16="http://schemas.microsoft.com/office/drawing/2014/main" id="{2096FB55-8AD9-A979-6EE9-3D1F9C00168B}"/>
              </a:ext>
            </a:extLst>
          </p:cNvPr>
          <p:cNvPicPr>
            <a:picLocks noChangeAspect="1"/>
          </p:cNvPicPr>
          <p:nvPr/>
        </p:nvPicPr>
        <p:blipFill>
          <a:blip r:embed="rId3"/>
          <a:stretch>
            <a:fillRect/>
          </a:stretch>
        </p:blipFill>
        <p:spPr>
          <a:xfrm>
            <a:off x="6723466" y="3336474"/>
            <a:ext cx="2410098" cy="1205049"/>
          </a:xfrm>
          <a:prstGeom prst="rect">
            <a:avLst/>
          </a:prstGeom>
        </p:spPr>
      </p:pic>
      <p:pic>
        <p:nvPicPr>
          <p:cNvPr id="13" name="Picture 2" descr="The Lean 4 Theorem Prover and Programming Language | Springer Nature Link">
            <a:extLst>
              <a:ext uri="{FF2B5EF4-FFF2-40B4-BE49-F238E27FC236}">
                <a16:creationId xmlns:a16="http://schemas.microsoft.com/office/drawing/2014/main" id="{058E66E4-05FB-3D8D-5913-34FAE1D034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8460" y="4618515"/>
            <a:ext cx="2474686" cy="1174427"/>
          </a:xfrm>
          <a:prstGeom prst="rect">
            <a:avLst/>
          </a:prstGeom>
          <a:noFill/>
          <a:extLst>
            <a:ext uri="{909E8E84-426E-40DD-AFC4-6F175D3DCCD1}">
              <a14:hiddenFill xmlns:a14="http://schemas.microsoft.com/office/drawing/2010/main">
                <a:solidFill>
                  <a:srgbClr val="FFFFFF"/>
                </a:solidFill>
              </a14:hiddenFill>
            </a:ext>
          </a:extLst>
        </p:spPr>
      </p:pic>
      <p:sp>
        <p:nvSpPr>
          <p:cNvPr id="14" name="文本框 13">
            <a:extLst>
              <a:ext uri="{FF2B5EF4-FFF2-40B4-BE49-F238E27FC236}">
                <a16:creationId xmlns:a16="http://schemas.microsoft.com/office/drawing/2014/main" id="{DF1A7E98-53A7-3260-6DDC-670A5AF904AC}"/>
              </a:ext>
            </a:extLst>
          </p:cNvPr>
          <p:cNvSpPr txBox="1"/>
          <p:nvPr/>
        </p:nvSpPr>
        <p:spPr>
          <a:xfrm>
            <a:off x="6430377" y="5958626"/>
            <a:ext cx="3785590" cy="430887"/>
          </a:xfrm>
          <a:prstGeom prst="rect">
            <a:avLst/>
          </a:prstGeom>
          <a:noFill/>
        </p:spPr>
        <p:txBody>
          <a:bodyPr wrap="square" rtlCol="0">
            <a:spAutoFit/>
          </a:bodyPr>
          <a:lstStyle/>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Lean 4 Theorem Prover and Programming Language</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by Moura L, Ullrich 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2021</a:t>
            </a:r>
          </a:p>
        </p:txBody>
      </p:sp>
      <p:sp>
        <p:nvSpPr>
          <p:cNvPr id="15" name="Text 6">
            <a:extLst>
              <a:ext uri="{FF2B5EF4-FFF2-40B4-BE49-F238E27FC236}">
                <a16:creationId xmlns:a16="http://schemas.microsoft.com/office/drawing/2014/main" id="{7E0366F3-2FBE-8EAA-D5BF-FC245E921E3E}"/>
              </a:ext>
            </a:extLst>
          </p:cNvPr>
          <p:cNvSpPr/>
          <p:nvPr/>
        </p:nvSpPr>
        <p:spPr>
          <a:xfrm>
            <a:off x="2894699" y="3271378"/>
            <a:ext cx="7321268" cy="3321307"/>
          </a:xfrm>
          <a:prstGeom prst="roundRect">
            <a:avLst>
              <a:gd name="adj" fmla="val 4629"/>
            </a:avLst>
          </a:prstGeom>
          <a:noFill/>
          <a:ln w="13970">
            <a:solidFill>
              <a:srgbClr val="257A63"/>
            </a:solidFill>
          </a:ln>
        </p:spPr>
        <p:txBody>
          <a:bodyPr wrap="square" lIns="508" tIns="508" rIns="508" bIns="508" rtlCol="0" anchor="ctr">
            <a:normAutofit/>
          </a:bodyPr>
          <a:lstStyle/>
          <a:p>
            <a:pPr marL="0" indent="0" algn="ctr">
              <a:buNone/>
            </a:pPr>
            <a:endParaRPr lang="en-US" sz="1200" dirty="0"/>
          </a:p>
        </p:txBody>
      </p:sp>
      <p:sp>
        <p:nvSpPr>
          <p:cNvPr id="20" name="Text 5">
            <a:extLst>
              <a:ext uri="{FF2B5EF4-FFF2-40B4-BE49-F238E27FC236}">
                <a16:creationId xmlns:a16="http://schemas.microsoft.com/office/drawing/2014/main" id="{73FBFCC1-DCFB-A0A1-F7A7-3FF294D8C01E}"/>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EA64A3F9-14AB-FE62-BD95-C99B1DBF96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DAD7765A-8EF6-0193-0617-6B52014500D2}"/>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28" name="文本框 27">
            <a:extLst>
              <a:ext uri="{FF2B5EF4-FFF2-40B4-BE49-F238E27FC236}">
                <a16:creationId xmlns:a16="http://schemas.microsoft.com/office/drawing/2014/main" id="{74D4753D-4471-3997-7811-F59501268B3E}"/>
              </a:ext>
            </a:extLst>
          </p:cNvPr>
          <p:cNvSpPr txBox="1"/>
          <p:nvPr/>
        </p:nvSpPr>
        <p:spPr>
          <a:xfrm>
            <a:off x="10119592" y="2172040"/>
            <a:ext cx="502034" cy="1015663"/>
          </a:xfrm>
          <a:prstGeom prst="rect">
            <a:avLst/>
          </a:prstGeom>
          <a:noFill/>
        </p:spPr>
        <p:txBody>
          <a:bodyPr wrap="square" rtlCol="0">
            <a:spAutoFit/>
          </a:bodyPr>
          <a:lstStyle/>
          <a:p>
            <a:r>
              <a:rPr kumimoji="1" lang="nl-NL" altLang="zh-CN"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a:t>
            </a:r>
            <a:endParaRPr kumimoji="1" lang="zh-CN" altLang="en-US"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
        <p:nvSpPr>
          <p:cNvPr id="3" name="Text 7">
            <a:extLst>
              <a:ext uri="{FF2B5EF4-FFF2-40B4-BE49-F238E27FC236}">
                <a16:creationId xmlns:a16="http://schemas.microsoft.com/office/drawing/2014/main" id="{94E5125C-5BC2-7589-4AD7-0FA2FD7321F4}"/>
              </a:ext>
            </a:extLst>
          </p:cNvPr>
          <p:cNvSpPr/>
          <p:nvPr/>
        </p:nvSpPr>
        <p:spPr>
          <a:xfrm>
            <a:off x="10418215" y="3271378"/>
            <a:ext cx="1603881" cy="3314623"/>
          </a:xfrm>
          <a:prstGeom prst="roundRect">
            <a:avLst>
              <a:gd name="adj" fmla="val 4629"/>
            </a:avLst>
          </a:prstGeom>
          <a:noFill/>
          <a:ln w="13970">
            <a:solidFill>
              <a:srgbClr val="B7791F"/>
            </a:solidFill>
          </a:ln>
        </p:spPr>
        <p:txBody>
          <a:bodyPr wrap="square" lIns="508" tIns="508" rIns="508" bIns="508" rtlCol="0" anchor="ctr">
            <a:normAutofit/>
          </a:bodyPr>
          <a:lstStyle/>
          <a:p>
            <a:pPr marL="0" indent="0" algn="ctr">
              <a:buNone/>
            </a:pPr>
            <a:endParaRPr lang="en-US" sz="1200" dirty="0"/>
          </a:p>
        </p:txBody>
      </p:sp>
      <p:pic>
        <p:nvPicPr>
          <p:cNvPr id="4" name="Picture 2">
            <a:extLst>
              <a:ext uri="{FF2B5EF4-FFF2-40B4-BE49-F238E27FC236}">
                <a16:creationId xmlns:a16="http://schemas.microsoft.com/office/drawing/2014/main" id="{6D2F7A69-FD23-6ECB-F5BB-4B1427730D2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59841" y="3489961"/>
            <a:ext cx="896834" cy="896834"/>
          </a:xfrm>
          <a:prstGeom prst="rect">
            <a:avLst/>
          </a:prstGeom>
          <a:noFill/>
          <a:extLst>
            <a:ext uri="{909E8E84-426E-40DD-AFC4-6F175D3DCCD1}">
              <a14:hiddenFill xmlns:a14="http://schemas.microsoft.com/office/drawing/2010/main">
                <a:solidFill>
                  <a:srgbClr val="FFFFFF"/>
                </a:solidFill>
              </a14:hiddenFill>
            </a:ext>
          </a:extLst>
        </p:spPr>
      </p:pic>
      <p:pic>
        <p:nvPicPr>
          <p:cNvPr id="17" name="图片 16">
            <a:extLst>
              <a:ext uri="{FF2B5EF4-FFF2-40B4-BE49-F238E27FC236}">
                <a16:creationId xmlns:a16="http://schemas.microsoft.com/office/drawing/2014/main" id="{68A72D33-E501-C25A-A9F8-3186FAA03CB4}"/>
              </a:ext>
            </a:extLst>
          </p:cNvPr>
          <p:cNvPicPr>
            <a:picLocks noChangeAspect="1"/>
          </p:cNvPicPr>
          <p:nvPr/>
        </p:nvPicPr>
        <p:blipFill>
          <a:blip r:embed="rId7"/>
          <a:stretch>
            <a:fillRect/>
          </a:stretch>
        </p:blipFill>
        <p:spPr>
          <a:xfrm>
            <a:off x="10759841" y="4525604"/>
            <a:ext cx="896834" cy="896834"/>
          </a:xfrm>
          <a:prstGeom prst="rect">
            <a:avLst/>
          </a:prstGeom>
        </p:spPr>
      </p:pic>
      <p:pic>
        <p:nvPicPr>
          <p:cNvPr id="21" name="图片 20">
            <a:extLst>
              <a:ext uri="{FF2B5EF4-FFF2-40B4-BE49-F238E27FC236}">
                <a16:creationId xmlns:a16="http://schemas.microsoft.com/office/drawing/2014/main" id="{837F4876-58CE-B3AD-8573-FB3B25571B79}"/>
              </a:ext>
            </a:extLst>
          </p:cNvPr>
          <p:cNvPicPr>
            <a:picLocks noChangeAspect="1"/>
          </p:cNvPicPr>
          <p:nvPr/>
        </p:nvPicPr>
        <p:blipFill>
          <a:blip r:embed="rId8"/>
          <a:stretch>
            <a:fillRect/>
          </a:stretch>
        </p:blipFill>
        <p:spPr>
          <a:xfrm>
            <a:off x="10701569" y="5449656"/>
            <a:ext cx="955106" cy="1004574"/>
          </a:xfrm>
          <a:prstGeom prst="rect">
            <a:avLst/>
          </a:prstGeom>
        </p:spPr>
      </p:pic>
      <p:sp>
        <p:nvSpPr>
          <p:cNvPr id="902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22942333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0E716793-E995-E3AF-3520-771050B75CB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Imaging paper as an agent</a:t>
            </a:r>
            <a:endParaRPr lang="en-US" sz="2400" dirty="0"/>
          </a:p>
        </p:txBody>
      </p:sp>
      <p:pic>
        <p:nvPicPr>
          <p:cNvPr id="6" name="图片 5">
            <a:extLst>
              <a:ext uri="{FF2B5EF4-FFF2-40B4-BE49-F238E27FC236}">
                <a16:creationId xmlns:a16="http://schemas.microsoft.com/office/drawing/2014/main" id="{1F4EBF8A-A4AD-2A7F-8522-213B1B46753C}"/>
              </a:ext>
            </a:extLst>
          </p:cNvPr>
          <p:cNvPicPr>
            <a:picLocks noChangeAspect="1"/>
          </p:cNvPicPr>
          <p:nvPr/>
        </p:nvPicPr>
        <p:blipFill>
          <a:blip r:embed="rId3"/>
          <a:stretch>
            <a:fillRect/>
          </a:stretch>
        </p:blipFill>
        <p:spPr>
          <a:xfrm>
            <a:off x="292608" y="988686"/>
            <a:ext cx="5852915" cy="2732237"/>
          </a:xfrm>
          <a:prstGeom prst="rect">
            <a:avLst/>
          </a:prstGeom>
        </p:spPr>
      </p:pic>
      <p:pic>
        <p:nvPicPr>
          <p:cNvPr id="7" name="Picture 2" descr="Fig. 1: Overview of Paper2Agent.">
            <a:extLst>
              <a:ext uri="{FF2B5EF4-FFF2-40B4-BE49-F238E27FC236}">
                <a16:creationId xmlns:a16="http://schemas.microsoft.com/office/drawing/2014/main" id="{95CF6110-F03F-287B-496F-F763DADAC38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4546"/>
          <a:stretch>
            <a:fillRect/>
          </a:stretch>
        </p:blipFill>
        <p:spPr bwMode="auto">
          <a:xfrm>
            <a:off x="5799430" y="676656"/>
            <a:ext cx="5852915" cy="3356299"/>
          </a:xfrm>
          <a:prstGeom prst="rect">
            <a:avLst/>
          </a:prstGeom>
          <a:noFill/>
          <a:extLst>
            <a:ext uri="{909E8E84-426E-40DD-AFC4-6F175D3DCCD1}">
              <a14:hiddenFill xmlns:a14="http://schemas.microsoft.com/office/drawing/2010/main">
                <a:solidFill>
                  <a:srgbClr val="FFFFFF"/>
                </a:solidFill>
              </a14:hiddenFill>
            </a:ext>
          </a:extLst>
        </p:spPr>
      </p:pic>
      <p:pic>
        <p:nvPicPr>
          <p:cNvPr id="9" name="图片 8">
            <a:extLst>
              <a:ext uri="{FF2B5EF4-FFF2-40B4-BE49-F238E27FC236}">
                <a16:creationId xmlns:a16="http://schemas.microsoft.com/office/drawing/2014/main" id="{AB649368-DE97-5E5C-EFDD-662C7D1D7671}"/>
              </a:ext>
            </a:extLst>
          </p:cNvPr>
          <p:cNvPicPr>
            <a:picLocks noChangeAspect="1"/>
          </p:cNvPicPr>
          <p:nvPr/>
        </p:nvPicPr>
        <p:blipFill>
          <a:blip r:embed="rId5"/>
          <a:stretch>
            <a:fillRect/>
          </a:stretch>
        </p:blipFill>
        <p:spPr>
          <a:xfrm>
            <a:off x="292608" y="4157055"/>
            <a:ext cx="5862782" cy="2131582"/>
          </a:xfrm>
          <a:prstGeom prst="rect">
            <a:avLst/>
          </a:prstGeom>
        </p:spPr>
      </p:pic>
      <p:pic>
        <p:nvPicPr>
          <p:cNvPr id="10" name="图片 9">
            <a:extLst>
              <a:ext uri="{FF2B5EF4-FFF2-40B4-BE49-F238E27FC236}">
                <a16:creationId xmlns:a16="http://schemas.microsoft.com/office/drawing/2014/main" id="{8328002E-61CB-A948-D5E9-7579819ACBE1}"/>
              </a:ext>
            </a:extLst>
          </p:cNvPr>
          <p:cNvPicPr>
            <a:picLocks noChangeAspect="1"/>
          </p:cNvPicPr>
          <p:nvPr/>
        </p:nvPicPr>
        <p:blipFill>
          <a:blip r:embed="rId6"/>
          <a:stretch>
            <a:fillRect/>
          </a:stretch>
        </p:blipFill>
        <p:spPr>
          <a:xfrm>
            <a:off x="6589640" y="4147679"/>
            <a:ext cx="4717473" cy="2150334"/>
          </a:xfrm>
          <a:prstGeom prst="rect">
            <a:avLst/>
          </a:prstGeom>
        </p:spPr>
      </p:pic>
      <p:sp>
        <p:nvSpPr>
          <p:cNvPr id="12" name="文本框 11">
            <a:extLst>
              <a:ext uri="{FF2B5EF4-FFF2-40B4-BE49-F238E27FC236}">
                <a16:creationId xmlns:a16="http://schemas.microsoft.com/office/drawing/2014/main" id="{B17D67BF-BA00-6BA2-4611-18211CF6163A}"/>
              </a:ext>
            </a:extLst>
          </p:cNvPr>
          <p:cNvSpPr txBox="1"/>
          <p:nvPr/>
        </p:nvSpPr>
        <p:spPr>
          <a:xfrm>
            <a:off x="6787718" y="6355437"/>
            <a:ext cx="4321316" cy="369332"/>
          </a:xfrm>
          <a:prstGeom prst="rect">
            <a:avLst/>
          </a:prstGeom>
          <a:noFill/>
        </p:spPr>
        <p:txBody>
          <a:bodyPr wrap="square" rtlCol="0">
            <a:spAutoFit/>
          </a:bodyPr>
          <a:lstStyle/>
          <a:p>
            <a:r>
              <a:rPr kumimoji="1" lang="en-US" altLang="zh-CN" b="1" dirty="0">
                <a:solidFill>
                  <a:srgbClr val="FF0000"/>
                </a:solidFill>
                <a:latin typeface="Calibri" panose="020F0502020204030204" pitchFamily="34" charset="0"/>
                <a:cs typeface="Calibri" panose="020F0502020204030204" pitchFamily="34" charset="0"/>
              </a:rPr>
              <a:t>A</a:t>
            </a:r>
            <a:r>
              <a:rPr kumimoji="1" lang="zh-CN" altLang="en-US" b="1" dirty="0">
                <a:solidFill>
                  <a:srgbClr val="FF0000"/>
                </a:solidFill>
                <a:latin typeface="Calibri" panose="020F0502020204030204" pitchFamily="34" charset="0"/>
                <a:cs typeface="Calibri" panose="020F0502020204030204" pitchFamily="34" charset="0"/>
              </a:rPr>
              <a:t> </a:t>
            </a:r>
            <a:r>
              <a:rPr kumimoji="1" lang="nl-NL" altLang="zh-CN" b="1" dirty="0">
                <a:solidFill>
                  <a:srgbClr val="FF0000"/>
                </a:solidFill>
                <a:latin typeface="Calibri" panose="020F0502020204030204" pitchFamily="34" charset="0"/>
                <a:cs typeface="Calibri" panose="020F0502020204030204" pitchFamily="34" charset="0"/>
              </a:rPr>
              <a:t>paper no </a:t>
            </a:r>
            <a:r>
              <a:rPr kumimoji="1" lang="nl-NL" altLang="zh-CN" b="1" dirty="0" err="1">
                <a:solidFill>
                  <a:srgbClr val="FF0000"/>
                </a:solidFill>
                <a:latin typeface="Calibri" panose="020F0502020204030204" pitchFamily="34" charset="0"/>
                <a:cs typeface="Calibri" panose="020F0502020204030204" pitchFamily="34" charset="0"/>
              </a:rPr>
              <a:t>need</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to</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be</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static</a:t>
            </a:r>
            <a:r>
              <a:rPr kumimoji="1" lang="nl-NL" altLang="zh-CN" b="1" dirty="0">
                <a:solidFill>
                  <a:srgbClr val="FF0000"/>
                </a:solidFill>
                <a:latin typeface="Calibri" panose="020F0502020204030204" pitchFamily="34" charset="0"/>
                <a:cs typeface="Calibri" panose="020F0502020204030204" pitchFamily="34" charset="0"/>
              </a:rPr>
              <a:t>, but </a:t>
            </a:r>
            <a:r>
              <a:rPr kumimoji="1" lang="nl-NL" altLang="zh-CN" b="1" dirty="0" err="1">
                <a:solidFill>
                  <a:srgbClr val="FF0000"/>
                </a:solidFill>
                <a:latin typeface="Calibri" panose="020F0502020204030204" pitchFamily="34" charset="0"/>
                <a:cs typeface="Calibri" panose="020F0502020204030204" pitchFamily="34" charset="0"/>
              </a:rPr>
              <a:t>an</a:t>
            </a:r>
            <a:r>
              <a:rPr kumimoji="1" lang="nl-NL" altLang="zh-CN" b="1" dirty="0">
                <a:solidFill>
                  <a:srgbClr val="FF0000"/>
                </a:solidFill>
                <a:latin typeface="Calibri" panose="020F0502020204030204" pitchFamily="34" charset="0"/>
                <a:cs typeface="Calibri" panose="020F0502020204030204" pitchFamily="34" charset="0"/>
              </a:rPr>
              <a:t> agent</a:t>
            </a:r>
            <a:endParaRPr kumimoji="1" lang="zh-CN" altLang="en-US" b="1" dirty="0">
              <a:solidFill>
                <a:srgbClr val="FF0000"/>
              </a:solidFill>
              <a:latin typeface="Calibri" panose="020F0502020204030204" pitchFamily="34" charset="0"/>
              <a:cs typeface="Calibri" panose="020F0502020204030204" pitchFamily="34" charset="0"/>
            </a:endParaRPr>
          </a:p>
        </p:txBody>
      </p:sp>
      <p:cxnSp>
        <p:nvCxnSpPr>
          <p:cNvPr id="15" name="直线连接符 14">
            <a:extLst>
              <a:ext uri="{FF2B5EF4-FFF2-40B4-BE49-F238E27FC236}">
                <a16:creationId xmlns:a16="http://schemas.microsoft.com/office/drawing/2014/main" id="{079C1C6F-60D0-94D7-29A7-B6BF1C514EE7}"/>
              </a:ext>
            </a:extLst>
          </p:cNvPr>
          <p:cNvCxnSpPr/>
          <p:nvPr/>
        </p:nvCxnSpPr>
        <p:spPr>
          <a:xfrm flipV="1">
            <a:off x="104731" y="4101185"/>
            <a:ext cx="11998036" cy="937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2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25</a:t>
            </a:r>
          </a:p>
        </p:txBody>
      </p:sp>
    </p:spTree>
    <p:extLst>
      <p:ext uri="{BB962C8B-B14F-4D97-AF65-F5344CB8AC3E}">
        <p14:creationId xmlns:p14="http://schemas.microsoft.com/office/powerpoint/2010/main" val="1348727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D60-BF4B-6F68-B9DC-7D598EC8CB6B}"/>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C3688F2C-8C7F-2B6F-9CE2-461D3B35E58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How </a:t>
            </a:r>
            <a:r>
              <a:rPr lang="nl-NL" sz="2400" b="1" dirty="0" err="1">
                <a:solidFill>
                  <a:srgbClr val="242832"/>
                </a:solidFill>
                <a:latin typeface="Roboto Condensed" pitchFamily="34" charset="0"/>
                <a:ea typeface="Roboto Condensed" pitchFamily="34" charset="-122"/>
                <a:cs typeface="Roboto Condensed" pitchFamily="34" charset="-120"/>
              </a:rPr>
              <a:t>formalization</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works</a:t>
            </a:r>
            <a:endParaRPr lang="en-US" sz="2400" dirty="0"/>
          </a:p>
        </p:txBody>
      </p:sp>
      <p:pic>
        <p:nvPicPr>
          <p:cNvPr id="2" name="图片 1">
            <a:extLst>
              <a:ext uri="{FF2B5EF4-FFF2-40B4-BE49-F238E27FC236}">
                <a16:creationId xmlns:a16="http://schemas.microsoft.com/office/drawing/2014/main" id="{E46A9DCD-5956-05DA-269D-A8E386CB27BA}"/>
              </a:ext>
            </a:extLst>
          </p:cNvPr>
          <p:cNvPicPr>
            <a:picLocks noChangeAspect="1"/>
          </p:cNvPicPr>
          <p:nvPr/>
        </p:nvPicPr>
        <p:blipFill>
          <a:blip r:embed="rId2"/>
          <a:stretch>
            <a:fillRect/>
          </a:stretch>
        </p:blipFill>
        <p:spPr>
          <a:xfrm>
            <a:off x="6286500" y="2095500"/>
            <a:ext cx="5016500" cy="2159000"/>
          </a:xfrm>
          <a:prstGeom prst="rect">
            <a:avLst/>
          </a:prstGeom>
        </p:spPr>
      </p:pic>
      <p:pic>
        <p:nvPicPr>
          <p:cNvPr id="880" name="mathlib"/>
          <p:cNvPicPr/>
          <p:nvPr/>
        </p:nvPicPr>
        <p:blipFill>
          <a:blip r:embed="rId3"/>
          <a:stretch>
            <a:fillRect/>
          </a:stretch>
        </p:blipFill>
        <p:spPr>
          <a:xfrm>
            <a:off x="952500" y="1905000"/>
            <a:ext cx="4826000" cy="2717800"/>
          </a:xfrm>
          <a:prstGeom prst="rect">
            <a:avLst/>
          </a:prstGeom>
        </p:spPr>
      </p:pic>
      <p:sp>
        <p:nvSpPr>
          <p:cNvPr id="881" name="cap0"/>
          <p:cNvSpPr txBox="1"/>
          <p:nvPr/>
        </p:nvSpPr>
        <p:spPr>
          <a:xfrm>
            <a:off x="952500" y="4889500"/>
            <a:ext cx="4953000" cy="330200"/>
          </a:xfrm>
          <a:prstGeom prst="rect">
            <a:avLst/>
          </a:prstGeom>
          <a:noFill/>
        </p:spPr>
        <p:txBody>
          <a:bodyPr wrap="none" lIns="0" tIns="0" rIns="0" bIns="0"/>
          <a:lstStyle/>
          <a:p>
            <a:r>
              <a:rPr lang="en-US" sz="1700" dirty="0">
                <a:solidFill>
                  <a:srgbClr val="1A1A16"/>
                </a:solidFill>
                <a:latin typeface="Calibri"/>
              </a:rPr>
              <a:t>Mathlib — the mathematics</a:t>
            </a:r>
          </a:p>
        </p:txBody>
      </p:sp>
      <p:sp>
        <p:nvSpPr>
          <p:cNvPr id="882" name="cap1"/>
          <p:cNvSpPr txBox="1"/>
          <p:nvPr/>
        </p:nvSpPr>
        <p:spPr>
          <a:xfrm>
            <a:off x="952500" y="5219700"/>
            <a:ext cx="4953000" cy="330200"/>
          </a:xfrm>
          <a:prstGeom prst="rect">
            <a:avLst/>
          </a:prstGeom>
          <a:noFill/>
        </p:spPr>
        <p:txBody>
          <a:bodyPr wrap="none" lIns="0" tIns="0" rIns="0" bIns="0"/>
          <a:lstStyle/>
          <a:p>
            <a:r>
              <a:rPr lang="en-US" sz="1150" dirty="0">
                <a:solidFill>
                  <a:srgbClr val="8A8A80"/>
                </a:solidFill>
                <a:latin typeface="Calibri"/>
              </a:rPr>
              <a:t>groups, measure, linear algebra, polytopes</a:t>
            </a:r>
          </a:p>
        </p:txBody>
      </p:sp>
      <p:sp>
        <p:nvSpPr>
          <p:cNvPr id="883" name="cap2"/>
          <p:cNvSpPr txBox="1"/>
          <p:nvPr/>
        </p:nvSpPr>
        <p:spPr>
          <a:xfrm>
            <a:off x="6286500" y="4889500"/>
            <a:ext cx="4953000" cy="330200"/>
          </a:xfrm>
          <a:prstGeom prst="rect">
            <a:avLst/>
          </a:prstGeom>
          <a:noFill/>
        </p:spPr>
        <p:txBody>
          <a:bodyPr wrap="none" lIns="0" tIns="0" rIns="0" bIns="0"/>
          <a:lstStyle/>
          <a:p>
            <a:r>
              <a:rPr lang="en-US" sz="1700" dirty="0">
                <a:solidFill>
                  <a:srgbClr val="1A1A16"/>
                </a:solidFill>
                <a:latin typeface="Calibri"/>
              </a:rPr>
              <a:t>physlib — the physics</a:t>
            </a:r>
          </a:p>
        </p:txBody>
      </p:sp>
      <p:sp>
        <p:nvSpPr>
          <p:cNvPr id="884" name="cap3"/>
          <p:cNvSpPr txBox="1"/>
          <p:nvPr/>
        </p:nvSpPr>
        <p:spPr>
          <a:xfrm>
            <a:off x="6286500" y="5219700"/>
            <a:ext cx="4953000" cy="330200"/>
          </a:xfrm>
          <a:prstGeom prst="rect">
            <a:avLst/>
          </a:prstGeom>
          <a:noFill/>
        </p:spPr>
        <p:txBody>
          <a:bodyPr wrap="none" lIns="0" tIns="0" rIns="0" bIns="0"/>
          <a:lstStyle/>
          <a:p>
            <a:r>
              <a:rPr lang="en-US" sz="1150" dirty="0">
                <a:solidFill>
                  <a:srgbClr val="8A8A80"/>
                </a:solidFill>
                <a:latin typeface="Calibri"/>
              </a:rPr>
              <a:t>an open-source community project, still being built</a:t>
            </a:r>
          </a:p>
        </p:txBody>
      </p:sp>
      <p:sp>
        <p:nvSpPr>
          <p:cNvPr id="902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26</a:t>
            </a:r>
          </a:p>
        </p:txBody>
      </p:sp>
    </p:spTree>
    <p:extLst>
      <p:ext uri="{BB962C8B-B14F-4D97-AF65-F5344CB8AC3E}">
        <p14:creationId xmlns:p14="http://schemas.microsoft.com/office/powerpoint/2010/main" val="27275212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C0D4B-234C-9F5D-E70D-A35BFBD9254E}"/>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D0C4DAB9-AB9E-1A84-0110-81D22B789E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Autoformalization</a:t>
            </a:r>
            <a:endParaRPr lang="en-US" sz="2400" dirty="0"/>
          </a:p>
        </p:txBody>
      </p:sp>
      <p:pic>
        <p:nvPicPr>
          <p:cNvPr id="2" name="图片 1">
            <a:extLst>
              <a:ext uri="{FF2B5EF4-FFF2-40B4-BE49-F238E27FC236}">
                <a16:creationId xmlns:a16="http://schemas.microsoft.com/office/drawing/2014/main" id="{8CC34E93-5F8D-9C19-BCEC-429E02E30A41}"/>
              </a:ext>
            </a:extLst>
          </p:cNvPr>
          <p:cNvPicPr>
            <a:picLocks noChangeAspect="1"/>
          </p:cNvPicPr>
          <p:nvPr/>
        </p:nvPicPr>
        <p:blipFill>
          <a:blip r:embed="rId2"/>
          <a:stretch>
            <a:fillRect/>
          </a:stretch>
        </p:blipFill>
        <p:spPr>
          <a:xfrm>
            <a:off x="771064" y="1000115"/>
            <a:ext cx="5678054" cy="1945386"/>
          </a:xfrm>
          <a:prstGeom prst="rect">
            <a:avLst/>
          </a:prstGeom>
        </p:spPr>
      </p:pic>
      <p:pic>
        <p:nvPicPr>
          <p:cNvPr id="3" name="图片 2">
            <a:extLst>
              <a:ext uri="{FF2B5EF4-FFF2-40B4-BE49-F238E27FC236}">
                <a16:creationId xmlns:a16="http://schemas.microsoft.com/office/drawing/2014/main" id="{05C35E47-3108-75FD-FC2D-56877A0F0941}"/>
              </a:ext>
            </a:extLst>
          </p:cNvPr>
          <p:cNvPicPr>
            <a:picLocks noChangeAspect="1"/>
          </p:cNvPicPr>
          <p:nvPr/>
        </p:nvPicPr>
        <p:blipFill>
          <a:blip r:embed="rId3"/>
          <a:stretch>
            <a:fillRect/>
          </a:stretch>
        </p:blipFill>
        <p:spPr>
          <a:xfrm>
            <a:off x="771064" y="2945501"/>
            <a:ext cx="5847946" cy="3531890"/>
          </a:xfrm>
          <a:prstGeom prst="rect">
            <a:avLst/>
          </a:prstGeom>
        </p:spPr>
      </p:pic>
      <p:pic>
        <p:nvPicPr>
          <p:cNvPr id="4" name="图片 3">
            <a:extLst>
              <a:ext uri="{FF2B5EF4-FFF2-40B4-BE49-F238E27FC236}">
                <a16:creationId xmlns:a16="http://schemas.microsoft.com/office/drawing/2014/main" id="{414EBAB0-4E44-E762-47FA-5AA913C576C6}"/>
              </a:ext>
            </a:extLst>
          </p:cNvPr>
          <p:cNvPicPr>
            <a:picLocks noChangeAspect="1"/>
          </p:cNvPicPr>
          <p:nvPr/>
        </p:nvPicPr>
        <p:blipFill>
          <a:blip r:embed="rId4"/>
          <a:stretch>
            <a:fillRect/>
          </a:stretch>
        </p:blipFill>
        <p:spPr>
          <a:xfrm>
            <a:off x="6334993" y="271414"/>
            <a:ext cx="5564399" cy="1701394"/>
          </a:xfrm>
          <a:prstGeom prst="rect">
            <a:avLst/>
          </a:prstGeom>
        </p:spPr>
      </p:pic>
      <p:pic>
        <p:nvPicPr>
          <p:cNvPr id="5" name="图片 4">
            <a:extLst>
              <a:ext uri="{FF2B5EF4-FFF2-40B4-BE49-F238E27FC236}">
                <a16:creationId xmlns:a16="http://schemas.microsoft.com/office/drawing/2014/main" id="{DC7A3C92-458C-6047-4818-5CA26BABC378}"/>
              </a:ext>
            </a:extLst>
          </p:cNvPr>
          <p:cNvPicPr>
            <a:picLocks noChangeAspect="1"/>
          </p:cNvPicPr>
          <p:nvPr/>
        </p:nvPicPr>
        <p:blipFill>
          <a:blip r:embed="rId5"/>
          <a:stretch>
            <a:fillRect/>
          </a:stretch>
        </p:blipFill>
        <p:spPr>
          <a:xfrm>
            <a:off x="7682345" y="2007222"/>
            <a:ext cx="3311236" cy="4470169"/>
          </a:xfrm>
          <a:prstGeom prst="rect">
            <a:avLst/>
          </a:prstGeom>
        </p:spPr>
      </p:pic>
      <p:cxnSp>
        <p:nvCxnSpPr>
          <p:cNvPr id="6" name="直线连接符 5">
            <a:extLst>
              <a:ext uri="{FF2B5EF4-FFF2-40B4-BE49-F238E27FC236}">
                <a16:creationId xmlns:a16="http://schemas.microsoft.com/office/drawing/2014/main" id="{6776AA7E-050C-FB10-894C-0FAA6795086D}"/>
              </a:ext>
            </a:extLst>
          </p:cNvPr>
          <p:cNvCxnSpPr>
            <a:cxnSpLocks/>
          </p:cNvCxnSpPr>
          <p:nvPr/>
        </p:nvCxnSpPr>
        <p:spPr>
          <a:xfrm>
            <a:off x="6208353" y="135707"/>
            <a:ext cx="1022888" cy="658658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3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30</a:t>
            </a:r>
          </a:p>
        </p:txBody>
      </p:sp>
    </p:spTree>
    <p:extLst>
      <p:ext uri="{BB962C8B-B14F-4D97-AF65-F5344CB8AC3E}">
        <p14:creationId xmlns:p14="http://schemas.microsoft.com/office/powerpoint/2010/main" val="2472936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onsolas" pitchFamily="34" charset="0"/>
                <a:ea typeface="Consolas" pitchFamily="34" charset="-122"/>
                <a:cs typeface="Consolas"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sp>
      <p:sp>
        <p:nvSpPr>
          <p:cNvPr id="110" name="Shape 108"/>
          <p:cNvSpPr/>
          <p:nvPr/>
        </p:nvSpPr>
        <p:spPr>
          <a:xfrm>
            <a:off x="3290052" y="2898292"/>
            <a:ext cx="1218335" cy="-358356"/>
          </a:xfrm>
          <a:prstGeom prst="line">
            <a:avLst/>
          </a:prstGeom>
          <a:noFill/>
          <a:ln w="13970">
            <a:solidFill>
              <a:srgbClr val="71716F"/>
            </a:solidFill>
            <a:prstDash val="solid"/>
          </a:ln>
        </p:spPr>
      </p:sp>
      <p:sp>
        <p:nvSpPr>
          <p:cNvPr id="111" name="Shape 109"/>
          <p:cNvSpPr/>
          <p:nvPr/>
        </p:nvSpPr>
        <p:spPr>
          <a:xfrm>
            <a:off x="5589702" y="2452504"/>
            <a:ext cx="-1081315" cy="87432"/>
          </a:xfrm>
          <a:prstGeom prst="line">
            <a:avLst/>
          </a:prstGeom>
          <a:noFill/>
          <a:ln w="13970">
            <a:solidFill>
              <a:srgbClr val="71716F"/>
            </a:solidFill>
            <a:prstDash val="solid"/>
          </a:ln>
        </p:spPr>
      </p:sp>
      <p:sp>
        <p:nvSpPr>
          <p:cNvPr id="112" name="Shape 110"/>
          <p:cNvSpPr/>
          <p:nvPr/>
        </p:nvSpPr>
        <p:spPr>
          <a:xfrm>
            <a:off x="5727011" y="2025686"/>
            <a:ext cx="-1218624" cy="514251"/>
          </a:xfrm>
          <a:prstGeom prst="line">
            <a:avLst/>
          </a:prstGeom>
          <a:noFill/>
          <a:ln w="13970">
            <a:solidFill>
              <a:srgbClr val="71716F"/>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sp>
      <p:sp>
        <p:nvSpPr>
          <p:cNvPr id="115" name="Shape 113"/>
          <p:cNvSpPr/>
          <p:nvPr/>
        </p:nvSpPr>
        <p:spPr>
          <a:xfrm>
            <a:off x="3766047" y="4184138"/>
            <a:ext cx="869337" cy="654441"/>
          </a:xfrm>
          <a:prstGeom prst="line">
            <a:avLst/>
          </a:prstGeom>
          <a:noFill/>
          <a:ln w="13970">
            <a:solidFill>
              <a:srgbClr val="71716F"/>
            </a:solidFill>
            <a:prstDash val="solid"/>
          </a:ln>
        </p:spPr>
      </p:sp>
      <p:sp>
        <p:nvSpPr>
          <p:cNvPr id="116" name="Shape 114"/>
          <p:cNvSpPr/>
          <p:nvPr/>
        </p:nvSpPr>
        <p:spPr>
          <a:xfrm>
            <a:off x="2639495" y="4063023"/>
            <a:ext cx="1995889" cy="775556"/>
          </a:xfrm>
          <a:prstGeom prst="line">
            <a:avLst/>
          </a:prstGeom>
          <a:noFill/>
          <a:ln w="13970">
            <a:solidFill>
              <a:srgbClr val="71716F"/>
            </a:solidFill>
            <a:prstDash val="solid"/>
          </a:ln>
        </p:spPr>
      </p:sp>
      <p:sp>
        <p:nvSpPr>
          <p:cNvPr id="117" name="Shape 115"/>
          <p:cNvSpPr/>
          <p:nvPr/>
        </p:nvSpPr>
        <p:spPr>
          <a:xfrm>
            <a:off x="5851051" y="4472956"/>
            <a:ext cx="-1215666" cy="365623"/>
          </a:xfrm>
          <a:prstGeom prst="line">
            <a:avLst/>
          </a:prstGeom>
          <a:noFill/>
          <a:ln w="13970">
            <a:solidFill>
              <a:srgbClr val="71716F"/>
            </a:solidFill>
            <a:prstDash val="solid"/>
          </a:ln>
        </p:spPr>
      </p:sp>
      <p:sp>
        <p:nvSpPr>
          <p:cNvPr id="118" name="Shape 116"/>
          <p:cNvSpPr/>
          <p:nvPr/>
        </p:nvSpPr>
        <p:spPr>
          <a:xfrm>
            <a:off x="4635384" y="4838579"/>
            <a:ext cx="1303054" cy="313716"/>
          </a:xfrm>
          <a:prstGeom prst="line">
            <a:avLst/>
          </a:prstGeom>
          <a:noFill/>
          <a:ln w="13970">
            <a:solidFill>
              <a:srgbClr val="71716F"/>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sp>
      <p:sp>
        <p:nvSpPr>
          <p:cNvPr id="121" name="Shape 119"/>
          <p:cNvSpPr/>
          <p:nvPr/>
        </p:nvSpPr>
        <p:spPr>
          <a:xfrm>
            <a:off x="7363446" y="2329139"/>
            <a:ext cx="954846" cy="147300"/>
          </a:xfrm>
          <a:prstGeom prst="line">
            <a:avLst/>
          </a:prstGeom>
          <a:noFill/>
          <a:ln w="13970">
            <a:solidFill>
              <a:srgbClr val="71716F"/>
            </a:solidFill>
            <a:prstDash val="solid"/>
          </a:ln>
        </p:spPr>
      </p:sp>
      <p:sp>
        <p:nvSpPr>
          <p:cNvPr id="122" name="Shape 120"/>
          <p:cNvSpPr/>
          <p:nvPr/>
        </p:nvSpPr>
        <p:spPr>
          <a:xfrm>
            <a:off x="7076451" y="1877942"/>
            <a:ext cx="1241841" cy="598496"/>
          </a:xfrm>
          <a:prstGeom prst="line">
            <a:avLst/>
          </a:prstGeom>
          <a:noFill/>
          <a:ln w="13970">
            <a:solidFill>
              <a:srgbClr val="71716F"/>
            </a:solidFill>
            <a:prstDash val="solid"/>
          </a:ln>
        </p:spPr>
      </p:sp>
      <p:sp>
        <p:nvSpPr>
          <p:cNvPr id="123" name="Shape 121"/>
          <p:cNvSpPr/>
          <p:nvPr/>
        </p:nvSpPr>
        <p:spPr>
          <a:xfrm>
            <a:off x="8318292" y="2476438"/>
            <a:ext cx="1580983" cy="10364"/>
          </a:xfrm>
          <a:prstGeom prst="line">
            <a:avLst/>
          </a:prstGeom>
          <a:noFill/>
          <a:ln w="13970">
            <a:solidFill>
              <a:srgbClr val="71716F"/>
            </a:solidFill>
            <a:prstDash val="solid"/>
          </a:ln>
        </p:spPr>
      </p:sp>
      <p:sp>
        <p:nvSpPr>
          <p:cNvPr id="124" name="Shape 122"/>
          <p:cNvSpPr/>
          <p:nvPr/>
        </p:nvSpPr>
        <p:spPr>
          <a:xfrm>
            <a:off x="8318292" y="2476438"/>
            <a:ext cx="1379445" cy="852316"/>
          </a:xfrm>
          <a:prstGeom prst="line">
            <a:avLst/>
          </a:prstGeom>
          <a:noFill/>
          <a:ln w="13970">
            <a:solidFill>
              <a:srgbClr val="71716F"/>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sp>
      <p:sp>
        <p:nvSpPr>
          <p:cNvPr id="127" name="Shape 125"/>
          <p:cNvSpPr/>
          <p:nvPr/>
        </p:nvSpPr>
        <p:spPr>
          <a:xfrm>
            <a:off x="7511316" y="4528358"/>
            <a:ext cx="997471" cy="-337463"/>
          </a:xfrm>
          <a:prstGeom prst="line">
            <a:avLst/>
          </a:prstGeom>
          <a:noFill/>
          <a:ln w="13970">
            <a:solidFill>
              <a:srgbClr val="71716F"/>
            </a:solidFill>
            <a:prstDash val="solid"/>
          </a:ln>
        </p:spPr>
      </p:sp>
      <p:sp>
        <p:nvSpPr>
          <p:cNvPr id="128" name="Shape 126"/>
          <p:cNvSpPr/>
          <p:nvPr/>
        </p:nvSpPr>
        <p:spPr>
          <a:xfrm>
            <a:off x="7452041" y="5035624"/>
            <a:ext cx="1056746" cy="-844729"/>
          </a:xfrm>
          <a:prstGeom prst="line">
            <a:avLst/>
          </a:prstGeom>
          <a:noFill/>
          <a:ln w="13970">
            <a:solidFill>
              <a:srgbClr val="71716F"/>
            </a:solidFill>
            <a:prstDash val="solid"/>
          </a:ln>
        </p:spPr>
      </p:sp>
      <p:sp>
        <p:nvSpPr>
          <p:cNvPr id="129" name="Shape 127"/>
          <p:cNvSpPr/>
          <p:nvPr/>
        </p:nvSpPr>
        <p:spPr>
          <a:xfrm>
            <a:off x="9645175" y="3671281"/>
            <a:ext cx="-1136388" cy="519614"/>
          </a:xfrm>
          <a:prstGeom prst="line">
            <a:avLst/>
          </a:prstGeom>
          <a:noFill/>
          <a:ln w="13970">
            <a:solidFill>
              <a:srgbClr val="71716F"/>
            </a:solidFill>
            <a:prstDash val="solid"/>
          </a:ln>
        </p:spPr>
      </p:sp>
      <p:sp>
        <p:nvSpPr>
          <p:cNvPr id="130" name="Shape 128"/>
          <p:cNvSpPr/>
          <p:nvPr/>
        </p:nvSpPr>
        <p:spPr>
          <a:xfrm>
            <a:off x="9697737" y="3328754"/>
            <a:ext cx="-1188950" cy="862142"/>
          </a:xfrm>
          <a:prstGeom prst="line">
            <a:avLst/>
          </a:prstGeom>
          <a:noFill/>
          <a:ln w="13970">
            <a:solidFill>
              <a:srgbClr val="71716F"/>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sp>
      <p:sp>
        <p:nvSpPr>
          <p:cNvPr id="135" name="Text 13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sp>
      <p:sp>
        <p:nvSpPr>
          <p:cNvPr id="110" name="Shape 108"/>
          <p:cNvSpPr/>
          <p:nvPr/>
        </p:nvSpPr>
        <p:spPr>
          <a:xfrm>
            <a:off x="3290052" y="2898292"/>
            <a:ext cx="1218335" cy="-358356"/>
          </a:xfrm>
          <a:prstGeom prst="line">
            <a:avLst/>
          </a:prstGeom>
          <a:noFill/>
          <a:ln w="11430">
            <a:solidFill>
              <a:srgbClr val="BABAB9"/>
            </a:solidFill>
            <a:prstDash val="solid"/>
          </a:ln>
        </p:spPr>
      </p:sp>
      <p:sp>
        <p:nvSpPr>
          <p:cNvPr id="111" name="Shape 109"/>
          <p:cNvSpPr/>
          <p:nvPr/>
        </p:nvSpPr>
        <p:spPr>
          <a:xfrm>
            <a:off x="5589702" y="2452504"/>
            <a:ext cx="-1081315" cy="87432"/>
          </a:xfrm>
          <a:prstGeom prst="line">
            <a:avLst/>
          </a:prstGeom>
          <a:noFill/>
          <a:ln w="11430">
            <a:solidFill>
              <a:srgbClr val="BABAB9"/>
            </a:solidFill>
            <a:prstDash val="solid"/>
          </a:ln>
        </p:spPr>
      </p:sp>
      <p:sp>
        <p:nvSpPr>
          <p:cNvPr id="112" name="Shape 110"/>
          <p:cNvSpPr/>
          <p:nvPr/>
        </p:nvSpPr>
        <p:spPr>
          <a:xfrm>
            <a:off x="5727011" y="2025686"/>
            <a:ext cx="-1218624" cy="514251"/>
          </a:xfrm>
          <a:prstGeom prst="line">
            <a:avLst/>
          </a:prstGeom>
          <a:noFill/>
          <a:ln w="11430">
            <a:solidFill>
              <a:srgbClr val="BABAB9"/>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sp>
      <p:sp>
        <p:nvSpPr>
          <p:cNvPr id="115" name="Shape 113"/>
          <p:cNvSpPr/>
          <p:nvPr/>
        </p:nvSpPr>
        <p:spPr>
          <a:xfrm>
            <a:off x="3766047" y="4184138"/>
            <a:ext cx="869337" cy="654441"/>
          </a:xfrm>
          <a:prstGeom prst="line">
            <a:avLst/>
          </a:prstGeom>
          <a:noFill/>
          <a:ln w="11430">
            <a:solidFill>
              <a:srgbClr val="BABAB9"/>
            </a:solidFill>
            <a:prstDash val="solid"/>
          </a:ln>
        </p:spPr>
      </p:sp>
      <p:sp>
        <p:nvSpPr>
          <p:cNvPr id="116" name="Shape 114"/>
          <p:cNvSpPr/>
          <p:nvPr/>
        </p:nvSpPr>
        <p:spPr>
          <a:xfrm>
            <a:off x="2639495" y="4063023"/>
            <a:ext cx="1995889" cy="775556"/>
          </a:xfrm>
          <a:prstGeom prst="line">
            <a:avLst/>
          </a:prstGeom>
          <a:noFill/>
          <a:ln w="11430">
            <a:solidFill>
              <a:srgbClr val="BABAB9"/>
            </a:solidFill>
            <a:prstDash val="solid"/>
          </a:ln>
        </p:spPr>
      </p:sp>
      <p:sp>
        <p:nvSpPr>
          <p:cNvPr id="117" name="Shape 115"/>
          <p:cNvSpPr/>
          <p:nvPr/>
        </p:nvSpPr>
        <p:spPr>
          <a:xfrm>
            <a:off x="5851051" y="4472956"/>
            <a:ext cx="-1215666" cy="365623"/>
          </a:xfrm>
          <a:prstGeom prst="line">
            <a:avLst/>
          </a:prstGeom>
          <a:noFill/>
          <a:ln w="11430">
            <a:solidFill>
              <a:srgbClr val="BABAB9"/>
            </a:solidFill>
            <a:prstDash val="solid"/>
          </a:ln>
        </p:spPr>
      </p:sp>
      <p:sp>
        <p:nvSpPr>
          <p:cNvPr id="118" name="Shape 116"/>
          <p:cNvSpPr/>
          <p:nvPr/>
        </p:nvSpPr>
        <p:spPr>
          <a:xfrm>
            <a:off x="4635384" y="4838579"/>
            <a:ext cx="1303054" cy="313716"/>
          </a:xfrm>
          <a:prstGeom prst="line">
            <a:avLst/>
          </a:prstGeom>
          <a:noFill/>
          <a:ln w="11430">
            <a:solidFill>
              <a:srgbClr val="BABAB9"/>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sp>
      <p:sp>
        <p:nvSpPr>
          <p:cNvPr id="121" name="Shape 119"/>
          <p:cNvSpPr/>
          <p:nvPr/>
        </p:nvSpPr>
        <p:spPr>
          <a:xfrm>
            <a:off x="7363446" y="2329139"/>
            <a:ext cx="954846" cy="147300"/>
          </a:xfrm>
          <a:prstGeom prst="line">
            <a:avLst/>
          </a:prstGeom>
          <a:noFill/>
          <a:ln w="11430">
            <a:solidFill>
              <a:srgbClr val="BABAB9"/>
            </a:solidFill>
            <a:prstDash val="solid"/>
          </a:ln>
        </p:spPr>
      </p:sp>
      <p:sp>
        <p:nvSpPr>
          <p:cNvPr id="122" name="Shape 120"/>
          <p:cNvSpPr/>
          <p:nvPr/>
        </p:nvSpPr>
        <p:spPr>
          <a:xfrm>
            <a:off x="7076451" y="1877942"/>
            <a:ext cx="1241841" cy="598496"/>
          </a:xfrm>
          <a:prstGeom prst="line">
            <a:avLst/>
          </a:prstGeom>
          <a:noFill/>
          <a:ln w="11430">
            <a:solidFill>
              <a:srgbClr val="BABAB9"/>
            </a:solidFill>
            <a:prstDash val="solid"/>
          </a:ln>
        </p:spPr>
      </p:sp>
      <p:sp>
        <p:nvSpPr>
          <p:cNvPr id="123" name="Shape 121"/>
          <p:cNvSpPr/>
          <p:nvPr/>
        </p:nvSpPr>
        <p:spPr>
          <a:xfrm>
            <a:off x="8318292" y="2476438"/>
            <a:ext cx="1580983" cy="10364"/>
          </a:xfrm>
          <a:prstGeom prst="line">
            <a:avLst/>
          </a:prstGeom>
          <a:noFill/>
          <a:ln w="11430">
            <a:solidFill>
              <a:srgbClr val="BABAB9"/>
            </a:solidFill>
            <a:prstDash val="solid"/>
          </a:ln>
        </p:spPr>
      </p:sp>
      <p:sp>
        <p:nvSpPr>
          <p:cNvPr id="124" name="Shape 122"/>
          <p:cNvSpPr/>
          <p:nvPr/>
        </p:nvSpPr>
        <p:spPr>
          <a:xfrm>
            <a:off x="8318292" y="2476438"/>
            <a:ext cx="1379445" cy="852316"/>
          </a:xfrm>
          <a:prstGeom prst="line">
            <a:avLst/>
          </a:prstGeom>
          <a:noFill/>
          <a:ln w="11430">
            <a:solidFill>
              <a:srgbClr val="BABAB9"/>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sp>
      <p:sp>
        <p:nvSpPr>
          <p:cNvPr id="127" name="Shape 125"/>
          <p:cNvSpPr/>
          <p:nvPr/>
        </p:nvSpPr>
        <p:spPr>
          <a:xfrm>
            <a:off x="7511316" y="4528358"/>
            <a:ext cx="997471" cy="-337463"/>
          </a:xfrm>
          <a:prstGeom prst="line">
            <a:avLst/>
          </a:prstGeom>
          <a:noFill/>
          <a:ln w="11430">
            <a:solidFill>
              <a:srgbClr val="BABAB9"/>
            </a:solidFill>
            <a:prstDash val="solid"/>
          </a:ln>
        </p:spPr>
      </p:sp>
      <p:sp>
        <p:nvSpPr>
          <p:cNvPr id="128" name="Shape 126"/>
          <p:cNvSpPr/>
          <p:nvPr/>
        </p:nvSpPr>
        <p:spPr>
          <a:xfrm>
            <a:off x="7452041" y="5035624"/>
            <a:ext cx="1056746" cy="-844729"/>
          </a:xfrm>
          <a:prstGeom prst="line">
            <a:avLst/>
          </a:prstGeom>
          <a:noFill/>
          <a:ln w="11430">
            <a:solidFill>
              <a:srgbClr val="BABAB9"/>
            </a:solidFill>
            <a:prstDash val="solid"/>
          </a:ln>
        </p:spPr>
      </p:sp>
      <p:sp>
        <p:nvSpPr>
          <p:cNvPr id="129" name="Shape 127"/>
          <p:cNvSpPr/>
          <p:nvPr/>
        </p:nvSpPr>
        <p:spPr>
          <a:xfrm>
            <a:off x="9645175" y="3671281"/>
            <a:ext cx="-1136388" cy="519614"/>
          </a:xfrm>
          <a:prstGeom prst="line">
            <a:avLst/>
          </a:prstGeom>
          <a:noFill/>
          <a:ln w="11430">
            <a:solidFill>
              <a:srgbClr val="BABAB9"/>
            </a:solidFill>
            <a:prstDash val="solid"/>
          </a:ln>
        </p:spPr>
      </p:sp>
      <p:sp>
        <p:nvSpPr>
          <p:cNvPr id="130" name="Shape 128"/>
          <p:cNvSpPr/>
          <p:nvPr/>
        </p:nvSpPr>
        <p:spPr>
          <a:xfrm>
            <a:off x="9697737" y="3328754"/>
            <a:ext cx="-1188950" cy="862142"/>
          </a:xfrm>
          <a:prstGeom prst="line">
            <a:avLst/>
          </a:prstGeom>
          <a:noFill/>
          <a:ln w="11430">
            <a:solidFill>
              <a:srgbClr val="BABAB9"/>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sp>
      <p:sp>
        <p:nvSpPr>
          <p:cNvPr id="133" name="Shape 131"/>
          <p:cNvSpPr/>
          <p:nvPr/>
        </p:nvSpPr>
        <p:spPr>
          <a:xfrm>
            <a:off x="2639495" y="4063023"/>
            <a:ext cx="1881592" cy="108822"/>
          </a:xfrm>
          <a:prstGeom prst="line">
            <a:avLst/>
          </a:prstGeom>
          <a:noFill/>
          <a:ln w="11430">
            <a:solidFill>
              <a:srgbClr val="1F6F78"/>
            </a:solidFill>
            <a:prstDash val="solid"/>
          </a:ln>
        </p:spPr>
      </p:sp>
      <p:sp>
        <p:nvSpPr>
          <p:cNvPr id="134" name="Shape 132"/>
          <p:cNvSpPr/>
          <p:nvPr/>
        </p:nvSpPr>
        <p:spPr>
          <a:xfrm>
            <a:off x="4521087" y="4171846"/>
            <a:ext cx="2842359" cy="-1842707"/>
          </a:xfrm>
          <a:prstGeom prst="line">
            <a:avLst/>
          </a:prstGeom>
          <a:noFill/>
          <a:ln w="11430">
            <a:solidFill>
              <a:srgbClr val="1F6F78"/>
            </a:solidFill>
            <a:prstDash val="solid"/>
          </a:ln>
        </p:spPr>
      </p:sp>
      <p:sp>
        <p:nvSpPr>
          <p:cNvPr id="135" name="Shape 133"/>
          <p:cNvSpPr/>
          <p:nvPr/>
        </p:nvSpPr>
        <p:spPr>
          <a:xfrm>
            <a:off x="4521087" y="4171846"/>
            <a:ext cx="1417351" cy="980449"/>
          </a:xfrm>
          <a:prstGeom prst="line">
            <a:avLst/>
          </a:prstGeom>
          <a:noFill/>
          <a:ln w="11430">
            <a:solidFill>
              <a:srgbClr val="1F6F78"/>
            </a:solidFill>
            <a:prstDash val="solid"/>
          </a:ln>
        </p:spPr>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sp>
      <p:sp>
        <p:nvSpPr>
          <p:cNvPr id="137" name="Shape 135"/>
          <p:cNvSpPr/>
          <p:nvPr/>
        </p:nvSpPr>
        <p:spPr>
          <a:xfrm>
            <a:off x="4470288" y="4171846"/>
            <a:ext cx="101597" cy="0"/>
          </a:xfrm>
          <a:prstGeom prst="line">
            <a:avLst/>
          </a:prstGeom>
          <a:noFill/>
          <a:ln w="13970">
            <a:solidFill>
              <a:srgbClr val="1F6F78"/>
            </a:solidFill>
            <a:prstDash val="solid"/>
          </a:ln>
        </p:spPr>
      </p:sp>
      <p:sp>
        <p:nvSpPr>
          <p:cNvPr id="138" name="Shape 136"/>
          <p:cNvSpPr/>
          <p:nvPr/>
        </p:nvSpPr>
        <p:spPr>
          <a:xfrm>
            <a:off x="4521087" y="4121047"/>
            <a:ext cx="0" cy="101597"/>
          </a:xfrm>
          <a:prstGeom prst="line">
            <a:avLst/>
          </a:prstGeom>
          <a:noFill/>
          <a:ln w="13970">
            <a:solidFill>
              <a:srgbClr val="1F6F78"/>
            </a:solidFill>
            <a:prstDash val="solid"/>
          </a:ln>
        </p:spPr>
      </p:sp>
      <p:sp>
        <p:nvSpPr>
          <p:cNvPr id="139" name="Shape 137"/>
          <p:cNvSpPr/>
          <p:nvPr/>
        </p:nvSpPr>
        <p:spPr>
          <a:xfrm>
            <a:off x="4521087" y="3625759"/>
            <a:ext cx="0" cy="463538"/>
          </a:xfrm>
          <a:prstGeom prst="line">
            <a:avLst/>
          </a:prstGeom>
          <a:noFill/>
          <a:ln w="15240">
            <a:solidFill>
              <a:srgbClr val="1A1A16"/>
            </a:solidFill>
            <a:prstDash val="solid"/>
            <a:headEnd type="triangle"/>
          </a:ln>
        </p:spPr>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sp>
      <p:sp>
        <p:nvSpPr>
          <p:cNvPr id="141" name="Text 13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688185" y="1680612"/>
            <a:ext cx="-18048" cy="479344"/>
          </a:xfrm>
          <a:prstGeom prst="line">
            <a:avLst/>
          </a:prstGeom>
          <a:noFill/>
          <a:ln w="8890">
            <a:solidFill>
              <a:srgbClr val="8A8A80"/>
            </a:solidFill>
            <a:prstDash val="solid"/>
          </a:ln>
        </p:spPr>
      </p:sp>
      <p:sp>
        <p:nvSpPr>
          <p:cNvPr id="50" name="Shape 48"/>
          <p:cNvSpPr/>
          <p:nvPr/>
        </p:nvSpPr>
        <p:spPr>
          <a:xfrm>
            <a:off x="8446727" y="2923346"/>
            <a:ext cx="272469" cy="-333001"/>
          </a:xfrm>
          <a:prstGeom prst="line">
            <a:avLst/>
          </a:prstGeom>
          <a:noFill/>
          <a:ln w="8890">
            <a:solidFill>
              <a:srgbClr val="8A8A80"/>
            </a:solidFill>
            <a:prstDash val="solid"/>
          </a:ln>
        </p:spPr>
      </p:sp>
      <p:sp>
        <p:nvSpPr>
          <p:cNvPr id="51" name="Shape 49"/>
          <p:cNvSpPr/>
          <p:nvPr/>
        </p:nvSpPr>
        <p:spPr>
          <a:xfrm>
            <a:off x="8719196" y="2590345"/>
            <a:ext cx="336885" cy="383210"/>
          </a:xfrm>
          <a:prstGeom prst="line">
            <a:avLst/>
          </a:prstGeom>
          <a:noFill/>
          <a:ln w="8890">
            <a:solidFill>
              <a:srgbClr val="8A8A80"/>
            </a:solidFill>
            <a:prstDash val="solid"/>
          </a:ln>
        </p:spPr>
      </p:sp>
      <p:sp>
        <p:nvSpPr>
          <p:cNvPr id="52" name="Shape 50"/>
          <p:cNvSpPr/>
          <p:nvPr/>
        </p:nvSpPr>
        <p:spPr>
          <a:xfrm>
            <a:off x="8719196" y="2590345"/>
            <a:ext cx="265373" cy="-225045"/>
          </a:xfrm>
          <a:prstGeom prst="line">
            <a:avLst/>
          </a:prstGeom>
          <a:noFill/>
          <a:ln w="8890">
            <a:solidFill>
              <a:srgbClr val="8A8A80"/>
            </a:solidFill>
            <a:prstDash val="solid"/>
          </a:ln>
        </p:spPr>
      </p:sp>
      <p:sp>
        <p:nvSpPr>
          <p:cNvPr id="53" name="Shape 51"/>
          <p:cNvSpPr/>
          <p:nvPr/>
        </p:nvSpPr>
        <p:spPr>
          <a:xfrm>
            <a:off x="9056080" y="2973555"/>
            <a:ext cx="660537" cy="-160648"/>
          </a:xfrm>
          <a:prstGeom prst="line">
            <a:avLst/>
          </a:prstGeom>
          <a:noFill/>
          <a:ln w="8890">
            <a:solidFill>
              <a:srgbClr val="8A8A80"/>
            </a:solidFill>
            <a:prstDash val="solid"/>
          </a:ln>
        </p:spPr>
      </p:sp>
      <p:sp>
        <p:nvSpPr>
          <p:cNvPr id="54" name="Shape 52"/>
          <p:cNvSpPr/>
          <p:nvPr/>
        </p:nvSpPr>
        <p:spPr>
          <a:xfrm>
            <a:off x="8688185" y="1680612"/>
            <a:ext cx="566972" cy="-53507"/>
          </a:xfrm>
          <a:prstGeom prst="line">
            <a:avLst/>
          </a:prstGeom>
          <a:noFill/>
          <a:ln w="8890">
            <a:solidFill>
              <a:srgbClr val="8A8A80"/>
            </a:solidFill>
            <a:prstDash val="solid"/>
          </a:ln>
        </p:spPr>
      </p:sp>
      <p:sp>
        <p:nvSpPr>
          <p:cNvPr id="55" name="Shape 53"/>
          <p:cNvSpPr/>
          <p:nvPr/>
        </p:nvSpPr>
        <p:spPr>
          <a:xfrm>
            <a:off x="7425539" y="2236676"/>
            <a:ext cx="-90356" cy="1153428"/>
          </a:xfrm>
          <a:prstGeom prst="line">
            <a:avLst/>
          </a:prstGeom>
          <a:noFill/>
          <a:ln w="8890">
            <a:solidFill>
              <a:srgbClr val="8A8A80"/>
            </a:solidFill>
            <a:prstDash val="solid"/>
          </a:ln>
        </p:spPr>
      </p:sp>
      <p:sp>
        <p:nvSpPr>
          <p:cNvPr id="56" name="Shape 54"/>
          <p:cNvSpPr/>
          <p:nvPr/>
        </p:nvSpPr>
        <p:spPr>
          <a:xfrm>
            <a:off x="8968483" y="1320239"/>
            <a:ext cx="286675" cy="306866"/>
          </a:xfrm>
          <a:prstGeom prst="line">
            <a:avLst/>
          </a:prstGeom>
          <a:noFill/>
          <a:ln w="8890">
            <a:solidFill>
              <a:srgbClr val="8A8A80"/>
            </a:solidFill>
            <a:prstDash val="solid"/>
          </a:ln>
        </p:spPr>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sp>
      <p:sp>
        <p:nvSpPr>
          <p:cNvPr id="69" name="Text 67"/>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3130941"/>
          </a:xfrm>
          <a:prstGeom prst="line">
            <a:avLst/>
          </a:prstGeom>
          <a:noFill/>
          <a:ln w="8255">
            <a:solidFill>
              <a:srgbClr val="BFBFBE"/>
            </a:solidFill>
            <a:prstDash val="solid"/>
          </a:ln>
        </p:spPr>
      </p:sp>
      <p:sp>
        <p:nvSpPr>
          <p:cNvPr id="71" name="Shape 69"/>
          <p:cNvSpPr/>
          <p:nvPr/>
        </p:nvSpPr>
        <p:spPr>
          <a:xfrm>
            <a:off x="3183992" y="4670679"/>
            <a:ext cx="5262735" cy="-1747334"/>
          </a:xfrm>
          <a:prstGeom prst="line">
            <a:avLst/>
          </a:prstGeom>
          <a:noFill/>
          <a:ln w="8255">
            <a:solidFill>
              <a:srgbClr val="BFBFBE"/>
            </a:solidFill>
            <a:prstDash val="solid"/>
          </a:ln>
        </p:spPr>
      </p:sp>
      <p:sp>
        <p:nvSpPr>
          <p:cNvPr id="72" name="Shape 70"/>
          <p:cNvSpPr/>
          <p:nvPr/>
        </p:nvSpPr>
        <p:spPr>
          <a:xfrm>
            <a:off x="3679884" y="4808508"/>
            <a:ext cx="4990253" cy="-2648551"/>
          </a:xfrm>
          <a:prstGeom prst="line">
            <a:avLst/>
          </a:prstGeom>
          <a:noFill/>
          <a:ln w="8255">
            <a:solidFill>
              <a:srgbClr val="BFBFBE"/>
            </a:solidFill>
            <a:prstDash val="solid"/>
          </a:ln>
        </p:spPr>
      </p:sp>
      <p:sp>
        <p:nvSpPr>
          <p:cNvPr id="73" name="Shape 71"/>
          <p:cNvSpPr/>
          <p:nvPr/>
        </p:nvSpPr>
        <p:spPr>
          <a:xfrm>
            <a:off x="4175777" y="4812065"/>
            <a:ext cx="4543419" cy="-2221721"/>
          </a:xfrm>
          <a:prstGeom prst="line">
            <a:avLst/>
          </a:prstGeom>
          <a:noFill/>
          <a:ln w="8255">
            <a:solidFill>
              <a:srgbClr val="BFBFBE"/>
            </a:solidFill>
            <a:prstDash val="solid"/>
          </a:ln>
        </p:spPr>
      </p:sp>
      <p:sp>
        <p:nvSpPr>
          <p:cNvPr id="74" name="Shape 72"/>
          <p:cNvSpPr/>
          <p:nvPr/>
        </p:nvSpPr>
        <p:spPr>
          <a:xfrm>
            <a:off x="5167561" y="5040886"/>
            <a:ext cx="3817008" cy="-2675587"/>
          </a:xfrm>
          <a:prstGeom prst="line">
            <a:avLst/>
          </a:prstGeom>
          <a:noFill/>
          <a:ln w="8255">
            <a:solidFill>
              <a:srgbClr val="BFBFBE"/>
            </a:solidFill>
            <a:prstDash val="solid"/>
          </a:ln>
        </p:spPr>
      </p:sp>
      <p:sp>
        <p:nvSpPr>
          <p:cNvPr id="75" name="Shape 73"/>
          <p:cNvSpPr/>
          <p:nvPr/>
        </p:nvSpPr>
        <p:spPr>
          <a:xfrm>
            <a:off x="5663454" y="4966815"/>
            <a:ext cx="4053164" cy="-2153909"/>
          </a:xfrm>
          <a:prstGeom prst="line">
            <a:avLst/>
          </a:prstGeom>
          <a:noFill/>
          <a:ln w="8255">
            <a:solidFill>
              <a:srgbClr val="BFBFBE"/>
            </a:solidFill>
            <a:prstDash val="solid"/>
          </a:ln>
        </p:spPr>
      </p:sp>
      <p:sp>
        <p:nvSpPr>
          <p:cNvPr id="76" name="Shape 74"/>
          <p:cNvSpPr/>
          <p:nvPr/>
        </p:nvSpPr>
        <p:spPr>
          <a:xfrm>
            <a:off x="6159346" y="4571193"/>
            <a:ext cx="3095811" cy="-2944088"/>
          </a:xfrm>
          <a:prstGeom prst="line">
            <a:avLst/>
          </a:prstGeom>
          <a:noFill/>
          <a:ln w="8255">
            <a:solidFill>
              <a:srgbClr val="BFBFBE"/>
            </a:solidFill>
            <a:prstDash val="solid"/>
          </a:ln>
        </p:spPr>
      </p:sp>
      <p:sp>
        <p:nvSpPr>
          <p:cNvPr id="77" name="Shape 75"/>
          <p:cNvSpPr/>
          <p:nvPr/>
        </p:nvSpPr>
        <p:spPr>
          <a:xfrm>
            <a:off x="1200422" y="4851717"/>
            <a:ext cx="6134760" cy="-1461613"/>
          </a:xfrm>
          <a:prstGeom prst="line">
            <a:avLst/>
          </a:prstGeom>
          <a:noFill/>
          <a:ln w="8255">
            <a:solidFill>
              <a:srgbClr val="BFBFBE"/>
            </a:solidFill>
            <a:prstDash val="solid"/>
          </a:ln>
        </p:spPr>
      </p:sp>
      <p:sp>
        <p:nvSpPr>
          <p:cNvPr id="78" name="Shape 76"/>
          <p:cNvSpPr/>
          <p:nvPr/>
        </p:nvSpPr>
        <p:spPr>
          <a:xfrm>
            <a:off x="1696315" y="4886588"/>
            <a:ext cx="7272168" cy="-3566349"/>
          </a:xfrm>
          <a:prstGeom prst="line">
            <a:avLst/>
          </a:prstGeom>
          <a:noFill/>
          <a:ln w="8255">
            <a:solidFill>
              <a:srgbClr val="BFBFBE"/>
            </a:solidFill>
            <a:prstDash val="solid"/>
          </a:ln>
        </p:spPr>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sp>
      <p:sp>
        <p:nvSpPr>
          <p:cNvPr id="80" name="Shape 78"/>
          <p:cNvSpPr/>
          <p:nvPr/>
        </p:nvSpPr>
        <p:spPr>
          <a:xfrm>
            <a:off x="7387440" y="2579568"/>
            <a:ext cx="76198" cy="0"/>
          </a:xfrm>
          <a:prstGeom prst="line">
            <a:avLst/>
          </a:prstGeom>
          <a:noFill/>
          <a:ln w="12700">
            <a:solidFill>
              <a:srgbClr val="1F6F78"/>
            </a:solidFill>
            <a:prstDash val="solid"/>
          </a:ln>
        </p:spPr>
      </p:sp>
      <p:sp>
        <p:nvSpPr>
          <p:cNvPr id="81" name="Shape 79"/>
          <p:cNvSpPr/>
          <p:nvPr/>
        </p:nvSpPr>
        <p:spPr>
          <a:xfrm>
            <a:off x="7425539" y="2541469"/>
            <a:ext cx="0" cy="76198"/>
          </a:xfrm>
          <a:prstGeom prst="line">
            <a:avLst/>
          </a:prstGeom>
          <a:noFill/>
          <a:ln w="12700">
            <a:solidFill>
              <a:srgbClr val="1F6F78"/>
            </a:solidFill>
            <a:prstDash val="solid"/>
          </a:ln>
        </p:spPr>
      </p:sp>
      <p:sp>
        <p:nvSpPr>
          <p:cNvPr id="82" name="Shape 80"/>
          <p:cNvSpPr/>
          <p:nvPr/>
        </p:nvSpPr>
        <p:spPr>
          <a:xfrm>
            <a:off x="7425539" y="2331924"/>
            <a:ext cx="0" cy="177796"/>
          </a:xfrm>
          <a:prstGeom prst="line">
            <a:avLst/>
          </a:prstGeom>
          <a:noFill/>
          <a:ln w="13970">
            <a:solidFill>
              <a:srgbClr val="1A1A16"/>
            </a:solidFill>
            <a:prstDash val="solid"/>
            <a:headEnd type="triangle"/>
          </a:ln>
        </p:spPr>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sp>
      <p:sp>
        <p:nvSpPr>
          <p:cNvPr id="84" name="Shape 82"/>
          <p:cNvSpPr/>
          <p:nvPr/>
        </p:nvSpPr>
        <p:spPr>
          <a:xfrm>
            <a:off x="8650086" y="2023504"/>
            <a:ext cx="76198" cy="0"/>
          </a:xfrm>
          <a:prstGeom prst="line">
            <a:avLst/>
          </a:prstGeom>
          <a:noFill/>
          <a:ln w="12700">
            <a:solidFill>
              <a:srgbClr val="1F6F78"/>
            </a:solidFill>
            <a:prstDash val="solid"/>
          </a:ln>
        </p:spPr>
      </p:sp>
      <p:sp>
        <p:nvSpPr>
          <p:cNvPr id="85" name="Shape 83"/>
          <p:cNvSpPr/>
          <p:nvPr/>
        </p:nvSpPr>
        <p:spPr>
          <a:xfrm>
            <a:off x="8688185" y="1985405"/>
            <a:ext cx="0" cy="76198"/>
          </a:xfrm>
          <a:prstGeom prst="line">
            <a:avLst/>
          </a:prstGeom>
          <a:noFill/>
          <a:ln w="12700">
            <a:solidFill>
              <a:srgbClr val="1F6F78"/>
            </a:solidFill>
            <a:prstDash val="solid"/>
          </a:ln>
        </p:spPr>
      </p:sp>
      <p:sp>
        <p:nvSpPr>
          <p:cNvPr id="86" name="Shape 84"/>
          <p:cNvSpPr/>
          <p:nvPr/>
        </p:nvSpPr>
        <p:spPr>
          <a:xfrm>
            <a:off x="8688185" y="1775860"/>
            <a:ext cx="0" cy="177796"/>
          </a:xfrm>
          <a:prstGeom prst="line">
            <a:avLst/>
          </a:prstGeom>
          <a:noFill/>
          <a:ln w="13970">
            <a:solidFill>
              <a:srgbClr val="1A1A16"/>
            </a:solidFill>
            <a:prstDash val="solid"/>
            <a:headEnd type="triangle"/>
          </a:ln>
        </p:spPr>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sp>
      <p:sp>
        <p:nvSpPr>
          <p:cNvPr id="88" name="Shape 86"/>
          <p:cNvSpPr/>
          <p:nvPr/>
        </p:nvSpPr>
        <p:spPr>
          <a:xfrm>
            <a:off x="9017981" y="3316446"/>
            <a:ext cx="76198" cy="0"/>
          </a:xfrm>
          <a:prstGeom prst="line">
            <a:avLst/>
          </a:prstGeom>
          <a:noFill/>
          <a:ln w="12700">
            <a:solidFill>
              <a:srgbClr val="1F6F78"/>
            </a:solidFill>
            <a:prstDash val="solid"/>
          </a:ln>
        </p:spPr>
      </p:sp>
      <p:sp>
        <p:nvSpPr>
          <p:cNvPr id="89" name="Shape 87"/>
          <p:cNvSpPr/>
          <p:nvPr/>
        </p:nvSpPr>
        <p:spPr>
          <a:xfrm>
            <a:off x="9056080" y="3278347"/>
            <a:ext cx="0" cy="76198"/>
          </a:xfrm>
          <a:prstGeom prst="line">
            <a:avLst/>
          </a:prstGeom>
          <a:noFill/>
          <a:ln w="12700">
            <a:solidFill>
              <a:srgbClr val="1F6F78"/>
            </a:solidFill>
            <a:prstDash val="solid"/>
          </a:ln>
        </p:spPr>
      </p:sp>
      <p:sp>
        <p:nvSpPr>
          <p:cNvPr id="90" name="Shape 88"/>
          <p:cNvSpPr/>
          <p:nvPr/>
        </p:nvSpPr>
        <p:spPr>
          <a:xfrm>
            <a:off x="9056080" y="3068802"/>
            <a:ext cx="0" cy="177796"/>
          </a:xfrm>
          <a:prstGeom prst="line">
            <a:avLst/>
          </a:prstGeom>
          <a:noFill/>
          <a:ln w="13970">
            <a:solidFill>
              <a:srgbClr val="1A1A16"/>
            </a:solidFill>
            <a:prstDash val="solid"/>
            <a:headEnd type="triangle"/>
          </a:ln>
        </p:spPr>
      </p:sp>
      <p:sp>
        <p:nvSpPr>
          <p:cNvPr id="91" name="Text 89"/>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465f887-04a9-4c17-8b62-103eddccf68b}" enabled="1" method="Standard" siteId="{ca2a7f76-dbd7-4ec0-9108-6b3d524fb7c8}" contentBits="0" removed="0"/>
</clbl:labelList>
</file>

<file path=docProps/app.xml><?xml version="1.0" encoding="utf-8"?>
<Properties xmlns="http://schemas.openxmlformats.org/officeDocument/2006/extended-properties" xmlns:vt="http://schemas.openxmlformats.org/officeDocument/2006/docPropsVTypes">
  <TotalTime>1</TotalTime>
  <Words>2648</Words>
  <Application>Microsoft Macintosh PowerPoint</Application>
  <PresentationFormat>宽屏</PresentationFormat>
  <Paragraphs>340</Paragraphs>
  <Slides>27</Slides>
  <Notes>23</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27</vt:i4>
      </vt:variant>
    </vt:vector>
  </HeadingPairs>
  <TitlesOfParts>
    <vt:vector size="39" baseType="lpstr">
      <vt:lpstr>等线</vt:lpstr>
      <vt:lpstr>等线 Light</vt:lpstr>
      <vt:lpstr>Arial</vt:lpstr>
      <vt:lpstr>Calibri</vt:lpstr>
      <vt:lpstr>Cambria</vt:lpstr>
      <vt:lpstr>Cambria Math</vt:lpstr>
      <vt:lpstr>Courier New</vt:lpstr>
      <vt:lpstr>Roboto</vt:lpstr>
      <vt:lpstr>Roboto Condensed</vt:lpstr>
      <vt:lpstr>Tahoma</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Liu, Y. (Yingjian)</dc:creator>
  <cp:lastModifiedBy>Liu, Y. (Yingjian)</cp:lastModifiedBy>
  <cp:revision>1</cp:revision>
  <dcterms:created xsi:type="dcterms:W3CDTF">2026-09-21T14:36:47Z</dcterms:created>
  <dcterms:modified xsi:type="dcterms:W3CDTF">2026-09-21T14:38:17Z</dcterms:modified>
</cp:coreProperties>
</file>