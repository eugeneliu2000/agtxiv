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34"/>
    <p:sldId id="257" r:id="rId3"/>
    <p:sldId id="258" r:id="rId35"/>
    <p:sldId id="259" r:id="rId4"/>
    <p:sldId id="260" r:id="rId5"/>
    <p:sldId id="261" r:id="rId7"/>
    <p:sldId id="262" r:id="rId9"/>
    <p:sldId id="263" r:id="rId10"/>
    <p:sldId id="264" r:id="rId11"/>
    <p:sldId id="265" r:id="rId12"/>
    <p:sldId id="266" r:id="rId13"/>
    <p:sldId id="267" r:id="rId14"/>
    <p:sldId id="268" r:id="rId15"/>
    <p:sldId id="269" r:id="rId16"/>
    <p:sldId id="270" r:id="rId17"/>
    <p:sldId id="271" r:id="rId18"/>
    <p:sldId id="272" r:id="rId19"/>
    <p:sldId id="273" r:id="rId36"/>
    <p:sldId id="274" r:id="rId21"/>
    <p:sldId id="275" r:id="rId23"/>
    <p:sldId id="276" r:id="rId24"/>
    <p:sldId id="277" r:id="rId25"/>
    <p:sldId id="278" r:id="rId37"/>
    <p:sldId id="279" r:id="rId38"/>
    <p:sldId id="280" r:id="rId26"/>
    <p:sldId id="281" r:id="rId27"/>
    <p:sldId id="282" r:id="rId39"/>
    <p:sldId id="283" r:id="rId40"/>
    <p:sldId id="284" r:id="rId41"/>
    <p:sldId id="285" r:id="rId28"/>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50"/>
    <p:restoredTop sz="94659"/>
  </p:normalViewPr>
  <p:slideViewPr>
    <p:cSldViewPr snapToGrid="0">
      <p:cViewPr varScale="1">
        <p:scale>
          <a:sx n="146" d="100"/>
          <a:sy n="146" d="100"/>
        </p:scale>
        <p:origin x="10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slide" Target="slides/slide26.xml"/><Relationship Id="rId30" Type="http://schemas.openxmlformats.org/officeDocument/2006/relationships/presProps" Target="presProps.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E67E4-6C01-4844-BD48-521DE5952AF2}" type="datetimeFigureOut">
              <a:rPr kumimoji="1" lang="zh-CN" altLang="en-US" smtClean="0"/>
              <a:t>2026/9/21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87E6C-E7EC-1248-838B-74833D8CC888}" type="slidenum">
              <a:rPr kumimoji="1" lang="zh-CN" altLang="en-US" smtClean="0"/>
              <a:t>‹#›</a:t>
            </a:fld>
            <a:endParaRPr kumimoji="1" lang="zh-CN" altLang="en-US"/>
          </a:p>
        </p:txBody>
      </p:sp>
    </p:spTree>
    <p:extLst>
      <p:ext uri="{BB962C8B-B14F-4D97-AF65-F5344CB8AC3E}">
        <p14:creationId xmlns:p14="http://schemas.microsoft.com/office/powerpoint/2010/main" val="59000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2</a:t>
            </a:fld>
            <a:endParaRPr kumimoji="1" lang="zh-CN" altLang="en-US"/>
          </a:p>
        </p:txBody>
      </p:sp>
    </p:spTree>
    <p:extLst>
      <p:ext uri="{BB962C8B-B14F-4D97-AF65-F5344CB8AC3E}">
        <p14:creationId xmlns:p14="http://schemas.microsoft.com/office/powerpoint/2010/main" val="2010438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3</a:t>
            </a:fld>
            <a:endParaRPr kumimoji="1" lang="zh-CN" altLang="en-US"/>
          </a:p>
        </p:txBody>
      </p:sp>
    </p:spTree>
    <p:extLst>
      <p:ext uri="{BB962C8B-B14F-4D97-AF65-F5344CB8AC3E}">
        <p14:creationId xmlns:p14="http://schemas.microsoft.com/office/powerpoint/2010/main" val="484438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C9919-842D-C487-C849-061B564754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13E02B-F11B-482E-23E2-3449BB417D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D84668-3E62-5DF0-95DD-B059EA5104C0}"/>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304F3E07-378B-4EA7-60DE-831859266802}"/>
              </a:ext>
            </a:extLst>
          </p:cNvPr>
          <p:cNvSpPr>
            <a:spLocks noGrp="1"/>
          </p:cNvSpPr>
          <p:nvPr>
            <p:ph type="sldNum" sz="quarter" idx="5"/>
          </p:nvPr>
        </p:nvSpPr>
        <p:spPr/>
        <p:txBody>
          <a:bodyPr/>
          <a:lstStyle/>
          <a:p>
            <a:fld id="{D7130D8E-37E8-D04A-ADB3-2189714D1CA4}" type="slidenum">
              <a:rPr kumimoji="1" lang="zh-CN" altLang="en-US" smtClean="0"/>
              <a:t>4</a:t>
            </a:fld>
            <a:endParaRPr kumimoji="1" lang="zh-CN" altLang="en-US"/>
          </a:p>
        </p:txBody>
      </p:sp>
    </p:spTree>
    <p:extLst>
      <p:ext uri="{BB962C8B-B14F-4D97-AF65-F5344CB8AC3E}">
        <p14:creationId xmlns:p14="http://schemas.microsoft.com/office/powerpoint/2010/main" val="3930703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44DF-EEDC-0518-8D93-F54B7F5DF4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1B1EFF-441D-3B2D-E787-1BF3E52B19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01323F-6B1E-B9E3-9D65-95186E7C9042}"/>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A7A8E771-BF3F-4F24-9E4C-B7DC56F015D0}"/>
              </a:ext>
            </a:extLst>
          </p:cNvPr>
          <p:cNvSpPr>
            <a:spLocks noGrp="1"/>
          </p:cNvSpPr>
          <p:nvPr>
            <p:ph type="sldNum" sz="quarter" idx="5"/>
          </p:nvPr>
        </p:nvSpPr>
        <p:spPr/>
        <p:txBody>
          <a:bodyPr/>
          <a:lstStyle/>
          <a:p>
            <a:fld id="{D7130D8E-37E8-D04A-ADB3-2189714D1CA4}" type="slidenum">
              <a:rPr kumimoji="1" lang="zh-CN" altLang="en-US" smtClean="0"/>
              <a:t>6</a:t>
            </a:fld>
            <a:endParaRPr kumimoji="1" lang="zh-CN" altLang="en-US"/>
          </a:p>
        </p:txBody>
      </p:sp>
    </p:spTree>
    <p:extLst>
      <p:ext uri="{BB962C8B-B14F-4D97-AF65-F5344CB8AC3E}">
        <p14:creationId xmlns:p14="http://schemas.microsoft.com/office/powerpoint/2010/main" val="2877376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92C4-BA10-3C0C-4884-7F485D1505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AFDD84-5DDF-7C2B-EBC3-5B1D9B5656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7910FD-72B2-CDBC-BB37-1838C7FC792A}"/>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405A3AD2-43AA-6331-1F45-EB56496F4EBD}"/>
              </a:ext>
            </a:extLst>
          </p:cNvPr>
          <p:cNvSpPr>
            <a:spLocks noGrp="1"/>
          </p:cNvSpPr>
          <p:nvPr>
            <p:ph type="sldNum" sz="quarter" idx="5"/>
          </p:nvPr>
        </p:nvSpPr>
        <p:spPr/>
        <p:txBody>
          <a:bodyPr/>
          <a:lstStyle/>
          <a:p>
            <a:fld id="{D7130D8E-37E8-D04A-ADB3-2189714D1CA4}" type="slidenum">
              <a:rPr kumimoji="1" lang="zh-CN" altLang="en-US" smtClean="0"/>
              <a:t>8</a:t>
            </a:fld>
            <a:endParaRPr kumimoji="1" lang="zh-CN" altLang="en-US"/>
          </a:p>
        </p:txBody>
      </p:sp>
    </p:spTree>
    <p:extLst>
      <p:ext uri="{BB962C8B-B14F-4D97-AF65-F5344CB8AC3E}">
        <p14:creationId xmlns:p14="http://schemas.microsoft.com/office/powerpoint/2010/main" val="33134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045E-8C7F-52A7-00A7-3B260D50F2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31168A-93CF-0960-9861-0D925DC007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815AB7-40B4-0C73-6D64-AD94FE6D02F4}"/>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4859A384-428C-CAA6-E8BB-EB3CCCB5265D}"/>
              </a:ext>
            </a:extLst>
          </p:cNvPr>
          <p:cNvSpPr>
            <a:spLocks noGrp="1"/>
          </p:cNvSpPr>
          <p:nvPr>
            <p:ph type="sldNum" sz="quarter" idx="5"/>
          </p:nvPr>
        </p:nvSpPr>
        <p:spPr/>
        <p:txBody>
          <a:bodyPr/>
          <a:lstStyle/>
          <a:p>
            <a:fld id="{D7130D8E-37E8-D04A-ADB3-2189714D1CA4}" type="slidenum">
              <a:rPr kumimoji="1" lang="zh-CN" altLang="en-US" smtClean="0"/>
              <a:t>9</a:t>
            </a:fld>
            <a:endParaRPr kumimoji="1" lang="zh-CN" altLang="en-US"/>
          </a:p>
        </p:txBody>
      </p:sp>
    </p:spTree>
    <p:extLst>
      <p:ext uri="{BB962C8B-B14F-4D97-AF65-F5344CB8AC3E}">
        <p14:creationId xmlns:p14="http://schemas.microsoft.com/office/powerpoint/2010/main" val="913071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F656-5F7D-2CA9-E723-9086281789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93B911-4F82-0774-8013-B1A119EC3E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507795-7E45-E036-966C-19A9C83B0FAE}"/>
              </a:ext>
            </a:extLst>
          </p:cNvPr>
          <p:cNvSpPr>
            <a:spLocks noGrp="1"/>
          </p:cNvSpPr>
          <p:nvPr>
            <p:ph type="body" idx="1"/>
          </p:nvPr>
        </p:nvSpPr>
        <p:spPr/>
        <p:txBody>
          <a:bodyPr/>
          <a:lstStyle/>
          <a:p>
            <a:r>
              <a:rPr kumimoji="1" lang="en-US" altLang="zh-CN" dirty="0"/>
              <a:t>How</a:t>
            </a:r>
            <a:r>
              <a:rPr kumimoji="1" lang="zh-CN" altLang="en-US" dirty="0"/>
              <a:t> </a:t>
            </a:r>
            <a:r>
              <a:rPr kumimoji="1" lang="nl-NL" altLang="zh-CN" dirty="0" err="1"/>
              <a:t>many</a:t>
            </a:r>
            <a:r>
              <a:rPr kumimoji="1" lang="nl-NL" altLang="zh-CN" dirty="0"/>
              <a:t> of </a:t>
            </a:r>
            <a:r>
              <a:rPr kumimoji="1" lang="nl-NL" altLang="zh-CN" dirty="0" err="1"/>
              <a:t>you</a:t>
            </a:r>
            <a:r>
              <a:rPr kumimoji="1" lang="nl-NL" altLang="zh-CN" dirty="0"/>
              <a:t> </a:t>
            </a:r>
            <a:r>
              <a:rPr kumimoji="1" lang="nl-NL" altLang="zh-CN" dirty="0" err="1"/>
              <a:t>know</a:t>
            </a:r>
            <a:r>
              <a:rPr kumimoji="1" lang="nl-NL" altLang="zh-CN" dirty="0"/>
              <a:t> </a:t>
            </a:r>
            <a:r>
              <a:rPr kumimoji="1" lang="nl-NL" altLang="zh-CN" dirty="0" err="1"/>
              <a:t>what</a:t>
            </a:r>
            <a:r>
              <a:rPr kumimoji="1" lang="nl-NL" altLang="zh-CN" dirty="0"/>
              <a:t> is API? </a:t>
            </a:r>
            <a:r>
              <a:rPr kumimoji="1" lang="nl-NL" altLang="zh-CN" dirty="0" err="1"/>
              <a:t>Then</a:t>
            </a:r>
            <a:r>
              <a:rPr kumimoji="1" lang="nl-NL" altLang="zh-CN" dirty="0"/>
              <a:t> </a:t>
            </a:r>
            <a:r>
              <a:rPr kumimoji="1" lang="nl-NL" altLang="zh-CN" dirty="0" err="1"/>
              <a:t>how</a:t>
            </a:r>
            <a:r>
              <a:rPr kumimoji="1" lang="nl-NL" altLang="zh-CN" dirty="0"/>
              <a:t> </a:t>
            </a:r>
            <a:r>
              <a:rPr kumimoji="1" lang="nl-NL" altLang="zh-CN" dirty="0" err="1"/>
              <a:t>many</a:t>
            </a:r>
            <a:r>
              <a:rPr kumimoji="1" lang="nl-NL" altLang="zh-CN" dirty="0"/>
              <a:t> of </a:t>
            </a:r>
            <a:r>
              <a:rPr kumimoji="1" lang="nl-NL" altLang="zh-CN" dirty="0" err="1"/>
              <a:t>you</a:t>
            </a:r>
            <a:r>
              <a:rPr kumimoji="1" lang="nl-NL" altLang="zh-CN" dirty="0"/>
              <a:t> </a:t>
            </a:r>
            <a:r>
              <a:rPr kumimoji="1" lang="nl-NL" altLang="zh-CN" dirty="0" err="1"/>
              <a:t>know</a:t>
            </a:r>
            <a:r>
              <a:rPr kumimoji="1" lang="nl-NL" altLang="zh-CN" dirty="0"/>
              <a:t>/ have </a:t>
            </a:r>
            <a:r>
              <a:rPr kumimoji="1" lang="nl-NL" altLang="zh-CN" dirty="0" err="1"/>
              <a:t>tried</a:t>
            </a:r>
            <a:r>
              <a:rPr kumimoji="1" lang="nl-NL" altLang="zh-CN" dirty="0"/>
              <a:t> </a:t>
            </a:r>
            <a:r>
              <a:rPr kumimoji="1" lang="nl-NL" altLang="zh-CN" dirty="0" err="1"/>
              <a:t>to</a:t>
            </a:r>
            <a:r>
              <a:rPr kumimoji="1" lang="nl-NL" altLang="zh-CN" dirty="0"/>
              <a:t> set up </a:t>
            </a:r>
            <a:r>
              <a:rPr kumimoji="1" lang="nl-NL" altLang="zh-CN" dirty="0" err="1"/>
              <a:t>an</a:t>
            </a:r>
            <a:r>
              <a:rPr kumimoji="1" lang="nl-NL" altLang="zh-CN" dirty="0"/>
              <a:t> agent in codex/</a:t>
            </a:r>
            <a:r>
              <a:rPr kumimoji="1" lang="nl-NL" altLang="zh-CN" dirty="0" err="1"/>
              <a:t>claude</a:t>
            </a:r>
            <a:r>
              <a:rPr kumimoji="1" lang="nl-NL" altLang="zh-CN" dirty="0"/>
              <a:t> … </a:t>
            </a:r>
            <a:br>
              <a:rPr kumimoji="1" lang="nl-NL" altLang="zh-CN" dirty="0"/>
            </a:br>
            <a:r>
              <a:rPr kumimoji="1" lang="nl-NL" altLang="zh-CN" dirty="0" err="1"/>
              <a:t>with</a:t>
            </a:r>
            <a:r>
              <a:rPr kumimoji="1" lang="nl-NL" altLang="zh-CN" dirty="0"/>
              <a:t> </a:t>
            </a:r>
            <a:r>
              <a:rPr kumimoji="1" lang="nl-NL" altLang="zh-CN" dirty="0" err="1"/>
              <a:t>the</a:t>
            </a:r>
            <a:r>
              <a:rPr kumimoji="1" lang="nl-NL" altLang="zh-CN" dirty="0"/>
              <a:t> help of python package API, we </a:t>
            </a:r>
            <a:r>
              <a:rPr kumimoji="1" lang="nl-NL" altLang="zh-CN" dirty="0" err="1"/>
              <a:t>could</a:t>
            </a:r>
            <a:r>
              <a:rPr kumimoji="1" lang="nl-NL" altLang="zh-CN" dirty="0"/>
              <a:t> </a:t>
            </a:r>
            <a:r>
              <a:rPr kumimoji="1" lang="nl-NL" altLang="zh-CN" dirty="0" err="1"/>
              <a:t>easily</a:t>
            </a:r>
            <a:r>
              <a:rPr kumimoji="1" lang="nl-NL" altLang="zh-CN" dirty="0"/>
              <a:t> </a:t>
            </a:r>
            <a:r>
              <a:rPr kumimoji="1" lang="nl-NL" altLang="zh-CN" dirty="0" err="1"/>
              <a:t>use</a:t>
            </a:r>
            <a:r>
              <a:rPr kumimoji="1" lang="nl-NL" altLang="zh-CN" dirty="0"/>
              <a:t> </a:t>
            </a:r>
            <a:r>
              <a:rPr kumimoji="1" lang="nl-NL" altLang="zh-CN" dirty="0" err="1"/>
              <a:t>this</a:t>
            </a:r>
            <a:r>
              <a:rPr kumimoji="1" lang="nl-NL" altLang="zh-CN" dirty="0"/>
              <a:t> </a:t>
            </a:r>
            <a:r>
              <a:rPr kumimoji="1" lang="nl-NL" altLang="zh-CN" dirty="0" err="1"/>
              <a:t>np.mean</a:t>
            </a:r>
            <a:r>
              <a:rPr kumimoji="1" lang="nl-NL" altLang="zh-CN" dirty="0"/>
              <a:t> </a:t>
            </a:r>
            <a:r>
              <a:rPr kumimoji="1" lang="nl-NL" altLang="zh-CN" dirty="0" err="1"/>
              <a:t>function</a:t>
            </a:r>
            <a:r>
              <a:rPr kumimoji="1" lang="nl-NL" altLang="zh-CN" dirty="0"/>
              <a:t>, </a:t>
            </a:r>
            <a:r>
              <a:rPr kumimoji="1" lang="nl-NL" altLang="zh-CN" dirty="0" err="1"/>
              <a:t>this</a:t>
            </a:r>
            <a:r>
              <a:rPr kumimoji="1" lang="nl-NL" altLang="zh-CN" dirty="0"/>
              <a:t> is </a:t>
            </a:r>
            <a:r>
              <a:rPr kumimoji="1" lang="nl-NL" altLang="zh-CN" dirty="0" err="1"/>
              <a:t>because</a:t>
            </a:r>
            <a:r>
              <a:rPr kumimoji="1" lang="nl-NL" altLang="zh-CN" dirty="0"/>
              <a:t> API is </a:t>
            </a:r>
            <a:r>
              <a:rPr kumimoji="1" lang="nl-NL" altLang="zh-CN" dirty="0" err="1"/>
              <a:t>written</a:t>
            </a:r>
            <a:r>
              <a:rPr kumimoji="1" lang="nl-NL" altLang="zh-CN" dirty="0"/>
              <a:t> in a way </a:t>
            </a:r>
            <a:r>
              <a:rPr kumimoji="1" lang="nl-NL" altLang="zh-CN" dirty="0" err="1"/>
              <a:t>to</a:t>
            </a:r>
            <a:r>
              <a:rPr kumimoji="1" lang="nl-NL" altLang="zh-CN" dirty="0"/>
              <a:t> </a:t>
            </a:r>
            <a:r>
              <a:rPr kumimoji="1" lang="nl-NL" altLang="zh-CN" dirty="0" err="1"/>
              <a:t>illustrate</a:t>
            </a:r>
            <a:r>
              <a:rPr kumimoji="1" lang="nl-NL" altLang="zh-CN" dirty="0"/>
              <a:t> </a:t>
            </a:r>
            <a:r>
              <a:rPr kumimoji="1" lang="nl-NL" altLang="zh-CN" dirty="0" err="1"/>
              <a:t>how</a:t>
            </a:r>
            <a:r>
              <a:rPr kumimoji="1" lang="nl-NL" altLang="zh-CN" dirty="0"/>
              <a:t> </a:t>
            </a:r>
            <a:r>
              <a:rPr kumimoji="1" lang="nl-NL" altLang="zh-CN" dirty="0" err="1"/>
              <a:t>to</a:t>
            </a:r>
            <a:r>
              <a:rPr kumimoji="1" lang="nl-NL" altLang="zh-CN" dirty="0"/>
              <a:t> </a:t>
            </a:r>
            <a:r>
              <a:rPr kumimoji="1" lang="nl-NL" altLang="zh-CN" dirty="0" err="1"/>
              <a:t>use</a:t>
            </a:r>
            <a:r>
              <a:rPr kumimoji="1" lang="nl-NL" altLang="zh-CN" dirty="0"/>
              <a:t> it. </a:t>
            </a:r>
            <a:br>
              <a:rPr kumimoji="1" lang="nl-NL" altLang="zh-CN" dirty="0"/>
            </a:br>
            <a:r>
              <a:rPr kumimoji="1" lang="nl-NL" altLang="zh-CN" dirty="0"/>
              <a:t>SO </a:t>
            </a:r>
            <a:r>
              <a:rPr kumimoji="1" lang="nl-NL" altLang="zh-CN" dirty="0" err="1"/>
              <a:t>the</a:t>
            </a:r>
            <a:r>
              <a:rPr kumimoji="1" lang="nl-NL" altLang="zh-CN" dirty="0"/>
              <a:t> </a:t>
            </a:r>
            <a:r>
              <a:rPr kumimoji="1" lang="nl-NL" altLang="zh-CN" dirty="0" err="1"/>
              <a:t>actual</a:t>
            </a:r>
            <a:r>
              <a:rPr kumimoji="1" lang="nl-NL" altLang="zh-CN" dirty="0"/>
              <a:t> </a:t>
            </a:r>
            <a:r>
              <a:rPr kumimoji="1" lang="nl-NL" altLang="zh-CN" dirty="0" err="1"/>
              <a:t>definition</a:t>
            </a:r>
            <a:r>
              <a:rPr kumimoji="1" lang="nl-NL" altLang="zh-CN" dirty="0"/>
              <a:t> of agent is a bit </a:t>
            </a:r>
            <a:r>
              <a:rPr kumimoji="1" lang="nl-NL" altLang="zh-CN" dirty="0" err="1"/>
              <a:t>ambigious</a:t>
            </a:r>
            <a:r>
              <a:rPr kumimoji="1" lang="nl-NL" altLang="zh-CN" dirty="0"/>
              <a:t>, like </a:t>
            </a:r>
            <a:r>
              <a:rPr kumimoji="1" lang="nl-NL" altLang="zh-CN" dirty="0" err="1"/>
              <a:t>how</a:t>
            </a:r>
            <a:r>
              <a:rPr kumimoji="1" lang="nl-NL" altLang="zh-CN" dirty="0"/>
              <a:t> </a:t>
            </a:r>
            <a:r>
              <a:rPr kumimoji="1" lang="nl-NL" altLang="zh-CN" dirty="0" err="1"/>
              <a:t>much</a:t>
            </a:r>
            <a:r>
              <a:rPr kumimoji="1" lang="nl-NL" altLang="zh-CN" dirty="0"/>
              <a:t> level of </a:t>
            </a:r>
            <a:endParaRPr kumimoji="1" lang="zh-CN" altLang="en-US" dirty="0"/>
          </a:p>
        </p:txBody>
      </p:sp>
      <p:sp>
        <p:nvSpPr>
          <p:cNvPr id="4" name="灯片编号占位符 3">
            <a:extLst>
              <a:ext uri="{FF2B5EF4-FFF2-40B4-BE49-F238E27FC236}">
                <a16:creationId xmlns:a16="http://schemas.microsoft.com/office/drawing/2014/main" id="{3C020593-EF67-0447-9CBB-6365C94E6E28}"/>
              </a:ext>
            </a:extLst>
          </p:cNvPr>
          <p:cNvSpPr>
            <a:spLocks noGrp="1"/>
          </p:cNvSpPr>
          <p:nvPr>
            <p:ph type="sldNum" sz="quarter" idx="5"/>
          </p:nvPr>
        </p:nvSpPr>
        <p:spPr/>
        <p:txBody>
          <a:bodyPr/>
          <a:lstStyle/>
          <a:p>
            <a:fld id="{D7130D8E-37E8-D04A-ADB3-2189714D1CA4}" type="slidenum">
              <a:rPr kumimoji="1" lang="zh-CN" altLang="en-US" smtClean="0"/>
              <a:t>10</a:t>
            </a:fld>
            <a:endParaRPr kumimoji="1" lang="zh-CN" altLang="en-US"/>
          </a:p>
        </p:txBody>
      </p:sp>
    </p:spTree>
    <p:extLst>
      <p:ext uri="{BB962C8B-B14F-4D97-AF65-F5344CB8AC3E}">
        <p14:creationId xmlns:p14="http://schemas.microsoft.com/office/powerpoint/2010/main" val="2402421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in, a distribution over next tokens out. Stateless: nothing carries between calls, and the weights never change.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calls the model repeatedly, decides what to do next, and stops when it judges the work done. The model is the engine; the loop is the agent.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loaded into the context when the task matches it — drawn dashed, because it is advice. The model can read it and not follow it, and nothing records that it did.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published convention for exposing a tool so that any model can call it. It standardises the plug; it says nothing about what comes through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compiler, a database, a filesystem. The result returns to the loop, which calls the model again — this return arrow is the whole reason it is called an agent.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machine-checked contract: which fields a valid record must have, which types, and — crucially — that no field nobody agreed to may be added.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arrow on the diagram that rejects. A record that does not conform is not repaired or accepted with a warning; it is refused.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the skill and the tool call are all requests — they can be ignored, and the transcript looks the same either way. Only the schema can make an answer impossible to express.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2EABF-AC9E-39CD-B222-8312BB6736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CC1D1-E754-69B1-8053-CDAA78D14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A14EA9-E069-5F21-D8D4-226155803222}"/>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A46491AF-2B30-2505-C956-47AE3467246E}"/>
              </a:ext>
            </a:extLst>
          </p:cNvPr>
          <p:cNvSpPr>
            <a:spLocks noGrp="1"/>
          </p:cNvSpPr>
          <p:nvPr>
            <p:ph type="sldNum" sz="quarter" idx="5"/>
          </p:nvPr>
        </p:nvSpPr>
        <p:spPr/>
        <p:txBody>
          <a:bodyPr/>
          <a:lstStyle/>
          <a:p>
            <a:fld id="{D7130D8E-37E8-D04A-ADB3-2189714D1CA4}" type="slidenum">
              <a:rPr kumimoji="1" lang="zh-CN" altLang="en-US" smtClean="0"/>
              <a:t>20</a:t>
            </a:fld>
            <a:endParaRPr kumimoji="1" lang="zh-CN" altLang="en-US"/>
          </a:p>
        </p:txBody>
      </p:sp>
    </p:spTree>
    <p:extLst>
      <p:ext uri="{BB962C8B-B14F-4D97-AF65-F5344CB8AC3E}">
        <p14:creationId xmlns:p14="http://schemas.microsoft.com/office/powerpoint/2010/main" val="2014928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8317C-1DB0-59E1-257D-91CBCC0FEC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BCD427-57D8-7FC7-488A-641C80AAE1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A7467E-FB62-BC33-D04F-A5B719763C83}"/>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8B6E0FB9-781A-3DAF-6D08-4C32AE8C977A}"/>
              </a:ext>
            </a:extLst>
          </p:cNvPr>
          <p:cNvSpPr>
            <a:spLocks noGrp="1"/>
          </p:cNvSpPr>
          <p:nvPr>
            <p:ph type="sldNum" sz="quarter" idx="5"/>
          </p:nvPr>
        </p:nvSpPr>
        <p:spPr/>
        <p:txBody>
          <a:bodyPr/>
          <a:lstStyle/>
          <a:p>
            <a:fld id="{D7130D8E-37E8-D04A-ADB3-2189714D1CA4}" type="slidenum">
              <a:rPr kumimoji="1" lang="zh-CN" altLang="en-US" smtClean="0"/>
              <a:t>22</a:t>
            </a:fld>
            <a:endParaRPr kumimoji="1" lang="zh-CN" altLang="en-US"/>
          </a:p>
        </p:txBody>
      </p:sp>
    </p:spTree>
    <p:extLst>
      <p:ext uri="{BB962C8B-B14F-4D97-AF65-F5344CB8AC3E}">
        <p14:creationId xmlns:p14="http://schemas.microsoft.com/office/powerpoint/2010/main" val="1639217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4295-8253-ECCC-7236-3B43E7C784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88F493-ED37-C311-B2F3-85DBEF3FE5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FE2128-86E2-4E4B-06AD-D41F05564246}"/>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1473A28B-6A3D-4326-4A3F-3148D3EA5104}"/>
              </a:ext>
            </a:extLst>
          </p:cNvPr>
          <p:cNvSpPr>
            <a:spLocks noGrp="1"/>
          </p:cNvSpPr>
          <p:nvPr>
            <p:ph type="sldNum" sz="quarter" idx="5"/>
          </p:nvPr>
        </p:nvSpPr>
        <p:spPr/>
        <p:txBody>
          <a:bodyPr/>
          <a:lstStyle/>
          <a:p>
            <a:fld id="{D7130D8E-37E8-D04A-ADB3-2189714D1CA4}" type="slidenum">
              <a:rPr kumimoji="1" lang="zh-CN" altLang="en-US" smtClean="0"/>
              <a:t>23</a:t>
            </a:fld>
            <a:endParaRPr kumimoji="1" lang="zh-CN" altLang="en-US"/>
          </a:p>
        </p:txBody>
      </p:sp>
    </p:spTree>
    <p:extLst>
      <p:ext uri="{BB962C8B-B14F-4D97-AF65-F5344CB8AC3E}">
        <p14:creationId xmlns:p14="http://schemas.microsoft.com/office/powerpoint/2010/main" val="147721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nl-NL" altLang="zh-CN" dirty="0" err="1"/>
              <a:t>This</a:t>
            </a:r>
            <a:r>
              <a:rPr kumimoji="1" lang="nl-NL" altLang="zh-CN" dirty="0"/>
              <a:t> is </a:t>
            </a:r>
            <a:r>
              <a:rPr kumimoji="1" lang="nl-NL" altLang="zh-CN" dirty="0" err="1"/>
              <a:t>why</a:t>
            </a:r>
            <a:r>
              <a:rPr kumimoji="1" lang="nl-NL" altLang="zh-CN" dirty="0"/>
              <a:t> I </a:t>
            </a:r>
            <a:r>
              <a:rPr kumimoji="1" lang="nl-NL" altLang="zh-CN" dirty="0" err="1"/>
              <a:t>am</a:t>
            </a:r>
            <a:r>
              <a:rPr kumimoji="1" lang="nl-NL" altLang="zh-CN" dirty="0"/>
              <a:t> </a:t>
            </a:r>
            <a:r>
              <a:rPr kumimoji="1" lang="nl-NL" altLang="zh-CN" dirty="0" err="1"/>
              <a:t>here</a:t>
            </a:r>
            <a:r>
              <a:rPr kumimoji="1" lang="nl-NL" altLang="zh-CN" dirty="0"/>
              <a:t> </a:t>
            </a:r>
            <a:r>
              <a:rPr kumimoji="1" lang="nl-NL" altLang="zh-CN" dirty="0" err="1"/>
              <a:t>and</a:t>
            </a:r>
            <a:r>
              <a:rPr kumimoji="1" lang="nl-NL" altLang="zh-CN" dirty="0"/>
              <a:t> </a:t>
            </a:r>
            <a:r>
              <a:rPr kumimoji="1" lang="nl-NL" altLang="zh-CN" dirty="0" err="1"/>
              <a:t>give</a:t>
            </a:r>
            <a:r>
              <a:rPr kumimoji="1" lang="nl-NL" altLang="zh-CN" dirty="0"/>
              <a:t> </a:t>
            </a:r>
            <a:r>
              <a:rPr kumimoji="1" lang="nl-NL" altLang="zh-CN" dirty="0" err="1"/>
              <a:t>this</a:t>
            </a:r>
            <a:r>
              <a:rPr kumimoji="1" lang="nl-NL" altLang="zh-CN" dirty="0"/>
              <a:t> talk, I </a:t>
            </a:r>
            <a:r>
              <a:rPr kumimoji="1" lang="nl-NL" altLang="zh-CN" dirty="0" err="1"/>
              <a:t>would</a:t>
            </a:r>
            <a:r>
              <a:rPr kumimoji="1" lang="nl-NL" altLang="zh-CN" dirty="0"/>
              <a:t> like </a:t>
            </a:r>
            <a:r>
              <a:rPr kumimoji="1" lang="nl-NL" altLang="zh-CN" dirty="0" err="1"/>
              <a:t>to</a:t>
            </a:r>
            <a:r>
              <a:rPr kumimoji="1" lang="nl-NL" altLang="zh-CN" dirty="0"/>
              <a:t> </a:t>
            </a:r>
            <a:r>
              <a:rPr kumimoji="1" lang="nl-NL" altLang="zh-CN" dirty="0" err="1"/>
              <a:t>explain</a:t>
            </a:r>
            <a:r>
              <a:rPr kumimoji="1" lang="nl-NL" altLang="zh-CN" dirty="0"/>
              <a:t> more </a:t>
            </a:r>
            <a:r>
              <a:rPr kumimoji="1" lang="nl-NL" altLang="zh-CN" dirty="0" err="1"/>
              <a:t>about</a:t>
            </a:r>
            <a:r>
              <a:rPr kumimoji="1" lang="nl-NL" altLang="zh-CN" dirty="0"/>
              <a:t> </a:t>
            </a:r>
            <a:r>
              <a:rPr kumimoji="1" lang="nl-NL" altLang="zh-CN" dirty="0" err="1"/>
              <a:t>this</a:t>
            </a:r>
            <a:r>
              <a:rPr kumimoji="1" lang="nl-NL" altLang="zh-CN" dirty="0"/>
              <a:t> </a:t>
            </a:r>
            <a:r>
              <a:rPr kumimoji="1" lang="nl-NL" altLang="zh-CN" dirty="0" err="1"/>
              <a:t>idea</a:t>
            </a:r>
            <a:r>
              <a:rPr kumimoji="1" lang="nl-NL" altLang="zh-CN" dirty="0"/>
              <a:t>, but </a:t>
            </a:r>
            <a:r>
              <a:rPr kumimoji="1" lang="nl-NL" altLang="zh-CN" dirty="0" err="1"/>
              <a:t>the</a:t>
            </a:r>
            <a:r>
              <a:rPr kumimoji="1" lang="nl-NL" altLang="zh-CN" dirty="0"/>
              <a:t> details takes a long story…. </a:t>
            </a:r>
            <a:r>
              <a:rPr kumimoji="1" lang="nl-NL" altLang="zh-CN" dirty="0" err="1"/>
              <a:t>Here</a:t>
            </a:r>
            <a:r>
              <a:rPr kumimoji="1" lang="nl-NL" altLang="zh-CN" dirty="0"/>
              <a:t> is </a:t>
            </a:r>
            <a:r>
              <a:rPr kumimoji="1" lang="nl-NL" altLang="zh-CN" dirty="0" err="1"/>
              <a:t>an</a:t>
            </a:r>
            <a:r>
              <a:rPr kumimoji="1" lang="nl-NL" altLang="zh-CN" dirty="0"/>
              <a:t> </a:t>
            </a:r>
            <a:r>
              <a:rPr kumimoji="1" lang="nl-NL" altLang="zh-CN" dirty="0" err="1"/>
              <a:t>example</a:t>
            </a:r>
            <a:r>
              <a:rPr kumimoji="1" lang="nl-NL" altLang="zh-CN" dirty="0"/>
              <a:t> of </a:t>
            </a:r>
            <a:r>
              <a:rPr kumimoji="1" lang="nl-NL" altLang="zh-CN" dirty="0" err="1"/>
              <a:t>the</a:t>
            </a:r>
            <a:r>
              <a:rPr kumimoji="1" lang="nl-NL" altLang="zh-CN" dirty="0"/>
              <a:t> </a:t>
            </a:r>
            <a:r>
              <a:rPr kumimoji="1" lang="nl-NL" altLang="zh-CN" dirty="0" err="1"/>
              <a:t>work</a:t>
            </a:r>
            <a:r>
              <a:rPr kumimoji="1" lang="nl-NL" altLang="zh-CN" dirty="0"/>
              <a:t> </a:t>
            </a:r>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25</a:t>
            </a:fld>
            <a:endParaRPr kumimoji="1" lang="zh-CN" altLang="en-US"/>
          </a:p>
        </p:txBody>
      </p:sp>
    </p:spTree>
    <p:extLst>
      <p:ext uri="{BB962C8B-B14F-4D97-AF65-F5344CB8AC3E}">
        <p14:creationId xmlns:p14="http://schemas.microsoft.com/office/powerpoint/2010/main" val="1394862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 almost nothing. The title is deliberately modest - these are thoughts, not results, and saying so in the first ten seconds buys the room's patience for the honest parts later.
Everything that used to be printed on this frame is now yours to say: where you are, what the date is, and the sentence the talk is actually about - a paper states what it proves, and it does not state what it depends on, or who checked which part.
Say that sentence here, word for word. It is the only one in the talk worth memorising.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TURN THE PAGE. Do not elaborate - the next four frames are the elaboration.
The curve you just saw is about volume. This is the turn from volume to mechanism: the reason a generated result is hard to reuse is not that it is sloppy, it is that of what the machine did to produce it, nothing survives except the text.
Say the second line - it is a description, not a criticism - and move on. It buys you the room's patience for four frames of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OF THE TALK. Do not rush this frame.
The previous slide said it in the source deck's own words: the prompt, the skill and the tool call are all requests. The model can read them and not follow them, and the transcript looks identical either way. Only the schema can make an answer impossible to express.
Now spend that sentence. A paper's claims are requests too. 'By Theorem 3 of reference 14' is a request that the reader go and check something, and almost nobody does, and the paper looks the same either way.
So the question for the rest of the talk is: what would it take to make a paper's claims refusable? That is the only thing being attempted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and it is worth saying the scope out loud before the room starts wondering.
Of the four boxes on the trust slide four frames back, everything after this one is about MATHEMATICAL CORRECTNESS - does the conclusion follow from the stated assumptions - plus a little of THE STORY, because you cannot check a conclusion until you have pinned down what was actually claimed.
It is NOT about physical-semantic alignment. Whether a Lean definition of the reduced stabilizer polytope means the physics you had in mind is a judgement no kernel makes, and this project does not pretend otherwise - the records carry alignment_notes precisely because that gap cannot be closed mechanically.
It is NOT about computational reproducibility either; there is no numerical claim in the case study.
Two practical notes. The slides up to here are the opening deck reproduced as it is, in its own colours; from here the deck is monochrome, and colour means exactly two things - warm for NOT FROM THIS PAPER and teal for A JUNCTION. And the opening curve was a claim about the field that neither I nor anyone else has measured. What comes next is the same argument measured on my own logs, which I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and the only one in the deck - say it once, clearly, and then do not repeat it.
Three things a later paper needs before it can use your conclusion: what you actually said, what you relied on, and which parts anybody checked. A PDF gives you the first, sometimes. It does not give you the other two in any form a machine - or a hurried human - can follow.
Then the route across the bottom. One paper, frozen. Its claims and the dependencies between them. One theorem's chain pulled out of that graph. And then, honestly, where the whole thing stops - because it does stop, and the last act of this talk is about exactly where.
The promise on the last line matters more than it looks: every number from here on is read out of this repository's own logs. Where nobody has measured something, the frame says nobody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CODE IN THE TALK. Give it a full minute and read it out loud, left column then right column, line by line. Most of the room has never seen this.
Line one: def. I am DEFINING a thing. 'double' is its name, '(n : Nat)' means it takes a whole number which I will call n, and the ': Nat' after it means it hands back a whole number too. Line two says what it hands back: two times n. Stop and make one point - a definition cannot be wrong. It is not claiming anything. It is just naming a construction.
Line three is where it gets interesting: theorem. Now I am CLAIMING something, and I give the claim a name so other work can refer to it. Line four is the claim itself: double n equals n + n, for every n. The word 'by' at the end means: what follows is the proof.
Lines five and six are the proof, and they are a program, not an argument. 'unfold double' replaces the name by what it stands for, so the goal becomes 2 * n = n + n. 'omega' is a decision procedure for this kind of arithmetic; it either closes the goal or it does not.
Then the bottom line, which is the point of the frame: that fourth line is not a description of a theorem. It IS the theorem. You gave up the prose and got back something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WHOLE APPROACH IS ON THIS FRAME.
A referee can be tired, generous, or in a hurry. A kernel is none of those. It re-checks every step, and it does not know whose proof it is.
The right-hand box matters more than it looks. When Lean refuses, it tells you WHICH step it would not take. A 'no' with a specific unmet obligation is a to-do list. A 'no' without one is just a failure. That distinction is why this is worth doing at all.
Then be honest about the escape hatch. 'sorry' means: accept this without proof. It compiles. Anybody can write it. The difference from prose is that it is WRITTEN DOWN - you cannot wave at it, it sits in the file and anybody grepping finds it.
The four numbers are this repository, counted this morning: sixty-six files, and not one sorry, admit, or new axiom. Say 'counted this morning' - it is the kind of claim you should be able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FOR THIS AUDIENCE. Slow down; this is what a physicist should leave the room remembering.
Mathlib is the mathematics - nine thousand files of it, other people's work, and it is the reason formalizing a piece of mathematics is affordable at all. You are not proving anything from nothing; you are standing on a decade of somebody else's checked definitions.
physlib is the physics equivalent, and you saw its front page a few frames ago. Nine hundred files against nine thousand. It exists, it is a real community project, and it is an order of magnitude earlier in its life - the mathematics library lineage starts in 2017, physlib in 2024. Both counts are every .lean file on each project's own main branch, taken this morning; if somebody challenges a number, that is the definition to give them.
Then the honest question, which is the one that decides whether any of this is practical for us. It is not 'can Lean express my physics' - the answer to that is almost always yes, eventually. It is: how much of what my paper stands on is already in a library, and how much does somebody have to build first? For a physics paper today, a great deal has to be built first, and that is where the time goes.
If somebody asks how much: say you have not measured it, because you have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FIVE BOXES. Deliberately no product name, no version number and no field names on the slide - none of that has been introduced yet, and the five boxes are the part that generalises beyond this project.
Box one: a paper, frozen. Every downstream pointer is a byte offset into these exact bytes, so nothing can drift underneath the record while the work is going on. This is the cheapest and least glamorous idea in the system and it is the one that makes everything else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two: every statement in the paper becomes one record, and the record carries three things - what it says, where in the source it came from, and a fingerprint of its content.
"Where it came from" is a byte range, not a page number. "A fingerprint" is a hash, so re-wording the statement produces a different record rather than silently editing the old one. The next slide shows one of these records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three: the records point at each other. This premise discharges that conclusion. Do that for every record and you no longer have a list, you have a network - and that network is the object the rest of the talk is about.
The little sketch is a cartoon. Two slides from now you see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four, drawn dashed and in the one warm colour this deck uses: some records point OUTSIDE the paper, at work it leans on that nobody has fetched.
Warm means exactly one thing in every frame of this deck - NOT FROM THIS PAPER. Keep it that way; the moment warm also means "bad" or "pending", the audience stops being able to read the colour.
This box is where most of the honest difficulty lives. A paper's citations are promises, and until somebody resolves one it is a promise the machine cannot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five: choose one result and keep only what it rests on. Everything else in the network goes faint - not deleted, just not part of this question.
This is the single most useful operation in the system, and it is also the answer to "why are there so many claims?" There are that many because nobody asked a question yet. Ask one, and the graph collapses to the part that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six: every step that survives goes to a checker that cannot be argued with - a proof kernel. It does not negotiate, it does not get tired on the fortieth lemma, and it does not care who wrote the step.
That is the entire reason for the machinery in front of it. The pipeline exists to get statements into a shape where a thing that cannot be persuaded can look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output has two exits, which is the point of the whole design.
It holds - every step was accepted. Or it does NOT hold, and the system names what is missing. The second exit is the valuable one: a "no" that comes with a specific unmet obligation is a research to-do list, where a "no" without one is just a failure.
What it never does is the third thing, which is to return something that looks like a proof because the prose around it was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schema turns one sentence of a paper into a MathClaim - and deliberately the SAME theorem this deck spends its last eleven frames building the chain for. The registry holds 25 such records for this paper; this is the headline one.
Read the middle block. The paper states the closed form in a single line. The record has to say what that line actually contains: two assumptions the paper states (no active dependencies, G_M perfect), FOUR quantifiers of which THREE are marked SOURCE_IMPLICIT - n, m and M are never quantified in the sentence - a local binder for Q over the cliques, and a convention that the empty clique counts as zero.
And one line worth stopping on: assumptions.source_implicit, m &gt;= 1, anchored to the PROOF rather than the statement. The paper uses a hypothesis in its proof that its theorem does not state. That is not a criticism of the paper; every paper does it. It is the thing a reader has to reconstruct by hand, and it is exactly what this record exists to make mechanical.
Three separate hashes, differing on purpose: re-wording the statement changes one and not the others.
A caution if asked: this registry id (closed-form-equality) and the chain's id (claim:closed-form-rom) are different identifiers in different files. They are the same mathematics, not the same record.
Source: Stabilizerness/MathClaimIRRegistry/claims/graph-theoretic-nonstabilizerness.jsonl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Lamport-style structured proof: hierarchically numbered steps, each one checkable on its own, rather than a paragraph of prose.
This is the real artifact from the one end-to-end run that worked - 1 model call, and the Lean it produced was accepted by the kernel using the audited library theorem AgtXIv.RoM.normalized_l1.
READ THE TWO HALVES IN ORDER, because they look like a contradiction and are not. The model's record ends with remaining_obligations: "no Lean execution was performed" - which was true at the moment it wrote it. The ledger below records what happened next: the host elaborated the proposed terms, Lean accepted the declaration AgtXIv.Generated.Proof_a29f133fb6f82da97507, and the audit shows it resting on the three standard axioms and nothing else.
That sequence is the point. A record is a snapshot carrying its own outstanding obligations; the ledger is the account of which ones were then discharged. Neither alone tells you the state - and a deck that showed only the first half would be claiming the opposite of what it meant.
Note what else travels with it. alignment_notes record what the formal statement does and does NOT assert ("no nonnegativity or nonempty-index assumption is added"; "does not assert primal feasibility or strong duality"). remaining_obligations records what was still pending at that point. The proof does not arrive alone - it arrives with its own caveats attached.
Source: schema v0.3/runs/proof-worker-normalization-attempt02-20260919/attempts/*/lamport.json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get when you ask a machine to extract every mathematical claim in one paper and every dependency between them: 613 nodes, 634 edges, assembled from the frozen bytes of arXiv:2607.26154v1 without using any hand-authored graph (legacy_dag_edges_used: false).
Shape = node kind, as in the seminar deck. Everything is hollow because v0.3 has no accepted state to fill a mark with: accepted_support_edges is 0.
This frame and the next two extracted-graph frames are images rather than shapes - several hundred marks each, where a flattened picture is the honest format.
Source: schema v0.3/runs/research-terra-continuation-20260920/graphs/00001-db0e3d21/graph.json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graph, two colours.
INK - the 240 candidate statements actually extracted from the target paper's own .tex. These carry a paper_id.
WARM - the other 373: 152 external claim requests (anchored to a .bbl byte range, paper_id null - nobody has fetched the source yet) and 221 unresolved source occurrences (a location in the paper no candidate has yet claimed).
The point of the colour split: most of this graph is not knowledge, it is the system's own record of what it has not done. Computed connectivity: 80 weakly connected components, largest 379 nodes, 24 isolated, and the digraph is NOT acyclic - 7 simple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REDUCTION, and it is mechanical - no model judgement anywhere in it.
The host reads the frozen .tex and takes the byte range of every \begin{theorem}...\end{theorem} and its siblings. The paper declares NINE formal results: 2 theorems, 3 lemmas, 3 propositions, 1 definition, each with its own \label. Then it asks which of the 240 extraction candidates have a source span falling inside one.
Answer: 14 candidates, hitting 9 of 9 - so nothing the paper formally declares was missed - and 8 of the dependency edges survive among them. The other 226 candidates are assertions in running prose, where "is this a claim?" is a judgement rather than a fact.
WHAT THIS IS NOT. It does not delete the 226 and it asserts nothing about them; many are load-bearing (the curated registry holds 25, not 9). It is a mechanical attribution, fully reversible, and it is the cheapest honest cut available: from 240 unreviewed candidates to the 9 results the paper itself chose to state formally.
Counts computed live from draft.tex and 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is a CHANGE OF OBJECT, not a zoom.
This is the paper's hand-authored dependency DAG: 74 claim nodes, 129 edges, one connected structure, acyclic because a person made it so.
It is NOT a subgraph of the previous slide, and the deck must never imply that it is. The two graphs share ZERO node ids (extracted ids look like claim:candidate:51e98811..., authored ids like claim:closed-form-rom). I also tested correspondence by source location - converting the authored line anchors to byte ranges and intersecting them with the extracted spans - and it is far too coarse to be an extraction: 436 of 458 extracted candidates overlap SOME authored claim, 224 overlap this theorem's chain. So no clean subgraph exists.
Say it plainly if asked: the machine's reading and the human's reading of the same paper are two different objects, and neither is derived from the other.
Source: Stabilizerness/dag/claim-dag.json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extraction is real, and verified: the 29 node ids of the closure are a strict subset of the 74 authored ids (checked in code - the build asserts it).
Ink = the backward closure of the main theorem (the closed form for reduced robustness of magic). Ghosted = the other 45 claims of the paper, which include five further external roots, the whole empirical branch behind Figure 2, three open problems and two stated limitations.
So: the figure everything after this is built on covers 29 of the paper's 74 claims - 39%. A closure answers "what does this theorem rest on", not "what is in this paper".
ONE EDGE OF BOOKKEEPING, in case somebody counts the lines. The ink edges here are the AUTHORED DAG restricted to these 29 claims, and there are 45 of them. From the next frame on, the deck draws the v0.3 pruned branch artefact, which has 46 - it carries no-active-free-signs -&gt; sign-alignment-identity, an edge the hand-authored graph does not. Same 29 nodes, one more edge. Both drawings are faithful to their own source; they are two readings of one closure, a version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theorem: claim:closed-form-rom. Nothing under it yet.
The unit of construction here is the SUPPORT GROUP - an AND-set of premises that together discharge one target - not the individual edge. closed-form-branch.json records 20 such groups over the 29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theorem’s support group opens: exact-graph-program, perfect-graph-antiblocker and perfect-graph-definition.
Drawn as a bracket rather than three separate edges, because it is an AND: all three must hold. Any one missing and the target is not discharged. That is why the bracket, not the arrows, is the right primitive.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is now asked of each premise: what discharges this? Two more groups open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relaxation branch and the antiblocker branch descend separately.
From here on, a heavier stroke and a faint ring mark what arrived at THIS step, and the brighter brackets are the groups that just opened. Later steps add only 3, 2 and 1 marks among 26-29, which is otherwise undetectable in a static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widest step: ten new claims at once, and three more of the roots arrive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completing the reduced-polytope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 full robustness of magic, and the resource theory that defines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Twenty-nine claims, twenty support groups. The recursion terminates because every remaining premise is already in the chain.
Say “terminates”, not “complete”. The pipeline’s own chain-certificate.json records state CHAIN_INCOMPLETE for this very query, and three frames from now this deck prints that. What has finished is the expansion; what has not is the proof.
Worth saying aloud: it terminates because the input was a closed, hand-authored DAG. Run the same question against the paper itself and it does not terminate - the v0.3 controller stops at a budget limit with 400 roots, 373 of them unfetched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claims have NO support group at all - nothing in the chain explains them. They are where the paper stops arguing and starts citing.
Six are imported foundations. Three are the paper’s own definitions that rest on nothing, which is why the DAG has 9 sources rather than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orders the chain for Lean and can reach fourteen of the twenty-nine. formalization_order begins at the MWIS definition, the Pauli window, the perfect-graph definition and finite LP strong duality.
Note the shape: every filled mark sits in the lower-left mass. Nothing near the top is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the ordering cannot reach - everything downstream of a blocked root, including the theorem itself. Not because the Lean is missing, but because a premise above it has no discharged source.
The two ringed marks are the CAUSE, and they carry their own source colours - Varela in violet, the perfect-graph duality (Chvatal/Fulkerson) in blue, exactly as in the seminar deck. They are the only two imports outside formalization_order. Computed from closed-form-branch.json, the fifteen break down as 11 blocked by Varela alone, 1 by the perfect-graph root alone, 1 (the theorem) by both, plus the 2 blocked roots themselves. So resolving the Varela citation would return 11 of the 15.
The chain is complete and the proof is not: mathematical_status CHAIN_INCOMPLETE, accepted_support_edges 0, proof_backend NOT_CONNECTED.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ending is three wishes with one measurement wedged in the middle, and I will keep saying which is which.
Start from the object the deck has been building: the closure of one theorem. Twenty-nine claims, forty-six dependencies, laid out exactly as in the chain frames - same positions, same shapes, same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ONE. Do this to the next paper, and the next.
The heavier lines between clusters are the point: the same claim, leaned on by two different papers. That is the moment a pile of decomposed papers becomes one network.
It is also the joint I said I cannot build. Deciding that this lemma and that lemma are the SAME lemma is an identity question, and v0.3 does not answer it. Schematic layout, no counts, nothing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WISH. Cut one claim out of the graph - remove every dependency into it - and recompute the backward closure of the theorem. Count what is no longer in it. Size and ink are that count.
Before trusting any of this: my computation reproduces all 46 of the omission experiments the pipeline recorded in closed-form-branch.json, edge for edge. The assertion is in gen_skeleton.py and the build fails if it ever stops matching. I am not showing you a model of the pipeline, I am showing you the pipeline's own arithmetic.
The graph program carries 25 of the 29. The distribution has a long thin tail and one spike, which is the shape that makes the rest of this worth attempting: you do not need taste to find the load-bearing parts, you need an omission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asked of every dependency rather than every claim - and this one the pipeline already answered for itself, in all 46 cases.
Line weight is what removing that one edge costs. Most of the graph is thin.
The small chart is the whole distribution, sorted. It is deliberately small: the number on any one bar does not matter, the SHAPE does, and the shape is a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TRAP, which I walked into while building this frame and think is the most useful thing on it.
Twenty-nine of the forty-six dependencies cost nothing when you remove them. Each one, on its own, is redundant - every claim is still reachable by some other route.
Take all twenty-nine away together and fourteen of the twenty-nine claims fall out of the closure.
Individual redundancy does not compose. Two edges can each be safe to cut because the other one is there. It is obvious once stated and it is extremely easy to miss - I had this frame drawn the wrong way round, asserting that the 29 could go and 17 would remain, before I checked it jointly.
That is precisely the kind of mistake a person makes reading a dependency structure by eye, and precisely the kind a machine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skeleton has to be computed properly: remove one dependency, recheck the whole closure, and only then try the next. Greedily, to exhaustion.
Eighteen can go. TWENTY-EIGHT remain, and all twenty-nine claims are still reachable.
That is what I mean by the skeleton of a theory. Not a summary and not the important bits as judged by anybody - the subgraph you cannot cut any further without losing something, arrived at by an operation with no opinion in it.
Two honest caveats. It is a statement about the graph as recorded: if the extraction missed a route, an edge looks more necessary than it is. And 29 claims is small enough that a careful person could have done this by hand - slowly, and as the previous frame shows, probably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TWO. If you can compute where the load sits, you can also see where the structure is thin: a place where several load-bearing claims converge and nothing has been written.
The diamond is a claim nobody has stated, proposed because the shape of the network says something belongs there.
And the reason the junction is drawn exactly like every other junction in this deck: a proposed claim gets no special status. Same AND-junction, same premises, same arrow, same kernel. Accepted, it is knowledge. Refused, the system names what was missing and that becomes the next thing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THREE, and this is the one I would most like to be true.
Along the bottom: what has already been checked, and stays checked. A proof the kernel accepted does not need re-accepting next year.
Above: a new paper. Most of what it rests on is already down there - the same foundations, the same definitions, the same handful of load-bearing claims every paper in the area leans on. Those edges cost nothing new.
Only three things in it are actually new, and only those three need a junction and a check.
That is what the apparatus is FOR. Not to verify a paper - to make the NEXT paper cheap, by making verification something you inherit instead of something you repeat. Today, reading a paper properly means reconstructing its dependencies from scratch, every reader, every time. This is the version where you do not.
Then stop, and say the status: 29 claims, 14 reachable, accepted_support_edges 0, CHAIN_INCOMPLETE. Three wishes and one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Do not soften it and do not oversell it - the credibility of the whole talk is spent or kept here.
Two things are shown. A chain for one theorem that actually runs, and a structure whose load-bearing parts can be measured rather than guessed.
Three things are not. The big extraction is not usable - every one of those six hundred nodes is blocked pending a review nobody has done. The chain that does run stands on a dependency graph I wrote by hand for this paper, and automatic library lookup - finding the matching declaration in Mathlib - is zero lines of code today. And none of this touches whether the formal object means the physics you had in mind; no kernel judges that.
Then the last line, which is the honest version of the whole talk: the claim is not that this works. It is that it has become small enough to argue about. A year ago I could not have shown you a specific place where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FRAME. Ask, then stop talking. Do not answer your own questions.
The framing is the useful part: it is entirely possible that this is a golden age for theoretical RESEARCH and a difficult one for theoretical RESEARCHERS, and those two things pull in opposite directions. Say that out loud - most people in the room have thought it and not said it.
Question one is the honest one and usually gets the room going: excited, or frustrated? Both answers are respectable and people will disagree in public, which is what you want.
Question two is the one that produces the best answers. If the machine can produce the result, which part did you actually want to do? Some people will say the proof; more will say the question, or the picture, or the argument about what it means.
Question three brings it back to this talk: what would have to be checked before you would build on it. That is the only question the last forty minutes was about.
If the room is slow, ask somebody what the ROOT claims of their last paper would be - the things they assumed without proof - and whether they would have been willing to write them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808B4-34E8-7047-CFE4-5D03CAFA22E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A8A563-DD04-5337-6A77-81D230778B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AF07C98-B250-D545-8D60-CE87FF00CD27}"/>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72AF1AD8-87A2-5774-34AB-F3DBC58E75F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3C200B4-2D49-1913-40D0-B26F9B0FC094}"/>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969614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21740-926B-49A4-17A3-7C328D020F6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BBB88E1-6C8B-773C-B7B3-09A3C62251E6}"/>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46F9BE8-3AD4-FD87-5901-751B23F5A35D}"/>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3BD89F5C-8262-EB64-CDE2-3421E4DF717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C2B04F7-3FAE-23C7-7608-CE4A4383034E}"/>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233902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6F0AC1-9753-E61C-A9E9-D12313D4207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98A7AEB-C4FE-B9A4-053A-1E76B1818B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7134026-F0D4-C9CA-02BA-A8F19A893302}"/>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D374B011-D1D1-DCCC-3049-2BCD51CC8CA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30AA13-6339-4BB1-5A1A-C72E9145E16C}"/>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589867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A6872-D0BE-6F25-3024-386383EE767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A874389-DD7B-AB72-422D-362F5B8E541E}"/>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CAB970F-47CE-DE7C-137F-3611E0BBB8A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8BA85B1-C04C-EE9B-C2F8-4CAF1A6C8577}"/>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6" name="页脚占位符 5">
            <a:extLst>
              <a:ext uri="{FF2B5EF4-FFF2-40B4-BE49-F238E27FC236}">
                <a16:creationId xmlns:a16="http://schemas.microsoft.com/office/drawing/2014/main" id="{0CD4A5FE-43B4-F3E5-17D6-BB9BF2C4926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E10C769-A99B-1044-6509-6098207F6D20}"/>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416792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C4935-811F-A9D2-5F7B-679EB55B8E8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3554E1B-6992-F75B-3882-CDF805F3ED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BB71FC7-9451-7446-B20E-B4360AE9208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0965792-3AEE-ECE3-7BD0-030ACD2F4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A52227F-77B8-2BA8-AB66-A246BC3DAB5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1150E2EE-DAD2-7457-002C-3E18BAB0E768}"/>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8" name="页脚占位符 7">
            <a:extLst>
              <a:ext uri="{FF2B5EF4-FFF2-40B4-BE49-F238E27FC236}">
                <a16:creationId xmlns:a16="http://schemas.microsoft.com/office/drawing/2014/main" id="{62848CCA-1669-D206-1E71-B634C19CDF6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6C54963-0DD0-4FC0-5DB8-86BFD9FFCD60}"/>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036977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819F4-EBDF-78E7-041C-BAA264ACCB0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CDAB797-3DB5-126B-8BDB-7BACD41FBDAD}"/>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4" name="页脚占位符 3">
            <a:extLst>
              <a:ext uri="{FF2B5EF4-FFF2-40B4-BE49-F238E27FC236}">
                <a16:creationId xmlns:a16="http://schemas.microsoft.com/office/drawing/2014/main" id="{17CA8154-06E6-5CE6-18EF-ABC79118B92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F1D75DD-C4E8-9EC6-81B9-365C4266AA19}"/>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907921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6E0C1A5-36B4-8ACB-80C7-293D2534915F}"/>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3" name="页脚占位符 2">
            <a:extLst>
              <a:ext uri="{FF2B5EF4-FFF2-40B4-BE49-F238E27FC236}">
                <a16:creationId xmlns:a16="http://schemas.microsoft.com/office/drawing/2014/main" id="{51828113-4A19-33DA-B348-79B74982FD8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3090DACB-4852-F215-6913-6FCA4B046D28}"/>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135170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E90B2-1D57-3CB9-C60D-FF46ADAD673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3DC63ED-A5E9-1558-533F-7732496F4E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6F1D1C4-D64A-A9A8-0AF5-43F93D9BF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7CB3DF7-E86B-9189-AB9C-5B2075FC35BD}"/>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6" name="页脚占位符 5">
            <a:extLst>
              <a:ext uri="{FF2B5EF4-FFF2-40B4-BE49-F238E27FC236}">
                <a16:creationId xmlns:a16="http://schemas.microsoft.com/office/drawing/2014/main" id="{3B16899A-F6E8-99CE-6C07-ECF8C1C0B55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B4B5CC-3262-348B-2D1A-7AC3D0DB3BDA}"/>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772114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C5A16-A3B8-399A-8970-AB7998AE94A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FEB20B7-E94F-6658-F59E-8FB9CCC24D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3F80829-E0B7-0CCC-6B89-55B27F754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E9CED2B-3619-FCCE-B893-492D59F4B2D9}"/>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6" name="页脚占位符 5">
            <a:extLst>
              <a:ext uri="{FF2B5EF4-FFF2-40B4-BE49-F238E27FC236}">
                <a16:creationId xmlns:a16="http://schemas.microsoft.com/office/drawing/2014/main" id="{34333169-0D63-87E8-7805-D53C696DD86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FFCB59-5A97-F1FE-E332-907D95C83906}"/>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403509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8877AD-FB1D-479B-8970-1F7F8A0B98B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BB9283D-1EED-02CA-033B-2EF0C87AFD3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D9C8710-CBEB-6ED3-7CB4-FD34AF2B8204}"/>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09AB6F65-25A1-F94C-D507-34AE0939FD3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5C0A23-27EF-FD81-EA5E-55F5A9505204}"/>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927000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CFE9A75-F102-1128-72A7-FC0FF9FCC25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93F1119-C859-0A30-84DE-8B83446835C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B2B3CCE-38FA-B500-930A-63C8089DE5AB}"/>
              </a:ext>
            </a:extLst>
          </p:cNvPr>
          <p:cNvSpPr>
            <a:spLocks noGrp="1"/>
          </p:cNvSpPr>
          <p:nvPr>
            <p:ph type="dt" sz="half" idx="10"/>
          </p:nvPr>
        </p:nvSpPr>
        <p:spPr/>
        <p:txBody>
          <a:body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5C85E41D-634A-46DA-4709-E8B4348E73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09CE638-EB0E-1058-97A6-572F2E0E1522}"/>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656648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6237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91AA552-E96A-C1A3-966B-53700982A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CF454FF-628A-8F8D-C135-EDC357785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F8B5AF2-3A51-65AF-7170-8464CD47D6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464056-0C46-F345-8AC1-82D5685A407D}" type="datetimeFigureOut">
              <a:rPr kumimoji="1" lang="zh-CN" altLang="en-US" smtClean="0"/>
              <a:t>2026/9/21</a:t>
            </a:fld>
            <a:endParaRPr kumimoji="1" lang="zh-CN" altLang="en-US"/>
          </a:p>
        </p:txBody>
      </p:sp>
      <p:sp>
        <p:nvSpPr>
          <p:cNvPr id="5" name="页脚占位符 4">
            <a:extLst>
              <a:ext uri="{FF2B5EF4-FFF2-40B4-BE49-F238E27FC236}">
                <a16:creationId xmlns:a16="http://schemas.microsoft.com/office/drawing/2014/main" id="{8F83A768-1195-8BCE-B287-77867B307D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B485353-E293-76A6-20BE-9777B8E2E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724344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tobiasjosborn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tobiasjosborn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7.xml"/><Relationship Id="rId3"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7.xml"/><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7.xml"/><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xml"/><Relationship Id="rId3"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5">
            <a:extLst>
              <a:ext uri="{FF2B5EF4-FFF2-40B4-BE49-F238E27FC236}">
                <a16:creationId xmlns:a16="http://schemas.microsoft.com/office/drawing/2014/main" id="{DCEEE625-1D53-6D90-39EB-D172CB9814CB}"/>
              </a:ext>
            </a:extLst>
          </p:cNvPr>
          <p:cNvSpPr/>
          <p:nvPr/>
        </p:nvSpPr>
        <p:spPr>
          <a:xfrm>
            <a:off x="1516162" y="5744173"/>
            <a:ext cx="3959352" cy="0"/>
          </a:xfrm>
          <a:prstGeom prst="line">
            <a:avLst/>
          </a:prstGeom>
          <a:noFill/>
          <a:ln w="16510">
            <a:solidFill>
              <a:srgbClr val="242832"/>
            </a:solidFill>
            <a:prstDash val="solid"/>
            <a:headEnd type="none"/>
            <a:tailEnd type="triangle"/>
          </a:ln>
        </p:spPr>
        <p:txBody>
          <a:bodyPr/>
          <a:lstStyle/>
          <a:p>
            <a:endParaRPr lang="zh-CN" altLang="en-US"/>
          </a:p>
        </p:txBody>
      </p:sp>
      <p:sp>
        <p:nvSpPr>
          <p:cNvPr id="5" name="Shape 6">
            <a:extLst>
              <a:ext uri="{FF2B5EF4-FFF2-40B4-BE49-F238E27FC236}">
                <a16:creationId xmlns:a16="http://schemas.microsoft.com/office/drawing/2014/main" id="{C9BAB15F-524F-13E6-A6ED-A1461BA41CD1}"/>
              </a:ext>
            </a:extLst>
          </p:cNvPr>
          <p:cNvSpPr/>
          <p:nvPr/>
        </p:nvSpPr>
        <p:spPr>
          <a:xfrm flipV="1">
            <a:off x="1516162" y="3302725"/>
            <a:ext cx="0" cy="2441448"/>
          </a:xfrm>
          <a:prstGeom prst="line">
            <a:avLst/>
          </a:prstGeom>
          <a:noFill/>
          <a:ln w="16510">
            <a:solidFill>
              <a:srgbClr val="242832"/>
            </a:solidFill>
            <a:prstDash val="solid"/>
            <a:headEnd type="none"/>
            <a:tailEnd type="triangle"/>
          </a:ln>
        </p:spPr>
        <p:txBody>
          <a:bodyPr/>
          <a:lstStyle/>
          <a:p>
            <a:endParaRPr lang="zh-CN" altLang="en-US"/>
          </a:p>
        </p:txBody>
      </p:sp>
      <p:sp>
        <p:nvSpPr>
          <p:cNvPr id="6" name="Text 7">
            <a:extLst>
              <a:ext uri="{FF2B5EF4-FFF2-40B4-BE49-F238E27FC236}">
                <a16:creationId xmlns:a16="http://schemas.microsoft.com/office/drawing/2014/main" id="{5CC0C85B-D9F3-DA1A-03B0-F40760A2062E}"/>
              </a:ext>
            </a:extLst>
          </p:cNvPr>
          <p:cNvSpPr/>
          <p:nvPr/>
        </p:nvSpPr>
        <p:spPr>
          <a:xfrm>
            <a:off x="973180" y="3036785"/>
            <a:ext cx="91440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scale</a:t>
            </a:r>
            <a:endParaRPr lang="en-US" sz="1600" dirty="0"/>
          </a:p>
        </p:txBody>
      </p:sp>
      <p:sp>
        <p:nvSpPr>
          <p:cNvPr id="7" name="Text 8">
            <a:extLst>
              <a:ext uri="{FF2B5EF4-FFF2-40B4-BE49-F238E27FC236}">
                <a16:creationId xmlns:a16="http://schemas.microsoft.com/office/drawing/2014/main" id="{FC02CCBA-5C1C-0BAB-890E-CBABAAC36FEF}"/>
              </a:ext>
            </a:extLst>
          </p:cNvPr>
          <p:cNvSpPr/>
          <p:nvPr/>
        </p:nvSpPr>
        <p:spPr>
          <a:xfrm>
            <a:off x="5612670" y="5812028"/>
            <a:ext cx="64008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time</a:t>
            </a:r>
            <a:endParaRPr lang="en-US" sz="1600" dirty="0"/>
          </a:p>
        </p:txBody>
      </p:sp>
      <p:sp>
        <p:nvSpPr>
          <p:cNvPr id="8" name="Shape 9">
            <a:extLst>
              <a:ext uri="{FF2B5EF4-FFF2-40B4-BE49-F238E27FC236}">
                <a16:creationId xmlns:a16="http://schemas.microsoft.com/office/drawing/2014/main" id="{B893867E-A73E-8472-DE82-0E3EF5027B5B}"/>
              </a:ext>
            </a:extLst>
          </p:cNvPr>
          <p:cNvSpPr/>
          <p:nvPr/>
        </p:nvSpPr>
        <p:spPr>
          <a:xfrm flipV="1">
            <a:off x="1635034" y="5177245"/>
            <a:ext cx="777240" cy="274320"/>
          </a:xfrm>
          <a:prstGeom prst="line">
            <a:avLst/>
          </a:prstGeom>
          <a:noFill/>
          <a:ln w="25400">
            <a:solidFill>
              <a:srgbClr val="B84A45"/>
            </a:solidFill>
            <a:prstDash val="solid"/>
            <a:headEnd type="none"/>
            <a:tailEnd type="none"/>
          </a:ln>
        </p:spPr>
        <p:txBody>
          <a:bodyPr/>
          <a:lstStyle/>
          <a:p>
            <a:endParaRPr lang="zh-CN" altLang="en-US"/>
          </a:p>
        </p:txBody>
      </p:sp>
      <p:sp>
        <p:nvSpPr>
          <p:cNvPr id="9" name="Shape 10">
            <a:extLst>
              <a:ext uri="{FF2B5EF4-FFF2-40B4-BE49-F238E27FC236}">
                <a16:creationId xmlns:a16="http://schemas.microsoft.com/office/drawing/2014/main" id="{F2DB00D2-54C7-6E01-5784-E4962C6DF727}"/>
              </a:ext>
            </a:extLst>
          </p:cNvPr>
          <p:cNvSpPr/>
          <p:nvPr/>
        </p:nvSpPr>
        <p:spPr>
          <a:xfrm flipV="1">
            <a:off x="2412274" y="4628605"/>
            <a:ext cx="640080" cy="548640"/>
          </a:xfrm>
          <a:prstGeom prst="line">
            <a:avLst/>
          </a:prstGeom>
          <a:noFill/>
          <a:ln w="25400">
            <a:solidFill>
              <a:srgbClr val="B84A45"/>
            </a:solidFill>
            <a:prstDash val="solid"/>
            <a:headEnd type="none"/>
            <a:tailEnd type="none"/>
          </a:ln>
        </p:spPr>
        <p:txBody>
          <a:bodyPr/>
          <a:lstStyle/>
          <a:p>
            <a:endParaRPr lang="zh-CN" altLang="en-US"/>
          </a:p>
        </p:txBody>
      </p:sp>
      <p:sp>
        <p:nvSpPr>
          <p:cNvPr id="10" name="Shape 11">
            <a:extLst>
              <a:ext uri="{FF2B5EF4-FFF2-40B4-BE49-F238E27FC236}">
                <a16:creationId xmlns:a16="http://schemas.microsoft.com/office/drawing/2014/main" id="{95C77DB0-BE29-17C4-2379-AD87853000FC}"/>
              </a:ext>
            </a:extLst>
          </p:cNvPr>
          <p:cNvSpPr/>
          <p:nvPr/>
        </p:nvSpPr>
        <p:spPr>
          <a:xfrm flipV="1">
            <a:off x="3052354" y="4034245"/>
            <a:ext cx="640080" cy="594360"/>
          </a:xfrm>
          <a:prstGeom prst="line">
            <a:avLst/>
          </a:prstGeom>
          <a:noFill/>
          <a:ln w="25400">
            <a:solidFill>
              <a:srgbClr val="B84A45"/>
            </a:solidFill>
            <a:prstDash val="solid"/>
            <a:headEnd type="none"/>
            <a:tailEnd type="none"/>
          </a:ln>
        </p:spPr>
        <p:txBody>
          <a:bodyPr/>
          <a:lstStyle/>
          <a:p>
            <a:endParaRPr lang="zh-CN" altLang="en-US"/>
          </a:p>
        </p:txBody>
      </p:sp>
      <p:sp>
        <p:nvSpPr>
          <p:cNvPr id="11" name="Shape 12">
            <a:extLst>
              <a:ext uri="{FF2B5EF4-FFF2-40B4-BE49-F238E27FC236}">
                <a16:creationId xmlns:a16="http://schemas.microsoft.com/office/drawing/2014/main" id="{A0634978-E0E8-C9FE-004A-41CEBBE203EA}"/>
              </a:ext>
            </a:extLst>
          </p:cNvPr>
          <p:cNvSpPr/>
          <p:nvPr/>
        </p:nvSpPr>
        <p:spPr>
          <a:xfrm flipV="1">
            <a:off x="3692434" y="3348445"/>
            <a:ext cx="731520" cy="685800"/>
          </a:xfrm>
          <a:prstGeom prst="line">
            <a:avLst/>
          </a:prstGeom>
          <a:noFill/>
          <a:ln w="25400">
            <a:solidFill>
              <a:srgbClr val="B84A45"/>
            </a:solidFill>
            <a:prstDash val="solid"/>
            <a:headEnd type="none"/>
            <a:tailEnd type="none"/>
          </a:ln>
        </p:spPr>
        <p:txBody>
          <a:bodyPr/>
          <a:lstStyle/>
          <a:p>
            <a:endParaRPr lang="zh-CN" altLang="en-US"/>
          </a:p>
        </p:txBody>
      </p:sp>
      <p:sp>
        <p:nvSpPr>
          <p:cNvPr id="12" name="Shape 13">
            <a:extLst>
              <a:ext uri="{FF2B5EF4-FFF2-40B4-BE49-F238E27FC236}">
                <a16:creationId xmlns:a16="http://schemas.microsoft.com/office/drawing/2014/main" id="{EA56EDEE-12E3-4956-DE30-3DFDD3DFAE8A}"/>
              </a:ext>
            </a:extLst>
          </p:cNvPr>
          <p:cNvSpPr/>
          <p:nvPr/>
        </p:nvSpPr>
        <p:spPr>
          <a:xfrm flipV="1">
            <a:off x="4423954" y="2726653"/>
            <a:ext cx="731520" cy="621792"/>
          </a:xfrm>
          <a:prstGeom prst="line">
            <a:avLst/>
          </a:prstGeom>
          <a:noFill/>
          <a:ln w="25400">
            <a:solidFill>
              <a:srgbClr val="B84A45"/>
            </a:solidFill>
            <a:prstDash val="solid"/>
            <a:headEnd type="none"/>
            <a:tailEnd type="none"/>
          </a:ln>
        </p:spPr>
        <p:txBody>
          <a:bodyPr/>
          <a:lstStyle/>
          <a:p>
            <a:endParaRPr lang="zh-CN" altLang="en-US"/>
          </a:p>
        </p:txBody>
      </p:sp>
      <p:sp>
        <p:nvSpPr>
          <p:cNvPr id="13" name="Shape 14">
            <a:extLst>
              <a:ext uri="{FF2B5EF4-FFF2-40B4-BE49-F238E27FC236}">
                <a16:creationId xmlns:a16="http://schemas.microsoft.com/office/drawing/2014/main" id="{6A0DE645-691C-8162-C723-1930610291E8}"/>
              </a:ext>
            </a:extLst>
          </p:cNvPr>
          <p:cNvSpPr/>
          <p:nvPr/>
        </p:nvSpPr>
        <p:spPr>
          <a:xfrm flipV="1">
            <a:off x="1635033" y="5104093"/>
            <a:ext cx="4066883" cy="237744"/>
          </a:xfrm>
          <a:prstGeom prst="line">
            <a:avLst/>
          </a:prstGeom>
          <a:noFill/>
          <a:ln w="25400">
            <a:solidFill>
              <a:srgbClr val="257A63"/>
            </a:solidFill>
            <a:prstDash val="solid"/>
            <a:headEnd type="none"/>
            <a:tailEnd type="none"/>
          </a:ln>
        </p:spPr>
        <p:txBody>
          <a:bodyPr/>
          <a:lstStyle/>
          <a:p>
            <a:endParaRPr lang="zh-CN" altLang="en-US"/>
          </a:p>
        </p:txBody>
      </p:sp>
      <p:sp>
        <p:nvSpPr>
          <p:cNvPr id="14" name="Text 15">
            <a:extLst>
              <a:ext uri="{FF2B5EF4-FFF2-40B4-BE49-F238E27FC236}">
                <a16:creationId xmlns:a16="http://schemas.microsoft.com/office/drawing/2014/main" id="{CEBB35FB-65FD-FF56-CB69-A63D124FA929}"/>
              </a:ext>
            </a:extLst>
          </p:cNvPr>
          <p:cNvSpPr/>
          <p:nvPr/>
        </p:nvSpPr>
        <p:spPr>
          <a:xfrm>
            <a:off x="2658291" y="2827237"/>
            <a:ext cx="3043646" cy="237744"/>
          </a:xfrm>
          <a:prstGeom prst="rect">
            <a:avLst/>
          </a:prstGeom>
          <a:noFill/>
          <a:ln/>
        </p:spPr>
        <p:txBody>
          <a:bodyPr wrap="square" lIns="254" tIns="254" rIns="254" bIns="254" rtlCol="0" anchor="t">
            <a:noAutofit/>
          </a:bodyPr>
          <a:lstStyle/>
          <a:p>
            <a:pPr marL="0" indent="0" algn="l">
              <a:buNone/>
            </a:pPr>
            <a:r>
              <a:rPr lang="en-US" sz="1600" dirty="0">
                <a:solidFill>
                  <a:srgbClr val="B84A45"/>
                </a:solidFill>
                <a:latin typeface="Roboto" pitchFamily="34" charset="0"/>
                <a:ea typeface="Roboto" pitchFamily="34" charset="-122"/>
                <a:cs typeface="Roboto" pitchFamily="34" charset="-120"/>
              </a:rPr>
              <a:t>scientific publications</a:t>
            </a:r>
            <a:endParaRPr lang="en-US" sz="1600" dirty="0"/>
          </a:p>
        </p:txBody>
      </p:sp>
      <p:sp>
        <p:nvSpPr>
          <p:cNvPr id="15" name="Text 16">
            <a:extLst>
              <a:ext uri="{FF2B5EF4-FFF2-40B4-BE49-F238E27FC236}">
                <a16:creationId xmlns:a16="http://schemas.microsoft.com/office/drawing/2014/main" id="{32890AD1-0692-ACFD-F825-FA85B96E9192}"/>
              </a:ext>
            </a:extLst>
          </p:cNvPr>
          <p:cNvSpPr/>
          <p:nvPr/>
        </p:nvSpPr>
        <p:spPr>
          <a:xfrm>
            <a:off x="3495837" y="5257799"/>
            <a:ext cx="2756913" cy="301753"/>
          </a:xfrm>
          <a:prstGeom prst="rect">
            <a:avLst/>
          </a:prstGeom>
          <a:noFill/>
          <a:ln/>
        </p:spPr>
        <p:txBody>
          <a:bodyPr wrap="square" lIns="254" tIns="254" rIns="254" bIns="254" rtlCol="0" anchor="t">
            <a:noAutofit/>
          </a:bodyPr>
          <a:lstStyle/>
          <a:p>
            <a:pPr marL="0" indent="0" algn="l">
              <a:buNone/>
            </a:pPr>
            <a:r>
              <a:rPr lang="en-US" sz="1600" dirty="0">
                <a:solidFill>
                  <a:srgbClr val="257A63"/>
                </a:solidFill>
                <a:latin typeface="Roboto" pitchFamily="34" charset="0"/>
                <a:ea typeface="Roboto" pitchFamily="34" charset="-122"/>
                <a:cs typeface="Roboto" pitchFamily="34" charset="-120"/>
              </a:rPr>
              <a:t>human verification bandwidth</a:t>
            </a:r>
            <a:endParaRPr lang="en-US" sz="1600" dirty="0"/>
          </a:p>
        </p:txBody>
      </p:sp>
      <p:sp>
        <p:nvSpPr>
          <p:cNvPr id="16" name="Shape 17">
            <a:extLst>
              <a:ext uri="{FF2B5EF4-FFF2-40B4-BE49-F238E27FC236}">
                <a16:creationId xmlns:a16="http://schemas.microsoft.com/office/drawing/2014/main" id="{B6932299-2BDB-B8E5-9B1D-E3E513C27D20}"/>
              </a:ext>
            </a:extLst>
          </p:cNvPr>
          <p:cNvSpPr/>
          <p:nvPr/>
        </p:nvSpPr>
        <p:spPr>
          <a:xfrm flipV="1">
            <a:off x="2412274" y="3429000"/>
            <a:ext cx="0" cy="2304288"/>
          </a:xfrm>
          <a:prstGeom prst="line">
            <a:avLst/>
          </a:prstGeom>
          <a:ln w="19050">
            <a:prstDash val="sysDash"/>
            <a:headEnd type="none"/>
            <a:tailEnd type="none"/>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7" name="Text 18">
            <a:extLst>
              <a:ext uri="{FF2B5EF4-FFF2-40B4-BE49-F238E27FC236}">
                <a16:creationId xmlns:a16="http://schemas.microsoft.com/office/drawing/2014/main" id="{FBE05854-1608-5BE0-C0C4-4F3BAF28F7B5}"/>
              </a:ext>
            </a:extLst>
          </p:cNvPr>
          <p:cNvSpPr/>
          <p:nvPr/>
        </p:nvSpPr>
        <p:spPr>
          <a:xfrm>
            <a:off x="1429568" y="1430166"/>
            <a:ext cx="3840481" cy="776150"/>
          </a:xfrm>
          <a:prstGeom prst="roundRect">
            <a:avLst>
              <a:gd name="adj" fmla="val 11574"/>
            </a:avLst>
          </a:prstGeom>
          <a:solidFill>
            <a:schemeClr val="bg2"/>
          </a:solidFill>
          <a:ln w="13970">
            <a:solidFill>
              <a:schemeClr val="tx1">
                <a:lumMod val="50000"/>
                <a:lumOff val="50000"/>
              </a:schemeClr>
            </a:solidFill>
          </a:ln>
        </p:spPr>
        <p:txBody>
          <a:bodyPr wrap="square" lIns="508" tIns="508" rIns="508" bIns="508" rtlCol="0" anchor="ctr">
            <a:noAutofit/>
          </a:bodyPr>
          <a:lstStyle/>
          <a:p>
            <a:pPr marL="0" indent="0" algn="ctr">
              <a:buNone/>
            </a:pPr>
            <a:r>
              <a:rPr lang="en-US" sz="2000" dirty="0">
                <a:solidFill>
                  <a:srgbClr val="242832"/>
                </a:solidFill>
                <a:latin typeface="Roboto" pitchFamily="34" charset="0"/>
                <a:ea typeface="Roboto" pitchFamily="34" charset="-122"/>
                <a:cs typeface="Roboto" pitchFamily="34" charset="-120"/>
              </a:rPr>
              <a:t>(AI) read ≠ checked ≠ reusable</a:t>
            </a:r>
            <a:endParaRPr lang="en-US" sz="2000" dirty="0"/>
          </a:p>
        </p:txBody>
      </p:sp>
      <p:sp>
        <p:nvSpPr>
          <p:cNvPr id="18" name="Text 0">
            <a:extLst>
              <a:ext uri="{FF2B5EF4-FFF2-40B4-BE49-F238E27FC236}">
                <a16:creationId xmlns:a16="http://schemas.microsoft.com/office/drawing/2014/main" id="{57E89486-F2E7-6E2E-7353-D0C44F1D96B7}"/>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The AI crisis in theoretic research</a:t>
            </a:r>
            <a:endParaRPr lang="en-US" sz="2400" dirty="0"/>
          </a:p>
        </p:txBody>
      </p:sp>
      <p:sp>
        <p:nvSpPr>
          <p:cNvPr id="19" name="文本框 18">
            <a:extLst>
              <a:ext uri="{FF2B5EF4-FFF2-40B4-BE49-F238E27FC236}">
                <a16:creationId xmlns:a16="http://schemas.microsoft.com/office/drawing/2014/main" id="{9498605F-E494-05AA-2C46-8F8DE0AD18F1}"/>
              </a:ext>
            </a:extLst>
          </p:cNvPr>
          <p:cNvSpPr txBox="1"/>
          <p:nvPr/>
        </p:nvSpPr>
        <p:spPr>
          <a:xfrm>
            <a:off x="2133600" y="5778065"/>
            <a:ext cx="788125" cy="307777"/>
          </a:xfrm>
          <a:prstGeom prst="rect">
            <a:avLst/>
          </a:prstGeom>
          <a:noFill/>
        </p:spPr>
        <p:txBody>
          <a:bodyPr wrap="square" rtlCol="0">
            <a:spAutoFit/>
          </a:bodyPr>
          <a:lstStyle/>
          <a:p>
            <a:r>
              <a:rPr kumimoji="1" lang="nl-NL" altLang="zh-CN" sz="1400" dirty="0"/>
              <a:t>2024</a:t>
            </a:r>
            <a:endParaRPr kumimoji="1" lang="zh-CN" altLang="en-US" sz="1400" dirty="0"/>
          </a:p>
        </p:txBody>
      </p:sp>
      <p:sp>
        <p:nvSpPr>
          <p:cNvPr id="20" name="Text 19">
            <a:extLst>
              <a:ext uri="{FF2B5EF4-FFF2-40B4-BE49-F238E27FC236}">
                <a16:creationId xmlns:a16="http://schemas.microsoft.com/office/drawing/2014/main" id="{8339C79B-1025-768B-DF23-3C0932BBD354}"/>
              </a:ext>
            </a:extLst>
          </p:cNvPr>
          <p:cNvSpPr/>
          <p:nvPr/>
        </p:nvSpPr>
        <p:spPr>
          <a:xfrm>
            <a:off x="6519018" y="3964105"/>
            <a:ext cx="5241259" cy="2121737"/>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Human researcher will be drowned in infinite ”recent progress” papers.</a:t>
            </a:r>
          </a:p>
          <a:p>
            <a:pPr marL="228600" indent="-228600">
              <a:spcBef>
                <a:spcPts val="800"/>
              </a:spcBef>
              <a:buClr>
                <a:srgbClr val="242832"/>
              </a:buClr>
              <a:buFont typeface="Arial"/>
              <a:buChar char="•"/>
            </a:pPr>
            <a:r>
              <a:rPr lang="en-US" altLang="zh-CN" sz="1600" dirty="0">
                <a:solidFill>
                  <a:srgbClr val="242832"/>
                </a:solidFill>
                <a:latin typeface="Roboto" pitchFamily="34" charset="0"/>
                <a:ea typeface="Roboto" pitchFamily="34" charset="-122"/>
                <a:cs typeface="Roboto" pitchFamily="34" charset="-120"/>
              </a:rPr>
              <a:t>Any open problem be solved increases the confidence of AGI, and also the anxiety of </a:t>
            </a:r>
            <a:r>
              <a:rPr b="1" lang="en-US" altLang="zh-CN" sz="1600" dirty="0">
                <a:solidFill>
                  <a:srgbClr val="C00000"/>
                </a:solidFill>
                <a:latin typeface="Roboto" pitchFamily="34" charset="0"/>
                <a:ea typeface="Roboto" pitchFamily="34" charset="-122"/>
                <a:cs typeface="Roboto" pitchFamily="34" charset="-120"/>
              </a:rPr>
              <a:t>our career</a:t>
            </a:r>
            <a:r>
              <a:rPr lang="en-US" altLang="zh-CN" sz="1600" dirty="0">
                <a:solidFill>
                  <a:srgbClr val="242832"/>
                </a:solidFill>
                <a:latin typeface="Roboto" pitchFamily="34" charset="0"/>
                <a:ea typeface="Roboto" pitchFamily="34" charset="-122"/>
                <a:cs typeface="Roboto" pitchFamily="34" charset="-120"/>
              </a:rPr>
              <a:t>.</a:t>
            </a:r>
            <a:endParaRPr lang="en-US" sz="1600" dirty="0"/>
          </a:p>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Later work still needs the exact imported claim and </a:t>
            </a:r>
            <a:r>
              <a:rPr b="1" lang="en-US" sz="1600" dirty="0">
                <a:solidFill>
                  <a:srgbClr val="C00000"/>
                </a:solidFill>
                <a:latin typeface="Roboto" pitchFamily="34" charset="0"/>
                <a:ea typeface="Roboto" pitchFamily="34" charset="-122"/>
                <a:cs typeface="Roboto" pitchFamily="34" charset="-120"/>
              </a:rPr>
              <a:t>verification</a:t>
            </a:r>
            <a:r>
              <a:rPr lang="en-US" sz="1600" dirty="0">
                <a:solidFill>
                  <a:srgbClr val="242832"/>
                </a:solidFill>
                <a:latin typeface="Roboto" pitchFamily="34" charset="0"/>
                <a:ea typeface="Roboto" pitchFamily="34" charset="-122"/>
                <a:cs typeface="Roboto" pitchFamily="34" charset="-120"/>
              </a:rPr>
              <a:t>.</a:t>
            </a:r>
            <a:endParaRPr lang="en-US" sz="1600" dirty="0"/>
          </a:p>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Claims and semantic content are often exaggerated</a:t>
            </a:r>
            <a:r>
              <a:rPr lang="nl-NL" sz="1600" dirty="0">
                <a:solidFill>
                  <a:srgbClr val="242832"/>
                </a:solidFill>
                <a:latin typeface="Roboto" pitchFamily="34" charset="0"/>
                <a:ea typeface="Roboto" pitchFamily="34" charset="-122"/>
                <a:cs typeface="Roboto" pitchFamily="34" charset="-120"/>
              </a:rPr>
              <a:t>.</a:t>
            </a:r>
            <a:endParaRPr lang="en-US" sz="1600" dirty="0">
              <a:solidFill>
                <a:srgbClr val="242832"/>
              </a:solidFill>
              <a:latin typeface="Roboto" pitchFamily="34" charset="0"/>
              <a:ea typeface="Roboto" pitchFamily="34" charset="-122"/>
              <a:cs typeface="Roboto" pitchFamily="34" charset="-120"/>
            </a:endParaRPr>
          </a:p>
          <a:p>
            <a:pPr algn="l">
              <a:spcBef>
                <a:spcPts val="800"/>
              </a:spcBef>
              <a:buClr>
                <a:srgbClr val="242832"/>
              </a:buClr>
            </a:pPr>
            <a:endParaRPr lang="en-US" sz="1600" dirty="0"/>
          </a:p>
        </p:txBody>
      </p:sp>
      <p:pic>
        <p:nvPicPr>
          <p:cNvPr id="21" name="图片 20">
            <a:extLst>
              <a:ext uri="{FF2B5EF4-FFF2-40B4-BE49-F238E27FC236}">
                <a16:creationId xmlns:a16="http://schemas.microsoft.com/office/drawing/2014/main" id="{B3B03642-C6F5-3F04-A139-EE7FF9AB9596}"/>
              </a:ext>
            </a:extLst>
          </p:cNvPr>
          <p:cNvPicPr>
            <a:picLocks noChangeAspect="1"/>
          </p:cNvPicPr>
          <p:nvPr/>
        </p:nvPicPr>
        <p:blipFill>
          <a:blip r:embed="rId3"/>
          <a:stretch>
            <a:fillRect/>
          </a:stretch>
        </p:blipFill>
        <p:spPr>
          <a:xfrm>
            <a:off x="6405266" y="1005731"/>
            <a:ext cx="2573164" cy="2573164"/>
          </a:xfrm>
          <a:prstGeom prst="rect">
            <a:avLst/>
          </a:prstGeom>
        </p:spPr>
      </p:pic>
      <p:pic>
        <p:nvPicPr>
          <p:cNvPr id="22" name="图片 21">
            <a:extLst>
              <a:ext uri="{FF2B5EF4-FFF2-40B4-BE49-F238E27FC236}">
                <a16:creationId xmlns:a16="http://schemas.microsoft.com/office/drawing/2014/main" id="{CF1CFDB0-D7AD-1520-AC53-EF2D9C1E995C}"/>
              </a:ext>
            </a:extLst>
          </p:cNvPr>
          <p:cNvPicPr>
            <a:picLocks noChangeAspect="1"/>
          </p:cNvPicPr>
          <p:nvPr/>
        </p:nvPicPr>
        <p:blipFill>
          <a:blip r:embed="rId4"/>
          <a:stretch>
            <a:fillRect/>
          </a:stretch>
        </p:blipFill>
        <p:spPr>
          <a:xfrm>
            <a:off x="9139647" y="1108055"/>
            <a:ext cx="2240390" cy="2240390"/>
          </a:xfrm>
          <a:prstGeom prst="rect">
            <a:avLst/>
          </a:prstGeom>
        </p:spPr>
      </p:pic>
      <p:sp>
        <p:nvSpPr>
          <p:cNvPr id="900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a:t>
            </a:r>
          </a:p>
        </p:txBody>
      </p:sp>
    </p:spTree>
    <p:extLst>
      <p:ext uri="{BB962C8B-B14F-4D97-AF65-F5344CB8AC3E}">
        <p14:creationId xmlns:p14="http://schemas.microsoft.com/office/powerpoint/2010/main" val="297036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9A7B41C-17A8-5239-7538-A20262FE5E77}"/>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81E28A16-1A71-213D-6D32-04F1730D46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75CCFE02-719C-BAD4-6968-98E05EE6E8C0}"/>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D31001B7-965A-71BE-91A3-841116584256}"/>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1D8381C1-120D-162C-8703-C8EEC1598C31}"/>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0" name="Text 19">
            <a:extLst>
              <a:ext uri="{FF2B5EF4-FFF2-40B4-BE49-F238E27FC236}">
                <a16:creationId xmlns:a16="http://schemas.microsoft.com/office/drawing/2014/main" id="{1DD9DE07-DECA-FD55-1E37-8E39D189D538}"/>
              </a:ext>
            </a:extLst>
          </p:cNvPr>
          <p:cNvSpPr/>
          <p:nvPr/>
        </p:nvSpPr>
        <p:spPr>
          <a:xfrm>
            <a:off x="6358820" y="6407888"/>
            <a:ext cx="5995970" cy="497887"/>
          </a:xfrm>
          <a:prstGeom prst="rect">
            <a:avLst/>
          </a:prstGeom>
          <a:noFill/>
          <a:ln/>
        </p:spPr>
        <p:txBody>
          <a:bodyPr wrap="square" lIns="254" tIns="254" rIns="254" bIns="254" rtlCol="0" anchor="t">
            <a:noAutofit/>
          </a:bodyPr>
          <a:lstStyle/>
          <a:p>
            <a:pPr>
              <a:spcBef>
                <a:spcPts val="800"/>
              </a:spcBef>
              <a:buClr>
                <a:srgbClr val="242832"/>
              </a:buClr>
            </a:pPr>
            <a:b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Zhang Y, Khan S A, Mahmud A, et al. </a:t>
            </a:r>
            <a:r>
              <a:rPr lang="en-US" altLang="zh-CN" sz="12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npj</a:t>
            </a: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Artificial Intelligence, 2025, 1(1): 14.</a:t>
            </a:r>
            <a:endPar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9004"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4</a:t>
            </a:r>
          </a:p>
        </p:txBody>
      </p:sp>
    </p:spTree>
    <p:extLst>
      <p:ext uri="{BB962C8B-B14F-4D97-AF65-F5344CB8AC3E}">
        <p14:creationId xmlns:p14="http://schemas.microsoft.com/office/powerpoint/2010/main" val="1075400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AC66-1FCC-9F07-1ADB-89384188256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73DD930C-F030-31FA-1948-62D35986C6E0}"/>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92673D7E-E107-CA9F-30B7-75125C0A5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A5B9D3BD-987B-F31A-139A-5084B6920509}"/>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F9D96D11-8231-B8B8-BA5F-60F22C73877B}"/>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FAAC2B49-815F-7E91-D955-14E35BF87FB0}"/>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7" name="组合 36">
            <a:extLst>
              <a:ext uri="{FF2B5EF4-FFF2-40B4-BE49-F238E27FC236}">
                <a16:creationId xmlns:a16="http://schemas.microsoft.com/office/drawing/2014/main" id="{8324E2EB-0541-6090-43AE-A242E39C9A48}"/>
              </a:ext>
            </a:extLst>
          </p:cNvPr>
          <p:cNvGrpSpPr/>
          <p:nvPr/>
        </p:nvGrpSpPr>
        <p:grpSpPr>
          <a:xfrm>
            <a:off x="4062846" y="1200351"/>
            <a:ext cx="7512627" cy="369332"/>
            <a:chOff x="4249882" y="1724890"/>
            <a:chExt cx="5881253" cy="369332"/>
          </a:xfrm>
        </p:grpSpPr>
        <p:sp>
          <p:nvSpPr>
            <p:cNvPr id="38" name="文本框 37">
              <a:extLst>
                <a:ext uri="{FF2B5EF4-FFF2-40B4-BE49-F238E27FC236}">
                  <a16:creationId xmlns:a16="http://schemas.microsoft.com/office/drawing/2014/main" id="{EBB816D8-BC78-72A9-BE62-717163FBE1D2}"/>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token -&gt; prob. distribution -&gt; (next) token -&gt;  String</a:t>
              </a:r>
              <a:endParaRPr kumimoji="1" lang="zh-CN" altLang="en-US" dirty="0"/>
            </a:p>
          </p:txBody>
        </p:sp>
        <p:sp>
          <p:nvSpPr>
            <p:cNvPr id="39" name="矩形 38">
              <a:extLst>
                <a:ext uri="{FF2B5EF4-FFF2-40B4-BE49-F238E27FC236}">
                  <a16:creationId xmlns:a16="http://schemas.microsoft.com/office/drawing/2014/main" id="{6FAC4693-0EA7-1C4F-0398-351EF3BEB2F6}"/>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900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5</a:t>
            </a:r>
          </a:p>
        </p:txBody>
      </p:sp>
    </p:spTree>
    <p:extLst>
      <p:ext uri="{BB962C8B-B14F-4D97-AF65-F5344CB8AC3E}">
        <p14:creationId xmlns:p14="http://schemas.microsoft.com/office/powerpoint/2010/main" val="1408434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55421-F1BA-E174-717E-E1D5C95A9F6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A581CA60-B5ED-EB10-FE00-1022ADE65A2D}"/>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A29990A6-D902-0BBC-29BC-3161053C28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A5FAE4EE-6749-3B14-05D5-F197A0F6A5E0}"/>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C1E74F00-8125-9461-0141-085CE1447DA9}"/>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B2577521-ADBB-34C6-9B7D-B5D751474A22}"/>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mc:AlternateContent xmlns:mc="http://schemas.openxmlformats.org/markup-compatibility/2006">
        <mc:Choice xmlns:a14="http://schemas.microsoft.com/office/drawing/2010/main" Requires="a14">
          <p:sp>
            <p:nvSpPr>
              <p:cNvPr id="36" name="Text 19">
                <a:extLst>
                  <a:ext uri="{FF2B5EF4-FFF2-40B4-BE49-F238E27FC236}">
                    <a16:creationId xmlns:a16="http://schemas.microsoft.com/office/drawing/2014/main" id="{0C4A3053-5D24-98E5-856E-C1D360488EF0}"/>
                  </a:ext>
                </a:extLst>
              </p:cNvPr>
              <p:cNvSpPr/>
              <p:nvPr/>
            </p:nvSpPr>
            <p:spPr>
              <a:xfrm>
                <a:off x="2039026" y="5867739"/>
                <a:ext cx="11666449" cy="576722"/>
              </a:xfrm>
              <a:prstGeom prst="rect">
                <a:avLst/>
              </a:prstGeom>
              <a:noFill/>
              <a:ln/>
            </p:spPr>
            <p:txBody>
              <a:bodyPr wrap="square" lIns="254" tIns="254" rIns="254" bIns="254" rtlCol="0" anchor="t">
                <a:noAutofit/>
              </a:bodyPr>
              <a:lstStyle/>
              <a:p>
                <a:pPr>
                  <a:spcBef>
                    <a:spcPts val="800"/>
                  </a:spcBef>
                  <a:buClr>
                    <a:srgbClr val="242832"/>
                  </a:buClr>
                </a:pPr>
                <a:r>
                  <a:rPr lang="en-US" sz="1600" dirty="0">
                    <a:solidFill>
                      <a:srgbClr val="242832"/>
                    </a:solidFill>
                    <a:latin typeface="Roboto" pitchFamily="34" charset="0"/>
                    <a:ea typeface="Roboto" pitchFamily="34" charset="-122"/>
                    <a:cs typeface="Roboto" pitchFamily="34" charset="-120"/>
                  </a:rPr>
                  <a:t>LLM outputs a conditioned probabilistic distribution </a:t>
                </a:r>
                <a14:m>
                  <m:oMath xmlns:m="http://schemas.openxmlformats.org/officeDocument/2006/math">
                    <m:r>
                      <a:rPr lang="nl-NL" altLang="zh-CN" sz="1600" b="1">
                        <a:solidFill>
                          <a:srgbClr val="242832"/>
                        </a:solidFill>
                        <a:latin typeface="Cambria Math" panose="02040503050406030204" pitchFamily="18" charset="0"/>
                        <a:ea typeface="Roboto" pitchFamily="34" charset="-122"/>
                        <a:cs typeface="Roboto" pitchFamily="34" charset="-120"/>
                      </a:rPr>
                      <m:t>𝐏</m:t>
                    </m:r>
                    <m:r>
                      <a:rPr lang="nl-NL" altLang="zh-CN" sz="1600" i="1">
                        <a:solidFill>
                          <a:srgbClr val="242832"/>
                        </a:solidFill>
                        <a:latin typeface="Cambria Math" panose="02040503050406030204" pitchFamily="18" charset="0"/>
                        <a:ea typeface="Roboto" pitchFamily="34" charset="-122"/>
                        <a:cs typeface="Roboto" pitchFamily="34" charset="-120"/>
                      </a:rPr>
                      <m:t>(</m:t>
                    </m:r>
                    <m:r>
                      <m:rPr>
                        <m:sty m:val="p"/>
                      </m:rPr>
                      <a:rPr lang="nl-NL" altLang="zh-CN" sz="1600">
                        <a:solidFill>
                          <a:srgbClr val="242832"/>
                        </a:solidFill>
                        <a:latin typeface="Cambria Math" panose="02040503050406030204" pitchFamily="18" charset="0"/>
                        <a:ea typeface="Roboto" pitchFamily="34" charset="-122"/>
                        <a:cs typeface="Roboto" pitchFamily="34" charset="-120"/>
                      </a:rPr>
                      <m:t>next</m:t>
                    </m:r>
                    <m:r>
                      <a:rPr lang="nl-NL" altLang="zh-CN" sz="1600">
                        <a:solidFill>
                          <a:srgbClr val="242832"/>
                        </a:solidFill>
                        <a:latin typeface="Cambria Math" panose="02040503050406030204" pitchFamily="18" charset="0"/>
                        <a:ea typeface="Roboto" pitchFamily="34" charset="-122"/>
                        <a:cs typeface="Roboto" pitchFamily="34" charset="-120"/>
                      </a:rPr>
                      <m:t> </m:t>
                    </m:r>
                    <m:r>
                      <m:rPr>
                        <m:sty m:val="p"/>
                      </m:rPr>
                      <a:rPr lang="nl-NL" altLang="zh-CN" sz="1600">
                        <a:solidFill>
                          <a:srgbClr val="242832"/>
                        </a:solidFill>
                        <a:latin typeface="Cambria Math" panose="02040503050406030204" pitchFamily="18" charset="0"/>
                        <a:ea typeface="Roboto" pitchFamily="34" charset="-122"/>
                        <a:cs typeface="Roboto" pitchFamily="34" charset="-120"/>
                      </a:rPr>
                      <m:t>token</m:t>
                    </m:r>
                    <m:r>
                      <a:rPr lang="nl-NL" altLang="zh-CN" sz="1600" i="1">
                        <a:solidFill>
                          <a:srgbClr val="242832"/>
                        </a:solidFill>
                        <a:latin typeface="Cambria Math" panose="02040503050406030204" pitchFamily="18" charset="0"/>
                        <a:ea typeface="Roboto" pitchFamily="34" charset="-122"/>
                        <a:cs typeface="Roboto" pitchFamily="34" charset="-120"/>
                      </a:rPr>
                      <m:t>|</m:t>
                    </m:r>
                    <m:r>
                      <m:rPr>
                        <m:sty m:val="p"/>
                      </m:rPr>
                      <a:rPr lang="nl-NL" altLang="zh-CN" sz="1600">
                        <a:solidFill>
                          <a:srgbClr val="242832"/>
                        </a:solidFill>
                        <a:latin typeface="Cambria Math" panose="02040503050406030204" pitchFamily="18" charset="0"/>
                        <a:ea typeface="Roboto" pitchFamily="34" charset="-122"/>
                        <a:cs typeface="Roboto" pitchFamily="34" charset="-120"/>
                      </a:rPr>
                      <m:t>context</m:t>
                    </m:r>
                    <m:r>
                      <a:rPr lang="nl-NL" altLang="zh-CN" sz="1600" i="1">
                        <a:solidFill>
                          <a:srgbClr val="242832"/>
                        </a:solidFill>
                        <a:latin typeface="Cambria Math" panose="02040503050406030204" pitchFamily="18" charset="0"/>
                        <a:ea typeface="Roboto" pitchFamily="34" charset="-122"/>
                        <a:cs typeface="Roboto" pitchFamily="34" charset="-120"/>
                      </a:rPr>
                      <m:t>)</m:t>
                    </m:r>
                  </m:oMath>
                </a14:m>
                <a:r>
                  <a:rPr lang="en-US" sz="1600" dirty="0">
                    <a:solidFill>
                      <a:srgbClr val="242832"/>
                    </a:solidFill>
                    <a:latin typeface="Roboto" pitchFamily="34" charset="0"/>
                    <a:ea typeface="Roboto" pitchFamily="34" charset="-122"/>
                    <a:cs typeface="Roboto" pitchFamily="34" charset="-120"/>
                  </a:rPr>
                  <a:t>, then </a:t>
                </a:r>
                <a:r>
                  <a:rPr b="1" lang="en-US" sz="1600" dirty="0">
                    <a:solidFill>
                      <a:srgbClr val="C00000"/>
                    </a:solidFill>
                    <a:latin typeface="Roboto" pitchFamily="34" charset="0"/>
                    <a:ea typeface="Roboto" pitchFamily="34" charset="-122"/>
                    <a:cs typeface="Roboto" pitchFamily="34" charset="-120"/>
                  </a:rPr>
                  <a:t>samples</a:t>
                </a:r>
                <a:r>
                  <a:rPr lang="en-US" sz="1600" dirty="0">
                    <a:solidFill>
                      <a:srgbClr val="242832"/>
                    </a:solidFill>
                    <a:latin typeface="Roboto" pitchFamily="34" charset="0"/>
                    <a:ea typeface="Roboto" pitchFamily="34" charset="-122"/>
                    <a:cs typeface="Roboto" pitchFamily="34" charset="-120"/>
                  </a:rPr>
                  <a:t>.</a:t>
                </a:r>
              </a:p>
            </p:txBody>
          </p:sp>
        </mc:Choice>
        <mc:Fallback>
          <p:sp>
            <p:nvSpPr>
              <p:cNvPr id="36" name="Text 19">
                <a:extLst>
                  <a:ext uri="{FF2B5EF4-FFF2-40B4-BE49-F238E27FC236}">
                    <a16:creationId xmlns:a16="http://schemas.microsoft.com/office/drawing/2014/main" id="{0C4A3053-5D24-98E5-856E-C1D360488EF0}"/>
                  </a:ext>
                </a:extLst>
              </p:cNvPr>
              <p:cNvSpPr>
                <a:spLocks noRot="1" noChangeAspect="1" noMove="1" noResize="1" noEditPoints="1" noAdjustHandles="1" noChangeArrowheads="1" noChangeShapeType="1" noTextEdit="1"/>
              </p:cNvSpPr>
              <p:nvPr/>
            </p:nvSpPr>
            <p:spPr>
              <a:xfrm>
                <a:off x="2039026" y="5867739"/>
                <a:ext cx="11666449" cy="576722"/>
              </a:xfrm>
              <a:prstGeom prst="rect">
                <a:avLst/>
              </a:prstGeom>
              <a:blipFill>
                <a:blip r:embed="rId4"/>
                <a:stretch>
                  <a:fillRect l="-1087" t="-13043"/>
                </a:stretch>
              </a:blipFill>
              <a:ln/>
            </p:spPr>
            <p:txBody>
              <a:bodyPr/>
              <a:lstStyle/>
              <a:p>
                <a:r>
                  <a:rPr lang="zh-CN" altLang="en-US">
                    <a:noFill/>
                  </a:rPr>
                  <a:t> </a:t>
                </a:r>
              </a:p>
            </p:txBody>
          </p:sp>
        </mc:Fallback>
      </mc:AlternateContent>
      <p:grpSp>
        <p:nvGrpSpPr>
          <p:cNvPr id="37" name="组合 36">
            <a:extLst>
              <a:ext uri="{FF2B5EF4-FFF2-40B4-BE49-F238E27FC236}">
                <a16:creationId xmlns:a16="http://schemas.microsoft.com/office/drawing/2014/main" id="{43843039-D8D5-53AA-56DD-FF0C13EDFEE3}"/>
              </a:ext>
            </a:extLst>
          </p:cNvPr>
          <p:cNvGrpSpPr/>
          <p:nvPr/>
        </p:nvGrpSpPr>
        <p:grpSpPr>
          <a:xfrm>
            <a:off x="4062846" y="1200351"/>
            <a:ext cx="7512627" cy="369332"/>
            <a:chOff x="4249882" y="1724890"/>
            <a:chExt cx="5881253" cy="369332"/>
          </a:xfrm>
        </p:grpSpPr>
        <p:sp>
          <p:nvSpPr>
            <p:cNvPr id="38" name="文本框 37">
              <a:extLst>
                <a:ext uri="{FF2B5EF4-FFF2-40B4-BE49-F238E27FC236}">
                  <a16:creationId xmlns:a16="http://schemas.microsoft.com/office/drawing/2014/main" id="{63E60765-A18C-6912-8EA4-716FF554CB69}"/>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token -&gt; prob. distribution -&gt; (next) token -&gt;  String</a:t>
              </a:r>
              <a:endParaRPr kumimoji="1" lang="zh-CN" altLang="en-US" dirty="0"/>
            </a:p>
          </p:txBody>
        </p:sp>
        <p:sp>
          <p:nvSpPr>
            <p:cNvPr id="39" name="矩形 38">
              <a:extLst>
                <a:ext uri="{FF2B5EF4-FFF2-40B4-BE49-F238E27FC236}">
                  <a16:creationId xmlns:a16="http://schemas.microsoft.com/office/drawing/2014/main" id="{12381D6A-822B-01F0-B9ED-FC7D5BE78EE5}"/>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0" name="Text 19">
            <a:extLst>
              <a:ext uri="{FF2B5EF4-FFF2-40B4-BE49-F238E27FC236}">
                <a16:creationId xmlns:a16="http://schemas.microsoft.com/office/drawing/2014/main" id="{3621F7DB-CBE4-4652-E96E-306ADAEE0A76}"/>
              </a:ext>
            </a:extLst>
          </p:cNvPr>
          <p:cNvSpPr/>
          <p:nvPr/>
        </p:nvSpPr>
        <p:spPr>
          <a:xfrm>
            <a:off x="6358820" y="6407888"/>
            <a:ext cx="5995970" cy="497887"/>
          </a:xfrm>
          <a:prstGeom prst="rect">
            <a:avLst/>
          </a:prstGeom>
          <a:noFill/>
          <a:ln/>
        </p:spPr>
        <p:txBody>
          <a:bodyPr wrap="square" lIns="254" tIns="254" rIns="254" bIns="254" rtlCol="0" anchor="t">
            <a:noAutofit/>
          </a:bodyPr>
          <a:lstStyle/>
          <a:p>
            <a:pPr>
              <a:spcBef>
                <a:spcPts val="800"/>
              </a:spcBef>
              <a:buClr>
                <a:srgbClr val="242832"/>
              </a:buClr>
            </a:pPr>
            <a:b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Zhang Y, Khan S A, Mahmud A, et al. </a:t>
            </a:r>
            <a:r>
              <a:rPr lang="en-US" altLang="zh-CN" sz="12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npj</a:t>
            </a: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Artificial Intelligence, 2025, 1(1): 14.</a:t>
            </a:r>
            <a:endPar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3091" name="图形 3090">
            <a:extLst>
              <a:ext uri="{FF2B5EF4-FFF2-40B4-BE49-F238E27FC236}">
                <a16:creationId xmlns:a16="http://schemas.microsoft.com/office/drawing/2014/main" id="{A054A9DD-A09D-95A4-AA0A-84DA71645F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69030" y="1821889"/>
            <a:ext cx="6934200" cy="3975100"/>
          </a:xfrm>
          <a:prstGeom prst="rect">
            <a:avLst/>
          </a:prstGeom>
        </p:spPr>
      </p:pic>
      <p:sp>
        <p:nvSpPr>
          <p:cNvPr id="900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6</a:t>
            </a:r>
          </a:p>
        </p:txBody>
      </p:sp>
    </p:spTree>
    <p:extLst>
      <p:ext uri="{BB962C8B-B14F-4D97-AF65-F5344CB8AC3E}">
        <p14:creationId xmlns:p14="http://schemas.microsoft.com/office/powerpoint/2010/main" val="295329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21DA-D973-76BD-6F67-F1444D5603B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05B4E38B-44EF-F4D3-0DD2-1EEB7D710B81}"/>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Model </a:t>
            </a:r>
            <a:r>
              <a:rPr lang="nl-NL" sz="2400" b="1" dirty="0" err="1">
                <a:solidFill>
                  <a:srgbClr val="242832"/>
                </a:solidFill>
                <a:latin typeface="Roboto Condensed" pitchFamily="34" charset="0"/>
                <a:ea typeface="Roboto Condensed" pitchFamily="34" charset="-122"/>
                <a:cs typeface="Roboto Condensed" pitchFamily="34" charset="-120"/>
              </a:rPr>
              <a:t>Momery</a:t>
            </a:r>
            <a:endParaRPr lang="en-US" sz="2400" dirty="0"/>
          </a:p>
        </p:txBody>
      </p:sp>
      <p:sp>
        <p:nvSpPr>
          <p:cNvPr id="40" name="Text 19">
            <a:extLst>
              <a:ext uri="{FF2B5EF4-FFF2-40B4-BE49-F238E27FC236}">
                <a16:creationId xmlns:a16="http://schemas.microsoft.com/office/drawing/2014/main" id="{732F86E0-407B-2A39-75A2-EA1EE9DFC836}"/>
              </a:ext>
            </a:extLst>
          </p:cNvPr>
          <p:cNvSpPr/>
          <p:nvPr/>
        </p:nvSpPr>
        <p:spPr>
          <a:xfrm>
            <a:off x="6577030" y="6532360"/>
            <a:ext cx="5995970" cy="248944"/>
          </a:xfrm>
          <a:prstGeom prst="rect">
            <a:avLst/>
          </a:prstGeom>
          <a:noFill/>
          <a:ln/>
        </p:spPr>
        <p:txBody>
          <a:bodyPr wrap="square" lIns="254" tIns="254" rIns="254" bIns="254" rtlCol="0" anchor="t">
            <a:noAutofit/>
          </a:bodyPr>
          <a:lstStyle/>
          <a:p>
            <a:pPr>
              <a:spcBef>
                <a:spcPts val="800"/>
              </a:spcBef>
              <a:buClr>
                <a:srgbClr val="242832"/>
              </a:buClr>
            </a:pP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Tobias Osborne’s talk 2026 at UCL: </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https://www.youtube.com/@tobiasjosborne</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p:txBody>
      </p:sp>
      <p:sp>
        <p:nvSpPr>
          <p:cNvPr id="2" name="Text 19">
            <a:extLst>
              <a:ext uri="{FF2B5EF4-FFF2-40B4-BE49-F238E27FC236}">
                <a16:creationId xmlns:a16="http://schemas.microsoft.com/office/drawing/2014/main" id="{7ECAE8DC-EDED-9DDD-4CDE-3CDE008DBC30}"/>
              </a:ext>
            </a:extLst>
          </p:cNvPr>
          <p:cNvSpPr/>
          <p:nvPr/>
        </p:nvSpPr>
        <p:spPr>
          <a:xfrm>
            <a:off x="629187" y="1387598"/>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Model </a:t>
            </a:r>
            <a:r>
              <a:rPr lang="en-US" sz="1600" dirty="0" err="1">
                <a:solidFill>
                  <a:srgbClr val="242832"/>
                </a:solidFill>
                <a:latin typeface="Roboto" pitchFamily="34" charset="0"/>
                <a:ea typeface="Roboto" pitchFamily="34" charset="-122"/>
                <a:cs typeface="Roboto" pitchFamily="34" charset="-120"/>
              </a:rPr>
              <a:t>Momery</a:t>
            </a:r>
            <a:r>
              <a:rPr lang="en-US" sz="1600" dirty="0">
                <a:solidFill>
                  <a:srgbClr val="242832"/>
                </a:solidFill>
                <a:latin typeface="Roboto" pitchFamily="34" charset="0"/>
                <a:ea typeface="Roboto" pitchFamily="34" charset="-122"/>
                <a:cs typeface="Roboto" pitchFamily="34" charset="-120"/>
              </a:rPr>
              <a:t>: saves previous prompts and answers </a:t>
            </a:r>
            <a:r>
              <a:rPr b="1" lang="en-US" sz="1600" dirty="0">
                <a:solidFill>
                  <a:srgbClr val="C00000"/>
                </a:solidFill>
                <a:latin typeface="Roboto" pitchFamily="34" charset="0"/>
                <a:ea typeface="Roboto" pitchFamily="34" charset="-122"/>
                <a:cs typeface="Roboto" pitchFamily="34" charset="-120"/>
              </a:rPr>
              <a:t>re-sends</a:t>
            </a:r>
            <a:r>
              <a:rPr lang="en-US" sz="1600" dirty="0">
                <a:solidFill>
                  <a:srgbClr val="242832"/>
                </a:solidFill>
                <a:latin typeface="Roboto" pitchFamily="34" charset="0"/>
                <a:ea typeface="Roboto" pitchFamily="34" charset="-122"/>
                <a:cs typeface="Roboto" pitchFamily="34" charset="-120"/>
              </a:rPr>
              <a:t> the history every time</a:t>
            </a:r>
            <a:endParaRPr lang="en-US" sz="1600" b="1" dirty="0">
              <a:solidFill>
                <a:srgbClr val="242832"/>
              </a:solidFill>
              <a:latin typeface="Roboto" pitchFamily="34" charset="0"/>
              <a:ea typeface="Roboto" pitchFamily="34" charset="-122"/>
              <a:cs typeface="Roboto" pitchFamily="34" charset="-120"/>
            </a:endParaRPr>
          </a:p>
        </p:txBody>
      </p:sp>
      <p:sp>
        <p:nvSpPr>
          <p:cNvPr id="3" name="矩形 2">
            <a:extLst>
              <a:ext uri="{FF2B5EF4-FFF2-40B4-BE49-F238E27FC236}">
                <a16:creationId xmlns:a16="http://schemas.microsoft.com/office/drawing/2014/main" id="{5E24B90F-1E67-5219-12DF-D61B8D6F8642}"/>
              </a:ext>
            </a:extLst>
          </p:cNvPr>
          <p:cNvSpPr/>
          <p:nvPr/>
        </p:nvSpPr>
        <p:spPr>
          <a:xfrm>
            <a:off x="10561043" y="2263269"/>
            <a:ext cx="1475510" cy="8001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new prompt</a:t>
            </a:r>
            <a:endParaRPr kumimoji="1" lang="zh-CN" altLang="en-US" dirty="0">
              <a:solidFill>
                <a:schemeClr val="tx1"/>
              </a:solidFill>
            </a:endParaRPr>
          </a:p>
        </p:txBody>
      </p:sp>
      <p:sp>
        <p:nvSpPr>
          <p:cNvPr id="5" name="矩形 4">
            <a:extLst>
              <a:ext uri="{FF2B5EF4-FFF2-40B4-BE49-F238E27FC236}">
                <a16:creationId xmlns:a16="http://schemas.microsoft.com/office/drawing/2014/main" id="{5FBD5477-B1ED-52F1-6AA5-B58BECFCDB20}"/>
              </a:ext>
            </a:extLst>
          </p:cNvPr>
          <p:cNvSpPr/>
          <p:nvPr/>
        </p:nvSpPr>
        <p:spPr>
          <a:xfrm>
            <a:off x="6335932" y="2263269"/>
            <a:ext cx="4244148" cy="8001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err="1">
                <a:solidFill>
                  <a:schemeClr val="tx1"/>
                </a:solidFill>
              </a:rPr>
              <a:t>conversation</a:t>
            </a:r>
            <a:r>
              <a:rPr kumimoji="1" lang="nl-NL" altLang="zh-CN" dirty="0">
                <a:solidFill>
                  <a:schemeClr val="tx1"/>
                </a:solidFill>
              </a:rPr>
              <a:t> </a:t>
            </a:r>
            <a:r>
              <a:rPr kumimoji="1" lang="nl-NL" altLang="zh-CN" dirty="0" err="1">
                <a:solidFill>
                  <a:schemeClr val="tx1"/>
                </a:solidFill>
              </a:rPr>
              <a:t>history</a:t>
            </a:r>
            <a:endParaRPr kumimoji="1" lang="zh-CN" altLang="en-US" dirty="0">
              <a:solidFill>
                <a:schemeClr val="tx1"/>
              </a:solidFill>
            </a:endParaRPr>
          </a:p>
        </p:txBody>
      </p:sp>
      <p:sp>
        <p:nvSpPr>
          <p:cNvPr id="6" name="矩形 5">
            <a:extLst>
              <a:ext uri="{FF2B5EF4-FFF2-40B4-BE49-F238E27FC236}">
                <a16:creationId xmlns:a16="http://schemas.microsoft.com/office/drawing/2014/main" id="{A5D8F5C6-5D52-0DDB-EE8D-15E83FD9677F}"/>
              </a:ext>
            </a:extLst>
          </p:cNvPr>
          <p:cNvSpPr/>
          <p:nvPr/>
        </p:nvSpPr>
        <p:spPr>
          <a:xfrm>
            <a:off x="4590258" y="2263269"/>
            <a:ext cx="1745673" cy="8001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system prompt</a:t>
            </a:r>
            <a:endParaRPr kumimoji="1" lang="zh-CN" altLang="en-US" dirty="0">
              <a:solidFill>
                <a:schemeClr val="tx1"/>
              </a:solidFill>
            </a:endParaRPr>
          </a:p>
        </p:txBody>
      </p:sp>
      <p:sp>
        <p:nvSpPr>
          <p:cNvPr id="7" name="右大括号 6">
            <a:extLst>
              <a:ext uri="{FF2B5EF4-FFF2-40B4-BE49-F238E27FC236}">
                <a16:creationId xmlns:a16="http://schemas.microsoft.com/office/drawing/2014/main" id="{0FDA67B8-9405-CB92-D4D1-B31D528E6249}"/>
              </a:ext>
            </a:extLst>
          </p:cNvPr>
          <p:cNvSpPr/>
          <p:nvPr/>
        </p:nvSpPr>
        <p:spPr>
          <a:xfrm rot="5400000">
            <a:off x="8132385" y="-186914"/>
            <a:ext cx="387475" cy="727322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44F560F-FCD9-FBE8-B952-DB300D76E67A}"/>
              </a:ext>
            </a:extLst>
          </p:cNvPr>
          <p:cNvSpPr txBox="1"/>
          <p:nvPr/>
        </p:nvSpPr>
        <p:spPr>
          <a:xfrm>
            <a:off x="7403329" y="3660022"/>
            <a:ext cx="2109354" cy="646331"/>
          </a:xfrm>
          <a:prstGeom prst="rect">
            <a:avLst/>
          </a:prstGeom>
          <a:noFill/>
        </p:spPr>
        <p:txBody>
          <a:bodyPr wrap="square" rtlCol="0">
            <a:spAutoFit/>
          </a:bodyPr>
          <a:lstStyle/>
          <a:p>
            <a:r>
              <a:rPr kumimoji="1" lang="en-US" altLang="zh-CN" dirty="0"/>
              <a:t>context window</a:t>
            </a:r>
          </a:p>
          <a:p>
            <a:r>
              <a:rPr kumimoji="1" lang="en-US" altLang="zh-CN" dirty="0"/>
              <a:t>(token capacity) </a:t>
            </a:r>
            <a:endParaRPr kumimoji="1" lang="zh-CN" altLang="en-US" dirty="0"/>
          </a:p>
        </p:txBody>
      </p:sp>
      <p:sp>
        <p:nvSpPr>
          <p:cNvPr id="9" name="Text 19">
            <a:extLst>
              <a:ext uri="{FF2B5EF4-FFF2-40B4-BE49-F238E27FC236}">
                <a16:creationId xmlns:a16="http://schemas.microsoft.com/office/drawing/2014/main" id="{70E684C3-95CA-4065-53F8-997D9915A45F}"/>
              </a:ext>
            </a:extLst>
          </p:cNvPr>
          <p:cNvSpPr/>
          <p:nvPr/>
        </p:nvSpPr>
        <p:spPr>
          <a:xfrm>
            <a:off x="629188" y="987416"/>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Normally, the conversation with LLM is a forward pass and </a:t>
            </a:r>
            <a:r>
              <a:rPr b="1" lang="en-US" sz="1600" dirty="0">
                <a:solidFill>
                  <a:srgbClr val="C00000"/>
                </a:solidFill>
                <a:latin typeface="Roboto" pitchFamily="34" charset="0"/>
                <a:ea typeface="Roboto" pitchFamily="34" charset="-122"/>
                <a:cs typeface="Roboto" pitchFamily="34" charset="-120"/>
              </a:rPr>
              <a:t>does not update any model weights </a:t>
            </a:r>
            <a:endParaRPr lang="en-US" sz="1600" b="1" dirty="0">
              <a:solidFill>
                <a:srgbClr val="242832"/>
              </a:solidFill>
              <a:latin typeface="Roboto" pitchFamily="34" charset="0"/>
              <a:ea typeface="Roboto" pitchFamily="34" charset="-122"/>
              <a:cs typeface="Roboto" pitchFamily="34" charset="-120"/>
            </a:endParaRPr>
          </a:p>
        </p:txBody>
      </p:sp>
      <p:grpSp>
        <p:nvGrpSpPr>
          <p:cNvPr id="19" name="组合 18">
            <a:extLst>
              <a:ext uri="{FF2B5EF4-FFF2-40B4-BE49-F238E27FC236}">
                <a16:creationId xmlns:a16="http://schemas.microsoft.com/office/drawing/2014/main" id="{C15313D2-449D-074B-431E-92C90869D4B3}"/>
              </a:ext>
            </a:extLst>
          </p:cNvPr>
          <p:cNvGrpSpPr/>
          <p:nvPr/>
        </p:nvGrpSpPr>
        <p:grpSpPr>
          <a:xfrm>
            <a:off x="482561" y="1924343"/>
            <a:ext cx="3990284" cy="2031325"/>
            <a:chOff x="420780" y="2173847"/>
            <a:chExt cx="3990284" cy="2031325"/>
          </a:xfrm>
        </p:grpSpPr>
        <p:sp>
          <p:nvSpPr>
            <p:cNvPr id="16" name="文本框 15">
              <a:extLst>
                <a:ext uri="{FF2B5EF4-FFF2-40B4-BE49-F238E27FC236}">
                  <a16:creationId xmlns:a16="http://schemas.microsoft.com/office/drawing/2014/main" id="{A496A331-1259-F511-B39C-8CD5F9914DE6}"/>
                </a:ext>
              </a:extLst>
            </p:cNvPr>
            <p:cNvSpPr txBox="1"/>
            <p:nvPr/>
          </p:nvSpPr>
          <p:spPr>
            <a:xfrm>
              <a:off x="476313" y="2173847"/>
              <a:ext cx="3934751" cy="2031325"/>
            </a:xfrm>
            <a:prstGeom prst="rect">
              <a:avLst/>
            </a:prstGeom>
            <a:solidFill>
              <a:schemeClr val="bg2"/>
            </a:solidFill>
          </p:spPr>
          <p:txBody>
            <a:bodyPr wrap="square">
              <a:spAutoFit/>
            </a:bodyPr>
            <a:lstStyle/>
            <a:p>
              <a:pPr rtl="0">
                <a:buNone/>
              </a:pPr>
              <a:r>
                <a:rPr lang="en-US" altLang="zh-CN" sz="1400" dirty="0">
                  <a:latin typeface="Courier New" panose="02070309020205020404" pitchFamily="49" charset="0"/>
                </a:rPr>
                <a:t>Turn 1</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 </a:t>
              </a:r>
              <a:r>
                <a:rPr lang="en-US" altLang="zh-CN" sz="1400" dirty="0">
                  <a:latin typeface="Courier New" panose="02070309020205020404" pitchFamily="49" charset="0"/>
                </a:rPr>
                <a:t>I am a physicist.]</a:t>
              </a:r>
            </a:p>
            <a:p>
              <a:pPr rtl="0">
                <a:buNone/>
              </a:pPr>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endParaRPr lang="en-US" altLang="zh-CN" sz="1400" dirty="0">
                <a:latin typeface="Courier New" panose="02070309020205020404" pitchFamily="49" charset="0"/>
              </a:endParaRPr>
            </a:p>
            <a:p>
              <a:pPr rtl="0">
                <a:buNone/>
              </a:pPr>
              <a:r>
                <a:rPr lang="en-US" altLang="zh-CN" sz="1400" dirty="0">
                  <a:latin typeface="Courier New" panose="02070309020205020404" pitchFamily="49" charset="0"/>
                </a:rPr>
                <a:t>Turn 2</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I am a physicist.]</a:t>
              </a:r>
            </a:p>
            <a:p>
              <a:pPr rtl="0">
                <a:buNone/>
              </a:pPr>
              <a:r>
                <a:rPr lang="en-US" altLang="zh-CN" sz="1400" dirty="0">
                  <a:latin typeface="Courier New" panose="02070309020205020404" pitchFamily="49" charset="0"/>
                </a:rPr>
                <a:t>[</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Explain entropy at my level.]</a:t>
              </a:r>
            </a:p>
            <a:p>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a:t>
              </a:r>
            </a:p>
          </p:txBody>
        </p:sp>
        <p:sp>
          <p:nvSpPr>
            <p:cNvPr id="17" name="矩形 16">
              <a:extLst>
                <a:ext uri="{FF2B5EF4-FFF2-40B4-BE49-F238E27FC236}">
                  <a16:creationId xmlns:a16="http://schemas.microsoft.com/office/drawing/2014/main" id="{121FC36D-05C6-B49E-DB47-0291F1759A47}"/>
                </a:ext>
              </a:extLst>
            </p:cNvPr>
            <p:cNvSpPr/>
            <p:nvPr/>
          </p:nvSpPr>
          <p:spPr>
            <a:xfrm>
              <a:off x="420780" y="2173852"/>
              <a:ext cx="55533" cy="20313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9007"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7</a:t>
            </a:r>
          </a:p>
        </p:txBody>
      </p:sp>
    </p:spTree>
    <p:extLst>
      <p:ext uri="{BB962C8B-B14F-4D97-AF65-F5344CB8AC3E}">
        <p14:creationId xmlns:p14="http://schemas.microsoft.com/office/powerpoint/2010/main" val="174375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FC9C-8E6C-6681-91F0-CB0BDD90B73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21577D7-008E-97CF-1A54-1121E6ED8F73}"/>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Model </a:t>
            </a:r>
            <a:r>
              <a:rPr lang="nl-NL" sz="2400" b="1" dirty="0" err="1">
                <a:solidFill>
                  <a:srgbClr val="242832"/>
                </a:solidFill>
                <a:latin typeface="Roboto Condensed" pitchFamily="34" charset="0"/>
                <a:ea typeface="Roboto Condensed" pitchFamily="34" charset="-122"/>
                <a:cs typeface="Roboto Condensed" pitchFamily="34" charset="-120"/>
              </a:rPr>
              <a:t>Momery</a:t>
            </a:r>
            <a:endParaRPr lang="en-US" sz="2400" dirty="0"/>
          </a:p>
        </p:txBody>
      </p:sp>
      <p:sp>
        <p:nvSpPr>
          <p:cNvPr id="40" name="Text 19">
            <a:extLst>
              <a:ext uri="{FF2B5EF4-FFF2-40B4-BE49-F238E27FC236}">
                <a16:creationId xmlns:a16="http://schemas.microsoft.com/office/drawing/2014/main" id="{F0D71F15-7F66-85AB-F4AC-3BF3D5D9CFBD}"/>
              </a:ext>
            </a:extLst>
          </p:cNvPr>
          <p:cNvSpPr/>
          <p:nvPr/>
        </p:nvSpPr>
        <p:spPr>
          <a:xfrm>
            <a:off x="6577030" y="6532360"/>
            <a:ext cx="5995970" cy="248944"/>
          </a:xfrm>
          <a:prstGeom prst="rect">
            <a:avLst/>
          </a:prstGeom>
          <a:noFill/>
          <a:ln/>
        </p:spPr>
        <p:txBody>
          <a:bodyPr wrap="square" lIns="254" tIns="254" rIns="254" bIns="254" rtlCol="0" anchor="t">
            <a:noAutofit/>
          </a:bodyPr>
          <a:lstStyle/>
          <a:p>
            <a:pPr>
              <a:spcBef>
                <a:spcPts val="800"/>
              </a:spcBef>
              <a:buClr>
                <a:srgbClr val="242832"/>
              </a:buClr>
            </a:pP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Tobias Osborne’s talk 2026 at UCL: </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https://www.youtube.com/@tobiasjosborne</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p:txBody>
      </p:sp>
      <p:sp>
        <p:nvSpPr>
          <p:cNvPr id="2" name="Text 19">
            <a:extLst>
              <a:ext uri="{FF2B5EF4-FFF2-40B4-BE49-F238E27FC236}">
                <a16:creationId xmlns:a16="http://schemas.microsoft.com/office/drawing/2014/main" id="{819845DF-8B8A-D09F-990F-4D7992595C32}"/>
              </a:ext>
            </a:extLst>
          </p:cNvPr>
          <p:cNvSpPr/>
          <p:nvPr/>
        </p:nvSpPr>
        <p:spPr>
          <a:xfrm>
            <a:off x="629187" y="1387598"/>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Model </a:t>
            </a:r>
            <a:r>
              <a:rPr lang="en-US" sz="1600" dirty="0" err="1">
                <a:solidFill>
                  <a:srgbClr val="242832"/>
                </a:solidFill>
                <a:latin typeface="Roboto" pitchFamily="34" charset="0"/>
                <a:ea typeface="Roboto" pitchFamily="34" charset="-122"/>
                <a:cs typeface="Roboto" pitchFamily="34" charset="-120"/>
              </a:rPr>
              <a:t>Momery</a:t>
            </a:r>
            <a:r>
              <a:rPr lang="en-US" sz="1600" dirty="0">
                <a:solidFill>
                  <a:srgbClr val="242832"/>
                </a:solidFill>
                <a:latin typeface="Roboto" pitchFamily="34" charset="0"/>
                <a:ea typeface="Roboto" pitchFamily="34" charset="-122"/>
                <a:cs typeface="Roboto" pitchFamily="34" charset="-120"/>
              </a:rPr>
              <a:t>: saves previous prompts and answers </a:t>
            </a:r>
            <a:r>
              <a:rPr b="1" lang="en-US" sz="1600" dirty="0">
                <a:solidFill>
                  <a:srgbClr val="C00000"/>
                </a:solidFill>
                <a:latin typeface="Roboto" pitchFamily="34" charset="0"/>
                <a:ea typeface="Roboto" pitchFamily="34" charset="-122"/>
                <a:cs typeface="Roboto" pitchFamily="34" charset="-120"/>
              </a:rPr>
              <a:t>re-sends</a:t>
            </a:r>
            <a:r>
              <a:rPr lang="en-US" sz="1600" dirty="0">
                <a:solidFill>
                  <a:srgbClr val="242832"/>
                </a:solidFill>
                <a:latin typeface="Roboto" pitchFamily="34" charset="0"/>
                <a:ea typeface="Roboto" pitchFamily="34" charset="-122"/>
                <a:cs typeface="Roboto" pitchFamily="34" charset="-120"/>
              </a:rPr>
              <a:t> the history every time</a:t>
            </a:r>
            <a:endParaRPr lang="en-US" sz="1600" b="1" dirty="0">
              <a:solidFill>
                <a:srgbClr val="242832"/>
              </a:solidFill>
              <a:latin typeface="Roboto" pitchFamily="34" charset="0"/>
              <a:ea typeface="Roboto" pitchFamily="34" charset="-122"/>
              <a:cs typeface="Roboto" pitchFamily="34" charset="-120"/>
            </a:endParaRPr>
          </a:p>
        </p:txBody>
      </p:sp>
      <p:sp>
        <p:nvSpPr>
          <p:cNvPr id="3" name="矩形 2">
            <a:extLst>
              <a:ext uri="{FF2B5EF4-FFF2-40B4-BE49-F238E27FC236}">
                <a16:creationId xmlns:a16="http://schemas.microsoft.com/office/drawing/2014/main" id="{554A9DD7-FC0D-DD69-4A0E-18D561198897}"/>
              </a:ext>
            </a:extLst>
          </p:cNvPr>
          <p:cNvSpPr/>
          <p:nvPr/>
        </p:nvSpPr>
        <p:spPr>
          <a:xfrm>
            <a:off x="10561043" y="2263269"/>
            <a:ext cx="1475510" cy="8001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new prompt</a:t>
            </a:r>
            <a:endParaRPr kumimoji="1" lang="zh-CN" altLang="en-US" dirty="0">
              <a:solidFill>
                <a:schemeClr val="tx1"/>
              </a:solidFill>
            </a:endParaRPr>
          </a:p>
        </p:txBody>
      </p:sp>
      <p:sp>
        <p:nvSpPr>
          <p:cNvPr id="5" name="矩形 4">
            <a:extLst>
              <a:ext uri="{FF2B5EF4-FFF2-40B4-BE49-F238E27FC236}">
                <a16:creationId xmlns:a16="http://schemas.microsoft.com/office/drawing/2014/main" id="{E27CA2B9-21FB-B8F9-B52E-569777E24A98}"/>
              </a:ext>
            </a:extLst>
          </p:cNvPr>
          <p:cNvSpPr/>
          <p:nvPr/>
        </p:nvSpPr>
        <p:spPr>
          <a:xfrm>
            <a:off x="6335932" y="2263269"/>
            <a:ext cx="4244148" cy="8001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err="1">
                <a:solidFill>
                  <a:schemeClr val="tx1"/>
                </a:solidFill>
              </a:rPr>
              <a:t>conversation</a:t>
            </a:r>
            <a:r>
              <a:rPr kumimoji="1" lang="nl-NL" altLang="zh-CN" dirty="0">
                <a:solidFill>
                  <a:schemeClr val="tx1"/>
                </a:solidFill>
              </a:rPr>
              <a:t> </a:t>
            </a:r>
            <a:r>
              <a:rPr kumimoji="1" lang="nl-NL" altLang="zh-CN" dirty="0" err="1">
                <a:solidFill>
                  <a:schemeClr val="tx1"/>
                </a:solidFill>
              </a:rPr>
              <a:t>history</a:t>
            </a:r>
            <a:endParaRPr kumimoji="1" lang="zh-CN" altLang="en-US" dirty="0">
              <a:solidFill>
                <a:schemeClr val="tx1"/>
              </a:solidFill>
            </a:endParaRPr>
          </a:p>
        </p:txBody>
      </p:sp>
      <p:sp>
        <p:nvSpPr>
          <p:cNvPr id="6" name="矩形 5">
            <a:extLst>
              <a:ext uri="{FF2B5EF4-FFF2-40B4-BE49-F238E27FC236}">
                <a16:creationId xmlns:a16="http://schemas.microsoft.com/office/drawing/2014/main" id="{B54BD990-1C0B-CF2E-F24D-7E320A7C360E}"/>
              </a:ext>
            </a:extLst>
          </p:cNvPr>
          <p:cNvSpPr/>
          <p:nvPr/>
        </p:nvSpPr>
        <p:spPr>
          <a:xfrm>
            <a:off x="4590258" y="2263269"/>
            <a:ext cx="1745673" cy="8001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system prompt</a:t>
            </a:r>
            <a:endParaRPr kumimoji="1" lang="zh-CN" altLang="en-US" dirty="0">
              <a:solidFill>
                <a:schemeClr val="tx1"/>
              </a:solidFill>
            </a:endParaRPr>
          </a:p>
        </p:txBody>
      </p:sp>
      <p:sp>
        <p:nvSpPr>
          <p:cNvPr id="7" name="右大括号 6">
            <a:extLst>
              <a:ext uri="{FF2B5EF4-FFF2-40B4-BE49-F238E27FC236}">
                <a16:creationId xmlns:a16="http://schemas.microsoft.com/office/drawing/2014/main" id="{AE167AAD-9661-970D-AB74-0B4386FDC1C5}"/>
              </a:ext>
            </a:extLst>
          </p:cNvPr>
          <p:cNvSpPr/>
          <p:nvPr/>
        </p:nvSpPr>
        <p:spPr>
          <a:xfrm rot="5400000">
            <a:off x="8132385" y="-186914"/>
            <a:ext cx="387475" cy="727322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48A5FFAF-AEF9-FAEC-F9E8-F11169540E51}"/>
              </a:ext>
            </a:extLst>
          </p:cNvPr>
          <p:cNvSpPr txBox="1"/>
          <p:nvPr/>
        </p:nvSpPr>
        <p:spPr>
          <a:xfrm>
            <a:off x="7403329" y="3660022"/>
            <a:ext cx="2109354" cy="646331"/>
          </a:xfrm>
          <a:prstGeom prst="rect">
            <a:avLst/>
          </a:prstGeom>
          <a:noFill/>
        </p:spPr>
        <p:txBody>
          <a:bodyPr wrap="square" rtlCol="0">
            <a:spAutoFit/>
          </a:bodyPr>
          <a:lstStyle/>
          <a:p>
            <a:r>
              <a:rPr kumimoji="1" lang="en-US" altLang="zh-CN" dirty="0"/>
              <a:t>context window</a:t>
            </a:r>
          </a:p>
          <a:p>
            <a:r>
              <a:rPr kumimoji="1" lang="en-US" altLang="zh-CN" dirty="0"/>
              <a:t>(token capacity) </a:t>
            </a:r>
            <a:endParaRPr kumimoji="1" lang="zh-CN" altLang="en-US" dirty="0"/>
          </a:p>
        </p:txBody>
      </p:sp>
      <p:sp>
        <p:nvSpPr>
          <p:cNvPr id="9" name="Text 19">
            <a:extLst>
              <a:ext uri="{FF2B5EF4-FFF2-40B4-BE49-F238E27FC236}">
                <a16:creationId xmlns:a16="http://schemas.microsoft.com/office/drawing/2014/main" id="{E4792A04-DC27-8962-671A-71E36C7E0013}"/>
              </a:ext>
            </a:extLst>
          </p:cNvPr>
          <p:cNvSpPr/>
          <p:nvPr/>
        </p:nvSpPr>
        <p:spPr>
          <a:xfrm>
            <a:off x="629188" y="987416"/>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Normally, the conversation with LLM is a forward pass and </a:t>
            </a:r>
            <a:r>
              <a:rPr b="1" lang="en-US" sz="1600" dirty="0">
                <a:solidFill>
                  <a:srgbClr val="C00000"/>
                </a:solidFill>
                <a:latin typeface="Roboto" pitchFamily="34" charset="0"/>
                <a:ea typeface="Roboto" pitchFamily="34" charset="-122"/>
                <a:cs typeface="Roboto" pitchFamily="34" charset="-120"/>
              </a:rPr>
              <a:t>does not update any model weights </a:t>
            </a:r>
            <a:endParaRPr lang="en-US" sz="1600" b="1" dirty="0">
              <a:solidFill>
                <a:srgbClr val="242832"/>
              </a:solidFill>
              <a:latin typeface="Roboto" pitchFamily="34" charset="0"/>
              <a:ea typeface="Roboto" pitchFamily="34" charset="-122"/>
              <a:cs typeface="Roboto" pitchFamily="34" charset="-120"/>
            </a:endParaRPr>
          </a:p>
        </p:txBody>
      </p:sp>
      <p:grpSp>
        <p:nvGrpSpPr>
          <p:cNvPr id="19" name="组合 18">
            <a:extLst>
              <a:ext uri="{FF2B5EF4-FFF2-40B4-BE49-F238E27FC236}">
                <a16:creationId xmlns:a16="http://schemas.microsoft.com/office/drawing/2014/main" id="{FF12C90D-F099-A010-EB39-A39B29146E7A}"/>
              </a:ext>
            </a:extLst>
          </p:cNvPr>
          <p:cNvGrpSpPr/>
          <p:nvPr/>
        </p:nvGrpSpPr>
        <p:grpSpPr>
          <a:xfrm>
            <a:off x="482561" y="1924343"/>
            <a:ext cx="3990284" cy="2031325"/>
            <a:chOff x="420780" y="2173847"/>
            <a:chExt cx="3990284" cy="2031325"/>
          </a:xfrm>
        </p:grpSpPr>
        <p:sp>
          <p:nvSpPr>
            <p:cNvPr id="16" name="文本框 15">
              <a:extLst>
                <a:ext uri="{FF2B5EF4-FFF2-40B4-BE49-F238E27FC236}">
                  <a16:creationId xmlns:a16="http://schemas.microsoft.com/office/drawing/2014/main" id="{907090A2-7BE2-C021-80E0-131F4AC2A697}"/>
                </a:ext>
              </a:extLst>
            </p:cNvPr>
            <p:cNvSpPr txBox="1"/>
            <p:nvPr/>
          </p:nvSpPr>
          <p:spPr>
            <a:xfrm>
              <a:off x="476313" y="2173847"/>
              <a:ext cx="3934751" cy="2031325"/>
            </a:xfrm>
            <a:prstGeom prst="rect">
              <a:avLst/>
            </a:prstGeom>
            <a:solidFill>
              <a:schemeClr val="bg2"/>
            </a:solidFill>
          </p:spPr>
          <p:txBody>
            <a:bodyPr wrap="square">
              <a:spAutoFit/>
            </a:bodyPr>
            <a:lstStyle/>
            <a:p>
              <a:pPr rtl="0">
                <a:buNone/>
              </a:pPr>
              <a:r>
                <a:rPr lang="en-US" altLang="zh-CN" sz="1400" dirty="0">
                  <a:latin typeface="Courier New" panose="02070309020205020404" pitchFamily="49" charset="0"/>
                </a:rPr>
                <a:t>Turn 1</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 </a:t>
              </a:r>
              <a:r>
                <a:rPr lang="en-US" altLang="zh-CN" sz="1400" dirty="0">
                  <a:latin typeface="Courier New" panose="02070309020205020404" pitchFamily="49" charset="0"/>
                </a:rPr>
                <a:t>I am a physicist.]</a:t>
              </a:r>
            </a:p>
            <a:p>
              <a:pPr rtl="0">
                <a:buNone/>
              </a:pPr>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endParaRPr lang="en-US" altLang="zh-CN" sz="1400" dirty="0">
                <a:latin typeface="Courier New" panose="02070309020205020404" pitchFamily="49" charset="0"/>
              </a:endParaRPr>
            </a:p>
            <a:p>
              <a:pPr rtl="0">
                <a:buNone/>
              </a:pPr>
              <a:r>
                <a:rPr lang="en-US" altLang="zh-CN" sz="1400" dirty="0">
                  <a:latin typeface="Courier New" panose="02070309020205020404" pitchFamily="49" charset="0"/>
                </a:rPr>
                <a:t>Turn 2</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I am a physicist.]</a:t>
              </a:r>
            </a:p>
            <a:p>
              <a:pPr rtl="0">
                <a:buNone/>
              </a:pPr>
              <a:r>
                <a:rPr lang="en-US" altLang="zh-CN" sz="1400" dirty="0">
                  <a:latin typeface="Courier New" panose="02070309020205020404" pitchFamily="49" charset="0"/>
                </a:rPr>
                <a:t>[</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Explain entropy at my level.]</a:t>
              </a:r>
            </a:p>
            <a:p>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a:t>
              </a:r>
            </a:p>
          </p:txBody>
        </p:sp>
        <p:sp>
          <p:nvSpPr>
            <p:cNvPr id="17" name="矩形 16">
              <a:extLst>
                <a:ext uri="{FF2B5EF4-FFF2-40B4-BE49-F238E27FC236}">
                  <a16:creationId xmlns:a16="http://schemas.microsoft.com/office/drawing/2014/main" id="{68AD9707-718A-8174-ADDF-4E05BC502591}"/>
                </a:ext>
              </a:extLst>
            </p:cNvPr>
            <p:cNvSpPr/>
            <p:nvPr/>
          </p:nvSpPr>
          <p:spPr>
            <a:xfrm>
              <a:off x="420780" y="2173852"/>
              <a:ext cx="55533" cy="20313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8" name="Text 19">
            <a:extLst>
              <a:ext uri="{FF2B5EF4-FFF2-40B4-BE49-F238E27FC236}">
                <a16:creationId xmlns:a16="http://schemas.microsoft.com/office/drawing/2014/main" id="{D45B09A4-621A-A585-94B3-CE20FC734C69}"/>
              </a:ext>
            </a:extLst>
          </p:cNvPr>
          <p:cNvSpPr/>
          <p:nvPr/>
        </p:nvSpPr>
        <p:spPr>
          <a:xfrm>
            <a:off x="1037850" y="4686896"/>
            <a:ext cx="10116300" cy="475489"/>
          </a:xfrm>
          <a:prstGeom prst="rect">
            <a:avLst/>
          </a:prstGeom>
          <a:noFill/>
          <a:ln/>
        </p:spPr>
        <p:txBody>
          <a:bodyPr wrap="square" lIns="254" tIns="254" rIns="254" bIns="254" rtlCol="0" anchor="t">
            <a:noAutofit/>
          </a:bodyPr>
          <a:lstStyle/>
          <a:p>
            <a:pPr algn="l">
              <a:spcBef>
                <a:spcPts val="800"/>
              </a:spcBef>
              <a:buClr>
                <a:srgbClr val="242832"/>
              </a:buClr>
            </a:pPr>
            <a:r>
              <a:rPr lang="en-US" sz="2000" b="1" dirty="0">
                <a:solidFill>
                  <a:srgbClr val="242832"/>
                </a:solidFill>
                <a:latin typeface="Times New Roman" panose="02020603050405020304" pitchFamily="18" charset="0"/>
                <a:ea typeface="Roboto" pitchFamily="34" charset="-122"/>
                <a:cs typeface="Times New Roman" panose="02020603050405020304" pitchFamily="18" charset="0"/>
              </a:rPr>
              <a:t>When the context window is exceeded, the compression/truncation/selection must be applied</a:t>
            </a:r>
          </a:p>
        </p:txBody>
      </p:sp>
      <p:sp>
        <p:nvSpPr>
          <p:cNvPr id="9008"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8</a:t>
            </a:r>
          </a:p>
        </p:txBody>
      </p:sp>
    </p:spTree>
    <p:extLst>
      <p:ext uri="{BB962C8B-B14F-4D97-AF65-F5344CB8AC3E}">
        <p14:creationId xmlns:p14="http://schemas.microsoft.com/office/powerpoint/2010/main" val="3646478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5CA00-D244-4824-5D04-85533B52C1F6}"/>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299696AE-C79F-6082-B7A6-66D36E343632}"/>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 … prompt </a:t>
            </a:r>
            <a:r>
              <a:rPr lang="nl-NL" sz="2400" b="1" dirty="0" err="1">
                <a:solidFill>
                  <a:srgbClr val="242832"/>
                </a:solidFill>
                <a:latin typeface="Roboto Condensed" pitchFamily="34" charset="0"/>
                <a:ea typeface="Roboto Condensed" pitchFamily="34" charset="-122"/>
                <a:cs typeface="Roboto Condensed" pitchFamily="34" charset="-120"/>
              </a:rPr>
              <a:t>sorcery</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from</a:t>
            </a:r>
            <a:r>
              <a:rPr lang="nl-NL" sz="2400" b="1" dirty="0">
                <a:solidFill>
                  <a:srgbClr val="242832"/>
                </a:solidFill>
                <a:latin typeface="Roboto Condensed" pitchFamily="34" charset="0"/>
                <a:ea typeface="Roboto Condensed" pitchFamily="34" charset="-122"/>
                <a:cs typeface="Roboto Condensed" pitchFamily="34" charset="-120"/>
              </a:rPr>
              <a:t> LLM era</a:t>
            </a:r>
            <a:endParaRPr lang="en-US" sz="2400" dirty="0"/>
          </a:p>
        </p:txBody>
      </p:sp>
      <p:sp>
        <p:nvSpPr>
          <p:cNvPr id="2" name="Text 19">
            <a:extLst>
              <a:ext uri="{FF2B5EF4-FFF2-40B4-BE49-F238E27FC236}">
                <a16:creationId xmlns:a16="http://schemas.microsoft.com/office/drawing/2014/main" id="{44DDDDAC-AD72-B3A4-EC05-2FE4F35A536D}"/>
              </a:ext>
            </a:extLst>
          </p:cNvPr>
          <p:cNvSpPr/>
          <p:nvPr/>
        </p:nvSpPr>
        <p:spPr>
          <a:xfrm>
            <a:off x="1843401" y="4233679"/>
            <a:ext cx="8980315"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Agent is a </a:t>
            </a:r>
            <a:r>
              <a:rPr lang="en-US" sz="1600" b="1" dirty="0">
                <a:solidFill>
                  <a:srgbClr val="242832"/>
                </a:solidFill>
                <a:latin typeface="Roboto" pitchFamily="34" charset="0"/>
                <a:ea typeface="Roboto" pitchFamily="34" charset="-122"/>
                <a:cs typeface="Roboto" pitchFamily="34" charset="-120"/>
              </a:rPr>
              <a:t>system</a:t>
            </a:r>
            <a:r>
              <a:rPr lang="en-US" sz="1600" dirty="0">
                <a:solidFill>
                  <a:srgbClr val="242832"/>
                </a:solidFill>
                <a:latin typeface="Roboto" pitchFamily="34" charset="0"/>
                <a:ea typeface="Roboto" pitchFamily="34" charset="-122"/>
                <a:cs typeface="Roboto" pitchFamily="34" charset="-120"/>
              </a:rPr>
              <a:t> with a </a:t>
            </a:r>
            <a:r>
              <a:rPr b="1" lang="en-US" sz="1600" dirty="0">
                <a:solidFill>
                  <a:srgbClr val="C00000"/>
                </a:solidFill>
                <a:latin typeface="Roboto" pitchFamily="34" charset="0"/>
                <a:ea typeface="Roboto" pitchFamily="34" charset="-122"/>
                <a:cs typeface="Roboto" pitchFamily="34" charset="-120"/>
              </a:rPr>
              <a:t>LLM  as its core</a:t>
            </a:r>
            <a:r>
              <a:rPr lang="en-US" sz="1600" dirty="0">
                <a:solidFill>
                  <a:srgbClr val="242832"/>
                </a:solidFill>
                <a:latin typeface="Roboto" pitchFamily="34" charset="0"/>
                <a:ea typeface="Roboto" pitchFamily="34" charset="-122"/>
                <a:cs typeface="Roboto" pitchFamily="34" charset="-120"/>
              </a:rPr>
              <a:t> to execute high-level tasks: LLM decides next step</a:t>
            </a:r>
            <a:endParaRPr lang="en-US" sz="1600" b="1" dirty="0">
              <a:solidFill>
                <a:srgbClr val="242832"/>
              </a:solidFill>
              <a:latin typeface="Roboto" pitchFamily="34" charset="0"/>
              <a:ea typeface="Roboto" pitchFamily="34" charset="-122"/>
              <a:cs typeface="Roboto" pitchFamily="34" charset="-120"/>
            </a:endParaRPr>
          </a:p>
        </p:txBody>
      </p:sp>
      <p:sp>
        <p:nvSpPr>
          <p:cNvPr id="3" name="Shape 20">
            <a:extLst>
              <a:ext uri="{FF2B5EF4-FFF2-40B4-BE49-F238E27FC236}">
                <a16:creationId xmlns:a16="http://schemas.microsoft.com/office/drawing/2014/main" id="{E45D49FF-406A-5CCF-3A7A-7AD46A8E2D6C}"/>
              </a:ext>
            </a:extLst>
          </p:cNvPr>
          <p:cNvSpPr/>
          <p:nvPr/>
        </p:nvSpPr>
        <p:spPr>
          <a:xfrm>
            <a:off x="6467017" y="2999365"/>
            <a:ext cx="1170432" cy="402336"/>
          </a:xfrm>
          <a:prstGeom prst="roundRect">
            <a:avLst>
              <a:gd name="adj" fmla="val 18182"/>
            </a:avLst>
          </a:prstGeom>
          <a:solidFill>
            <a:srgbClr val="E2F1EA"/>
          </a:solidFill>
          <a:ln w="15875">
            <a:solidFill>
              <a:srgbClr val="257A63"/>
            </a:solidFill>
            <a:prstDash val="solid"/>
          </a:ln>
        </p:spPr>
        <p:txBody>
          <a:bodyPr/>
          <a:lstStyle/>
          <a:p>
            <a:endParaRPr lang="zh-CN" altLang="en-US"/>
          </a:p>
        </p:txBody>
      </p:sp>
      <p:sp>
        <p:nvSpPr>
          <p:cNvPr id="4" name="Text 21">
            <a:extLst>
              <a:ext uri="{FF2B5EF4-FFF2-40B4-BE49-F238E27FC236}">
                <a16:creationId xmlns:a16="http://schemas.microsoft.com/office/drawing/2014/main" id="{631AE3AC-C2BA-7EFA-6ABE-2EE77BC92553}"/>
              </a:ext>
            </a:extLst>
          </p:cNvPr>
          <p:cNvSpPr/>
          <p:nvPr/>
        </p:nvSpPr>
        <p:spPr>
          <a:xfrm>
            <a:off x="6467017" y="2999365"/>
            <a:ext cx="1170432" cy="402336"/>
          </a:xfrm>
          <a:prstGeom prst="rect">
            <a:avLst/>
          </a:prstGeom>
          <a:noFill/>
          <a:ln/>
        </p:spPr>
        <p:txBody>
          <a:bodyPr wrap="square" lIns="508" tIns="508" rIns="508" bIns="508" rtlCol="0" anchor="ctr"/>
          <a:lstStyle/>
          <a:p>
            <a:pPr marL="0" indent="0" algn="ctr">
              <a:buNone/>
            </a:pPr>
            <a:r>
              <a:rPr lang="en-US" sz="1600" b="1" dirty="0">
                <a:solidFill>
                  <a:srgbClr val="242832"/>
                </a:solidFill>
                <a:latin typeface="Arial" pitchFamily="34" charset="0"/>
                <a:ea typeface="Arial" pitchFamily="34" charset="-122"/>
                <a:cs typeface="Arial" pitchFamily="34" charset="-120"/>
              </a:rPr>
              <a:t>Client</a:t>
            </a:r>
            <a:endParaRPr lang="en-US" sz="1600" dirty="0"/>
          </a:p>
        </p:txBody>
      </p:sp>
      <p:sp>
        <p:nvSpPr>
          <p:cNvPr id="7" name="Shape 24">
            <a:extLst>
              <a:ext uri="{FF2B5EF4-FFF2-40B4-BE49-F238E27FC236}">
                <a16:creationId xmlns:a16="http://schemas.microsoft.com/office/drawing/2014/main" id="{C4F09F45-1B37-EF3C-F703-19E3B0C7D951}"/>
              </a:ext>
            </a:extLst>
          </p:cNvPr>
          <p:cNvSpPr/>
          <p:nvPr/>
        </p:nvSpPr>
        <p:spPr>
          <a:xfrm>
            <a:off x="8900798" y="2977586"/>
            <a:ext cx="1170432" cy="402336"/>
          </a:xfrm>
          <a:prstGeom prst="roundRect">
            <a:avLst>
              <a:gd name="adj" fmla="val 18182"/>
            </a:avLst>
          </a:prstGeom>
          <a:solidFill>
            <a:srgbClr val="EAF0FF"/>
          </a:solidFill>
          <a:ln w="15875">
            <a:solidFill>
              <a:srgbClr val="356AE6"/>
            </a:solidFill>
            <a:prstDash val="solid"/>
          </a:ln>
        </p:spPr>
        <p:txBody>
          <a:bodyPr/>
          <a:lstStyle/>
          <a:p>
            <a:pPr algn="ctr"/>
            <a:r>
              <a:rPr lang="en-US" altLang="zh-CN" sz="1600" b="1" dirty="0">
                <a:solidFill>
                  <a:srgbClr val="242832"/>
                </a:solidFill>
                <a:latin typeface="Arial" pitchFamily="34" charset="0"/>
                <a:ea typeface="Arial" pitchFamily="34" charset="-122"/>
                <a:cs typeface="Arial" pitchFamily="34" charset="-120"/>
              </a:rPr>
              <a:t>API</a:t>
            </a:r>
            <a:endParaRPr lang="en-US" altLang="zh-CN" sz="1600" dirty="0"/>
          </a:p>
        </p:txBody>
      </p:sp>
      <p:sp>
        <p:nvSpPr>
          <p:cNvPr id="8" name="Text 25">
            <a:extLst>
              <a:ext uri="{FF2B5EF4-FFF2-40B4-BE49-F238E27FC236}">
                <a16:creationId xmlns:a16="http://schemas.microsoft.com/office/drawing/2014/main" id="{127E93D7-7B28-56C3-763E-3677EF389057}"/>
              </a:ext>
            </a:extLst>
          </p:cNvPr>
          <p:cNvSpPr/>
          <p:nvPr/>
        </p:nvSpPr>
        <p:spPr>
          <a:xfrm>
            <a:off x="2638653" y="2373037"/>
            <a:ext cx="1170432" cy="402336"/>
          </a:xfrm>
          <a:prstGeom prst="rect">
            <a:avLst/>
          </a:prstGeom>
          <a:noFill/>
          <a:ln/>
        </p:spPr>
        <p:txBody>
          <a:bodyPr wrap="square" lIns="508" tIns="508" rIns="508" bIns="508" rtlCol="0" anchor="ctr"/>
          <a:lstStyle/>
          <a:p>
            <a:pPr marL="0" indent="0" algn="ctr">
              <a:buNone/>
            </a:pPr>
            <a:r>
              <a:rPr lang="en-US" sz="1600" b="1" dirty="0" err="1">
                <a:solidFill>
                  <a:srgbClr val="242832"/>
                </a:solidFill>
                <a:latin typeface="Arial" pitchFamily="34" charset="0"/>
                <a:ea typeface="Arial" pitchFamily="34" charset="-122"/>
                <a:cs typeface="Arial" pitchFamily="34" charset="-120"/>
              </a:rPr>
              <a:t>Numpy</a:t>
            </a:r>
            <a:r>
              <a:rPr lang="en-US" sz="1600" b="1" dirty="0">
                <a:solidFill>
                  <a:srgbClr val="242832"/>
                </a:solidFill>
                <a:latin typeface="Arial" pitchFamily="34" charset="0"/>
                <a:ea typeface="Arial" pitchFamily="34" charset="-122"/>
                <a:cs typeface="Arial" pitchFamily="34" charset="-120"/>
              </a:rPr>
              <a:t> API</a:t>
            </a:r>
            <a:endParaRPr lang="en-US" sz="1600" dirty="0"/>
          </a:p>
        </p:txBody>
      </p:sp>
      <p:sp>
        <p:nvSpPr>
          <p:cNvPr id="12" name="Shape 28">
            <a:extLst>
              <a:ext uri="{FF2B5EF4-FFF2-40B4-BE49-F238E27FC236}">
                <a16:creationId xmlns:a16="http://schemas.microsoft.com/office/drawing/2014/main" id="{7B612D99-6133-3467-5E7E-9B49A082A8D7}"/>
              </a:ext>
            </a:extLst>
          </p:cNvPr>
          <p:cNvSpPr/>
          <p:nvPr/>
        </p:nvSpPr>
        <p:spPr>
          <a:xfrm>
            <a:off x="7637447" y="3118641"/>
            <a:ext cx="1260000" cy="0"/>
          </a:xfrm>
          <a:prstGeom prst="line">
            <a:avLst/>
          </a:prstGeom>
          <a:noFill/>
          <a:ln w="16510">
            <a:solidFill>
              <a:srgbClr val="257A63"/>
            </a:solidFill>
            <a:prstDash val="solid"/>
            <a:tailEnd type="triangle"/>
          </a:ln>
        </p:spPr>
        <p:txBody>
          <a:bodyPr/>
          <a:lstStyle/>
          <a:p>
            <a:endParaRPr lang="zh-CN" altLang="en-US"/>
          </a:p>
        </p:txBody>
      </p:sp>
      <p:grpSp>
        <p:nvGrpSpPr>
          <p:cNvPr id="15" name="组合 14">
            <a:extLst>
              <a:ext uri="{FF2B5EF4-FFF2-40B4-BE49-F238E27FC236}">
                <a16:creationId xmlns:a16="http://schemas.microsoft.com/office/drawing/2014/main" id="{FC0431AF-12AD-DEF1-840D-DE6F15A3CC63}"/>
              </a:ext>
            </a:extLst>
          </p:cNvPr>
          <p:cNvGrpSpPr/>
          <p:nvPr/>
        </p:nvGrpSpPr>
        <p:grpSpPr>
          <a:xfrm>
            <a:off x="1798598" y="2924666"/>
            <a:ext cx="3169864" cy="646332"/>
            <a:chOff x="4249882" y="1724889"/>
            <a:chExt cx="5881253" cy="646332"/>
          </a:xfrm>
        </p:grpSpPr>
        <p:sp>
          <p:nvSpPr>
            <p:cNvPr id="16" name="文本框 15">
              <a:extLst>
                <a:ext uri="{FF2B5EF4-FFF2-40B4-BE49-F238E27FC236}">
                  <a16:creationId xmlns:a16="http://schemas.microsoft.com/office/drawing/2014/main" id="{1FABB668-B8F7-E18B-57AC-A737BD8BDB50}"/>
                </a:ext>
              </a:extLst>
            </p:cNvPr>
            <p:cNvSpPr txBox="1"/>
            <p:nvPr/>
          </p:nvSpPr>
          <p:spPr>
            <a:xfrm>
              <a:off x="4333008" y="1724890"/>
              <a:ext cx="5798127" cy="646331"/>
            </a:xfrm>
            <a:prstGeom prst="rect">
              <a:avLst/>
            </a:prstGeom>
            <a:solidFill>
              <a:schemeClr val="bg2"/>
            </a:solidFill>
          </p:spPr>
          <p:txBody>
            <a:bodyPr wrap="square" rtlCol="0">
              <a:spAutoFit/>
            </a:bodyPr>
            <a:lstStyle/>
            <a:p>
              <a:r>
                <a:rPr kumimoji="1" lang="en-US" altLang="zh-CN" dirty="0"/>
                <a:t>import </a:t>
              </a:r>
              <a:r>
                <a:rPr kumimoji="1" lang="en-US" altLang="zh-CN" dirty="0" err="1"/>
                <a:t>numpy</a:t>
              </a:r>
              <a:r>
                <a:rPr kumimoji="1" lang="en-US" altLang="zh-CN" dirty="0"/>
                <a:t> as np</a:t>
              </a:r>
            </a:p>
            <a:p>
              <a:r>
                <a:rPr kumimoji="1" lang="nl-NL" altLang="zh-CN" dirty="0" err="1"/>
                <a:t>result</a:t>
              </a:r>
              <a:r>
                <a:rPr kumimoji="1" lang="nl-NL" altLang="zh-CN" dirty="0"/>
                <a:t> = </a:t>
              </a:r>
              <a:r>
                <a:rPr kumimoji="1" lang="nl-NL" altLang="zh-CN" dirty="0" err="1"/>
                <a:t>np.mean</a:t>
              </a:r>
              <a:r>
                <a:rPr kumimoji="1" lang="nl-NL" altLang="zh-CN" dirty="0"/>
                <a:t>([1, 2, 3]) </a:t>
              </a:r>
              <a:endParaRPr kumimoji="1" lang="zh-CN" altLang="en-US" dirty="0"/>
            </a:p>
          </p:txBody>
        </p:sp>
        <p:sp>
          <p:nvSpPr>
            <p:cNvPr id="17" name="矩形 16">
              <a:extLst>
                <a:ext uri="{FF2B5EF4-FFF2-40B4-BE49-F238E27FC236}">
                  <a16:creationId xmlns:a16="http://schemas.microsoft.com/office/drawing/2014/main" id="{9D6DF7BC-D4AE-B88E-377A-6E279311DAA3}"/>
                </a:ext>
              </a:extLst>
            </p:cNvPr>
            <p:cNvSpPr/>
            <p:nvPr/>
          </p:nvSpPr>
          <p:spPr>
            <a:xfrm>
              <a:off x="4249882" y="1724889"/>
              <a:ext cx="83126" cy="64632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8" name="直线连接符 17">
            <a:extLst>
              <a:ext uri="{FF2B5EF4-FFF2-40B4-BE49-F238E27FC236}">
                <a16:creationId xmlns:a16="http://schemas.microsoft.com/office/drawing/2014/main" id="{78701BC6-7DB2-3450-8E21-4D815F2BD93D}"/>
              </a:ext>
            </a:extLst>
          </p:cNvPr>
          <p:cNvCxnSpPr>
            <a:cxnSpLocks/>
          </p:cNvCxnSpPr>
          <p:nvPr/>
        </p:nvCxnSpPr>
        <p:spPr>
          <a:xfrm>
            <a:off x="5372099" y="2373037"/>
            <a:ext cx="0" cy="1411602"/>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0" name="Text 25">
            <a:extLst>
              <a:ext uri="{FF2B5EF4-FFF2-40B4-BE49-F238E27FC236}">
                <a16:creationId xmlns:a16="http://schemas.microsoft.com/office/drawing/2014/main" id="{E8ECAC15-954C-77DB-159E-B360686F359D}"/>
              </a:ext>
            </a:extLst>
          </p:cNvPr>
          <p:cNvSpPr/>
          <p:nvPr/>
        </p:nvSpPr>
        <p:spPr>
          <a:xfrm>
            <a:off x="7526480" y="2317166"/>
            <a:ext cx="1742210" cy="402336"/>
          </a:xfrm>
          <a:prstGeom prst="rect">
            <a:avLst/>
          </a:prstGeom>
          <a:noFill/>
          <a:ln/>
        </p:spPr>
        <p:txBody>
          <a:bodyPr wrap="square" lIns="508" tIns="508" rIns="508" bIns="508" rtlCol="0" anchor="ctr"/>
          <a:lstStyle/>
          <a:p>
            <a:pPr marL="0" indent="0" algn="ctr">
              <a:buNone/>
            </a:pPr>
            <a:r>
              <a:rPr lang="en-US" sz="1600" b="1" dirty="0">
                <a:solidFill>
                  <a:srgbClr val="242832"/>
                </a:solidFill>
                <a:latin typeface="Arial" pitchFamily="34" charset="0"/>
                <a:ea typeface="Arial" pitchFamily="34" charset="-122"/>
                <a:cs typeface="Arial" pitchFamily="34" charset="-120"/>
              </a:rPr>
              <a:t>LLM API</a:t>
            </a:r>
            <a:endParaRPr lang="en-US" sz="1600" dirty="0"/>
          </a:p>
        </p:txBody>
      </p:sp>
      <p:sp>
        <p:nvSpPr>
          <p:cNvPr id="21" name="文本框 20">
            <a:extLst>
              <a:ext uri="{FF2B5EF4-FFF2-40B4-BE49-F238E27FC236}">
                <a16:creationId xmlns:a16="http://schemas.microsoft.com/office/drawing/2014/main" id="{846B39EF-2961-C3A6-584A-CD551FBCBED8}"/>
              </a:ext>
            </a:extLst>
          </p:cNvPr>
          <p:cNvSpPr txBox="1"/>
          <p:nvPr/>
        </p:nvSpPr>
        <p:spPr>
          <a:xfrm>
            <a:off x="7870621" y="2830817"/>
            <a:ext cx="937258" cy="307777"/>
          </a:xfrm>
          <a:prstGeom prst="rect">
            <a:avLst/>
          </a:prstGeom>
          <a:noFill/>
        </p:spPr>
        <p:txBody>
          <a:bodyPr wrap="square" rtlCol="0">
            <a:spAutoFit/>
          </a:bodyPr>
          <a:lstStyle/>
          <a:p>
            <a:r>
              <a:rPr kumimoji="1" lang="nl-NL" altLang="zh-CN" sz="1400" dirty="0"/>
              <a:t>Prompt</a:t>
            </a:r>
            <a:endParaRPr kumimoji="1" lang="zh-CN" altLang="en-US" sz="1400" dirty="0"/>
          </a:p>
        </p:txBody>
      </p:sp>
      <p:cxnSp>
        <p:nvCxnSpPr>
          <p:cNvPr id="22" name="直线连接符 21">
            <a:extLst>
              <a:ext uri="{FF2B5EF4-FFF2-40B4-BE49-F238E27FC236}">
                <a16:creationId xmlns:a16="http://schemas.microsoft.com/office/drawing/2014/main" id="{513CC529-9E0C-663D-03F0-D0A5173CE1B8}"/>
              </a:ext>
            </a:extLst>
          </p:cNvPr>
          <p:cNvCxnSpPr>
            <a:cxnSpLocks/>
          </p:cNvCxnSpPr>
          <p:nvPr/>
        </p:nvCxnSpPr>
        <p:spPr>
          <a:xfrm flipV="1">
            <a:off x="10178874" y="2870977"/>
            <a:ext cx="188968" cy="186819"/>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4" name="直线连接符 23">
            <a:extLst>
              <a:ext uri="{FF2B5EF4-FFF2-40B4-BE49-F238E27FC236}">
                <a16:creationId xmlns:a16="http://schemas.microsoft.com/office/drawing/2014/main" id="{54855DDA-03D4-DD9D-3724-80892B135D5F}"/>
              </a:ext>
            </a:extLst>
          </p:cNvPr>
          <p:cNvCxnSpPr>
            <a:cxnSpLocks/>
          </p:cNvCxnSpPr>
          <p:nvPr/>
        </p:nvCxnSpPr>
        <p:spPr>
          <a:xfrm>
            <a:off x="10178874" y="3124865"/>
            <a:ext cx="196031"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6" name="直线连接符 25">
            <a:extLst>
              <a:ext uri="{FF2B5EF4-FFF2-40B4-BE49-F238E27FC236}">
                <a16:creationId xmlns:a16="http://schemas.microsoft.com/office/drawing/2014/main" id="{81A5007F-209A-93AC-F8E0-63328B3619F4}"/>
              </a:ext>
            </a:extLst>
          </p:cNvPr>
          <p:cNvCxnSpPr>
            <a:cxnSpLocks/>
          </p:cNvCxnSpPr>
          <p:nvPr/>
        </p:nvCxnSpPr>
        <p:spPr>
          <a:xfrm>
            <a:off x="10185936" y="3200533"/>
            <a:ext cx="181906" cy="169726"/>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31" name="图片 30">
            <a:extLst>
              <a:ext uri="{FF2B5EF4-FFF2-40B4-BE49-F238E27FC236}">
                <a16:creationId xmlns:a16="http://schemas.microsoft.com/office/drawing/2014/main" id="{5DEAFEEC-3540-E2F4-8E1F-6E42372DA91F}"/>
              </a:ext>
            </a:extLst>
          </p:cNvPr>
          <p:cNvPicPr>
            <a:picLocks noChangeAspect="1"/>
          </p:cNvPicPr>
          <p:nvPr/>
        </p:nvPicPr>
        <p:blipFill>
          <a:blip r:embed="rId3"/>
          <a:stretch>
            <a:fillRect/>
          </a:stretch>
        </p:blipFill>
        <p:spPr>
          <a:xfrm>
            <a:off x="10475486" y="2658420"/>
            <a:ext cx="318248" cy="318248"/>
          </a:xfrm>
          <a:prstGeom prst="rect">
            <a:avLst/>
          </a:prstGeom>
        </p:spPr>
      </p:pic>
      <p:pic>
        <p:nvPicPr>
          <p:cNvPr id="32" name="图片 31">
            <a:extLst>
              <a:ext uri="{FF2B5EF4-FFF2-40B4-BE49-F238E27FC236}">
                <a16:creationId xmlns:a16="http://schemas.microsoft.com/office/drawing/2014/main" id="{1A778A64-79C5-7069-94AF-32B0A3772B64}"/>
              </a:ext>
            </a:extLst>
          </p:cNvPr>
          <p:cNvPicPr>
            <a:picLocks noChangeAspect="1"/>
          </p:cNvPicPr>
          <p:nvPr/>
        </p:nvPicPr>
        <p:blipFill>
          <a:blip r:embed="rId4"/>
          <a:stretch>
            <a:fillRect/>
          </a:stretch>
        </p:blipFill>
        <p:spPr>
          <a:xfrm>
            <a:off x="10516558" y="3024865"/>
            <a:ext cx="236104" cy="234001"/>
          </a:xfrm>
          <a:prstGeom prst="rect">
            <a:avLst/>
          </a:prstGeom>
        </p:spPr>
      </p:pic>
      <p:pic>
        <p:nvPicPr>
          <p:cNvPr id="33" name="图片 32">
            <a:extLst>
              <a:ext uri="{FF2B5EF4-FFF2-40B4-BE49-F238E27FC236}">
                <a16:creationId xmlns:a16="http://schemas.microsoft.com/office/drawing/2014/main" id="{F172AE17-9127-C8B0-ED1E-E5BAF9F00485}"/>
              </a:ext>
            </a:extLst>
          </p:cNvPr>
          <p:cNvPicPr>
            <a:picLocks noChangeAspect="1"/>
          </p:cNvPicPr>
          <p:nvPr/>
        </p:nvPicPr>
        <p:blipFill>
          <a:blip r:embed="rId5"/>
          <a:stretch>
            <a:fillRect/>
          </a:stretch>
        </p:blipFill>
        <p:spPr>
          <a:xfrm>
            <a:off x="10459260" y="3293230"/>
            <a:ext cx="376529" cy="374848"/>
          </a:xfrm>
          <a:prstGeom prst="rect">
            <a:avLst/>
          </a:prstGeom>
        </p:spPr>
      </p:pic>
      <p:sp>
        <p:nvSpPr>
          <p:cNvPr id="40" name="Shape 28">
            <a:extLst>
              <a:ext uri="{FF2B5EF4-FFF2-40B4-BE49-F238E27FC236}">
                <a16:creationId xmlns:a16="http://schemas.microsoft.com/office/drawing/2014/main" id="{087DA19D-56F6-23E5-202B-61A29DB52962}"/>
              </a:ext>
            </a:extLst>
          </p:cNvPr>
          <p:cNvSpPr/>
          <p:nvPr/>
        </p:nvSpPr>
        <p:spPr>
          <a:xfrm>
            <a:off x="7656496" y="3293230"/>
            <a:ext cx="1260000" cy="0"/>
          </a:xfrm>
          <a:prstGeom prst="line">
            <a:avLst/>
          </a:prstGeom>
          <a:noFill/>
          <a:ln w="16510">
            <a:solidFill>
              <a:srgbClr val="346AE6"/>
            </a:solidFill>
            <a:prstDash val="solid"/>
            <a:headEnd type="triangle"/>
            <a:tailEnd type="none"/>
          </a:ln>
        </p:spPr>
        <p:txBody>
          <a:bodyPr/>
          <a:lstStyle/>
          <a:p>
            <a:endParaRPr lang="zh-CN" altLang="en-US"/>
          </a:p>
        </p:txBody>
      </p:sp>
      <p:sp>
        <p:nvSpPr>
          <p:cNvPr id="41" name="文本框 40">
            <a:extLst>
              <a:ext uri="{FF2B5EF4-FFF2-40B4-BE49-F238E27FC236}">
                <a16:creationId xmlns:a16="http://schemas.microsoft.com/office/drawing/2014/main" id="{6202C38D-E115-6D48-8372-D9FFAF853D90}"/>
              </a:ext>
            </a:extLst>
          </p:cNvPr>
          <p:cNvSpPr txBox="1"/>
          <p:nvPr/>
        </p:nvSpPr>
        <p:spPr>
          <a:xfrm>
            <a:off x="7819624" y="3272529"/>
            <a:ext cx="1193825" cy="307777"/>
          </a:xfrm>
          <a:prstGeom prst="rect">
            <a:avLst/>
          </a:prstGeom>
          <a:noFill/>
        </p:spPr>
        <p:txBody>
          <a:bodyPr wrap="square" rtlCol="0">
            <a:spAutoFit/>
          </a:bodyPr>
          <a:lstStyle/>
          <a:p>
            <a:r>
              <a:rPr kumimoji="1" lang="nl-NL" altLang="zh-CN" sz="1400" dirty="0"/>
              <a:t>Response</a:t>
            </a:r>
            <a:endParaRPr kumimoji="1" lang="zh-CN" altLang="en-US" sz="1400" dirty="0"/>
          </a:p>
        </p:txBody>
      </p:sp>
      <p:sp>
        <p:nvSpPr>
          <p:cNvPr id="9009"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9</a:t>
            </a:r>
          </a:p>
        </p:txBody>
      </p:sp>
    </p:spTree>
    <p:extLst>
      <p:ext uri="{BB962C8B-B14F-4D97-AF65-F5344CB8AC3E}">
        <p14:creationId xmlns:p14="http://schemas.microsoft.com/office/powerpoint/2010/main" val="1787103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25400">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2000" b="1" dirty="0">
                <a:solidFill>
                  <a:srgbClr val="1A1A16"/>
                </a:solidFill>
                <a:latin typeface="Cambria" pitchFamily="34" charset="0"/>
                <a:ea typeface="Cambria" pitchFamily="34" charset="-122"/>
                <a:cs typeface="Cambria" pitchFamily="34" charset="-120"/>
              </a:rPr>
              <a:t>LLM</a:t>
            </a:r>
            <a:endParaRPr lang="en-US" sz="2000" dirty="0"/>
          </a:p>
        </p:txBody>
      </p:sp>
      <p:sp>
        <p:nvSpPr>
          <p:cNvPr id="5" name="Text 3"/>
          <p:cNvSpPr txBox="1"/>
          <p:nvPr/>
        </p:nvSpPr>
        <p:spPr>
          <a:xfrm>
            <a:off x="2560320" y="3456432"/>
            <a:ext cx="2788920" cy="274320"/>
          </a:xfrm>
          <a:prstGeom prst="rect">
            <a:avLst/>
          </a:prstGeom>
          <a:noFill/>
          <a:ln/>
        </p:spPr>
        <p:txBody>
          <a:bodyPr wrap="square" lIns="0" tIns="0" rIns="0" bIns="0" rtlCol="0" anchor="ctr"/>
          <a:lstStyle/>
          <a:p>
            <a:pPr marL="0" indent="0" algn="ctr">
              <a:buNone/>
            </a:pPr>
            <a:r>
              <a:rPr lang="en-US" sz="1100" i="1" dirty="0">
                <a:solidFill>
                  <a:srgbClr val="8A8A80"/>
                </a:solidFill>
                <a:latin typeface="Calibri" pitchFamily="34" charset="0"/>
                <a:ea typeface="Calibri" pitchFamily="34" charset="-122"/>
                <a:cs typeface="Calibri" pitchFamily="34" charset="-120"/>
              </a:rPr>
              <a:t>text → a distribution over next tokens</a:t>
            </a:r>
            <a:endParaRPr lang="en-US" sz="1100" dirty="0"/>
          </a:p>
        </p:txBody>
      </p:sp>
      <p:sp>
        <p:nvSpPr>
          <p:cNvPr id="7" name="Text 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1 / 9</a:t>
            </a:r>
            <a:endParaRPr lang="en-US" sz="1100" dirty="0"/>
          </a:p>
        </p:txBody>
      </p:sp>
      <p:sp>
        <p:nvSpPr>
          <p:cNvPr id="8" name="Text 0">
            <a:extLst>
              <a:ext uri="{FF2B5EF4-FFF2-40B4-BE49-F238E27FC236}">
                <a16:creationId xmlns:a16="http://schemas.microsoft.com/office/drawing/2014/main" id="{6B969E05-3443-C490-7C15-60751FDD022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a:t>
            </a:r>
            <a:endParaRPr lang="en-US" sz="2400" dirty="0"/>
          </a:p>
        </p:txBody>
      </p:sp>
      <p:sp>
        <p:nvSpPr>
          <p:cNvPr id="901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Text 5"/>
          <p:cNvSpPr txBox="1"/>
          <p:nvPr/>
        </p:nvSpPr>
        <p:spPr>
          <a:xfrm>
            <a:off x="1043247" y="3447288"/>
            <a:ext cx="7653944" cy="868680"/>
          </a:xfrm>
          <a:prstGeom prst="rect">
            <a:avLst/>
          </a:prstGeom>
          <a:noFill/>
          <a:ln/>
        </p:spPr>
        <p:txBody>
          <a:bodyPr wrap="square" lIns="0" tIns="0" rIns="0" bIns="0" rtlCol="0" anchor="ctr"/>
          <a:lstStyle/>
          <a:p>
            <a:pPr marL="0" indent="0">
              <a:lnSpc>
                <a:spcPct val="125000"/>
              </a:lnSpc>
              <a:buNone/>
            </a:pPr>
            <a:r>
              <a:rPr lang="en-US" sz="1400" dirty="0">
                <a:solidFill>
                  <a:srgbClr val="1A1A16"/>
                </a:solidFill>
                <a:latin typeface="Calibri" pitchFamily="34" charset="0"/>
                <a:ea typeface="Calibri" pitchFamily="34" charset="-122"/>
                <a:cs typeface="Calibri" pitchFamily="34" charset="-120"/>
              </a:rPr>
              <a:t>The agent calls the model repeatedly, decides what to do next, and stops when it judges the work done. </a:t>
            </a:r>
            <a:endParaRPr lang="en-US" sz="1400" dirty="0"/>
          </a:p>
        </p:txBody>
      </p:sp>
      <p:sp>
        <p:nvSpPr>
          <p:cNvPr id="8" name="Text 6"/>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2 / 9</a:t>
            </a:r>
            <a:endParaRPr lang="en-US" sz="1100" dirty="0"/>
          </a:p>
        </p:txBody>
      </p:sp>
      <p:sp>
        <p:nvSpPr>
          <p:cNvPr id="9" name="Text 0">
            <a:extLst>
              <a:ext uri="{FF2B5EF4-FFF2-40B4-BE49-F238E27FC236}">
                <a16:creationId xmlns:a16="http://schemas.microsoft.com/office/drawing/2014/main" id="{5017E0DE-7136-908D-B7E5-A19D20C3035B}"/>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a:t>
            </a:r>
            <a:endParaRPr lang="en-US" sz="2400" dirty="0"/>
          </a:p>
        </p:txBody>
      </p:sp>
      <p:sp>
        <p:nvSpPr>
          <p:cNvPr id="9011"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Shape 5"/>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8" name="Text 6"/>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9" name="Shape 7"/>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0" name="Shape 8"/>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1" name="Text 9"/>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2" name="Shape 10"/>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3" name="Text 11"/>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4" name="Text 12"/>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sz="1400" dirty="0">
                <a:solidFill>
                  <a:srgbClr val="1A1A16"/>
                </a:solidFill>
                <a:latin typeface="Calibri" pitchFamily="34" charset="0"/>
                <a:ea typeface="Calibri" pitchFamily="34" charset="-122"/>
                <a:cs typeface="Calibri" pitchFamily="34" charset="-120"/>
              </a:rPr>
              <a:t>A protocol loaded into the context when the task matches it — drawn dashed, because it is advice. The model can read it and not follow it, and nothing records that it did.</a:t>
            </a:r>
            <a:endParaRPr lang="en-US" sz="1400" dirty="0"/>
          </a:p>
        </p:txBody>
      </p:sp>
      <p:sp>
        <p:nvSpPr>
          <p:cNvPr id="15" name="Text 13"/>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4 / 9</a:t>
            </a:r>
            <a:endParaRPr lang="en-US" sz="1100" dirty="0"/>
          </a:p>
        </p:txBody>
      </p:sp>
      <p:sp>
        <p:nvSpPr>
          <p:cNvPr id="16" name="Text 0">
            <a:extLst>
              <a:ext uri="{FF2B5EF4-FFF2-40B4-BE49-F238E27FC236}">
                <a16:creationId xmlns:a16="http://schemas.microsoft.com/office/drawing/2014/main" id="{2E0CE33D-7DBC-D896-71CD-365207ECBA95}"/>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skill</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en-US" altLang="zh-CN" sz="2400" b="1" dirty="0">
                <a:solidFill>
                  <a:srgbClr val="242832"/>
                </a:solidFill>
                <a:latin typeface="Roboto Condensed" pitchFamily="34" charset="0"/>
                <a:ea typeface="Roboto Condensed" pitchFamily="34" charset="-122"/>
                <a:cs typeface="Roboto Condensed" pitchFamily="34" charset="-120"/>
              </a:rPr>
              <a:t>is</a:t>
            </a:r>
            <a:r>
              <a:rPr lang="nl-NL" altLang="zh-CN" sz="2400" b="1" dirty="0">
                <a:solidFill>
                  <a:srgbClr val="242832"/>
                </a:solidFill>
                <a:latin typeface="Roboto Condensed" pitchFamily="34" charset="0"/>
                <a:ea typeface="Roboto Condensed" pitchFamily="34" charset="-122"/>
                <a:cs typeface="Roboto Condensed" pitchFamily="34" charset="-120"/>
              </a:rPr>
              <a:t> a </a:t>
            </a:r>
            <a:r>
              <a:rPr lang="nl-NL" altLang="zh-CN" sz="2400" b="1" dirty="0" err="1">
                <a:solidFill>
                  <a:srgbClr val="242832"/>
                </a:solidFill>
                <a:latin typeface="Roboto Condensed" pitchFamily="34" charset="0"/>
                <a:ea typeface="Roboto Condensed" pitchFamily="34" charset="-122"/>
                <a:cs typeface="Roboto Condensed" pitchFamily="34" charset="-120"/>
              </a:rPr>
              <a:t>stuctural</a:t>
            </a:r>
            <a:r>
              <a:rPr lang="nl-NL" altLang="zh-CN" sz="2400" b="1" dirty="0">
                <a:solidFill>
                  <a:srgbClr val="242832"/>
                </a:solidFill>
                <a:latin typeface="Roboto Condensed" pitchFamily="34" charset="0"/>
                <a:ea typeface="Roboto Condensed" pitchFamily="34" charset="-122"/>
                <a:cs typeface="Roboto Condensed" pitchFamily="34" charset="-120"/>
              </a:rPr>
              <a:t> prompt document</a:t>
            </a:r>
            <a:endParaRPr lang="en-US" sz="2400" dirty="0"/>
          </a:p>
        </p:txBody>
      </p:sp>
      <p:sp>
        <p:nvSpPr>
          <p:cNvPr id="901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Shape 5"/>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8" name="Text 6"/>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9" name="Shape 7"/>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0" name="Shape 8"/>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1" name="Text 9"/>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2" name="Shape 10"/>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3" name="Text 11"/>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4" name="Shape 12"/>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5" name="Text 13"/>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7" name="Shape 15"/>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18" name="Text 16"/>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19" name="Text 17"/>
          <p:cNvSpPr txBox="1"/>
          <p:nvPr/>
        </p:nvSpPr>
        <p:spPr>
          <a:xfrm>
            <a:off x="849283" y="5234940"/>
            <a:ext cx="6853844"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published convention for exposing a tool so that any model can call it. </a:t>
            </a:r>
          </a:p>
          <a:p>
            <a:pPr marL="0" indent="0">
              <a:lnSpc>
                <a:spcPct val="125000"/>
              </a:lnSpc>
              <a:buNone/>
            </a:pPr>
            <a:r>
              <a:rPr lang="en-US" dirty="0">
                <a:solidFill>
                  <a:srgbClr val="1A1A16"/>
                </a:solidFill>
                <a:latin typeface="Calibri" pitchFamily="34" charset="0"/>
                <a:ea typeface="Calibri" pitchFamily="34" charset="-122"/>
                <a:cs typeface="Calibri" pitchFamily="34" charset="-120"/>
              </a:rPr>
              <a:t>It standardises the plug.</a:t>
            </a:r>
          </a:p>
        </p:txBody>
      </p:sp>
      <p:sp>
        <p:nvSpPr>
          <p:cNvPr id="20" name="Text 18"/>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5 / 9</a:t>
            </a:r>
            <a:endParaRPr lang="en-US" sz="1100" dirty="0"/>
          </a:p>
        </p:txBody>
      </p:sp>
      <p:sp>
        <p:nvSpPr>
          <p:cNvPr id="21" name="Text 0">
            <a:extLst>
              <a:ext uri="{FF2B5EF4-FFF2-40B4-BE49-F238E27FC236}">
                <a16:creationId xmlns:a16="http://schemas.microsoft.com/office/drawing/2014/main" id="{1628E92D-8B2D-F85B-D444-7278EAD262C2}"/>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MCP: Model Context Protocol</a:t>
            </a:r>
            <a:endParaRPr lang="en-US" sz="2400" dirty="0"/>
          </a:p>
        </p:txBody>
      </p:sp>
      <p:sp>
        <p:nvSpPr>
          <p:cNvPr id="9013"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Text 23"/>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compiler, a database, a filesystem. The result returns to the loop, which calls the model again.</a:t>
            </a:r>
            <a:endParaRPr lang="en-US" dirty="0"/>
          </a:p>
        </p:txBody>
      </p:sp>
      <p:sp>
        <p:nvSpPr>
          <p:cNvPr id="26" name="Text 24"/>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6 / 9</a:t>
            </a:r>
            <a:endParaRPr lang="en-US" sz="1100" dirty="0"/>
          </a:p>
        </p:txBody>
      </p:sp>
      <p:sp>
        <p:nvSpPr>
          <p:cNvPr id="27" name="Text 0">
            <a:extLst>
              <a:ext uri="{FF2B5EF4-FFF2-40B4-BE49-F238E27FC236}">
                <a16:creationId xmlns:a16="http://schemas.microsoft.com/office/drawing/2014/main" id="{08035A9C-F0CF-B538-6534-786C990A0BFB}"/>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Agent </a:t>
            </a:r>
            <a:r>
              <a:rPr lang="nl-NL" sz="2400" b="1" dirty="0" err="1">
                <a:solidFill>
                  <a:srgbClr val="242832"/>
                </a:solidFill>
                <a:latin typeface="Roboto Condensed" pitchFamily="34" charset="0"/>
                <a:ea typeface="Roboto Condensed" pitchFamily="34" charset="-122"/>
                <a:cs typeface="Roboto Condensed" pitchFamily="34" charset="-120"/>
              </a:rPr>
              <a:t>uses</a:t>
            </a:r>
            <a:r>
              <a:rPr lang="nl-NL" sz="2400" b="1" dirty="0">
                <a:solidFill>
                  <a:srgbClr val="242832"/>
                </a:solidFill>
                <a:latin typeface="Roboto Condensed" pitchFamily="34" charset="0"/>
                <a:ea typeface="Roboto Condensed" pitchFamily="34" charset="-122"/>
                <a:cs typeface="Roboto Condensed" pitchFamily="34" charset="-120"/>
              </a:rPr>
              <a:t> tools </a:t>
            </a:r>
            <a:r>
              <a:rPr lang="nl-NL" sz="2400" b="1" dirty="0" err="1">
                <a:solidFill>
                  <a:srgbClr val="242832"/>
                </a:solidFill>
                <a:latin typeface="Roboto Condensed" pitchFamily="34" charset="0"/>
                <a:ea typeface="Roboto Condensed" pitchFamily="34" charset="-122"/>
                <a:cs typeface="Roboto Condensed" pitchFamily="34" charset="-120"/>
              </a:rPr>
              <a:t>and</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loop</a:t>
            </a:r>
            <a:endParaRPr lang="en-US" sz="2400" dirty="0"/>
          </a:p>
        </p:txBody>
      </p:sp>
      <p:sp>
        <p:nvSpPr>
          <p:cNvPr id="9014"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400" i="1" dirty="0">
                <a:solidFill>
                  <a:srgbClr val="065A82"/>
                </a:solidFill>
                <a:latin typeface="Calibri" pitchFamily="34" charset="0"/>
                <a:ea typeface="Calibri" pitchFamily="34" charset="-122"/>
                <a:cs typeface="Calibri" pitchFamily="34" charset="-120"/>
              </a:rPr>
              <a:t>a machine-checked contract</a:t>
            </a:r>
            <a:endParaRPr lang="en-US" sz="1400" dirty="0"/>
          </a:p>
        </p:txBody>
      </p:sp>
      <p:sp>
        <p:nvSpPr>
          <p:cNvPr id="30" name="Text 28"/>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machine-checked contract: A valid record must output correct types with respect to contract</a:t>
            </a:r>
            <a:endParaRPr lang="en-US" dirty="0"/>
          </a:p>
        </p:txBody>
      </p:sp>
      <p:sp>
        <p:nvSpPr>
          <p:cNvPr id="31" name="Text 29"/>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7 / 9</a:t>
            </a:r>
            <a:endParaRPr lang="en-US" sz="1100" dirty="0"/>
          </a:p>
        </p:txBody>
      </p:sp>
      <p:sp>
        <p:nvSpPr>
          <p:cNvPr id="32" name="Text 0">
            <a:extLst>
              <a:ext uri="{FF2B5EF4-FFF2-40B4-BE49-F238E27FC236}">
                <a16:creationId xmlns:a16="http://schemas.microsoft.com/office/drawing/2014/main" id="{E97175DC-EB68-A560-2A23-FB1BB2ABB789}"/>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000" i="1" dirty="0">
                <a:solidFill>
                  <a:srgbClr val="065A82"/>
                </a:solidFill>
                <a:latin typeface="Calibri" pitchFamily="34" charset="0"/>
                <a:ea typeface="Calibri" pitchFamily="34" charset="-122"/>
                <a:cs typeface="Calibri" pitchFamily="34" charset="-120"/>
              </a:rPr>
              <a:t>a machine-checked contract</a:t>
            </a:r>
            <a:endParaRPr lang="en-US" sz="1000" dirty="0"/>
          </a:p>
        </p:txBody>
      </p:sp>
      <p:sp>
        <p:nvSpPr>
          <p:cNvPr id="30" name="Shape 28"/>
          <p:cNvSpPr/>
          <p:nvPr/>
        </p:nvSpPr>
        <p:spPr>
          <a:xfrm>
            <a:off x="9372600" y="3040380"/>
            <a:ext cx="256032" cy="0"/>
          </a:xfrm>
          <a:prstGeom prst="line">
            <a:avLst/>
          </a:prstGeom>
          <a:noFill/>
          <a:ln w="15875">
            <a:solidFill>
              <a:srgbClr val="1A1A16"/>
            </a:solidFill>
            <a:prstDash val="solid"/>
            <a:tailEnd type="triangle"/>
          </a:ln>
        </p:spPr>
        <p:txBody>
          <a:bodyPr/>
          <a:lstStyle/>
          <a:p>
            <a:endParaRPr lang="zh-CN" altLang="en-US"/>
          </a:p>
        </p:txBody>
      </p:sp>
      <p:sp>
        <p:nvSpPr>
          <p:cNvPr id="31" name="Shape 29"/>
          <p:cNvSpPr/>
          <p:nvPr/>
        </p:nvSpPr>
        <p:spPr>
          <a:xfrm>
            <a:off x="9372600" y="3040380"/>
            <a:ext cx="256032" cy="283464"/>
          </a:xfrm>
          <a:prstGeom prst="line">
            <a:avLst/>
          </a:prstGeom>
          <a:noFill/>
          <a:ln w="22225">
            <a:solidFill>
              <a:srgbClr val="065A82"/>
            </a:solidFill>
            <a:prstDash val="solid"/>
            <a:tailEnd type="triangle"/>
          </a:ln>
        </p:spPr>
        <p:txBody>
          <a:bodyPr/>
          <a:lstStyle/>
          <a:p>
            <a:endParaRPr lang="zh-CN" altLang="en-US"/>
          </a:p>
        </p:txBody>
      </p:sp>
      <p:sp>
        <p:nvSpPr>
          <p:cNvPr id="32" name="Shape 30"/>
          <p:cNvSpPr/>
          <p:nvPr/>
        </p:nvSpPr>
        <p:spPr>
          <a:xfrm>
            <a:off x="9875520" y="2377440"/>
            <a:ext cx="1783080" cy="475488"/>
          </a:xfrm>
          <a:prstGeom prst="rect">
            <a:avLst/>
          </a:prstGeom>
          <a:ln w="12700">
            <a:solidFill>
              <a:srgbClr val="1A1A16"/>
            </a:solidFill>
            <a:prstDash val="solid"/>
          </a:ln>
        </p:spPr>
        <p:txBody>
          <a:bodyPr/>
          <a:lstStyle/>
          <a:p>
            <a:endParaRPr lang="zh-CN" altLang="en-US"/>
          </a:p>
        </p:txBody>
      </p:sp>
      <p:sp>
        <p:nvSpPr>
          <p:cNvPr id="33" name="Text 31"/>
          <p:cNvSpPr txBox="1"/>
          <p:nvPr/>
        </p:nvSpPr>
        <p:spPr>
          <a:xfrm>
            <a:off x="9875520" y="2377440"/>
            <a:ext cx="1783080" cy="475488"/>
          </a:xfrm>
          <a:prstGeom prst="rect">
            <a:avLst/>
          </a:prstGeom>
          <a:noFill/>
          <a:ln/>
        </p:spPr>
        <p:txBody>
          <a:bodyPr wrap="square" lIns="0" tIns="0" rIns="0" bIns="0" rtlCol="0" anchor="ctr"/>
          <a:lstStyle/>
          <a:p>
            <a:pPr marL="0" indent="0" algn="ctr">
              <a:buNone/>
            </a:pPr>
            <a:r>
              <a:rPr lang="en-US" sz="1100" b="1" dirty="0">
                <a:solidFill>
                  <a:srgbClr val="1A1A16"/>
                </a:solidFill>
                <a:latin typeface="Calibri" pitchFamily="34" charset="0"/>
                <a:ea typeface="Calibri" pitchFamily="34" charset="-122"/>
                <a:cs typeface="Calibri" pitchFamily="34" charset="-120"/>
              </a:rPr>
              <a:t>conforms → recorded</a:t>
            </a:r>
            <a:endParaRPr lang="en-US" sz="1100" dirty="0"/>
          </a:p>
        </p:txBody>
      </p:sp>
      <p:sp>
        <p:nvSpPr>
          <p:cNvPr id="34" name="Shape 32"/>
          <p:cNvSpPr/>
          <p:nvPr/>
        </p:nvSpPr>
        <p:spPr>
          <a:xfrm>
            <a:off x="9875520" y="3090672"/>
            <a:ext cx="1783080" cy="475488"/>
          </a:xfrm>
          <a:prstGeom prst="rect">
            <a:avLst/>
          </a:prstGeom>
          <a:ln w="22225">
            <a:solidFill>
              <a:srgbClr val="065A82"/>
            </a:solidFill>
            <a:prstDash val="solid"/>
          </a:ln>
        </p:spPr>
        <p:txBody>
          <a:bodyPr/>
          <a:lstStyle/>
          <a:p>
            <a:endParaRPr lang="zh-CN" altLang="en-US"/>
          </a:p>
        </p:txBody>
      </p:sp>
      <p:sp>
        <p:nvSpPr>
          <p:cNvPr id="35" name="Text 33"/>
          <p:cNvSpPr txBox="1"/>
          <p:nvPr/>
        </p:nvSpPr>
        <p:spPr>
          <a:xfrm>
            <a:off x="9875520" y="3090672"/>
            <a:ext cx="1783080" cy="47548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does not → REFUSED</a:t>
            </a:r>
            <a:endParaRPr lang="en-US" sz="1100" dirty="0"/>
          </a:p>
        </p:txBody>
      </p:sp>
      <p:sp>
        <p:nvSpPr>
          <p:cNvPr id="36" name="Text 34"/>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record that does not conform is not repaired or accepted with a warning, but it is refused.</a:t>
            </a:r>
            <a:endParaRPr lang="en-US" dirty="0"/>
          </a:p>
        </p:txBody>
      </p:sp>
      <p:sp>
        <p:nvSpPr>
          <p:cNvPr id="37" name="Text 3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8 / 9</a:t>
            </a:r>
            <a:endParaRPr lang="en-US" sz="1100" dirty="0"/>
          </a:p>
        </p:txBody>
      </p:sp>
      <p:sp>
        <p:nvSpPr>
          <p:cNvPr id="38" name="Text 0">
            <a:extLst>
              <a:ext uri="{FF2B5EF4-FFF2-40B4-BE49-F238E27FC236}">
                <a16:creationId xmlns:a16="http://schemas.microsoft.com/office/drawing/2014/main" id="{36BB3828-B388-D370-0059-DDAA762CB6DC}"/>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000" i="1" dirty="0">
                <a:solidFill>
                  <a:srgbClr val="065A82"/>
                </a:solidFill>
                <a:latin typeface="Calibri" pitchFamily="34" charset="0"/>
                <a:ea typeface="Calibri" pitchFamily="34" charset="-122"/>
                <a:cs typeface="Calibri" pitchFamily="34" charset="-120"/>
              </a:rPr>
              <a:t>a machine-checked contract</a:t>
            </a:r>
            <a:endParaRPr lang="en-US" sz="1000" dirty="0"/>
          </a:p>
        </p:txBody>
      </p:sp>
      <p:sp>
        <p:nvSpPr>
          <p:cNvPr id="30" name="Shape 28"/>
          <p:cNvSpPr/>
          <p:nvPr/>
        </p:nvSpPr>
        <p:spPr>
          <a:xfrm>
            <a:off x="9372600" y="3040380"/>
            <a:ext cx="256032" cy="0"/>
          </a:xfrm>
          <a:prstGeom prst="line">
            <a:avLst/>
          </a:prstGeom>
          <a:noFill/>
          <a:ln w="15875">
            <a:solidFill>
              <a:srgbClr val="1A1A16"/>
            </a:solidFill>
            <a:prstDash val="solid"/>
            <a:tailEnd type="triangle"/>
          </a:ln>
        </p:spPr>
        <p:txBody>
          <a:bodyPr/>
          <a:lstStyle/>
          <a:p>
            <a:endParaRPr lang="zh-CN" altLang="en-US"/>
          </a:p>
        </p:txBody>
      </p:sp>
      <p:sp>
        <p:nvSpPr>
          <p:cNvPr id="31" name="Shape 29"/>
          <p:cNvSpPr/>
          <p:nvPr/>
        </p:nvSpPr>
        <p:spPr>
          <a:xfrm>
            <a:off x="9372600" y="3040380"/>
            <a:ext cx="256032" cy="283464"/>
          </a:xfrm>
          <a:prstGeom prst="line">
            <a:avLst/>
          </a:prstGeom>
          <a:noFill/>
          <a:ln w="22225">
            <a:solidFill>
              <a:srgbClr val="065A82"/>
            </a:solidFill>
            <a:prstDash val="solid"/>
            <a:tailEnd type="triangle"/>
          </a:ln>
        </p:spPr>
        <p:txBody>
          <a:bodyPr/>
          <a:lstStyle/>
          <a:p>
            <a:endParaRPr lang="zh-CN" altLang="en-US"/>
          </a:p>
        </p:txBody>
      </p:sp>
      <p:sp>
        <p:nvSpPr>
          <p:cNvPr id="32" name="Shape 30"/>
          <p:cNvSpPr/>
          <p:nvPr/>
        </p:nvSpPr>
        <p:spPr>
          <a:xfrm>
            <a:off x="9875520" y="2377440"/>
            <a:ext cx="1783080" cy="475488"/>
          </a:xfrm>
          <a:prstGeom prst="rect">
            <a:avLst/>
          </a:prstGeom>
          <a:ln w="12700">
            <a:solidFill>
              <a:srgbClr val="1A1A16"/>
            </a:solidFill>
            <a:prstDash val="solid"/>
          </a:ln>
        </p:spPr>
        <p:txBody>
          <a:bodyPr/>
          <a:lstStyle/>
          <a:p>
            <a:endParaRPr lang="zh-CN" altLang="en-US"/>
          </a:p>
        </p:txBody>
      </p:sp>
      <p:sp>
        <p:nvSpPr>
          <p:cNvPr id="33" name="Text 31"/>
          <p:cNvSpPr txBox="1"/>
          <p:nvPr/>
        </p:nvSpPr>
        <p:spPr>
          <a:xfrm>
            <a:off x="9875520" y="2377440"/>
            <a:ext cx="1783080" cy="475488"/>
          </a:xfrm>
          <a:prstGeom prst="rect">
            <a:avLst/>
          </a:prstGeom>
          <a:noFill/>
          <a:ln/>
        </p:spPr>
        <p:txBody>
          <a:bodyPr wrap="square" lIns="0" tIns="0" rIns="0" bIns="0" rtlCol="0" anchor="ctr"/>
          <a:lstStyle/>
          <a:p>
            <a:pPr marL="0" indent="0" algn="ctr">
              <a:buNone/>
            </a:pPr>
            <a:r>
              <a:rPr lang="en-US" sz="1100" b="1" dirty="0">
                <a:solidFill>
                  <a:srgbClr val="1A1A16"/>
                </a:solidFill>
                <a:latin typeface="Calibri" pitchFamily="34" charset="0"/>
                <a:ea typeface="Calibri" pitchFamily="34" charset="-122"/>
                <a:cs typeface="Calibri" pitchFamily="34" charset="-120"/>
              </a:rPr>
              <a:t>conforms → recorded</a:t>
            </a:r>
            <a:endParaRPr lang="en-US" sz="1100" dirty="0"/>
          </a:p>
        </p:txBody>
      </p:sp>
      <p:sp>
        <p:nvSpPr>
          <p:cNvPr id="34" name="Shape 32"/>
          <p:cNvSpPr/>
          <p:nvPr/>
        </p:nvSpPr>
        <p:spPr>
          <a:xfrm>
            <a:off x="9875520" y="3090672"/>
            <a:ext cx="1783080" cy="475488"/>
          </a:xfrm>
          <a:prstGeom prst="rect">
            <a:avLst/>
          </a:prstGeom>
          <a:ln w="22225">
            <a:solidFill>
              <a:srgbClr val="065A82"/>
            </a:solidFill>
            <a:prstDash val="solid"/>
          </a:ln>
        </p:spPr>
        <p:txBody>
          <a:bodyPr/>
          <a:lstStyle/>
          <a:p>
            <a:endParaRPr lang="zh-CN" altLang="en-US"/>
          </a:p>
        </p:txBody>
      </p:sp>
      <p:sp>
        <p:nvSpPr>
          <p:cNvPr id="35" name="Text 33"/>
          <p:cNvSpPr txBox="1"/>
          <p:nvPr/>
        </p:nvSpPr>
        <p:spPr>
          <a:xfrm>
            <a:off x="9875520" y="3090672"/>
            <a:ext cx="1783080" cy="47548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does not → REFUSED</a:t>
            </a:r>
            <a:endParaRPr lang="en-US" sz="1100" dirty="0"/>
          </a:p>
        </p:txBody>
      </p:sp>
      <p:sp>
        <p:nvSpPr>
          <p:cNvPr id="36" name="Text 34"/>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The prompt, the skill and the tool call are all requests — they can be ignored, and the transcript looks the same either way. Only the schema can make an answer impossible to express.</a:t>
            </a:r>
            <a:endParaRPr lang="en-US" dirty="0"/>
          </a:p>
        </p:txBody>
      </p:sp>
      <p:sp>
        <p:nvSpPr>
          <p:cNvPr id="37" name="Text 3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9 / 9</a:t>
            </a:r>
            <a:endParaRPr lang="en-US" sz="1100" dirty="0"/>
          </a:p>
        </p:txBody>
      </p:sp>
      <p:sp>
        <p:nvSpPr>
          <p:cNvPr id="38" name="Text 0">
            <a:extLst>
              <a:ext uri="{FF2B5EF4-FFF2-40B4-BE49-F238E27FC236}">
                <a16:creationId xmlns:a16="http://schemas.microsoft.com/office/drawing/2014/main" id="{03BE5760-9E59-2810-E701-2F89AF74E87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7"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FD49-45B4-6495-092A-DEA92FD49BDE}"/>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65585B0B-5B5D-9D0A-2712-1CB72D140F99}"/>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A8B48A66-85B2-2578-748F-317FE89FD7E0}"/>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309B5E41-B068-52D1-C655-B979FAB2497E}"/>
              </a:ext>
            </a:extLst>
          </p:cNvPr>
          <p:cNvPicPr>
            <a:picLocks/>
          </p:cNvPicPr>
          <p:nvPr/>
        </p:nvPicPr>
        <p:blipFill>
          <a:blip r:embed="rId4"/>
          <a:stretch>
            <a:fillRect/>
          </a:stretch>
        </p:blipFill>
        <p:spPr>
          <a:xfrm>
            <a:off x="706124" y="1688567"/>
            <a:ext cx="4998523" cy="1671002"/>
          </a:xfrm>
          <a:prstGeom prst="rect">
            <a:avLst/>
          </a:prstGeom>
        </p:spPr>
      </p:pic>
      <p:sp>
        <p:nvSpPr>
          <p:cNvPr id="15" name="Text 0">
            <a:extLst>
              <a:ext uri="{FF2B5EF4-FFF2-40B4-BE49-F238E27FC236}">
                <a16:creationId xmlns:a16="http://schemas.microsoft.com/office/drawing/2014/main" id="{F6689566-4E93-5225-7B66-E8CFAFA5F28A}"/>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9019"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19</a:t>
            </a:r>
          </a:p>
        </p:txBody>
      </p:sp>
    </p:spTree>
    <p:extLst>
      <p:ext uri="{BB962C8B-B14F-4D97-AF65-F5344CB8AC3E}">
        <p14:creationId xmlns:p14="http://schemas.microsoft.com/office/powerpoint/2010/main" val="195875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7CF2-7784-4449-4783-2CC5631C73C0}"/>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F9082D97-FE71-4CAA-DD92-5C2DFBCC300A}"/>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6885FFE0-B135-C31F-8DF6-CA6964BAE1A4}"/>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A90735EA-DD78-3C70-0942-AE951D0EF9B0}"/>
              </a:ext>
            </a:extLst>
          </p:cNvPr>
          <p:cNvPicPr>
            <a:picLocks/>
          </p:cNvPicPr>
          <p:nvPr/>
        </p:nvPicPr>
        <p:blipFill>
          <a:blip r:embed="rId4"/>
          <a:stretch>
            <a:fillRect/>
          </a:stretch>
        </p:blipFill>
        <p:spPr>
          <a:xfrm>
            <a:off x="706124" y="1688567"/>
            <a:ext cx="4998523" cy="1671002"/>
          </a:xfrm>
          <a:prstGeom prst="rect">
            <a:avLst/>
          </a:prstGeom>
        </p:spPr>
      </p:pic>
      <p:pic>
        <p:nvPicPr>
          <p:cNvPr id="9" name="图片 8">
            <a:extLst>
              <a:ext uri="{FF2B5EF4-FFF2-40B4-BE49-F238E27FC236}">
                <a16:creationId xmlns:a16="http://schemas.microsoft.com/office/drawing/2014/main" id="{EB64D4B8-A1C8-9038-FDA8-3F3822C750C9}"/>
              </a:ext>
            </a:extLst>
          </p:cNvPr>
          <p:cNvPicPr>
            <a:picLocks noChangeAspect="1"/>
          </p:cNvPicPr>
          <p:nvPr/>
        </p:nvPicPr>
        <p:blipFill>
          <a:blip r:embed="rId5"/>
          <a:stretch>
            <a:fillRect/>
          </a:stretch>
        </p:blipFill>
        <p:spPr>
          <a:xfrm>
            <a:off x="8876749" y="1028903"/>
            <a:ext cx="2841261" cy="2758165"/>
          </a:xfrm>
          <a:prstGeom prst="rect">
            <a:avLst/>
          </a:prstGeom>
        </p:spPr>
      </p:pic>
      <p:pic>
        <p:nvPicPr>
          <p:cNvPr id="11" name="图片 10">
            <a:extLst>
              <a:ext uri="{FF2B5EF4-FFF2-40B4-BE49-F238E27FC236}">
                <a16:creationId xmlns:a16="http://schemas.microsoft.com/office/drawing/2014/main" id="{50BE45D2-4C7B-7FF8-B64A-1B6F6D30E133}"/>
              </a:ext>
            </a:extLst>
          </p:cNvPr>
          <p:cNvPicPr>
            <a:picLocks noChangeAspect="1"/>
          </p:cNvPicPr>
          <p:nvPr/>
        </p:nvPicPr>
        <p:blipFill>
          <a:blip r:embed="rId6"/>
          <a:stretch>
            <a:fillRect/>
          </a:stretch>
        </p:blipFill>
        <p:spPr>
          <a:xfrm>
            <a:off x="1042356" y="3657866"/>
            <a:ext cx="7772400" cy="2444196"/>
          </a:xfrm>
          <a:prstGeom prst="rect">
            <a:avLst/>
          </a:prstGeom>
        </p:spPr>
      </p:pic>
      <p:pic>
        <p:nvPicPr>
          <p:cNvPr id="13" name="图片 12">
            <a:extLst>
              <a:ext uri="{FF2B5EF4-FFF2-40B4-BE49-F238E27FC236}">
                <a16:creationId xmlns:a16="http://schemas.microsoft.com/office/drawing/2014/main" id="{325910AF-96AE-EBE0-699A-7853E0C2131E}"/>
              </a:ext>
            </a:extLst>
          </p:cNvPr>
          <p:cNvPicPr>
            <a:picLocks noChangeAspect="1"/>
          </p:cNvPicPr>
          <p:nvPr/>
        </p:nvPicPr>
        <p:blipFill>
          <a:blip r:embed="rId7"/>
          <a:stretch>
            <a:fillRect/>
          </a:stretch>
        </p:blipFill>
        <p:spPr>
          <a:xfrm>
            <a:off x="1038352" y="3657866"/>
            <a:ext cx="7772400" cy="2294385"/>
          </a:xfrm>
          <a:prstGeom prst="rect">
            <a:avLst/>
          </a:prstGeom>
        </p:spPr>
      </p:pic>
      <p:sp>
        <p:nvSpPr>
          <p:cNvPr id="15" name="Text 0">
            <a:extLst>
              <a:ext uri="{FF2B5EF4-FFF2-40B4-BE49-F238E27FC236}">
                <a16:creationId xmlns:a16="http://schemas.microsoft.com/office/drawing/2014/main" id="{9F85EB0B-F1CC-FC1B-CA50-EE67B32D7637}"/>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16" name="Text 0">
            <a:extLst>
              <a:ext uri="{FF2B5EF4-FFF2-40B4-BE49-F238E27FC236}">
                <a16:creationId xmlns:a16="http://schemas.microsoft.com/office/drawing/2014/main" id="{50B0C900-53EA-025E-A082-1A77610F70CD}"/>
              </a:ext>
            </a:extLst>
          </p:cNvPr>
          <p:cNvSpPr/>
          <p:nvPr/>
        </p:nvSpPr>
        <p:spPr>
          <a:xfrm>
            <a:off x="9274974" y="4415014"/>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Reasoning forwards</a:t>
            </a:r>
            <a:endParaRPr lang="en-US" sz="2400" dirty="0"/>
          </a:p>
        </p:txBody>
      </p:sp>
      <p:sp>
        <p:nvSpPr>
          <p:cNvPr id="902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20</a:t>
            </a:r>
          </a:p>
        </p:txBody>
      </p:sp>
    </p:spTree>
    <p:extLst>
      <p:ext uri="{BB962C8B-B14F-4D97-AF65-F5344CB8AC3E}">
        <p14:creationId xmlns:p14="http://schemas.microsoft.com/office/powerpoint/2010/main" val="2973024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CAA9D-55C4-353C-EDF0-05813328318F}"/>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31AF6AF1-B7E3-1E21-E515-46399E21B27A}"/>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543029C6-BE96-70F5-10B3-EACCF4FBA38B}"/>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386E9A61-E46B-7824-7ECA-23B5A36EE379}"/>
              </a:ext>
            </a:extLst>
          </p:cNvPr>
          <p:cNvPicPr>
            <a:picLocks/>
          </p:cNvPicPr>
          <p:nvPr/>
        </p:nvPicPr>
        <p:blipFill>
          <a:blip r:embed="rId4"/>
          <a:stretch>
            <a:fillRect/>
          </a:stretch>
        </p:blipFill>
        <p:spPr>
          <a:xfrm>
            <a:off x="706124" y="1688567"/>
            <a:ext cx="4998523" cy="1671002"/>
          </a:xfrm>
          <a:prstGeom prst="rect">
            <a:avLst/>
          </a:prstGeom>
        </p:spPr>
      </p:pic>
      <p:pic>
        <p:nvPicPr>
          <p:cNvPr id="9" name="图片 8">
            <a:extLst>
              <a:ext uri="{FF2B5EF4-FFF2-40B4-BE49-F238E27FC236}">
                <a16:creationId xmlns:a16="http://schemas.microsoft.com/office/drawing/2014/main" id="{8327BA19-5621-27E7-E77F-2D82A25DE6C7}"/>
              </a:ext>
            </a:extLst>
          </p:cNvPr>
          <p:cNvPicPr>
            <a:picLocks noChangeAspect="1"/>
          </p:cNvPicPr>
          <p:nvPr/>
        </p:nvPicPr>
        <p:blipFill>
          <a:blip r:embed="rId5"/>
          <a:stretch>
            <a:fillRect/>
          </a:stretch>
        </p:blipFill>
        <p:spPr>
          <a:xfrm>
            <a:off x="8876749" y="1028903"/>
            <a:ext cx="2841261" cy="2758165"/>
          </a:xfrm>
          <a:prstGeom prst="rect">
            <a:avLst/>
          </a:prstGeom>
        </p:spPr>
      </p:pic>
      <p:pic>
        <p:nvPicPr>
          <p:cNvPr id="11" name="图片 10">
            <a:extLst>
              <a:ext uri="{FF2B5EF4-FFF2-40B4-BE49-F238E27FC236}">
                <a16:creationId xmlns:a16="http://schemas.microsoft.com/office/drawing/2014/main" id="{F18A6F5C-ACBE-060C-0F9D-9A3D09E5D542}"/>
              </a:ext>
            </a:extLst>
          </p:cNvPr>
          <p:cNvPicPr>
            <a:picLocks noChangeAspect="1"/>
          </p:cNvPicPr>
          <p:nvPr/>
        </p:nvPicPr>
        <p:blipFill>
          <a:blip r:embed="rId6"/>
          <a:stretch>
            <a:fillRect/>
          </a:stretch>
        </p:blipFill>
        <p:spPr>
          <a:xfrm>
            <a:off x="1042356" y="3657866"/>
            <a:ext cx="7772400" cy="2444196"/>
          </a:xfrm>
          <a:prstGeom prst="rect">
            <a:avLst/>
          </a:prstGeom>
        </p:spPr>
      </p:pic>
      <p:pic>
        <p:nvPicPr>
          <p:cNvPr id="14" name="图片 13">
            <a:extLst>
              <a:ext uri="{FF2B5EF4-FFF2-40B4-BE49-F238E27FC236}">
                <a16:creationId xmlns:a16="http://schemas.microsoft.com/office/drawing/2014/main" id="{44C777B6-73BD-38C0-200E-3AC30610A393}"/>
              </a:ext>
            </a:extLst>
          </p:cNvPr>
          <p:cNvPicPr>
            <a:picLocks noChangeAspect="1"/>
          </p:cNvPicPr>
          <p:nvPr/>
        </p:nvPicPr>
        <p:blipFill>
          <a:blip r:embed="rId7"/>
          <a:stretch>
            <a:fillRect/>
          </a:stretch>
        </p:blipFill>
        <p:spPr>
          <a:xfrm>
            <a:off x="908616" y="3764219"/>
            <a:ext cx="8136249" cy="2231490"/>
          </a:xfrm>
          <a:prstGeom prst="rect">
            <a:avLst/>
          </a:prstGeom>
        </p:spPr>
      </p:pic>
      <p:sp>
        <p:nvSpPr>
          <p:cNvPr id="15" name="Text 0">
            <a:extLst>
              <a:ext uri="{FF2B5EF4-FFF2-40B4-BE49-F238E27FC236}">
                <a16:creationId xmlns:a16="http://schemas.microsoft.com/office/drawing/2014/main" id="{A8233D1E-3470-BB4C-1118-4BB47E3CEEEE}"/>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16" name="Text 0">
            <a:extLst>
              <a:ext uri="{FF2B5EF4-FFF2-40B4-BE49-F238E27FC236}">
                <a16:creationId xmlns:a16="http://schemas.microsoft.com/office/drawing/2014/main" id="{36AF9A26-F3F4-6205-D0C3-18F5D1D0B712}"/>
              </a:ext>
            </a:extLst>
          </p:cNvPr>
          <p:cNvSpPr/>
          <p:nvPr/>
        </p:nvSpPr>
        <p:spPr>
          <a:xfrm>
            <a:off x="9274974" y="4415014"/>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Reasoning forwards</a:t>
            </a:r>
            <a:endParaRPr lang="en-US" sz="2400" dirty="0"/>
          </a:p>
        </p:txBody>
      </p:sp>
      <p:sp>
        <p:nvSpPr>
          <p:cNvPr id="17" name="Text 0">
            <a:extLst>
              <a:ext uri="{FF2B5EF4-FFF2-40B4-BE49-F238E27FC236}">
                <a16:creationId xmlns:a16="http://schemas.microsoft.com/office/drawing/2014/main" id="{077E7E47-C099-D67D-E6CE-01C7EB5FB0F2}"/>
              </a:ext>
            </a:extLst>
          </p:cNvPr>
          <p:cNvSpPr/>
          <p:nvPr/>
        </p:nvSpPr>
        <p:spPr>
          <a:xfrm>
            <a:off x="4477254" y="6254362"/>
            <a:ext cx="4209546"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Or, sometimes together …</a:t>
            </a:r>
            <a:endParaRPr lang="en-US" sz="2400" dirty="0"/>
          </a:p>
        </p:txBody>
      </p:sp>
      <p:sp>
        <p:nvSpPr>
          <p:cNvPr id="9021"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21</a:t>
            </a:r>
          </a:p>
        </p:txBody>
      </p:sp>
    </p:spTree>
    <p:extLst>
      <p:ext uri="{BB962C8B-B14F-4D97-AF65-F5344CB8AC3E}">
        <p14:creationId xmlns:p14="http://schemas.microsoft.com/office/powerpoint/2010/main" val="3147361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5">
            <a:extLst>
              <a:ext uri="{FF2B5EF4-FFF2-40B4-BE49-F238E27FC236}">
                <a16:creationId xmlns:a16="http://schemas.microsoft.com/office/drawing/2014/main" id="{74D4125E-ABB5-801D-8008-C0CAA8BFB295}"/>
              </a:ext>
            </a:extLst>
          </p:cNvPr>
          <p:cNvSpPr/>
          <p:nvPr/>
        </p:nvSpPr>
        <p:spPr>
          <a:xfrm>
            <a:off x="2072409" y="972532"/>
            <a:ext cx="3657599" cy="960120"/>
          </a:xfrm>
          <a:prstGeom prst="roundRect">
            <a:avLst>
              <a:gd name="adj" fmla="val 4629"/>
            </a:avLst>
          </a:prstGeom>
          <a:solidFill>
            <a:srgbClr val="EAF0FF"/>
          </a:solidFill>
          <a:ln w="13970">
            <a:solidFill>
              <a:srgbClr val="356AE6"/>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The story</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What did the paper actually state?</a:t>
            </a:r>
            <a:endParaRPr lang="en-US" sz="1200" dirty="0"/>
          </a:p>
        </p:txBody>
      </p:sp>
      <p:sp>
        <p:nvSpPr>
          <p:cNvPr id="6" name="Text 6">
            <a:extLst>
              <a:ext uri="{FF2B5EF4-FFF2-40B4-BE49-F238E27FC236}">
                <a16:creationId xmlns:a16="http://schemas.microsoft.com/office/drawing/2014/main" id="{644B51EE-FA38-6B60-A53D-F28D6CDAAF80}"/>
              </a:ext>
            </a:extLst>
          </p:cNvPr>
          <p:cNvSpPr/>
          <p:nvPr/>
        </p:nvSpPr>
        <p:spPr>
          <a:xfrm>
            <a:off x="5804032" y="972532"/>
            <a:ext cx="4892040" cy="960120"/>
          </a:xfrm>
          <a:prstGeom prst="roundRect">
            <a:avLst>
              <a:gd name="adj" fmla="val 4629"/>
            </a:avLst>
          </a:prstGeom>
          <a:solidFill>
            <a:srgbClr val="E2F1EA"/>
          </a:solidFill>
          <a:ln w="13970">
            <a:solidFill>
              <a:srgbClr val="257A63"/>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Mathematical correctness</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Does the conclusion follow from encoded assumptions?</a:t>
            </a:r>
            <a:endParaRPr lang="en-US" sz="1200" dirty="0"/>
          </a:p>
        </p:txBody>
      </p:sp>
      <p:sp>
        <p:nvSpPr>
          <p:cNvPr id="7" name="Text 7">
            <a:extLst>
              <a:ext uri="{FF2B5EF4-FFF2-40B4-BE49-F238E27FC236}">
                <a16:creationId xmlns:a16="http://schemas.microsoft.com/office/drawing/2014/main" id="{24650221-316D-D24B-7487-27E804FF6A07}"/>
              </a:ext>
            </a:extLst>
          </p:cNvPr>
          <p:cNvSpPr/>
          <p:nvPr/>
        </p:nvSpPr>
        <p:spPr>
          <a:xfrm>
            <a:off x="2072409" y="2015383"/>
            <a:ext cx="3657600" cy="960120"/>
          </a:xfrm>
          <a:prstGeom prst="roundRect">
            <a:avLst>
              <a:gd name="adj" fmla="val 4629"/>
            </a:avLst>
          </a:prstGeom>
          <a:solidFill>
            <a:srgbClr val="FFF1D6"/>
          </a:solidFill>
          <a:ln w="13970">
            <a:solidFill>
              <a:srgbClr val="B7791F"/>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Computational reproducibility</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Can the numerical result be reproduced?</a:t>
            </a:r>
            <a:endParaRPr lang="en-US" sz="1200" dirty="0"/>
          </a:p>
        </p:txBody>
      </p:sp>
      <p:sp>
        <p:nvSpPr>
          <p:cNvPr id="8" name="Text 8">
            <a:extLst>
              <a:ext uri="{FF2B5EF4-FFF2-40B4-BE49-F238E27FC236}">
                <a16:creationId xmlns:a16="http://schemas.microsoft.com/office/drawing/2014/main" id="{23A44098-6E49-54AF-3096-4717E6C63F17}"/>
              </a:ext>
            </a:extLst>
          </p:cNvPr>
          <p:cNvSpPr/>
          <p:nvPr/>
        </p:nvSpPr>
        <p:spPr>
          <a:xfrm>
            <a:off x="5804032" y="2015383"/>
            <a:ext cx="4892040" cy="960120"/>
          </a:xfrm>
          <a:prstGeom prst="roundRect">
            <a:avLst>
              <a:gd name="adj" fmla="val 4629"/>
            </a:avLst>
          </a:prstGeom>
          <a:solidFill>
            <a:srgbClr val="EEE8F7"/>
          </a:solidFill>
          <a:ln w="38100">
            <a:solidFill>
              <a:srgbClr val="7356A3"/>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Physical-semantic alignment</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Does the formal object represent the intended physics?</a:t>
            </a:r>
            <a:endParaRPr lang="en-US" sz="1200" dirty="0"/>
          </a:p>
        </p:txBody>
      </p:sp>
      <p:sp>
        <p:nvSpPr>
          <p:cNvPr id="9" name="Text 0">
            <a:extLst>
              <a:ext uri="{FF2B5EF4-FFF2-40B4-BE49-F238E27FC236}">
                <a16:creationId xmlns:a16="http://schemas.microsoft.com/office/drawing/2014/main" id="{610DE0D1-FFA8-B020-C3BB-AE69E1C36B00}"/>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What we actually care, and</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a:t>
            </a:r>
            <a:r>
              <a:rPr lang="en-US" sz="2400" b="1" dirty="0">
                <a:solidFill>
                  <a:srgbClr val="242832"/>
                </a:solidFill>
                <a:latin typeface="Roboto Condensed" pitchFamily="34" charset="0"/>
                <a:ea typeface="Roboto Condensed" pitchFamily="34" charset="-122"/>
                <a:cs typeface="Roboto Condensed" pitchFamily="34" charset="-120"/>
              </a:rPr>
              <a:t> what we can trust? (as theorists)</a:t>
            </a:r>
            <a:endParaRPr lang="en-US" sz="2400" dirty="0"/>
          </a:p>
        </p:txBody>
      </p:sp>
      <p:pic>
        <p:nvPicPr>
          <p:cNvPr id="10" name="图片 9">
            <a:extLst>
              <a:ext uri="{FF2B5EF4-FFF2-40B4-BE49-F238E27FC236}">
                <a16:creationId xmlns:a16="http://schemas.microsoft.com/office/drawing/2014/main" id="{1A650449-0A5B-8B23-73C2-16790779F493}"/>
              </a:ext>
            </a:extLst>
          </p:cNvPr>
          <p:cNvPicPr>
            <a:picLocks noChangeAspect="1"/>
          </p:cNvPicPr>
          <p:nvPr/>
        </p:nvPicPr>
        <p:blipFill>
          <a:blip r:embed="rId2"/>
          <a:stretch>
            <a:fillRect/>
          </a:stretch>
        </p:blipFill>
        <p:spPr>
          <a:xfrm>
            <a:off x="3261578" y="3381330"/>
            <a:ext cx="3095010" cy="2496923"/>
          </a:xfrm>
          <a:prstGeom prst="rect">
            <a:avLst/>
          </a:prstGeom>
        </p:spPr>
      </p:pic>
      <p:sp>
        <p:nvSpPr>
          <p:cNvPr id="11" name="文本框 10">
            <a:extLst>
              <a:ext uri="{FF2B5EF4-FFF2-40B4-BE49-F238E27FC236}">
                <a16:creationId xmlns:a16="http://schemas.microsoft.com/office/drawing/2014/main" id="{5177F417-9D9C-DE5A-ACCC-3A5A722AEC5E}"/>
              </a:ext>
            </a:extLst>
          </p:cNvPr>
          <p:cNvSpPr txBox="1"/>
          <p:nvPr/>
        </p:nvSpPr>
        <p:spPr>
          <a:xfrm>
            <a:off x="3476068" y="5988799"/>
            <a:ext cx="2457125" cy="430887"/>
          </a:xfrm>
          <a:prstGeom prst="rect">
            <a:avLst/>
          </a:prstGeom>
          <a:noFill/>
        </p:spPr>
        <p:txBody>
          <a:bodyPr wrap="square" rtlCol="0">
            <a:spAutoFit/>
          </a:bodyPr>
          <a:lstStyle/>
          <a:p>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The reverse </a:t>
            </a:r>
            <a:r>
              <a:rPr kumimoji="1" lang="nl-NL" altLang="zh-CN" sz="11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mathematics</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zoo,</a:t>
            </a:r>
          </a:p>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founded by Damir Dzhafarov</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 2019</a:t>
            </a:r>
            <a:endParaRPr kumimoji="1" lang="zh-CN" altLang="en-US" sz="1100" dirty="0">
              <a:solidFill>
                <a:schemeClr val="tx1">
                  <a:lumMod val="50000"/>
                  <a:lumOff val="50000"/>
                </a:schemeClr>
              </a:solidFill>
              <a:latin typeface="Tahoma" panose="020B0604030504040204" pitchFamily="34" charset="0"/>
              <a:cs typeface="Tahoma" panose="020B0604030504040204" pitchFamily="34" charset="0"/>
            </a:endParaRPr>
          </a:p>
        </p:txBody>
      </p:sp>
      <p:pic>
        <p:nvPicPr>
          <p:cNvPr id="12" name="图片 11">
            <a:extLst>
              <a:ext uri="{FF2B5EF4-FFF2-40B4-BE49-F238E27FC236}">
                <a16:creationId xmlns:a16="http://schemas.microsoft.com/office/drawing/2014/main" id="{2096FB55-8AD9-A979-6EE9-3D1F9C00168B}"/>
              </a:ext>
            </a:extLst>
          </p:cNvPr>
          <p:cNvPicPr>
            <a:picLocks noChangeAspect="1"/>
          </p:cNvPicPr>
          <p:nvPr/>
        </p:nvPicPr>
        <p:blipFill>
          <a:blip r:embed="rId3"/>
          <a:stretch>
            <a:fillRect/>
          </a:stretch>
        </p:blipFill>
        <p:spPr>
          <a:xfrm>
            <a:off x="6723466" y="3336474"/>
            <a:ext cx="2410098" cy="1205049"/>
          </a:xfrm>
          <a:prstGeom prst="rect">
            <a:avLst/>
          </a:prstGeom>
        </p:spPr>
      </p:pic>
      <p:pic>
        <p:nvPicPr>
          <p:cNvPr id="13" name="Picture 2" descr="The Lean 4 Theorem Prover and Programming Language | Springer Nature Link">
            <a:extLst>
              <a:ext uri="{FF2B5EF4-FFF2-40B4-BE49-F238E27FC236}">
                <a16:creationId xmlns:a16="http://schemas.microsoft.com/office/drawing/2014/main" id="{058E66E4-05FB-3D8D-5913-34FAE1D034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8460" y="4618515"/>
            <a:ext cx="2474686" cy="1174427"/>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DF1A7E98-53A7-3260-6DDC-670A5AF904AC}"/>
              </a:ext>
            </a:extLst>
          </p:cNvPr>
          <p:cNvSpPr txBox="1"/>
          <p:nvPr/>
        </p:nvSpPr>
        <p:spPr>
          <a:xfrm>
            <a:off x="6430377" y="5958626"/>
            <a:ext cx="3785590" cy="430887"/>
          </a:xfrm>
          <a:prstGeom prst="rect">
            <a:avLst/>
          </a:prstGeom>
          <a:noFill/>
        </p:spPr>
        <p:txBody>
          <a:bodyPr wrap="square" rtlCol="0">
            <a:spAutoFit/>
          </a:bodyPr>
          <a:lstStyle/>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The Lean 4 Theorem Prover and Programming Language</a:t>
            </a:r>
          </a:p>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by Moura L, Ullrich S.</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2021</a:t>
            </a:r>
          </a:p>
        </p:txBody>
      </p:sp>
      <p:sp>
        <p:nvSpPr>
          <p:cNvPr id="15" name="Text 6">
            <a:extLst>
              <a:ext uri="{FF2B5EF4-FFF2-40B4-BE49-F238E27FC236}">
                <a16:creationId xmlns:a16="http://schemas.microsoft.com/office/drawing/2014/main" id="{7E0366F3-2FBE-8EAA-D5BF-FC245E921E3E}"/>
              </a:ext>
            </a:extLst>
          </p:cNvPr>
          <p:cNvSpPr/>
          <p:nvPr/>
        </p:nvSpPr>
        <p:spPr>
          <a:xfrm>
            <a:off x="2894699" y="3271378"/>
            <a:ext cx="7321268" cy="3321307"/>
          </a:xfrm>
          <a:prstGeom prst="roundRect">
            <a:avLst>
              <a:gd name="adj" fmla="val 4629"/>
            </a:avLst>
          </a:prstGeom>
          <a:noFill/>
          <a:ln w="13970">
            <a:solidFill>
              <a:srgbClr val="257A63"/>
            </a:solidFill>
          </a:ln>
        </p:spPr>
        <p:txBody>
          <a:bodyPr wrap="square" lIns="508" tIns="508" rIns="508" bIns="508" rtlCol="0" anchor="ctr">
            <a:normAutofit/>
          </a:bodyPr>
          <a:lstStyle/>
          <a:p>
            <a:pPr marL="0" indent="0" algn="ctr">
              <a:buNone/>
            </a:pPr>
            <a:endParaRPr lang="en-US" sz="1200" dirty="0"/>
          </a:p>
        </p:txBody>
      </p:sp>
      <p:sp>
        <p:nvSpPr>
          <p:cNvPr id="20" name="Text 5">
            <a:extLst>
              <a:ext uri="{FF2B5EF4-FFF2-40B4-BE49-F238E27FC236}">
                <a16:creationId xmlns:a16="http://schemas.microsoft.com/office/drawing/2014/main" id="{73FBFCC1-DCFB-A0A1-F7A7-3FF294D8C01E}"/>
              </a:ext>
            </a:extLst>
          </p:cNvPr>
          <p:cNvSpPr/>
          <p:nvPr/>
        </p:nvSpPr>
        <p:spPr>
          <a:xfrm>
            <a:off x="163168" y="3271378"/>
            <a:ext cx="2529283" cy="3314622"/>
          </a:xfrm>
          <a:prstGeom prst="roundRect">
            <a:avLst>
              <a:gd name="adj" fmla="val 4629"/>
            </a:avLst>
          </a:prstGeom>
          <a:noFill/>
          <a:ln w="13970">
            <a:solidFill>
              <a:srgbClr val="356AE6"/>
            </a:solidFill>
          </a:ln>
        </p:spPr>
        <p:txBody>
          <a:bodyPr wrap="square" lIns="508" tIns="508" rIns="508" bIns="508" rtlCol="0" anchor="ctr">
            <a:normAutofit/>
          </a:bodyPr>
          <a:lstStyle/>
          <a:p>
            <a:pPr marL="0" indent="0" algn="ctr">
              <a:buNone/>
            </a:pPr>
            <a:endParaRPr lang="en-US" sz="1200" dirty="0"/>
          </a:p>
        </p:txBody>
      </p:sp>
      <p:pic>
        <p:nvPicPr>
          <p:cNvPr id="5126" name="Picture 6" descr="Paper Formatting – Writing for the Sciences">
            <a:extLst>
              <a:ext uri="{FF2B5EF4-FFF2-40B4-BE49-F238E27FC236}">
                <a16:creationId xmlns:a16="http://schemas.microsoft.com/office/drawing/2014/main" id="{EA64A3F9-14AB-FE62-BD95-C99B1DBF96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531" y="3329791"/>
            <a:ext cx="2332556" cy="2915696"/>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DAD7765A-8EF6-0193-0617-6B52014500D2}"/>
              </a:ext>
            </a:extLst>
          </p:cNvPr>
          <p:cNvSpPr txBox="1"/>
          <p:nvPr/>
        </p:nvSpPr>
        <p:spPr>
          <a:xfrm>
            <a:off x="579408" y="6221624"/>
            <a:ext cx="1899051" cy="261610"/>
          </a:xfrm>
          <a:prstGeom prst="rect">
            <a:avLst/>
          </a:prstGeom>
          <a:noFill/>
        </p:spPr>
        <p:txBody>
          <a:bodyPr wrap="square" rtlCol="0">
            <a:spAutoFit/>
          </a:bodyPr>
          <a:lstStyle/>
          <a:p>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Paper </a:t>
            </a:r>
            <a:r>
              <a:rPr kumimoji="1" lang="nl-NL" altLang="zh-CN" sz="11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formatting</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SUNY</a:t>
            </a:r>
            <a:endParaRPr kumimoji="1" lang="zh-CN" altLang="en-US" sz="1100" dirty="0">
              <a:solidFill>
                <a:schemeClr val="tx1">
                  <a:lumMod val="50000"/>
                  <a:lumOff val="50000"/>
                </a:schemeClr>
              </a:solidFill>
              <a:latin typeface="Tahoma" panose="020B0604030504040204" pitchFamily="34" charset="0"/>
              <a:cs typeface="Tahoma" panose="020B0604030504040204" pitchFamily="34" charset="0"/>
            </a:endParaRPr>
          </a:p>
        </p:txBody>
      </p:sp>
      <p:sp>
        <p:nvSpPr>
          <p:cNvPr id="28" name="文本框 27">
            <a:extLst>
              <a:ext uri="{FF2B5EF4-FFF2-40B4-BE49-F238E27FC236}">
                <a16:creationId xmlns:a16="http://schemas.microsoft.com/office/drawing/2014/main" id="{74D4753D-4471-3997-7811-F59501268B3E}"/>
              </a:ext>
            </a:extLst>
          </p:cNvPr>
          <p:cNvSpPr txBox="1"/>
          <p:nvPr/>
        </p:nvSpPr>
        <p:spPr>
          <a:xfrm>
            <a:off x="10119592" y="2172040"/>
            <a:ext cx="502034" cy="1015663"/>
          </a:xfrm>
          <a:prstGeom prst="rect">
            <a:avLst/>
          </a:prstGeom>
          <a:noFill/>
        </p:spPr>
        <p:txBody>
          <a:bodyPr wrap="square" rtlCol="0">
            <a:spAutoFit/>
          </a:bodyPr>
          <a:lstStyle/>
          <a:p>
            <a:r>
              <a:rPr kumimoji="1" lang="nl-NL" altLang="zh-C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kumimoji="1" lang="zh-CN" alt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 name="Text 7">
            <a:extLst>
              <a:ext uri="{FF2B5EF4-FFF2-40B4-BE49-F238E27FC236}">
                <a16:creationId xmlns:a16="http://schemas.microsoft.com/office/drawing/2014/main" id="{94E5125C-5BC2-7589-4AD7-0FA2FD7321F4}"/>
              </a:ext>
            </a:extLst>
          </p:cNvPr>
          <p:cNvSpPr/>
          <p:nvPr/>
        </p:nvSpPr>
        <p:spPr>
          <a:xfrm>
            <a:off x="10418215" y="3271378"/>
            <a:ext cx="1603881" cy="3314623"/>
          </a:xfrm>
          <a:prstGeom prst="roundRect">
            <a:avLst>
              <a:gd name="adj" fmla="val 4629"/>
            </a:avLst>
          </a:prstGeom>
          <a:noFill/>
          <a:ln w="13970">
            <a:solidFill>
              <a:srgbClr val="B7791F"/>
            </a:solidFill>
          </a:ln>
        </p:spPr>
        <p:txBody>
          <a:bodyPr wrap="square" lIns="508" tIns="508" rIns="508" bIns="508" rtlCol="0" anchor="ctr">
            <a:normAutofit/>
          </a:bodyPr>
          <a:lstStyle/>
          <a:p>
            <a:pPr marL="0" indent="0" algn="ctr">
              <a:buNone/>
            </a:pPr>
            <a:endParaRPr lang="en-US" sz="1200" dirty="0"/>
          </a:p>
        </p:txBody>
      </p:sp>
      <p:pic>
        <p:nvPicPr>
          <p:cNvPr id="4" name="Picture 2">
            <a:extLst>
              <a:ext uri="{FF2B5EF4-FFF2-40B4-BE49-F238E27FC236}">
                <a16:creationId xmlns:a16="http://schemas.microsoft.com/office/drawing/2014/main" id="{6D2F7A69-FD23-6ECB-F5BB-4B1427730D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59841" y="3489961"/>
            <a:ext cx="896834" cy="896834"/>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16">
            <a:extLst>
              <a:ext uri="{FF2B5EF4-FFF2-40B4-BE49-F238E27FC236}">
                <a16:creationId xmlns:a16="http://schemas.microsoft.com/office/drawing/2014/main" id="{68A72D33-E501-C25A-A9F8-3186FAA03CB4}"/>
              </a:ext>
            </a:extLst>
          </p:cNvPr>
          <p:cNvPicPr>
            <a:picLocks noChangeAspect="1"/>
          </p:cNvPicPr>
          <p:nvPr/>
        </p:nvPicPr>
        <p:blipFill>
          <a:blip r:embed="rId7"/>
          <a:stretch>
            <a:fillRect/>
          </a:stretch>
        </p:blipFill>
        <p:spPr>
          <a:xfrm>
            <a:off x="10759841" y="4525604"/>
            <a:ext cx="896834" cy="896834"/>
          </a:xfrm>
          <a:prstGeom prst="rect">
            <a:avLst/>
          </a:prstGeom>
        </p:spPr>
      </p:pic>
      <p:pic>
        <p:nvPicPr>
          <p:cNvPr id="21" name="图片 20">
            <a:extLst>
              <a:ext uri="{FF2B5EF4-FFF2-40B4-BE49-F238E27FC236}">
                <a16:creationId xmlns:a16="http://schemas.microsoft.com/office/drawing/2014/main" id="{837F4876-58CE-B3AD-8573-FB3B25571B79}"/>
              </a:ext>
            </a:extLst>
          </p:cNvPr>
          <p:cNvPicPr>
            <a:picLocks noChangeAspect="1"/>
          </p:cNvPicPr>
          <p:nvPr/>
        </p:nvPicPr>
        <p:blipFill>
          <a:blip r:embed="rId8"/>
          <a:stretch>
            <a:fillRect/>
          </a:stretch>
        </p:blipFill>
        <p:spPr>
          <a:xfrm>
            <a:off x="10701569" y="5449656"/>
            <a:ext cx="955106" cy="1004574"/>
          </a:xfrm>
          <a:prstGeom prst="rect">
            <a:avLst/>
          </a:prstGeom>
        </p:spPr>
      </p:pic>
      <p:sp>
        <p:nvSpPr>
          <p:cNvPr id="902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22</a:t>
            </a:r>
          </a:p>
        </p:txBody>
      </p:sp>
    </p:spTree>
    <p:extLst>
      <p:ext uri="{BB962C8B-B14F-4D97-AF65-F5344CB8AC3E}">
        <p14:creationId xmlns:p14="http://schemas.microsoft.com/office/powerpoint/2010/main" val="2294233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0E716793-E995-E3AF-3520-771050B75CBD}"/>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Imaging paper as an agent</a:t>
            </a:r>
            <a:endParaRPr lang="en-US" sz="2400" dirty="0"/>
          </a:p>
        </p:txBody>
      </p:sp>
      <p:pic>
        <p:nvPicPr>
          <p:cNvPr id="6" name="图片 5">
            <a:extLst>
              <a:ext uri="{FF2B5EF4-FFF2-40B4-BE49-F238E27FC236}">
                <a16:creationId xmlns:a16="http://schemas.microsoft.com/office/drawing/2014/main" id="{1F4EBF8A-A4AD-2A7F-8522-213B1B46753C}"/>
              </a:ext>
            </a:extLst>
          </p:cNvPr>
          <p:cNvPicPr>
            <a:picLocks noChangeAspect="1"/>
          </p:cNvPicPr>
          <p:nvPr/>
        </p:nvPicPr>
        <p:blipFill>
          <a:blip r:embed="rId3"/>
          <a:stretch>
            <a:fillRect/>
          </a:stretch>
        </p:blipFill>
        <p:spPr>
          <a:xfrm>
            <a:off x="292608" y="988686"/>
            <a:ext cx="5852915" cy="2732237"/>
          </a:xfrm>
          <a:prstGeom prst="rect">
            <a:avLst/>
          </a:prstGeom>
        </p:spPr>
      </p:pic>
      <p:pic>
        <p:nvPicPr>
          <p:cNvPr id="7" name="Picture 2" descr="Fig. 1: Overview of Paper2Agent.">
            <a:extLst>
              <a:ext uri="{FF2B5EF4-FFF2-40B4-BE49-F238E27FC236}">
                <a16:creationId xmlns:a16="http://schemas.microsoft.com/office/drawing/2014/main" id="{95CF6110-F03F-287B-496F-F763DADAC38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4546"/>
          <a:stretch>
            <a:fillRect/>
          </a:stretch>
        </p:blipFill>
        <p:spPr bwMode="auto">
          <a:xfrm>
            <a:off x="5799430" y="676656"/>
            <a:ext cx="5852915" cy="335629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AB649368-DE97-5E5C-EFDD-662C7D1D7671}"/>
              </a:ext>
            </a:extLst>
          </p:cNvPr>
          <p:cNvPicPr>
            <a:picLocks noChangeAspect="1"/>
          </p:cNvPicPr>
          <p:nvPr/>
        </p:nvPicPr>
        <p:blipFill>
          <a:blip r:embed="rId5"/>
          <a:stretch>
            <a:fillRect/>
          </a:stretch>
        </p:blipFill>
        <p:spPr>
          <a:xfrm>
            <a:off x="292608" y="4157055"/>
            <a:ext cx="5862782" cy="2131582"/>
          </a:xfrm>
          <a:prstGeom prst="rect">
            <a:avLst/>
          </a:prstGeom>
        </p:spPr>
      </p:pic>
      <p:pic>
        <p:nvPicPr>
          <p:cNvPr id="10" name="图片 9">
            <a:extLst>
              <a:ext uri="{FF2B5EF4-FFF2-40B4-BE49-F238E27FC236}">
                <a16:creationId xmlns:a16="http://schemas.microsoft.com/office/drawing/2014/main" id="{8328002E-61CB-A948-D5E9-7579819ACBE1}"/>
              </a:ext>
            </a:extLst>
          </p:cNvPr>
          <p:cNvPicPr>
            <a:picLocks noChangeAspect="1"/>
          </p:cNvPicPr>
          <p:nvPr/>
        </p:nvPicPr>
        <p:blipFill>
          <a:blip r:embed="rId6"/>
          <a:stretch>
            <a:fillRect/>
          </a:stretch>
        </p:blipFill>
        <p:spPr>
          <a:xfrm>
            <a:off x="6589640" y="4147679"/>
            <a:ext cx="4717473" cy="2150334"/>
          </a:xfrm>
          <a:prstGeom prst="rect">
            <a:avLst/>
          </a:prstGeom>
        </p:spPr>
      </p:pic>
      <p:sp>
        <p:nvSpPr>
          <p:cNvPr id="12" name="文本框 11">
            <a:extLst>
              <a:ext uri="{FF2B5EF4-FFF2-40B4-BE49-F238E27FC236}">
                <a16:creationId xmlns:a16="http://schemas.microsoft.com/office/drawing/2014/main" id="{B17D67BF-BA00-6BA2-4611-18211CF6163A}"/>
              </a:ext>
            </a:extLst>
          </p:cNvPr>
          <p:cNvSpPr txBox="1"/>
          <p:nvPr/>
        </p:nvSpPr>
        <p:spPr>
          <a:xfrm>
            <a:off x="6787718" y="6355437"/>
            <a:ext cx="4321316" cy="369332"/>
          </a:xfrm>
          <a:prstGeom prst="rect">
            <a:avLst/>
          </a:prstGeom>
          <a:noFill/>
        </p:spPr>
        <p:txBody>
          <a:bodyPr wrap="square" rtlCol="0">
            <a:spAutoFit/>
          </a:bodyPr>
          <a:lstStyle/>
          <a:p>
            <a:r>
              <a:rPr kumimoji="1" lang="en-US" altLang="zh-CN" b="1" dirty="0">
                <a:solidFill>
                  <a:srgbClr val="FF0000"/>
                </a:solidFill>
                <a:latin typeface="Calibri" panose="020F0502020204030204" pitchFamily="34" charset="0"/>
                <a:cs typeface="Calibri" panose="020F0502020204030204" pitchFamily="34" charset="0"/>
              </a:rPr>
              <a:t>A</a:t>
            </a:r>
            <a:r>
              <a:rPr kumimoji="1" lang="zh-CN" altLang="en-US" b="1" dirty="0">
                <a:solidFill>
                  <a:srgbClr val="FF0000"/>
                </a:solidFill>
                <a:latin typeface="Calibri" panose="020F0502020204030204" pitchFamily="34" charset="0"/>
                <a:cs typeface="Calibri" panose="020F0502020204030204" pitchFamily="34" charset="0"/>
              </a:rPr>
              <a:t> </a:t>
            </a:r>
            <a:r>
              <a:rPr kumimoji="1" lang="nl-NL" altLang="zh-CN" b="1" dirty="0">
                <a:solidFill>
                  <a:srgbClr val="FF0000"/>
                </a:solidFill>
                <a:latin typeface="Calibri" panose="020F0502020204030204" pitchFamily="34" charset="0"/>
                <a:cs typeface="Calibri" panose="020F0502020204030204" pitchFamily="34" charset="0"/>
              </a:rPr>
              <a:t>paper no </a:t>
            </a:r>
            <a:r>
              <a:rPr kumimoji="1" lang="nl-NL" altLang="zh-CN" b="1" dirty="0" err="1">
                <a:solidFill>
                  <a:srgbClr val="FF0000"/>
                </a:solidFill>
                <a:latin typeface="Calibri" panose="020F0502020204030204" pitchFamily="34" charset="0"/>
                <a:cs typeface="Calibri" panose="020F0502020204030204" pitchFamily="34" charset="0"/>
              </a:rPr>
              <a:t>need</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to</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be</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static</a:t>
            </a:r>
            <a:r>
              <a:rPr kumimoji="1" lang="nl-NL" altLang="zh-CN" b="1" dirty="0">
                <a:solidFill>
                  <a:srgbClr val="FF0000"/>
                </a:solidFill>
                <a:latin typeface="Calibri" panose="020F0502020204030204" pitchFamily="34" charset="0"/>
                <a:cs typeface="Calibri" panose="020F0502020204030204" pitchFamily="34" charset="0"/>
              </a:rPr>
              <a:t>, but </a:t>
            </a:r>
            <a:r>
              <a:rPr kumimoji="1" lang="nl-NL" altLang="zh-CN" b="1" dirty="0" err="1">
                <a:solidFill>
                  <a:srgbClr val="FF0000"/>
                </a:solidFill>
                <a:latin typeface="Calibri" panose="020F0502020204030204" pitchFamily="34" charset="0"/>
                <a:cs typeface="Calibri" panose="020F0502020204030204" pitchFamily="34" charset="0"/>
              </a:rPr>
              <a:t>an</a:t>
            </a:r>
            <a:r>
              <a:rPr kumimoji="1" lang="nl-NL" altLang="zh-CN" b="1" dirty="0">
                <a:solidFill>
                  <a:srgbClr val="FF0000"/>
                </a:solidFill>
                <a:latin typeface="Calibri" panose="020F0502020204030204" pitchFamily="34" charset="0"/>
                <a:cs typeface="Calibri" panose="020F0502020204030204" pitchFamily="34" charset="0"/>
              </a:rPr>
              <a:t> agent</a:t>
            </a:r>
            <a:endParaRPr kumimoji="1" lang="zh-CN" altLang="en-US" b="1" dirty="0">
              <a:solidFill>
                <a:srgbClr val="FF0000"/>
              </a:solidFill>
              <a:latin typeface="Calibri" panose="020F0502020204030204" pitchFamily="34" charset="0"/>
              <a:cs typeface="Calibri" panose="020F0502020204030204" pitchFamily="34" charset="0"/>
            </a:endParaRPr>
          </a:p>
        </p:txBody>
      </p:sp>
      <p:cxnSp>
        <p:nvCxnSpPr>
          <p:cNvPr id="15" name="直线连接符 14">
            <a:extLst>
              <a:ext uri="{FF2B5EF4-FFF2-40B4-BE49-F238E27FC236}">
                <a16:creationId xmlns:a16="http://schemas.microsoft.com/office/drawing/2014/main" id="{079C1C6F-60D0-94D7-29A7-B6BF1C514EE7}"/>
              </a:ext>
            </a:extLst>
          </p:cNvPr>
          <p:cNvCxnSpPr/>
          <p:nvPr/>
        </p:nvCxnSpPr>
        <p:spPr>
          <a:xfrm flipV="1">
            <a:off x="104731" y="4101185"/>
            <a:ext cx="11998036" cy="9376"/>
          </a:xfrm>
          <a:prstGeom prst="line">
            <a:avLst/>
          </a:prstGeom>
          <a:ln w="28575">
            <a:solidFill>
              <a:schemeClr val="tx1">
                <a:lumMod val="50000"/>
                <a:lumOff val="50000"/>
              </a:schemeClr>
            </a:solidFill>
            <a:prstDash val="dash"/>
          </a:ln>
        </p:spPr>
        <p:style>
          <a:lnRef idx="2">
            <a:schemeClr val="dk1"/>
          </a:lnRef>
          <a:fillRef idx="0">
            <a:schemeClr val="dk1"/>
          </a:fillRef>
          <a:effectRef idx="1">
            <a:schemeClr val="dk1"/>
          </a:effectRef>
          <a:fontRef idx="minor">
            <a:schemeClr val="tx1"/>
          </a:fontRef>
        </p:style>
      </p:cxnSp>
      <p:sp>
        <p:nvSpPr>
          <p:cNvPr id="902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25</a:t>
            </a:r>
          </a:p>
        </p:txBody>
      </p:sp>
    </p:spTree>
    <p:extLst>
      <p:ext uri="{BB962C8B-B14F-4D97-AF65-F5344CB8AC3E}">
        <p14:creationId xmlns:p14="http://schemas.microsoft.com/office/powerpoint/2010/main" val="1348727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4D60-BF4B-6F68-B9DC-7D598EC8CB6B}"/>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C3688F2C-8C7F-2B6F-9CE2-461D3B35E58C}"/>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How </a:t>
            </a:r>
            <a:r>
              <a:rPr lang="nl-NL" sz="2400" b="1" dirty="0" err="1">
                <a:solidFill>
                  <a:srgbClr val="242832"/>
                </a:solidFill>
                <a:latin typeface="Roboto Condensed" pitchFamily="34" charset="0"/>
                <a:ea typeface="Roboto Condensed" pitchFamily="34" charset="-122"/>
                <a:cs typeface="Roboto Condensed" pitchFamily="34" charset="-120"/>
              </a:rPr>
              <a:t>formalization</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works</a:t>
            </a:r>
            <a:endParaRPr lang="en-US" sz="2400" dirty="0"/>
          </a:p>
        </p:txBody>
      </p:sp>
      <p:pic>
        <p:nvPicPr>
          <p:cNvPr id="2" name="图片 1">
            <a:extLst>
              <a:ext uri="{FF2B5EF4-FFF2-40B4-BE49-F238E27FC236}">
                <a16:creationId xmlns:a16="http://schemas.microsoft.com/office/drawing/2014/main" id="{E46A9DCD-5956-05DA-269D-A8E386CB27BA}"/>
              </a:ext>
            </a:extLst>
          </p:cNvPr>
          <p:cNvPicPr>
            <a:picLocks noChangeAspect="1"/>
          </p:cNvPicPr>
          <p:nvPr/>
        </p:nvPicPr>
        <p:blipFill>
          <a:blip r:embed="rId2"/>
          <a:stretch>
            <a:fillRect/>
          </a:stretch>
        </p:blipFill>
        <p:spPr>
          <a:xfrm>
            <a:off x="6286500" y="2095500"/>
            <a:ext cx="5016500" cy="2159000"/>
          </a:xfrm>
          <a:prstGeom prst="rect">
            <a:avLst/>
          </a:prstGeom>
        </p:spPr>
      </p:pic>
      <p:pic>
        <p:nvPicPr>
          <p:cNvPr id="880" name="mathlib"/>
          <p:cNvPicPr/>
          <p:nvPr/>
        </p:nvPicPr>
        <p:blipFill>
          <a:blip r:embed="rId3"/>
          <a:stretch>
            <a:fillRect/>
          </a:stretch>
        </p:blipFill>
        <p:spPr>
          <a:xfrm>
            <a:off x="952500" y="1905000"/>
            <a:ext cx="4826000" cy="2717800"/>
          </a:xfrm>
          <a:prstGeom prst="rect">
            <a:avLst/>
          </a:prstGeom>
        </p:spPr>
      </p:pic>
      <p:sp>
        <p:nvSpPr>
          <p:cNvPr id="881" name="cap0"/>
          <p:cNvSpPr txBox="1"/>
          <p:nvPr/>
        </p:nvSpPr>
        <p:spPr>
          <a:xfrm>
            <a:off x="952500" y="4889500"/>
            <a:ext cx="4953000" cy="330200"/>
          </a:xfrm>
          <a:prstGeom prst="rect">
            <a:avLst/>
          </a:prstGeom>
          <a:noFill/>
        </p:spPr>
        <p:txBody>
          <a:bodyPr wrap="none" lIns="0" tIns="0" rIns="0" bIns="0"/>
          <a:lstStyle/>
          <a:p>
            <a:r>
              <a:rPr lang="en-US" sz="1700" dirty="0">
                <a:solidFill>
                  <a:srgbClr val="1A1A16"/>
                </a:solidFill>
                <a:latin typeface="Calibri"/>
              </a:rPr>
              <a:t>Mathlib — the mathematics</a:t>
            </a:r>
          </a:p>
        </p:txBody>
      </p:sp>
      <p:sp>
        <p:nvSpPr>
          <p:cNvPr id="882" name="cap1"/>
          <p:cNvSpPr txBox="1"/>
          <p:nvPr/>
        </p:nvSpPr>
        <p:spPr>
          <a:xfrm>
            <a:off x="952500" y="5219700"/>
            <a:ext cx="4953000" cy="330200"/>
          </a:xfrm>
          <a:prstGeom prst="rect">
            <a:avLst/>
          </a:prstGeom>
          <a:noFill/>
        </p:spPr>
        <p:txBody>
          <a:bodyPr wrap="none" lIns="0" tIns="0" rIns="0" bIns="0"/>
          <a:lstStyle/>
          <a:p>
            <a:r>
              <a:rPr lang="en-US" sz="1150" dirty="0">
                <a:solidFill>
                  <a:srgbClr val="8A8A80"/>
                </a:solidFill>
                <a:latin typeface="Calibri"/>
              </a:rPr>
              <a:t>groups, measure, linear algebra, polytopes</a:t>
            </a:r>
          </a:p>
        </p:txBody>
      </p:sp>
      <p:sp>
        <p:nvSpPr>
          <p:cNvPr id="883" name="cap2"/>
          <p:cNvSpPr txBox="1"/>
          <p:nvPr/>
        </p:nvSpPr>
        <p:spPr>
          <a:xfrm>
            <a:off x="6286500" y="4889500"/>
            <a:ext cx="4953000" cy="330200"/>
          </a:xfrm>
          <a:prstGeom prst="rect">
            <a:avLst/>
          </a:prstGeom>
          <a:noFill/>
        </p:spPr>
        <p:txBody>
          <a:bodyPr wrap="none" lIns="0" tIns="0" rIns="0" bIns="0"/>
          <a:lstStyle/>
          <a:p>
            <a:r>
              <a:rPr lang="en-US" sz="1700" dirty="0">
                <a:solidFill>
                  <a:srgbClr val="1A1A16"/>
                </a:solidFill>
                <a:latin typeface="Calibri"/>
              </a:rPr>
              <a:t>physlib — the physics</a:t>
            </a:r>
          </a:p>
        </p:txBody>
      </p:sp>
      <p:sp>
        <p:nvSpPr>
          <p:cNvPr id="884" name="cap3"/>
          <p:cNvSpPr txBox="1"/>
          <p:nvPr/>
        </p:nvSpPr>
        <p:spPr>
          <a:xfrm>
            <a:off x="6286500" y="5219700"/>
            <a:ext cx="4953000" cy="330200"/>
          </a:xfrm>
          <a:prstGeom prst="rect">
            <a:avLst/>
          </a:prstGeom>
          <a:noFill/>
        </p:spPr>
        <p:txBody>
          <a:bodyPr wrap="none" lIns="0" tIns="0" rIns="0" bIns="0"/>
          <a:lstStyle/>
          <a:p>
            <a:r>
              <a:rPr lang="en-US" sz="1150" dirty="0">
                <a:solidFill>
                  <a:srgbClr val="8A8A80"/>
                </a:solidFill>
                <a:latin typeface="Calibri"/>
              </a:rPr>
              <a:t>an open-source community project, still being built</a:t>
            </a:r>
          </a:p>
        </p:txBody>
      </p:sp>
      <p:sp>
        <p:nvSpPr>
          <p:cNvPr id="902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26</a:t>
            </a:r>
          </a:p>
        </p:txBody>
      </p:sp>
    </p:spTree>
    <p:extLst>
      <p:ext uri="{BB962C8B-B14F-4D97-AF65-F5344CB8AC3E}">
        <p14:creationId xmlns:p14="http://schemas.microsoft.com/office/powerpoint/2010/main" val="2727521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0D4B-234C-9F5D-E70D-A35BFBD9254E}"/>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D0C4DAB9-AB9E-1A84-0110-81D22B789E2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Autoformalization</a:t>
            </a:r>
            <a:endParaRPr lang="en-US" sz="2400" dirty="0"/>
          </a:p>
        </p:txBody>
      </p:sp>
      <p:pic>
        <p:nvPicPr>
          <p:cNvPr id="2" name="图片 1">
            <a:extLst>
              <a:ext uri="{FF2B5EF4-FFF2-40B4-BE49-F238E27FC236}">
                <a16:creationId xmlns:a16="http://schemas.microsoft.com/office/drawing/2014/main" id="{8CC34E93-5F8D-9C19-BCEC-429E02E30A41}"/>
              </a:ext>
            </a:extLst>
          </p:cNvPr>
          <p:cNvPicPr>
            <a:picLocks noChangeAspect="1"/>
          </p:cNvPicPr>
          <p:nvPr/>
        </p:nvPicPr>
        <p:blipFill>
          <a:blip r:embed="rId2"/>
          <a:stretch>
            <a:fillRect/>
          </a:stretch>
        </p:blipFill>
        <p:spPr>
          <a:xfrm>
            <a:off x="771064" y="1000115"/>
            <a:ext cx="5678054" cy="1945386"/>
          </a:xfrm>
          <a:prstGeom prst="rect">
            <a:avLst/>
          </a:prstGeom>
        </p:spPr>
      </p:pic>
      <p:pic>
        <p:nvPicPr>
          <p:cNvPr id="3" name="图片 2">
            <a:extLst>
              <a:ext uri="{FF2B5EF4-FFF2-40B4-BE49-F238E27FC236}">
                <a16:creationId xmlns:a16="http://schemas.microsoft.com/office/drawing/2014/main" id="{05C35E47-3108-75FD-FC2D-56877A0F0941}"/>
              </a:ext>
            </a:extLst>
          </p:cNvPr>
          <p:cNvPicPr>
            <a:picLocks noChangeAspect="1"/>
          </p:cNvPicPr>
          <p:nvPr/>
        </p:nvPicPr>
        <p:blipFill>
          <a:blip r:embed="rId3"/>
          <a:stretch>
            <a:fillRect/>
          </a:stretch>
        </p:blipFill>
        <p:spPr>
          <a:xfrm>
            <a:off x="771064" y="2945501"/>
            <a:ext cx="5847946" cy="3531890"/>
          </a:xfrm>
          <a:prstGeom prst="rect">
            <a:avLst/>
          </a:prstGeom>
        </p:spPr>
      </p:pic>
      <p:pic>
        <p:nvPicPr>
          <p:cNvPr id="4" name="图片 3">
            <a:extLst>
              <a:ext uri="{FF2B5EF4-FFF2-40B4-BE49-F238E27FC236}">
                <a16:creationId xmlns:a16="http://schemas.microsoft.com/office/drawing/2014/main" id="{414EBAB0-4E44-E762-47FA-5AA913C576C6}"/>
              </a:ext>
            </a:extLst>
          </p:cNvPr>
          <p:cNvPicPr>
            <a:picLocks noChangeAspect="1"/>
          </p:cNvPicPr>
          <p:nvPr/>
        </p:nvPicPr>
        <p:blipFill>
          <a:blip r:embed="rId4"/>
          <a:stretch>
            <a:fillRect/>
          </a:stretch>
        </p:blipFill>
        <p:spPr>
          <a:xfrm>
            <a:off x="6334993" y="271414"/>
            <a:ext cx="5564399" cy="1701394"/>
          </a:xfrm>
          <a:prstGeom prst="rect">
            <a:avLst/>
          </a:prstGeom>
        </p:spPr>
      </p:pic>
      <p:pic>
        <p:nvPicPr>
          <p:cNvPr id="5" name="图片 4">
            <a:extLst>
              <a:ext uri="{FF2B5EF4-FFF2-40B4-BE49-F238E27FC236}">
                <a16:creationId xmlns:a16="http://schemas.microsoft.com/office/drawing/2014/main" id="{DC7A3C92-458C-6047-4818-5CA26BABC378}"/>
              </a:ext>
            </a:extLst>
          </p:cNvPr>
          <p:cNvPicPr>
            <a:picLocks noChangeAspect="1"/>
          </p:cNvPicPr>
          <p:nvPr/>
        </p:nvPicPr>
        <p:blipFill>
          <a:blip r:embed="rId5"/>
          <a:stretch>
            <a:fillRect/>
          </a:stretch>
        </p:blipFill>
        <p:spPr>
          <a:xfrm>
            <a:off x="7682345" y="2007222"/>
            <a:ext cx="3311236" cy="4470169"/>
          </a:xfrm>
          <a:prstGeom prst="rect">
            <a:avLst/>
          </a:prstGeom>
        </p:spPr>
      </p:pic>
      <p:cxnSp>
        <p:nvCxnSpPr>
          <p:cNvPr id="6" name="直线连接符 5">
            <a:extLst>
              <a:ext uri="{FF2B5EF4-FFF2-40B4-BE49-F238E27FC236}">
                <a16:creationId xmlns:a16="http://schemas.microsoft.com/office/drawing/2014/main" id="{6776AA7E-050C-FB10-894C-0FAA6795086D}"/>
              </a:ext>
            </a:extLst>
          </p:cNvPr>
          <p:cNvCxnSpPr>
            <a:cxnSpLocks/>
          </p:cNvCxnSpPr>
          <p:nvPr/>
        </p:nvCxnSpPr>
        <p:spPr>
          <a:xfrm>
            <a:off x="6208353" y="135707"/>
            <a:ext cx="1022888" cy="6586586"/>
          </a:xfrm>
          <a:prstGeom prst="line">
            <a:avLst/>
          </a:prstGeom>
          <a:ln w="28575">
            <a:solidFill>
              <a:schemeClr val="tx1">
                <a:lumMod val="50000"/>
                <a:lumOff val="50000"/>
              </a:schemeClr>
            </a:solidFill>
            <a:prstDash val="dash"/>
          </a:ln>
        </p:spPr>
        <p:style>
          <a:lnRef idx="2">
            <a:schemeClr val="dk1"/>
          </a:lnRef>
          <a:fillRef idx="0">
            <a:schemeClr val="dk1"/>
          </a:fillRef>
          <a:effectRef idx="1">
            <a:schemeClr val="dk1"/>
          </a:effectRef>
          <a:fontRef idx="minor">
            <a:schemeClr val="tx1"/>
          </a:fontRef>
        </p:style>
      </p:cxnSp>
      <p:sp>
        <p:nvSpPr>
          <p:cNvPr id="903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30</a:t>
            </a:r>
          </a:p>
        </p:txBody>
      </p:sp>
    </p:spTree>
    <p:extLst>
      <p:ext uri="{BB962C8B-B14F-4D97-AF65-F5344CB8AC3E}">
        <p14:creationId xmlns:p14="http://schemas.microsoft.com/office/powerpoint/2010/main" val="2472936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2095448"/>
            <a:ext cx="10286743" cy="777221"/>
          </a:xfrm>
          <a:prstGeom prst="rect">
            <a:avLst/>
          </a:prstGeom>
          <a:noFill/>
          <a:ln/>
        </p:spPr>
        <p:txBody>
          <a:bodyPr wrap="square" lIns="0" tIns="0" rIns="0" bIns="0" rtlCol="0" anchor="t"/>
          <a:lstStyle/>
          <a:p>
            <a:pPr algn="l" indent="0" marL="0">
              <a:buNone/>
            </a:pPr>
            <a:r>
              <a:rPr lang="en-US" sz="3600" dirty="0">
                <a:solidFill>
                  <a:srgbClr val="1A1A16"/>
                </a:solidFill>
                <a:latin typeface="Calibri" pitchFamily="34" charset="0"/>
                <a:ea typeface="Calibri" pitchFamily="34" charset="-122"/>
                <a:cs typeface="Calibri" pitchFamily="34" charset="-120"/>
              </a:rPr>
              <a:t>Some thoughts about LLM</a:t>
            </a:r>
            <a:endParaRPr lang="en-US" sz="3600" dirty="0"/>
          </a:p>
        </p:txBody>
      </p:sp>
      <p:sp>
        <p:nvSpPr>
          <p:cNvPr id="3" name="Text 1"/>
          <p:cNvSpPr txBox="1"/>
          <p:nvPr/>
        </p:nvSpPr>
        <p:spPr>
          <a:xfrm>
            <a:off x="952476" y="2641534"/>
            <a:ext cx="10286743" cy="777221"/>
          </a:xfrm>
          <a:prstGeom prst="rect">
            <a:avLst/>
          </a:prstGeom>
          <a:noFill/>
          <a:ln/>
        </p:spPr>
        <p:txBody>
          <a:bodyPr wrap="square" lIns="0" tIns="0" rIns="0" bIns="0" rtlCol="0" anchor="t"/>
          <a:lstStyle/>
          <a:p>
            <a:pPr algn="l" indent="0" marL="0">
              <a:buNone/>
            </a:pPr>
            <a:r>
              <a:rPr lang="en-US" sz="3600" dirty="0">
                <a:solidFill>
                  <a:srgbClr val="1A1A16"/>
                </a:solidFill>
                <a:latin typeface="Calibri" pitchFamily="34" charset="0"/>
                <a:ea typeface="Calibri" pitchFamily="34" charset="-122"/>
                <a:cs typeface="Calibri" pitchFamily="34" charset="-120"/>
              </a:rPr>
              <a:t>for theoretical research</a:t>
            </a:r>
            <a:endParaRPr lang="en-US" sz="3600" dirty="0"/>
          </a:p>
        </p:txBody>
      </p:sp>
      <p:sp>
        <p:nvSpPr>
          <p:cNvPr id="4" name="Shape 2"/>
          <p:cNvSpPr/>
          <p:nvPr/>
        </p:nvSpPr>
        <p:spPr>
          <a:xfrm>
            <a:off x="952476" y="3530512"/>
            <a:ext cx="4762381" cy="0"/>
          </a:xfrm>
          <a:prstGeom prst="line">
            <a:avLst/>
          </a:prstGeom>
          <a:noFill/>
          <a:ln w="8890">
            <a:solidFill>
              <a:srgbClr val="8A8A80"/>
            </a:solidFill>
            <a:prstDash val="solid"/>
          </a:ln>
        </p:spPr>
      </p:sp>
      <p:sp>
        <p:nvSpPr>
          <p:cNvPr id="5" name="Text 3"/>
          <p:cNvSpPr txBox="1"/>
          <p:nvPr/>
        </p:nvSpPr>
        <p:spPr>
          <a:xfrm>
            <a:off x="952476" y="3784505"/>
            <a:ext cx="5714857"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Yingjian Liu</a:t>
            </a:r>
            <a:endParaRPr lang="en-US" sz="15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2412940"/>
            <a:ext cx="10286743" cy="582915"/>
          </a:xfrm>
          <a:prstGeom prst="rect">
            <a:avLst/>
          </a:prstGeom>
          <a:noFill/>
          <a:ln/>
        </p:spPr>
        <p:txBody>
          <a:bodyPr wrap="square" lIns="0" tIns="0" rIns="0" bIns="0" rtlCol="0" anchor="t"/>
          <a:lstStyle/>
          <a:p>
            <a:pPr algn="l" indent="0" marL="0">
              <a:buNone/>
            </a:pPr>
            <a:r>
              <a:rPr lang="en-US" sz="2700" dirty="0">
                <a:solidFill>
                  <a:srgbClr val="1A1A16"/>
                </a:solidFill>
                <a:latin typeface="Calibri" pitchFamily="34" charset="0"/>
                <a:ea typeface="Calibri" pitchFamily="34" charset="-122"/>
                <a:cs typeface="Calibri" pitchFamily="34" charset="-120"/>
              </a:rPr>
              <a:t>Before asking whether we can trust what it writes,</a:t>
            </a:r>
            <a:endParaRPr lang="en-US" sz="2700" dirty="0"/>
          </a:p>
        </p:txBody>
      </p:sp>
      <p:sp>
        <p:nvSpPr>
          <p:cNvPr id="3" name="Text 1"/>
          <p:cNvSpPr txBox="1"/>
          <p:nvPr/>
        </p:nvSpPr>
        <p:spPr>
          <a:xfrm>
            <a:off x="952476" y="2895528"/>
            <a:ext cx="10286743" cy="582915"/>
          </a:xfrm>
          <a:prstGeom prst="rect">
            <a:avLst/>
          </a:prstGeom>
          <a:noFill/>
          <a:ln/>
        </p:spPr>
        <p:txBody>
          <a:bodyPr wrap="square" lIns="0" tIns="0" rIns="0" bIns="0" rtlCol="0" anchor="t"/>
          <a:lstStyle/>
          <a:p>
            <a:pPr algn="l" indent="0" marL="0">
              <a:buNone/>
            </a:pPr>
            <a:r>
              <a:rPr lang="en-US" sz="2700" dirty="0">
                <a:solidFill>
                  <a:srgbClr val="1A1A16"/>
                </a:solidFill>
                <a:latin typeface="Calibri" pitchFamily="34" charset="0"/>
                <a:ea typeface="Calibri" pitchFamily="34" charset="-122"/>
                <a:cs typeface="Calibri" pitchFamily="34" charset="-120"/>
              </a:rPr>
              <a:t>look at what it is doing when it writes.</a:t>
            </a:r>
            <a:endParaRPr lang="en-US" sz="2700" dirty="0"/>
          </a:p>
        </p:txBody>
      </p:sp>
      <p:sp>
        <p:nvSpPr>
          <p:cNvPr id="4" name="Shape 2"/>
          <p:cNvSpPr/>
          <p:nvPr/>
        </p:nvSpPr>
        <p:spPr>
          <a:xfrm>
            <a:off x="952476" y="3708307"/>
            <a:ext cx="3492413" cy="0"/>
          </a:xfrm>
          <a:prstGeom prst="line">
            <a:avLst/>
          </a:prstGeom>
          <a:noFill/>
          <a:ln w="8890">
            <a:solidFill>
              <a:srgbClr val="8A8A80"/>
            </a:solidFill>
            <a:prstDash val="solid"/>
          </a:ln>
        </p:spPr>
      </p:sp>
      <p:sp>
        <p:nvSpPr>
          <p:cNvPr id="5" name="Text 3"/>
          <p:cNvSpPr txBox="1"/>
          <p:nvPr/>
        </p:nvSpPr>
        <p:spPr>
          <a:xfrm>
            <a:off x="952476" y="3936902"/>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Nothing in the next four frames is a criticism. It is a description.</a:t>
            </a:r>
            <a:endParaRPr lang="en-US" sz="13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952476"/>
            <a:ext cx="10286743"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A request can be ignored.  A constraint cannot.</a:t>
            </a:r>
            <a:endParaRPr lang="en-US" sz="2300" dirty="0"/>
          </a:p>
        </p:txBody>
      </p:sp>
      <p:sp>
        <p:nvSpPr>
          <p:cNvPr id="3" name="Shape 1"/>
          <p:cNvSpPr/>
          <p:nvPr/>
        </p:nvSpPr>
        <p:spPr>
          <a:xfrm>
            <a:off x="952476" y="1714457"/>
            <a:ext cx="4825879" cy="2095448"/>
          </a:xfrm>
          <a:prstGeom prst="rect">
            <a:avLst/>
          </a:prstGeom>
          <a:ln w="11430">
            <a:solidFill>
              <a:srgbClr val="8A8A80"/>
            </a:solidFill>
            <a:prstDash val="solid"/>
          </a:ln>
        </p:spPr>
      </p:sp>
      <p:sp>
        <p:nvSpPr>
          <p:cNvPr id="4" name="Text 2"/>
          <p:cNvSpPr txBox="1"/>
          <p:nvPr/>
        </p:nvSpPr>
        <p:spPr>
          <a:xfrm>
            <a:off x="1181070" y="1904952"/>
            <a:ext cx="4368691"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REQUESTS</a:t>
            </a:r>
            <a:endParaRPr lang="en-US" sz="1300" dirty="0"/>
          </a:p>
        </p:txBody>
      </p:sp>
      <p:sp>
        <p:nvSpPr>
          <p:cNvPr id="5" name="Text 3"/>
          <p:cNvSpPr txBox="1"/>
          <p:nvPr/>
        </p:nvSpPr>
        <p:spPr>
          <a:xfrm>
            <a:off x="1181070" y="2235144"/>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prompt</a:t>
            </a:r>
            <a:endParaRPr lang="en-US" sz="1700" dirty="0"/>
          </a:p>
        </p:txBody>
      </p:sp>
      <p:sp>
        <p:nvSpPr>
          <p:cNvPr id="6" name="Text 4"/>
          <p:cNvSpPr txBox="1"/>
          <p:nvPr/>
        </p:nvSpPr>
        <p:spPr>
          <a:xfrm>
            <a:off x="1181070" y="2578036"/>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skill</a:t>
            </a:r>
            <a:endParaRPr lang="en-US" sz="1700" dirty="0"/>
          </a:p>
        </p:txBody>
      </p:sp>
      <p:sp>
        <p:nvSpPr>
          <p:cNvPr id="7" name="Text 5"/>
          <p:cNvSpPr txBox="1"/>
          <p:nvPr/>
        </p:nvSpPr>
        <p:spPr>
          <a:xfrm>
            <a:off x="1181070" y="2920927"/>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tool call</a:t>
            </a:r>
            <a:endParaRPr lang="en-US" sz="1700" dirty="0"/>
          </a:p>
        </p:txBody>
      </p:sp>
      <p:sp>
        <p:nvSpPr>
          <p:cNvPr id="8" name="Text 6"/>
          <p:cNvSpPr txBox="1"/>
          <p:nvPr/>
        </p:nvSpPr>
        <p:spPr>
          <a:xfrm>
            <a:off x="1181070" y="3352716"/>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be ignored — and the transcript</a:t>
            </a:r>
            <a:endParaRPr lang="en-US" sz="1100" dirty="0"/>
          </a:p>
        </p:txBody>
      </p:sp>
      <p:sp>
        <p:nvSpPr>
          <p:cNvPr id="9" name="Text 7"/>
          <p:cNvSpPr txBox="1"/>
          <p:nvPr/>
        </p:nvSpPr>
        <p:spPr>
          <a:xfrm>
            <a:off x="1181070" y="3543211"/>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looks exactly the same either way</a:t>
            </a:r>
            <a:endParaRPr lang="en-US" sz="1100" dirty="0"/>
          </a:p>
        </p:txBody>
      </p:sp>
      <p:sp>
        <p:nvSpPr>
          <p:cNvPr id="10" name="Shape 8"/>
          <p:cNvSpPr/>
          <p:nvPr/>
        </p:nvSpPr>
        <p:spPr>
          <a:xfrm>
            <a:off x="6413340" y="1714457"/>
            <a:ext cx="4825879" cy="2095448"/>
          </a:xfrm>
          <a:prstGeom prst="rect">
            <a:avLst/>
          </a:prstGeom>
          <a:ln w="22859">
            <a:solidFill>
              <a:srgbClr val="1A1A16"/>
            </a:solidFill>
            <a:prstDash val="solid"/>
          </a:ln>
        </p:spPr>
      </p:sp>
      <p:sp>
        <p:nvSpPr>
          <p:cNvPr id="11" name="Text 9"/>
          <p:cNvSpPr txBox="1"/>
          <p:nvPr/>
        </p:nvSpPr>
        <p:spPr>
          <a:xfrm>
            <a:off x="6641934" y="1904952"/>
            <a:ext cx="4368691"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CONSTRAINT</a:t>
            </a:r>
            <a:endParaRPr lang="en-US" sz="1300" dirty="0"/>
          </a:p>
        </p:txBody>
      </p:sp>
      <p:sp>
        <p:nvSpPr>
          <p:cNvPr id="12" name="Text 10"/>
          <p:cNvSpPr txBox="1"/>
          <p:nvPr/>
        </p:nvSpPr>
        <p:spPr>
          <a:xfrm>
            <a:off x="6641934" y="2235144"/>
            <a:ext cx="4368691"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schema</a:t>
            </a:r>
            <a:endParaRPr lang="en-US" sz="1700" dirty="0"/>
          </a:p>
        </p:txBody>
      </p:sp>
      <p:sp>
        <p:nvSpPr>
          <p:cNvPr id="13" name="Text 11"/>
          <p:cNvSpPr txBox="1"/>
          <p:nvPr/>
        </p:nvSpPr>
        <p:spPr>
          <a:xfrm>
            <a:off x="6641934" y="3352716"/>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record that does not conform is not</a:t>
            </a:r>
            <a:endParaRPr lang="en-US" sz="1100" dirty="0"/>
          </a:p>
        </p:txBody>
      </p:sp>
      <p:sp>
        <p:nvSpPr>
          <p:cNvPr id="14" name="Text 12"/>
          <p:cNvSpPr txBox="1"/>
          <p:nvPr/>
        </p:nvSpPr>
        <p:spPr>
          <a:xfrm>
            <a:off x="6641934" y="3543211"/>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repaired, and not accepted with a warning</a:t>
            </a:r>
            <a:endParaRPr lang="en-US" sz="1100" dirty="0"/>
          </a:p>
        </p:txBody>
      </p:sp>
      <p:sp>
        <p:nvSpPr>
          <p:cNvPr id="15" name="Shape 13"/>
          <p:cNvSpPr/>
          <p:nvPr/>
        </p:nvSpPr>
        <p:spPr>
          <a:xfrm>
            <a:off x="6641934" y="2984425"/>
            <a:ext cx="2247844" cy="0"/>
          </a:xfrm>
          <a:prstGeom prst="line">
            <a:avLst/>
          </a:prstGeom>
          <a:noFill/>
          <a:ln w="15240">
            <a:solidFill>
              <a:srgbClr val="1A1A16"/>
            </a:solidFill>
            <a:prstDash val="solid"/>
            <a:tailEnd type="triangle"/>
          </a:ln>
        </p:spPr>
      </p:sp>
      <p:sp>
        <p:nvSpPr>
          <p:cNvPr id="16" name="Text 14"/>
          <p:cNvSpPr txBox="1"/>
          <p:nvPr/>
        </p:nvSpPr>
        <p:spPr>
          <a:xfrm>
            <a:off x="9016775" y="2895528"/>
            <a:ext cx="2031949"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REFUSED</a:t>
            </a:r>
            <a:endParaRPr lang="en-US" sz="1300" dirty="0"/>
          </a:p>
        </p:txBody>
      </p:sp>
      <p:sp>
        <p:nvSpPr>
          <p:cNvPr id="17" name="Shape 15"/>
          <p:cNvSpPr/>
          <p:nvPr/>
        </p:nvSpPr>
        <p:spPr>
          <a:xfrm>
            <a:off x="952476" y="4292493"/>
            <a:ext cx="10286743" cy="0"/>
          </a:xfrm>
          <a:prstGeom prst="line">
            <a:avLst/>
          </a:prstGeom>
          <a:noFill/>
          <a:ln w="8890">
            <a:solidFill>
              <a:srgbClr val="8A8A80"/>
            </a:solidFill>
            <a:prstDash val="solid"/>
          </a:ln>
        </p:spPr>
      </p:sp>
      <p:sp>
        <p:nvSpPr>
          <p:cNvPr id="18" name="Text 16"/>
          <p:cNvSpPr txBox="1"/>
          <p:nvPr/>
        </p:nvSpPr>
        <p:spPr>
          <a:xfrm>
            <a:off x="952476" y="4546486"/>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 paper’s claims are requests too.</a:t>
            </a:r>
            <a:endParaRPr lang="en-US" sz="1700" dirty="0"/>
          </a:p>
        </p:txBody>
      </p:sp>
      <p:sp>
        <p:nvSpPr>
          <p:cNvPr id="19" name="Text 17"/>
          <p:cNvSpPr txBox="1"/>
          <p:nvPr/>
        </p:nvSpPr>
        <p:spPr>
          <a:xfrm>
            <a:off x="952476" y="4990975"/>
            <a:ext cx="10286743"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The rest of this talk is an attempt to make them refusable:</a:t>
            </a:r>
            <a:endParaRPr lang="en-US" sz="1500" dirty="0"/>
          </a:p>
        </p:txBody>
      </p:sp>
      <p:sp>
        <p:nvSpPr>
          <p:cNvPr id="20" name="Text 18"/>
          <p:cNvSpPr txBox="1"/>
          <p:nvPr/>
        </p:nvSpPr>
        <p:spPr>
          <a:xfrm>
            <a:off x="952476" y="5257669"/>
            <a:ext cx="10286743"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one paper, broken into claims that each carry what they rest on.</a:t>
            </a:r>
            <a:endParaRPr lang="en-US" sz="15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1587460"/>
            <a:ext cx="4825879" cy="1142971"/>
          </a:xfrm>
          <a:prstGeom prst="rect">
            <a:avLst/>
          </a:prstGeom>
          <a:ln w="11430">
            <a:solidFill>
              <a:srgbClr val="8A8A80"/>
            </a:solidFill>
            <a:prstDash val="solid"/>
          </a:ln>
        </p:spPr>
      </p:sp>
      <p:sp>
        <p:nvSpPr>
          <p:cNvPr id="3" name="Text 1"/>
          <p:cNvSpPr txBox="1"/>
          <p:nvPr/>
        </p:nvSpPr>
        <p:spPr>
          <a:xfrm>
            <a:off x="1117572" y="1777956"/>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The story</a:t>
            </a:r>
            <a:endParaRPr lang="en-US" sz="1300" dirty="0"/>
          </a:p>
        </p:txBody>
      </p:sp>
      <p:sp>
        <p:nvSpPr>
          <p:cNvPr id="4" name="Text 2"/>
          <p:cNvSpPr txBox="1"/>
          <p:nvPr/>
        </p:nvSpPr>
        <p:spPr>
          <a:xfrm>
            <a:off x="1117572" y="2171646"/>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What did the paper actually state?</a:t>
            </a:r>
            <a:endParaRPr lang="en-US" sz="1100" dirty="0"/>
          </a:p>
        </p:txBody>
      </p:sp>
      <p:sp>
        <p:nvSpPr>
          <p:cNvPr id="5" name="Shape 3"/>
          <p:cNvSpPr/>
          <p:nvPr/>
        </p:nvSpPr>
        <p:spPr>
          <a:xfrm>
            <a:off x="6222844" y="1587460"/>
            <a:ext cx="4825879" cy="1142971"/>
          </a:xfrm>
          <a:prstGeom prst="rect">
            <a:avLst/>
          </a:prstGeom>
          <a:ln w="22859">
            <a:solidFill>
              <a:srgbClr val="1A1A16"/>
            </a:solidFill>
            <a:prstDash val="solid"/>
          </a:ln>
        </p:spPr>
      </p:sp>
      <p:sp>
        <p:nvSpPr>
          <p:cNvPr id="6" name="Text 4"/>
          <p:cNvSpPr txBox="1"/>
          <p:nvPr/>
        </p:nvSpPr>
        <p:spPr>
          <a:xfrm>
            <a:off x="6387940" y="1777956"/>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Mathematical correctness</a:t>
            </a:r>
            <a:endParaRPr lang="en-US" sz="1300" dirty="0"/>
          </a:p>
        </p:txBody>
      </p:sp>
      <p:sp>
        <p:nvSpPr>
          <p:cNvPr id="7" name="Text 5"/>
          <p:cNvSpPr txBox="1"/>
          <p:nvPr/>
        </p:nvSpPr>
        <p:spPr>
          <a:xfrm>
            <a:off x="6387940" y="2171646"/>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conclusion follow from encoded assumptions?</a:t>
            </a:r>
            <a:endParaRPr lang="en-US" sz="1100" dirty="0"/>
          </a:p>
        </p:txBody>
      </p:sp>
      <p:sp>
        <p:nvSpPr>
          <p:cNvPr id="8" name="Shape 6"/>
          <p:cNvSpPr/>
          <p:nvPr/>
        </p:nvSpPr>
        <p:spPr>
          <a:xfrm>
            <a:off x="952476" y="3047924"/>
            <a:ext cx="4825879" cy="1142971"/>
          </a:xfrm>
          <a:prstGeom prst="rect">
            <a:avLst/>
          </a:prstGeom>
          <a:ln w="11430">
            <a:solidFill>
              <a:srgbClr val="8A8A80"/>
            </a:solidFill>
            <a:prstDash val="solid"/>
          </a:ln>
        </p:spPr>
      </p:sp>
      <p:sp>
        <p:nvSpPr>
          <p:cNvPr id="9" name="Text 7"/>
          <p:cNvSpPr txBox="1"/>
          <p:nvPr/>
        </p:nvSpPr>
        <p:spPr>
          <a:xfrm>
            <a:off x="1117572" y="3238419"/>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Computational reproducibility</a:t>
            </a:r>
            <a:endParaRPr lang="en-US" sz="1300" dirty="0"/>
          </a:p>
        </p:txBody>
      </p:sp>
      <p:sp>
        <p:nvSpPr>
          <p:cNvPr id="10" name="Text 8"/>
          <p:cNvSpPr txBox="1"/>
          <p:nvPr/>
        </p:nvSpPr>
        <p:spPr>
          <a:xfrm>
            <a:off x="1117572" y="3632109"/>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the numerical result be reproduced?</a:t>
            </a:r>
            <a:endParaRPr lang="en-US" sz="1100" dirty="0"/>
          </a:p>
        </p:txBody>
      </p:sp>
      <p:sp>
        <p:nvSpPr>
          <p:cNvPr id="11" name="Shape 9"/>
          <p:cNvSpPr/>
          <p:nvPr/>
        </p:nvSpPr>
        <p:spPr>
          <a:xfrm>
            <a:off x="6222844" y="3047924"/>
            <a:ext cx="4825879" cy="1142971"/>
          </a:xfrm>
          <a:prstGeom prst="rect">
            <a:avLst/>
          </a:prstGeom>
          <a:ln w="11430">
            <a:solidFill>
              <a:srgbClr val="8A8A80"/>
            </a:solidFill>
            <a:prstDash val="solid"/>
          </a:ln>
        </p:spPr>
      </p:sp>
      <p:sp>
        <p:nvSpPr>
          <p:cNvPr id="12" name="Text 10"/>
          <p:cNvSpPr txBox="1"/>
          <p:nvPr/>
        </p:nvSpPr>
        <p:spPr>
          <a:xfrm>
            <a:off x="6387940" y="3238419"/>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Physical-semantic alignment</a:t>
            </a:r>
            <a:endParaRPr lang="en-US" sz="1300" dirty="0"/>
          </a:p>
        </p:txBody>
      </p:sp>
      <p:sp>
        <p:nvSpPr>
          <p:cNvPr id="13" name="Text 11"/>
          <p:cNvSpPr txBox="1"/>
          <p:nvPr/>
        </p:nvSpPr>
        <p:spPr>
          <a:xfrm>
            <a:off x="6387940" y="3632109"/>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formal object represent the intended physics?</a:t>
            </a:r>
            <a:endParaRPr lang="en-US" sz="1100" dirty="0"/>
          </a:p>
        </p:txBody>
      </p:sp>
      <p:sp>
        <p:nvSpPr>
          <p:cNvPr id="14" name="Shape 12"/>
          <p:cNvSpPr/>
          <p:nvPr/>
        </p:nvSpPr>
        <p:spPr>
          <a:xfrm>
            <a:off x="952476" y="4825879"/>
            <a:ext cx="9905752" cy="0"/>
          </a:xfrm>
          <a:prstGeom prst="line">
            <a:avLst/>
          </a:prstGeom>
          <a:noFill/>
          <a:ln w="8890">
            <a:solidFill>
              <a:srgbClr val="8A8A80"/>
            </a:solidFill>
            <a:prstDash val="solid"/>
          </a:ln>
        </p:spPr>
      </p:sp>
      <p:sp>
        <p:nvSpPr>
          <p:cNvPr id="15" name="Text 13"/>
          <p:cNvSpPr txBox="1"/>
          <p:nvPr/>
        </p:nvSpPr>
        <p:spPr>
          <a:xfrm>
            <a:off x="952476" y="5016375"/>
            <a:ext cx="106677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one paper · one theorem · and what it actually rests on</a:t>
            </a:r>
            <a:endParaRPr lang="en-US" sz="1300" dirty="0"/>
          </a:p>
        </p:txBody>
      </p:sp>
      <p:sp>
        <p:nvSpPr>
          <p:cNvPr id="16" name="Text 14"/>
          <p:cNvSpPr txBox="1"/>
          <p:nvPr/>
        </p:nvSpPr>
        <p:spPr>
          <a:xfrm>
            <a:off x="952476" y="5346566"/>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not whether the formalisation means the physics you had in mind — no kernel judges that</a:t>
            </a:r>
            <a:endParaRPr lang="en-US" sz="1100" dirty="0"/>
          </a:p>
        </p:txBody>
      </p:sp>
      <p:sp>
        <p:nvSpPr>
          <p:cNvPr id="17" name="Text 15"/>
          <p:cNvSpPr txBox="1"/>
          <p:nvPr/>
        </p:nvSpPr>
        <p:spPr>
          <a:xfrm>
            <a:off x="952476" y="5562461"/>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not reproducibility — there is no numerical claim in the case study</a:t>
            </a:r>
            <a:endParaRPr lang="en-US" sz="1100" dirty="0"/>
          </a:p>
        </p:txBody>
      </p:sp>
      <p:sp>
        <p:nvSpPr>
          <p:cNvPr id="18" name="Text 1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88978"/>
            <a:ext cx="10286743" cy="431789"/>
          </a:xfrm>
          <a:prstGeom prst="rect">
            <a:avLst/>
          </a:prstGeom>
          <a:noFill/>
          <a:ln/>
        </p:spPr>
        <p:txBody>
          <a:bodyPr wrap="square" lIns="0" tIns="0" rIns="0" bIns="0" rtlCol="0" anchor="t"/>
          <a:lstStyle/>
          <a:p>
            <a:pPr algn="l" indent="0" marL="0">
              <a:buNone/>
            </a:pPr>
            <a:r>
              <a:rPr lang="en-US" sz="2000" dirty="0">
                <a:solidFill>
                  <a:srgbClr val="1A1A16"/>
                </a:solidFill>
                <a:latin typeface="Calibri" pitchFamily="34" charset="0"/>
                <a:ea typeface="Calibri" pitchFamily="34" charset="-122"/>
                <a:cs typeface="Calibri" pitchFamily="34" charset="-120"/>
              </a:rPr>
              <a:t>For later work to use a conclusion, it has to know three things</a:t>
            </a:r>
            <a:endParaRPr lang="en-US" sz="2000" dirty="0"/>
          </a:p>
        </p:txBody>
      </p:sp>
      <p:sp>
        <p:nvSpPr>
          <p:cNvPr id="3" name="Shape 1"/>
          <p:cNvSpPr/>
          <p:nvPr/>
        </p:nvSpPr>
        <p:spPr>
          <a:xfrm>
            <a:off x="952476" y="1460463"/>
            <a:ext cx="3301917" cy="1142971"/>
          </a:xfrm>
          <a:prstGeom prst="rect">
            <a:avLst/>
          </a:prstGeom>
          <a:ln w="17780">
            <a:solidFill>
              <a:srgbClr val="1A1A16"/>
            </a:solidFill>
            <a:prstDash val="solid"/>
          </a:ln>
        </p:spPr>
      </p:sp>
      <p:sp>
        <p:nvSpPr>
          <p:cNvPr id="4" name="Text 2"/>
          <p:cNvSpPr txBox="1"/>
          <p:nvPr/>
        </p:nvSpPr>
        <p:spPr>
          <a:xfrm>
            <a:off x="1142971"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it said</a:t>
            </a:r>
            <a:endParaRPr lang="en-US" sz="1600" dirty="0"/>
          </a:p>
        </p:txBody>
      </p:sp>
      <p:sp>
        <p:nvSpPr>
          <p:cNvPr id="5" name="Text 3"/>
          <p:cNvSpPr txBox="1"/>
          <p:nvPr/>
        </p:nvSpPr>
        <p:spPr>
          <a:xfrm>
            <a:off x="1142971"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exact statement, not the abstract</a:t>
            </a:r>
            <a:endParaRPr lang="en-US" sz="1100" dirty="0"/>
          </a:p>
        </p:txBody>
      </p:sp>
      <p:sp>
        <p:nvSpPr>
          <p:cNvPr id="6" name="Shape 4"/>
          <p:cNvSpPr/>
          <p:nvPr/>
        </p:nvSpPr>
        <p:spPr>
          <a:xfrm>
            <a:off x="4444889" y="1460463"/>
            <a:ext cx="3301917" cy="1142971"/>
          </a:xfrm>
          <a:prstGeom prst="rect">
            <a:avLst/>
          </a:prstGeom>
          <a:ln w="17780">
            <a:solidFill>
              <a:srgbClr val="1A1A16"/>
            </a:solidFill>
            <a:prstDash val="solid"/>
          </a:ln>
        </p:spPr>
      </p:sp>
      <p:sp>
        <p:nvSpPr>
          <p:cNvPr id="7" name="Text 5"/>
          <p:cNvSpPr txBox="1"/>
          <p:nvPr/>
        </p:nvSpPr>
        <p:spPr>
          <a:xfrm>
            <a:off x="4635384"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it relied on</a:t>
            </a:r>
            <a:endParaRPr lang="en-US" sz="1600" dirty="0"/>
          </a:p>
        </p:txBody>
      </p:sp>
      <p:sp>
        <p:nvSpPr>
          <p:cNvPr id="8" name="Text 6"/>
          <p:cNvSpPr txBox="1"/>
          <p:nvPr/>
        </p:nvSpPr>
        <p:spPr>
          <a:xfrm>
            <a:off x="4635384"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every claim underneath it, named</a:t>
            </a:r>
            <a:endParaRPr lang="en-US" sz="1100" dirty="0"/>
          </a:p>
        </p:txBody>
      </p:sp>
      <p:sp>
        <p:nvSpPr>
          <p:cNvPr id="9" name="Shape 7"/>
          <p:cNvSpPr/>
          <p:nvPr/>
        </p:nvSpPr>
        <p:spPr>
          <a:xfrm>
            <a:off x="7937302" y="1460463"/>
            <a:ext cx="3301917" cy="1142971"/>
          </a:xfrm>
          <a:prstGeom prst="rect">
            <a:avLst/>
          </a:prstGeom>
          <a:ln w="17780">
            <a:solidFill>
              <a:srgbClr val="1A1A16"/>
            </a:solidFill>
            <a:prstDash val="solid"/>
          </a:ln>
        </p:spPr>
      </p:sp>
      <p:sp>
        <p:nvSpPr>
          <p:cNvPr id="10" name="Text 8"/>
          <p:cNvSpPr txBox="1"/>
          <p:nvPr/>
        </p:nvSpPr>
        <p:spPr>
          <a:xfrm>
            <a:off x="8127797"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was checked</a:t>
            </a:r>
            <a:endParaRPr lang="en-US" sz="1600" dirty="0"/>
          </a:p>
        </p:txBody>
      </p:sp>
      <p:sp>
        <p:nvSpPr>
          <p:cNvPr id="11" name="Text 9"/>
          <p:cNvSpPr txBox="1"/>
          <p:nvPr/>
        </p:nvSpPr>
        <p:spPr>
          <a:xfrm>
            <a:off x="8127797"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by what — a kernel, or nobody</a:t>
            </a:r>
            <a:endParaRPr lang="en-US" sz="1100" dirty="0"/>
          </a:p>
        </p:txBody>
      </p:sp>
      <p:sp>
        <p:nvSpPr>
          <p:cNvPr id="12" name="Shape 10"/>
          <p:cNvSpPr/>
          <p:nvPr/>
        </p:nvSpPr>
        <p:spPr>
          <a:xfrm>
            <a:off x="952476" y="3174921"/>
            <a:ext cx="10286743" cy="0"/>
          </a:xfrm>
          <a:prstGeom prst="line">
            <a:avLst/>
          </a:prstGeom>
          <a:noFill/>
          <a:ln w="8890">
            <a:solidFill>
              <a:srgbClr val="8A8A80"/>
            </a:solidFill>
            <a:prstDash val="solid"/>
          </a:ln>
        </p:spPr>
      </p:sp>
      <p:sp>
        <p:nvSpPr>
          <p:cNvPr id="13" name="Shape 11"/>
          <p:cNvSpPr/>
          <p:nvPr/>
        </p:nvSpPr>
        <p:spPr>
          <a:xfrm>
            <a:off x="952476" y="3746406"/>
            <a:ext cx="2158946" cy="952476"/>
          </a:xfrm>
          <a:prstGeom prst="rect">
            <a:avLst/>
          </a:prstGeom>
          <a:ln w="11430">
            <a:solidFill>
              <a:srgbClr val="8A8A80"/>
            </a:solidFill>
            <a:prstDash val="solid"/>
          </a:ln>
        </p:spPr>
      </p:sp>
      <p:sp>
        <p:nvSpPr>
          <p:cNvPr id="14" name="Text 12"/>
          <p:cNvSpPr txBox="1"/>
          <p:nvPr/>
        </p:nvSpPr>
        <p:spPr>
          <a:xfrm>
            <a:off x="1092173"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paper, frozen</a:t>
            </a:r>
            <a:endParaRPr lang="en-US" sz="1200" dirty="0"/>
          </a:p>
        </p:txBody>
      </p:sp>
      <p:sp>
        <p:nvSpPr>
          <p:cNvPr id="15" name="Text 13"/>
          <p:cNvSpPr txBox="1"/>
          <p:nvPr/>
        </p:nvSpPr>
        <p:spPr>
          <a:xfrm>
            <a:off x="1092173"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the source, byte for byte</a:t>
            </a:r>
            <a:endParaRPr lang="en-US" sz="1000" dirty="0"/>
          </a:p>
        </p:txBody>
      </p:sp>
      <p:sp>
        <p:nvSpPr>
          <p:cNvPr id="16" name="Shape 14"/>
          <p:cNvSpPr/>
          <p:nvPr/>
        </p:nvSpPr>
        <p:spPr>
          <a:xfrm>
            <a:off x="3174921" y="4222644"/>
            <a:ext cx="253994" cy="0"/>
          </a:xfrm>
          <a:prstGeom prst="line">
            <a:avLst/>
          </a:prstGeom>
          <a:noFill/>
          <a:ln w="12700">
            <a:solidFill>
              <a:srgbClr val="8A8A80"/>
            </a:solidFill>
            <a:prstDash val="solid"/>
            <a:tailEnd type="triangle"/>
          </a:ln>
        </p:spPr>
      </p:sp>
      <p:sp>
        <p:nvSpPr>
          <p:cNvPr id="17" name="Shape 15"/>
          <p:cNvSpPr/>
          <p:nvPr/>
        </p:nvSpPr>
        <p:spPr>
          <a:xfrm>
            <a:off x="3492413" y="3746406"/>
            <a:ext cx="2158946" cy="952476"/>
          </a:xfrm>
          <a:prstGeom prst="rect">
            <a:avLst/>
          </a:prstGeom>
          <a:ln w="11430">
            <a:solidFill>
              <a:srgbClr val="8A8A80"/>
            </a:solidFill>
            <a:prstDash val="solid"/>
          </a:ln>
        </p:spPr>
      </p:sp>
      <p:sp>
        <p:nvSpPr>
          <p:cNvPr id="18" name="Text 16"/>
          <p:cNvSpPr txBox="1"/>
          <p:nvPr/>
        </p:nvSpPr>
        <p:spPr>
          <a:xfrm>
            <a:off x="3632109"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claims + dependencies</a:t>
            </a:r>
            <a:endParaRPr lang="en-US" sz="1200" dirty="0"/>
          </a:p>
        </p:txBody>
      </p:sp>
      <p:sp>
        <p:nvSpPr>
          <p:cNvPr id="19" name="Text 17"/>
          <p:cNvSpPr txBox="1"/>
          <p:nvPr/>
        </p:nvSpPr>
        <p:spPr>
          <a:xfrm>
            <a:off x="3632109"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points at what</a:t>
            </a:r>
            <a:endParaRPr lang="en-US" sz="1000" dirty="0"/>
          </a:p>
        </p:txBody>
      </p:sp>
      <p:sp>
        <p:nvSpPr>
          <p:cNvPr id="20" name="Shape 18"/>
          <p:cNvSpPr/>
          <p:nvPr/>
        </p:nvSpPr>
        <p:spPr>
          <a:xfrm>
            <a:off x="5714857" y="4222644"/>
            <a:ext cx="253994" cy="0"/>
          </a:xfrm>
          <a:prstGeom prst="line">
            <a:avLst/>
          </a:prstGeom>
          <a:noFill/>
          <a:ln w="12700">
            <a:solidFill>
              <a:srgbClr val="8A8A80"/>
            </a:solidFill>
            <a:prstDash val="solid"/>
            <a:tailEnd type="triangle"/>
          </a:ln>
        </p:spPr>
      </p:sp>
      <p:sp>
        <p:nvSpPr>
          <p:cNvPr id="21" name="Shape 19"/>
          <p:cNvSpPr/>
          <p:nvPr/>
        </p:nvSpPr>
        <p:spPr>
          <a:xfrm>
            <a:off x="6032349" y="3746406"/>
            <a:ext cx="2158946" cy="952476"/>
          </a:xfrm>
          <a:prstGeom prst="rect">
            <a:avLst/>
          </a:prstGeom>
          <a:ln w="11430">
            <a:solidFill>
              <a:srgbClr val="8A8A80"/>
            </a:solidFill>
            <a:prstDash val="solid"/>
          </a:ln>
        </p:spPr>
      </p:sp>
      <p:sp>
        <p:nvSpPr>
          <p:cNvPr id="22" name="Text 20"/>
          <p:cNvSpPr txBox="1"/>
          <p:nvPr/>
        </p:nvSpPr>
        <p:spPr>
          <a:xfrm>
            <a:off x="6172046"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theorem’s chain</a:t>
            </a:r>
            <a:endParaRPr lang="en-US" sz="1200" dirty="0"/>
          </a:p>
        </p:txBody>
      </p:sp>
      <p:sp>
        <p:nvSpPr>
          <p:cNvPr id="23" name="Text 21"/>
          <p:cNvSpPr txBox="1"/>
          <p:nvPr/>
        </p:nvSpPr>
        <p:spPr>
          <a:xfrm>
            <a:off x="6172046"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29 claims, 46 links</a:t>
            </a:r>
            <a:endParaRPr lang="en-US" sz="1000" dirty="0"/>
          </a:p>
        </p:txBody>
      </p:sp>
      <p:sp>
        <p:nvSpPr>
          <p:cNvPr id="24" name="Shape 22"/>
          <p:cNvSpPr/>
          <p:nvPr/>
        </p:nvSpPr>
        <p:spPr>
          <a:xfrm>
            <a:off x="8254794" y="4222644"/>
            <a:ext cx="253994" cy="0"/>
          </a:xfrm>
          <a:prstGeom prst="line">
            <a:avLst/>
          </a:prstGeom>
          <a:noFill/>
          <a:ln w="12700">
            <a:solidFill>
              <a:srgbClr val="8A8A80"/>
            </a:solidFill>
            <a:prstDash val="solid"/>
            <a:tailEnd type="triangle"/>
          </a:ln>
        </p:spPr>
      </p:sp>
      <p:sp>
        <p:nvSpPr>
          <p:cNvPr id="25" name="Shape 23"/>
          <p:cNvSpPr/>
          <p:nvPr/>
        </p:nvSpPr>
        <p:spPr>
          <a:xfrm>
            <a:off x="8572286" y="3746406"/>
            <a:ext cx="2158946" cy="952476"/>
          </a:xfrm>
          <a:prstGeom prst="rect">
            <a:avLst/>
          </a:prstGeom>
          <a:ln w="11430">
            <a:solidFill>
              <a:srgbClr val="8A8A80"/>
            </a:solidFill>
            <a:prstDash val="solid"/>
          </a:ln>
        </p:spPr>
      </p:sp>
      <p:sp>
        <p:nvSpPr>
          <p:cNvPr id="26" name="Text 24"/>
          <p:cNvSpPr txBox="1"/>
          <p:nvPr/>
        </p:nvSpPr>
        <p:spPr>
          <a:xfrm>
            <a:off x="8711982"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where it stops</a:t>
            </a:r>
            <a:endParaRPr lang="en-US" sz="1200" dirty="0"/>
          </a:p>
        </p:txBody>
      </p:sp>
      <p:sp>
        <p:nvSpPr>
          <p:cNvPr id="27" name="Text 25"/>
          <p:cNvSpPr txBox="1"/>
          <p:nvPr/>
        </p:nvSpPr>
        <p:spPr>
          <a:xfrm>
            <a:off x="8711982"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it does stop</a:t>
            </a:r>
            <a:endParaRPr lang="en-US" sz="1000" dirty="0"/>
          </a:p>
        </p:txBody>
      </p:sp>
      <p:sp>
        <p:nvSpPr>
          <p:cNvPr id="28" name="Text 26"/>
          <p:cNvSpPr txBox="1"/>
          <p:nvPr/>
        </p:nvSpPr>
        <p:spPr>
          <a:xfrm>
            <a:off x="952476" y="5079873"/>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One real paper, one real run. Every number after this frame is read out of the logs, not estimated.</a:t>
            </a:r>
            <a:endParaRPr lang="en-US" sz="1300" dirty="0"/>
          </a:p>
        </p:txBody>
      </p:sp>
      <p:sp>
        <p:nvSpPr>
          <p:cNvPr id="29" name="Text 27"/>
          <p:cNvSpPr txBox="1"/>
          <p:nvPr/>
        </p:nvSpPr>
        <p:spPr>
          <a:xfrm>
            <a:off x="952476" y="5359266"/>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Where nobody measured it, the frame says so.</a:t>
            </a:r>
            <a:endParaRPr lang="en-US" sz="1300" dirty="0"/>
          </a:p>
        </p:txBody>
      </p:sp>
      <p:sp>
        <p:nvSpPr>
          <p:cNvPr id="30" name="Text 2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711182"/>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Lean 4  —  how to read it</a:t>
            </a:r>
            <a:endParaRPr lang="en-US" sz="2200" dirty="0"/>
          </a:p>
        </p:txBody>
      </p:sp>
      <p:sp>
        <p:nvSpPr>
          <p:cNvPr id="3" name="Text 1"/>
          <p:cNvSpPr txBox="1"/>
          <p:nvPr/>
        </p:nvSpPr>
        <p:spPr>
          <a:xfrm>
            <a:off x="952476" y="1117572"/>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Six lines. On the left is what you type; on the right is what each line says.</a:t>
            </a:r>
            <a:endParaRPr lang="en-US" sz="1200" dirty="0"/>
          </a:p>
        </p:txBody>
      </p:sp>
      <p:sp>
        <p:nvSpPr>
          <p:cNvPr id="4" name="Shape 2"/>
          <p:cNvSpPr/>
          <p:nvPr/>
        </p:nvSpPr>
        <p:spPr>
          <a:xfrm>
            <a:off x="952476" y="1498563"/>
            <a:ext cx="4825879" cy="2565336"/>
          </a:xfrm>
          <a:prstGeom prst="rect">
            <a:avLst/>
          </a:prstGeom>
          <a:ln w="11430">
            <a:solidFill>
              <a:srgbClr val="8A8A80"/>
            </a:solidFill>
            <a:prstDash val="solid"/>
          </a:ln>
        </p:spPr>
      </p:sp>
      <p:sp>
        <p:nvSpPr>
          <p:cNvPr id="5" name="Text 3"/>
          <p:cNvSpPr txBox="1"/>
          <p:nvPr/>
        </p:nvSpPr>
        <p:spPr>
          <a:xfrm>
            <a:off x="1181070" y="1790655"/>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def double (n : Nat) : Nat :=</a:t>
            </a:r>
            <a:endParaRPr lang="en-US" sz="1200" dirty="0"/>
          </a:p>
        </p:txBody>
      </p:sp>
      <p:sp>
        <p:nvSpPr>
          <p:cNvPr id="6" name="Text 4"/>
          <p:cNvSpPr txBox="1"/>
          <p:nvPr/>
        </p:nvSpPr>
        <p:spPr>
          <a:xfrm>
            <a:off x="6095848" y="1803355"/>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DEFINE a thing called double. Give it a whole number n …</a:t>
            </a:r>
            <a:endParaRPr lang="en-US" sz="1100" dirty="0"/>
          </a:p>
        </p:txBody>
      </p:sp>
      <p:sp>
        <p:nvSpPr>
          <p:cNvPr id="7" name="Text 5"/>
          <p:cNvSpPr txBox="1"/>
          <p:nvPr/>
        </p:nvSpPr>
        <p:spPr>
          <a:xfrm>
            <a:off x="1363946" y="2082748"/>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2 * n</a:t>
            </a:r>
            <a:endParaRPr lang="en-US" sz="1200" dirty="0"/>
          </a:p>
        </p:txBody>
      </p:sp>
      <p:sp>
        <p:nvSpPr>
          <p:cNvPr id="8" name="Text 6"/>
          <p:cNvSpPr txBox="1"/>
          <p:nvPr/>
        </p:nvSpPr>
        <p:spPr>
          <a:xfrm>
            <a:off x="6095848" y="2095448"/>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and what comes back is 2 times n. Nothing is claimed yet.</a:t>
            </a:r>
            <a:endParaRPr lang="en-US" sz="1100" dirty="0"/>
          </a:p>
        </p:txBody>
      </p:sp>
      <p:sp>
        <p:nvSpPr>
          <p:cNvPr id="9" name="Text 7"/>
          <p:cNvSpPr txBox="1"/>
          <p:nvPr/>
        </p:nvSpPr>
        <p:spPr>
          <a:xfrm>
            <a:off x="1181070" y="2539937"/>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theorem double_eq_add (n : Nat) :</a:t>
            </a:r>
            <a:endParaRPr lang="en-US" sz="1200" dirty="0"/>
          </a:p>
        </p:txBody>
      </p:sp>
      <p:sp>
        <p:nvSpPr>
          <p:cNvPr id="10" name="Text 8"/>
          <p:cNvSpPr txBox="1"/>
          <p:nvPr/>
        </p:nvSpPr>
        <p:spPr>
          <a:xfrm>
            <a:off x="6095848" y="2552636"/>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CLAIM, and give the claim a name. For every whole number n …</a:t>
            </a:r>
            <a:endParaRPr lang="en-US" sz="1100" dirty="0"/>
          </a:p>
        </p:txBody>
      </p:sp>
      <p:sp>
        <p:nvSpPr>
          <p:cNvPr id="11" name="Text 9"/>
          <p:cNvSpPr txBox="1"/>
          <p:nvPr/>
        </p:nvSpPr>
        <p:spPr>
          <a:xfrm>
            <a:off x="1546821" y="2832029"/>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double n = n + n := by</a:t>
            </a:r>
            <a:endParaRPr lang="en-US" sz="1200" dirty="0"/>
          </a:p>
        </p:txBody>
      </p:sp>
      <p:sp>
        <p:nvSpPr>
          <p:cNvPr id="12" name="Text 10"/>
          <p:cNvSpPr txBox="1"/>
          <p:nvPr/>
        </p:nvSpPr>
        <p:spPr>
          <a:xfrm>
            <a:off x="6095848" y="2844729"/>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double n is the same as n + n.  "by" means: proof follows.</a:t>
            </a:r>
            <a:endParaRPr lang="en-US" sz="1100" dirty="0"/>
          </a:p>
        </p:txBody>
      </p:sp>
      <p:sp>
        <p:nvSpPr>
          <p:cNvPr id="13" name="Text 11"/>
          <p:cNvSpPr txBox="1"/>
          <p:nvPr/>
        </p:nvSpPr>
        <p:spPr>
          <a:xfrm>
            <a:off x="1363946" y="3289218"/>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unfold double</a:t>
            </a:r>
            <a:endParaRPr lang="en-US" sz="1200" dirty="0"/>
          </a:p>
        </p:txBody>
      </p:sp>
      <p:sp>
        <p:nvSpPr>
          <p:cNvPr id="14" name="Text 12"/>
          <p:cNvSpPr txBox="1"/>
          <p:nvPr/>
        </p:nvSpPr>
        <p:spPr>
          <a:xfrm>
            <a:off x="6095848" y="3301917"/>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step 1 — replace double by what it stands for: 2 * n = n + n.</a:t>
            </a:r>
            <a:endParaRPr lang="en-US" sz="1100" dirty="0"/>
          </a:p>
        </p:txBody>
      </p:sp>
      <p:sp>
        <p:nvSpPr>
          <p:cNvPr id="15" name="Text 13"/>
          <p:cNvSpPr txBox="1"/>
          <p:nvPr/>
        </p:nvSpPr>
        <p:spPr>
          <a:xfrm>
            <a:off x="1363946" y="3581310"/>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omega</a:t>
            </a:r>
            <a:endParaRPr lang="en-US" sz="1200" dirty="0"/>
          </a:p>
        </p:txBody>
      </p:sp>
      <p:sp>
        <p:nvSpPr>
          <p:cNvPr id="16" name="Text 14"/>
          <p:cNvSpPr txBox="1"/>
          <p:nvPr/>
        </p:nvSpPr>
        <p:spPr>
          <a:xfrm>
            <a:off x="6095848" y="3594010"/>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step 2 — omega settles arithmetic statements like that one.</a:t>
            </a:r>
            <a:endParaRPr lang="en-US" sz="1100" dirty="0"/>
          </a:p>
        </p:txBody>
      </p:sp>
      <p:sp>
        <p:nvSpPr>
          <p:cNvPr id="17" name="Shape 15"/>
          <p:cNvSpPr/>
          <p:nvPr/>
        </p:nvSpPr>
        <p:spPr>
          <a:xfrm>
            <a:off x="952476" y="4292493"/>
            <a:ext cx="10286743" cy="0"/>
          </a:xfrm>
          <a:prstGeom prst="line">
            <a:avLst/>
          </a:prstGeom>
          <a:noFill/>
          <a:ln w="8890">
            <a:solidFill>
              <a:srgbClr val="8A8A80"/>
            </a:solidFill>
            <a:prstDash val="solid"/>
          </a:ln>
        </p:spPr>
      </p:sp>
      <p:sp>
        <p:nvSpPr>
          <p:cNvPr id="18" name="Text 16"/>
          <p:cNvSpPr txBox="1"/>
          <p:nvPr/>
        </p:nvSpPr>
        <p:spPr>
          <a:xfrm>
            <a:off x="952476" y="4521087"/>
            <a:ext cx="10286743"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Nothing here is prose. That line IS the theorem — not a description of one.</a:t>
            </a:r>
            <a:endParaRPr lang="en-US" sz="1600" dirty="0"/>
          </a:p>
        </p:txBody>
      </p:sp>
      <p:sp>
        <p:nvSpPr>
          <p:cNvPr id="19" name="Text 17"/>
          <p:cNvSpPr txBox="1"/>
          <p:nvPr/>
        </p:nvSpPr>
        <p:spPr>
          <a:xfrm>
            <a:off x="952476" y="4902077"/>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Which is the whole trade: you give up the words, and in exchange the claim becomes something</a:t>
            </a:r>
            <a:endParaRPr lang="en-US" sz="1200" dirty="0"/>
          </a:p>
        </p:txBody>
      </p:sp>
      <p:sp>
        <p:nvSpPr>
          <p:cNvPr id="20" name="Text 18"/>
          <p:cNvSpPr txBox="1"/>
          <p:nvPr/>
        </p:nvSpPr>
        <p:spPr>
          <a:xfrm>
            <a:off x="952476" y="5143371"/>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a machine can check, and refuse.</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It compiles, or it does not. There is no third answer.</a:t>
            </a:r>
            <a:endParaRPr lang="en-US" sz="2200" dirty="0"/>
          </a:p>
        </p:txBody>
      </p:sp>
      <p:sp>
        <p:nvSpPr>
          <p:cNvPr id="3" name="Shape 1"/>
          <p:cNvSpPr/>
          <p:nvPr/>
        </p:nvSpPr>
        <p:spPr>
          <a:xfrm>
            <a:off x="952476" y="1587460"/>
            <a:ext cx="4825879" cy="1460463"/>
          </a:xfrm>
          <a:prstGeom prst="rect">
            <a:avLst/>
          </a:prstGeom>
          <a:ln w="21589">
            <a:solidFill>
              <a:srgbClr val="1A1A16"/>
            </a:solidFill>
            <a:prstDash val="solid"/>
          </a:ln>
        </p:spPr>
      </p:sp>
      <p:sp>
        <p:nvSpPr>
          <p:cNvPr id="4" name="Text 2"/>
          <p:cNvSpPr txBox="1"/>
          <p:nvPr/>
        </p:nvSpPr>
        <p:spPr>
          <a:xfrm>
            <a:off x="1181070" y="1816055"/>
            <a:ext cx="4368691"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accepted</a:t>
            </a:r>
            <a:endParaRPr lang="en-US" sz="1700" dirty="0"/>
          </a:p>
        </p:txBody>
      </p:sp>
      <p:sp>
        <p:nvSpPr>
          <p:cNvPr id="5" name="Text 3"/>
          <p:cNvSpPr txBox="1"/>
          <p:nvPr/>
        </p:nvSpPr>
        <p:spPr>
          <a:xfrm>
            <a:off x="1181070" y="2209745"/>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each step re-checked by a kernel of a few thousand lines</a:t>
            </a:r>
            <a:endParaRPr lang="en-US" sz="1100" dirty="0"/>
          </a:p>
        </p:txBody>
      </p:sp>
      <p:sp>
        <p:nvSpPr>
          <p:cNvPr id="6" name="Text 4"/>
          <p:cNvSpPr txBox="1"/>
          <p:nvPr/>
        </p:nvSpPr>
        <p:spPr>
          <a:xfrm>
            <a:off x="1181070" y="2438339"/>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that does not know who wrote it, or how tired it is</a:t>
            </a:r>
            <a:endParaRPr lang="en-US" sz="1100" dirty="0"/>
          </a:p>
        </p:txBody>
      </p:sp>
      <p:sp>
        <p:nvSpPr>
          <p:cNvPr id="7" name="Shape 5"/>
          <p:cNvSpPr/>
          <p:nvPr/>
        </p:nvSpPr>
        <p:spPr>
          <a:xfrm>
            <a:off x="6413340" y="1587460"/>
            <a:ext cx="4825879" cy="1460463"/>
          </a:xfrm>
          <a:prstGeom prst="rect">
            <a:avLst/>
          </a:prstGeom>
          <a:ln w="11430">
            <a:solidFill>
              <a:srgbClr val="8A8A80"/>
            </a:solidFill>
            <a:prstDash val="solid"/>
          </a:ln>
        </p:spPr>
      </p:sp>
      <p:sp>
        <p:nvSpPr>
          <p:cNvPr id="8" name="Text 6"/>
          <p:cNvSpPr txBox="1"/>
          <p:nvPr/>
        </p:nvSpPr>
        <p:spPr>
          <a:xfrm>
            <a:off x="6641934" y="1816055"/>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rejected</a:t>
            </a:r>
            <a:endParaRPr lang="en-US" sz="1700" dirty="0"/>
          </a:p>
        </p:txBody>
      </p:sp>
      <p:sp>
        <p:nvSpPr>
          <p:cNvPr id="9" name="Text 7"/>
          <p:cNvSpPr txBox="1"/>
          <p:nvPr/>
        </p:nvSpPr>
        <p:spPr>
          <a:xfrm>
            <a:off x="6641934" y="2209745"/>
            <a:ext cx="436869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and it names the step it would not take —</a:t>
            </a:r>
            <a:endParaRPr lang="en-US" sz="1200" dirty="0"/>
          </a:p>
        </p:txBody>
      </p:sp>
      <p:sp>
        <p:nvSpPr>
          <p:cNvPr id="10" name="Text 8"/>
          <p:cNvSpPr txBox="1"/>
          <p:nvPr/>
        </p:nvSpPr>
        <p:spPr>
          <a:xfrm>
            <a:off x="6641934" y="2451039"/>
            <a:ext cx="436869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which is a research to-do list, not a failure</a:t>
            </a:r>
            <a:endParaRPr lang="en-US" sz="1200" dirty="0"/>
          </a:p>
        </p:txBody>
      </p:sp>
      <p:sp>
        <p:nvSpPr>
          <p:cNvPr id="11" name="Shape 9"/>
          <p:cNvSpPr/>
          <p:nvPr/>
        </p:nvSpPr>
        <p:spPr>
          <a:xfrm>
            <a:off x="952476" y="3479713"/>
            <a:ext cx="10286743" cy="0"/>
          </a:xfrm>
          <a:prstGeom prst="line">
            <a:avLst/>
          </a:prstGeom>
          <a:noFill/>
          <a:ln w="8890">
            <a:solidFill>
              <a:srgbClr val="8A8A80"/>
            </a:solidFill>
            <a:prstDash val="solid"/>
          </a:ln>
        </p:spPr>
      </p:sp>
      <p:sp>
        <p:nvSpPr>
          <p:cNvPr id="12" name="Text 10"/>
          <p:cNvSpPr txBox="1"/>
          <p:nvPr/>
        </p:nvSpPr>
        <p:spPr>
          <a:xfrm>
            <a:off x="952476" y="3733707"/>
            <a:ext cx="10286743"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There is exactly one way to cheat, and it is a keyword:</a:t>
            </a:r>
            <a:endParaRPr lang="en-US" sz="1500" dirty="0"/>
          </a:p>
        </p:txBody>
      </p:sp>
      <p:sp>
        <p:nvSpPr>
          <p:cNvPr id="13" name="Text 11"/>
          <p:cNvSpPr txBox="1"/>
          <p:nvPr/>
        </p:nvSpPr>
        <p:spPr>
          <a:xfrm>
            <a:off x="1181070" y="4089298"/>
            <a:ext cx="4444889" cy="431789"/>
          </a:xfrm>
          <a:prstGeom prst="rect">
            <a:avLst/>
          </a:prstGeom>
          <a:noFill/>
          <a:ln/>
        </p:spPr>
        <p:txBody>
          <a:bodyPr wrap="square" lIns="0" tIns="0" rIns="0" bIns="0" rtlCol="0" anchor="t"/>
          <a:lstStyle/>
          <a:p>
            <a:pPr algn="l" indent="0" marL="0">
              <a:buNone/>
            </a:pPr>
            <a:r>
              <a:rPr lang="en-US" sz="2000" dirty="0">
                <a:solidFill>
                  <a:srgbClr val="1A1A16"/>
                </a:solidFill>
                <a:latin typeface="Calibri" pitchFamily="34" charset="0"/>
                <a:ea typeface="Calibri" pitchFamily="34" charset="-122"/>
                <a:cs typeface="Calibri" pitchFamily="34" charset="-120"/>
              </a:rPr>
              <a:t>sorry</a:t>
            </a:r>
            <a:endParaRPr lang="en-US" sz="2000" dirty="0"/>
          </a:p>
        </p:txBody>
      </p:sp>
      <p:sp>
        <p:nvSpPr>
          <p:cNvPr id="14" name="Text 12"/>
          <p:cNvSpPr txBox="1"/>
          <p:nvPr/>
        </p:nvSpPr>
        <p:spPr>
          <a:xfrm>
            <a:off x="2666933" y="4140096"/>
            <a:ext cx="8508787"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 accept this claim without a proof. It compiles. It is also recorded, forever, in the file.</a:t>
            </a:r>
            <a:endParaRPr lang="en-US" sz="1200" dirty="0"/>
          </a:p>
        </p:txBody>
      </p:sp>
      <p:sp>
        <p:nvSpPr>
          <p:cNvPr id="15" name="Text 13"/>
          <p:cNvSpPr txBox="1"/>
          <p:nvPr/>
        </p:nvSpPr>
        <p:spPr>
          <a:xfrm>
            <a:off x="952476" y="4635384"/>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Anybody can write it, and it compiles. The difference from prose is that it is written down</a:t>
            </a:r>
            <a:endParaRPr lang="en-US" sz="1300" dirty="0"/>
          </a:p>
        </p:txBody>
      </p:sp>
      <p:sp>
        <p:nvSpPr>
          <p:cNvPr id="16" name="Text 14"/>
          <p:cNvSpPr txBox="1"/>
          <p:nvPr/>
        </p:nvSpPr>
        <p:spPr>
          <a:xfrm>
            <a:off x="952476" y="4876678"/>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 it sits in the file, and anybody who looks can find every one of them.</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Nobody proves anything from nothing</a:t>
            </a:r>
            <a:endParaRPr lang="en-US" sz="2200" dirty="0"/>
          </a:p>
        </p:txBody>
      </p:sp>
      <p:sp>
        <p:nvSpPr>
          <p:cNvPr id="3" name="Text 1"/>
          <p:cNvSpPr txBox="1"/>
          <p:nvPr/>
        </p:nvSpPr>
        <p:spPr>
          <a:xfrm>
            <a:off x="952476" y="1269968"/>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Every proof stands on definitions somebody else already wrote and checked.</a:t>
            </a:r>
            <a:endParaRPr lang="en-US" sz="1300" dirty="0"/>
          </a:p>
        </p:txBody>
      </p:sp>
      <p:sp>
        <p:nvSpPr>
          <p:cNvPr id="4" name="Text 2"/>
          <p:cNvSpPr txBox="1"/>
          <p:nvPr/>
        </p:nvSpPr>
        <p:spPr>
          <a:xfrm>
            <a:off x="952476" y="1904952"/>
            <a:ext cx="1777956"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9,146</a:t>
            </a:r>
            <a:endParaRPr lang="en-US" sz="2600" dirty="0"/>
          </a:p>
        </p:txBody>
      </p:sp>
      <p:sp>
        <p:nvSpPr>
          <p:cNvPr id="5" name="Text 3"/>
          <p:cNvSpPr txBox="1"/>
          <p:nvPr/>
        </p:nvSpPr>
        <p:spPr>
          <a:xfrm>
            <a:off x="952476" y="2311342"/>
            <a:ext cx="1777956"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6" name="Text 4"/>
          <p:cNvSpPr txBox="1"/>
          <p:nvPr/>
        </p:nvSpPr>
        <p:spPr>
          <a:xfrm>
            <a:off x="2793930" y="1930352"/>
            <a:ext cx="26669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Mathlib</a:t>
            </a:r>
            <a:endParaRPr lang="en-US" sz="1700" dirty="0"/>
          </a:p>
        </p:txBody>
      </p:sp>
      <p:sp>
        <p:nvSpPr>
          <p:cNvPr id="7" name="Text 5"/>
          <p:cNvSpPr txBox="1"/>
          <p:nvPr/>
        </p:nvSpPr>
        <p:spPr>
          <a:xfrm>
            <a:off x="2793930" y="2247844"/>
            <a:ext cx="84452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mathematics. Groups, measure, linear algebra, polytopes.  Begun 2017.</a:t>
            </a:r>
            <a:endParaRPr lang="en-US" sz="1100" dirty="0"/>
          </a:p>
        </p:txBody>
      </p:sp>
      <p:sp>
        <p:nvSpPr>
          <p:cNvPr id="8" name="Text 6"/>
          <p:cNvSpPr txBox="1"/>
          <p:nvPr/>
        </p:nvSpPr>
        <p:spPr>
          <a:xfrm>
            <a:off x="952476" y="2857429"/>
            <a:ext cx="1777956" cy="561326"/>
          </a:xfrm>
          <a:prstGeom prst="rect">
            <a:avLst/>
          </a:prstGeom>
          <a:noFill/>
          <a:ln/>
        </p:spPr>
        <p:txBody>
          <a:bodyPr wrap="square" lIns="0" tIns="0" rIns="0" bIns="0" rtlCol="0" anchor="t"/>
          <a:lstStyle/>
          <a:p>
            <a:pPr algn="l" indent="0" marL="0">
              <a:buNone/>
            </a:pPr>
            <a:r>
              <a:rPr lang="en-US" sz="2600" dirty="0">
                <a:solidFill>
                  <a:srgbClr val="8A8A80"/>
                </a:solidFill>
                <a:latin typeface="Calibri" pitchFamily="34" charset="0"/>
                <a:ea typeface="Calibri" pitchFamily="34" charset="-122"/>
                <a:cs typeface="Calibri" pitchFamily="34" charset="-120"/>
              </a:rPr>
              <a:t>927</a:t>
            </a:r>
            <a:endParaRPr lang="en-US" sz="2600" dirty="0"/>
          </a:p>
        </p:txBody>
      </p:sp>
      <p:sp>
        <p:nvSpPr>
          <p:cNvPr id="9" name="Text 7"/>
          <p:cNvSpPr txBox="1"/>
          <p:nvPr/>
        </p:nvSpPr>
        <p:spPr>
          <a:xfrm>
            <a:off x="952476" y="3263818"/>
            <a:ext cx="1777956"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10" name="Text 8"/>
          <p:cNvSpPr txBox="1"/>
          <p:nvPr/>
        </p:nvSpPr>
        <p:spPr>
          <a:xfrm>
            <a:off x="2793930" y="2882828"/>
            <a:ext cx="26669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physlib</a:t>
            </a:r>
            <a:endParaRPr lang="en-US" sz="1700" dirty="0"/>
          </a:p>
        </p:txBody>
      </p:sp>
      <p:sp>
        <p:nvSpPr>
          <p:cNvPr id="11" name="Text 9"/>
          <p:cNvSpPr txBox="1"/>
          <p:nvPr/>
        </p:nvSpPr>
        <p:spPr>
          <a:xfrm>
            <a:off x="2793930" y="3200320"/>
            <a:ext cx="84452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physics. An open-source community project to digitalize results from physics into Lean 4.  Begun 2024.</a:t>
            </a:r>
            <a:endParaRPr lang="en-US" sz="1100" dirty="0"/>
          </a:p>
        </p:txBody>
      </p:sp>
      <p:sp>
        <p:nvSpPr>
          <p:cNvPr id="12" name="Shape 10"/>
          <p:cNvSpPr/>
          <p:nvPr/>
        </p:nvSpPr>
        <p:spPr>
          <a:xfrm>
            <a:off x="952476" y="4063898"/>
            <a:ext cx="10286743" cy="0"/>
          </a:xfrm>
          <a:prstGeom prst="line">
            <a:avLst/>
          </a:prstGeom>
          <a:noFill/>
          <a:ln w="8890">
            <a:solidFill>
              <a:srgbClr val="8A8A80"/>
            </a:solidFill>
            <a:prstDash val="solid"/>
          </a:ln>
        </p:spPr>
      </p:sp>
      <p:sp>
        <p:nvSpPr>
          <p:cNvPr id="13" name="Text 11"/>
          <p:cNvSpPr txBox="1"/>
          <p:nvPr/>
        </p:nvSpPr>
        <p:spPr>
          <a:xfrm>
            <a:off x="952476" y="4279793"/>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Ten times the size, and seven years of a head start.</a:t>
            </a:r>
            <a:endParaRPr lang="en-US" sz="1700" dirty="0"/>
          </a:p>
        </p:txBody>
      </p:sp>
      <p:sp>
        <p:nvSpPr>
          <p:cNvPr id="14" name="Text 12"/>
          <p:cNvSpPr txBox="1"/>
          <p:nvPr/>
        </p:nvSpPr>
        <p:spPr>
          <a:xfrm>
            <a:off x="952476" y="4686183"/>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So the question for any paper is not "can Lean express this" — it is how much of what the paper</a:t>
            </a:r>
            <a:endParaRPr lang="en-US" sz="1300" dirty="0"/>
          </a:p>
        </p:txBody>
      </p:sp>
      <p:sp>
        <p:nvSpPr>
          <p:cNvPr id="15" name="Text 13"/>
          <p:cNvSpPr txBox="1"/>
          <p:nvPr/>
        </p:nvSpPr>
        <p:spPr>
          <a:xfrm>
            <a:off x="952476" y="4927477"/>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stands on already exists, and how much somebody has to build first.</a:t>
            </a:r>
            <a:endParaRPr lang="en-US" sz="1300" dirty="0"/>
          </a:p>
        </p:txBody>
      </p:sp>
      <p:sp>
        <p:nvSpPr>
          <p:cNvPr id="16" name="Text 14"/>
          <p:cNvSpPr txBox="1"/>
          <p:nvPr/>
        </p:nvSpPr>
        <p:spPr>
          <a:xfrm>
            <a:off x="952476" y="5321167"/>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For a physics paper today, the honest answer is: a great deal has to be built first.</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Text 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2438339" y="3174921"/>
            <a:ext cx="266693" cy="0"/>
          </a:xfrm>
          <a:prstGeom prst="line">
            <a:avLst/>
          </a:prstGeom>
          <a:noFill/>
          <a:ln w="12700">
            <a:solidFill>
              <a:srgbClr val="1A1A16"/>
            </a:solidFill>
            <a:prstDash val="solid"/>
            <a:tailEnd type="triangle"/>
          </a:ln>
        </p:spPr>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2438339" y="3174921"/>
            <a:ext cx="266693" cy="0"/>
          </a:xfrm>
          <a:prstGeom prst="line">
            <a:avLst/>
          </a:prstGeom>
          <a:noFill/>
          <a:ln w="12700">
            <a:solidFill>
              <a:srgbClr val="1A1A16"/>
            </a:solidFill>
            <a:prstDash val="solid"/>
            <a:tailEnd type="triangle"/>
          </a:ln>
        </p:spPr>
      </p:sp>
      <p:sp>
        <p:nvSpPr>
          <p:cNvPr id="39" name="Shape 37"/>
          <p:cNvSpPr/>
          <p:nvPr/>
        </p:nvSpPr>
        <p:spPr>
          <a:xfrm>
            <a:off x="4787780" y="3174921"/>
            <a:ext cx="266693" cy="0"/>
          </a:xfrm>
          <a:prstGeom prst="line">
            <a:avLst/>
          </a:prstGeom>
          <a:noFill/>
          <a:ln w="12700">
            <a:solidFill>
              <a:srgbClr val="1A1A16"/>
            </a:solidFill>
            <a:prstDash val="solid"/>
            <a:tailEnd type="triangle"/>
          </a:ln>
        </p:spPr>
      </p:sp>
      <p:sp>
        <p:nvSpPr>
          <p:cNvPr id="40" name="Text 3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2438339" y="3174921"/>
            <a:ext cx="266693" cy="0"/>
          </a:xfrm>
          <a:prstGeom prst="line">
            <a:avLst/>
          </a:prstGeom>
          <a:noFill/>
          <a:ln w="12700">
            <a:solidFill>
              <a:srgbClr val="1A1A16"/>
            </a:solidFill>
            <a:prstDash val="solid"/>
            <a:tailEnd type="triangle"/>
          </a:ln>
        </p:spPr>
      </p:sp>
      <p:sp>
        <p:nvSpPr>
          <p:cNvPr id="44" name="Shape 42"/>
          <p:cNvSpPr/>
          <p:nvPr/>
        </p:nvSpPr>
        <p:spPr>
          <a:xfrm>
            <a:off x="4787780" y="3174921"/>
            <a:ext cx="266693" cy="0"/>
          </a:xfrm>
          <a:prstGeom prst="line">
            <a:avLst/>
          </a:prstGeom>
          <a:noFill/>
          <a:ln w="12700">
            <a:solidFill>
              <a:srgbClr val="1A1A16"/>
            </a:solidFill>
            <a:prstDash val="solid"/>
            <a:tailEnd type="triangle"/>
          </a:ln>
        </p:spPr>
      </p:sp>
      <p:sp>
        <p:nvSpPr>
          <p:cNvPr id="45" name="Text 4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2438339" y="3174921"/>
            <a:ext cx="266693" cy="0"/>
          </a:xfrm>
          <a:prstGeom prst="line">
            <a:avLst/>
          </a:prstGeom>
          <a:noFill/>
          <a:ln w="12700">
            <a:solidFill>
              <a:srgbClr val="1A1A16"/>
            </a:solidFill>
            <a:prstDash val="solid"/>
            <a:tailEnd type="triangle"/>
          </a:ln>
        </p:spPr>
      </p:sp>
      <p:sp>
        <p:nvSpPr>
          <p:cNvPr id="66" name="Shape 64"/>
          <p:cNvSpPr/>
          <p:nvPr/>
        </p:nvSpPr>
        <p:spPr>
          <a:xfrm>
            <a:off x="4787780" y="3174921"/>
            <a:ext cx="266693" cy="0"/>
          </a:xfrm>
          <a:prstGeom prst="line">
            <a:avLst/>
          </a:prstGeom>
          <a:noFill/>
          <a:ln w="12700">
            <a:solidFill>
              <a:srgbClr val="1A1A16"/>
            </a:solidFill>
            <a:prstDash val="solid"/>
            <a:tailEnd type="triangle"/>
          </a:ln>
        </p:spPr>
      </p:sp>
      <p:sp>
        <p:nvSpPr>
          <p:cNvPr id="67" name="Shape 65"/>
          <p:cNvSpPr/>
          <p:nvPr/>
        </p:nvSpPr>
        <p:spPr>
          <a:xfrm>
            <a:off x="7137222" y="3174921"/>
            <a:ext cx="266693" cy="0"/>
          </a:xfrm>
          <a:prstGeom prst="line">
            <a:avLst/>
          </a:prstGeom>
          <a:noFill/>
          <a:ln w="12700">
            <a:solidFill>
              <a:srgbClr val="1A1A16"/>
            </a:solidFill>
            <a:prstDash val="solid"/>
            <a:tailEnd type="triangle"/>
          </a:ln>
        </p:spPr>
      </p:sp>
      <p:sp>
        <p:nvSpPr>
          <p:cNvPr id="68" name="Text 6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Text 7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Shape 73"/>
          <p:cNvSpPr/>
          <p:nvPr/>
        </p:nvSpPr>
        <p:spPr>
          <a:xfrm>
            <a:off x="10794730" y="3905152"/>
            <a:ext cx="0" cy="387340"/>
          </a:xfrm>
          <a:prstGeom prst="line">
            <a:avLst/>
          </a:prstGeom>
          <a:noFill/>
          <a:ln w="12700">
            <a:solidFill>
              <a:srgbClr val="1A1A16"/>
            </a:solidFill>
            <a:prstDash val="solid"/>
          </a:ln>
        </p:spPr>
      </p:sp>
      <p:sp>
        <p:nvSpPr>
          <p:cNvPr id="76" name="Shape 74"/>
          <p:cNvSpPr/>
          <p:nvPr/>
        </p:nvSpPr>
        <p:spPr>
          <a:xfrm>
            <a:off x="8778656" y="4292493"/>
            <a:ext cx="2063698" cy="0"/>
          </a:xfrm>
          <a:prstGeom prst="line">
            <a:avLst/>
          </a:prstGeom>
          <a:noFill/>
          <a:ln w="12700">
            <a:solidFill>
              <a:srgbClr val="1A1A16"/>
            </a:solidFill>
            <a:prstDash val="solid"/>
          </a:ln>
        </p:spPr>
      </p:sp>
      <p:sp>
        <p:nvSpPr>
          <p:cNvPr id="77" name="Shape 75"/>
          <p:cNvSpPr/>
          <p:nvPr/>
        </p:nvSpPr>
        <p:spPr>
          <a:xfrm>
            <a:off x="8778656" y="4292493"/>
            <a:ext cx="0" cy="222244"/>
          </a:xfrm>
          <a:prstGeom prst="line">
            <a:avLst/>
          </a:prstGeom>
          <a:noFill/>
          <a:ln w="12700">
            <a:solidFill>
              <a:srgbClr val="1A1A16"/>
            </a:solidFill>
            <a:prstDash val="solid"/>
            <a:tailEnd type="triangle"/>
          </a:ln>
        </p:spPr>
      </p:sp>
      <p:sp>
        <p:nvSpPr>
          <p:cNvPr id="78" name="Shape 76"/>
          <p:cNvSpPr/>
          <p:nvPr/>
        </p:nvSpPr>
        <p:spPr>
          <a:xfrm>
            <a:off x="10842354" y="4292493"/>
            <a:ext cx="0" cy="222244"/>
          </a:xfrm>
          <a:prstGeom prst="line">
            <a:avLst/>
          </a:prstGeom>
          <a:noFill/>
          <a:ln w="12700">
            <a:solidFill>
              <a:srgbClr val="1A1A16"/>
            </a:solidFill>
            <a:prstDash val="solid"/>
            <a:tailEnd type="triangle"/>
          </a:ln>
        </p:spPr>
      </p:sp>
      <p:sp>
        <p:nvSpPr>
          <p:cNvPr id="79" name="Shape 77"/>
          <p:cNvSpPr/>
          <p:nvPr/>
        </p:nvSpPr>
        <p:spPr>
          <a:xfrm>
            <a:off x="7937302" y="4603635"/>
            <a:ext cx="1682708" cy="952476"/>
          </a:xfrm>
          <a:prstGeom prst="rect">
            <a:avLst/>
          </a:prstGeom>
          <a:ln w="12700">
            <a:solidFill>
              <a:srgbClr val="1A1A16"/>
            </a:solidFill>
            <a:prstDash val="solid"/>
          </a:ln>
        </p:spPr>
      </p:sp>
      <p:sp>
        <p:nvSpPr>
          <p:cNvPr id="80" name="Text 78"/>
          <p:cNvSpPr txBox="1"/>
          <p:nvPr/>
        </p:nvSpPr>
        <p:spPr>
          <a:xfrm>
            <a:off x="8076998" y="4781430"/>
            <a:ext cx="1403315"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it holds</a:t>
            </a:r>
            <a:endParaRPr lang="en-US" sz="1500" dirty="0"/>
          </a:p>
        </p:txBody>
      </p:sp>
      <p:sp>
        <p:nvSpPr>
          <p:cNvPr id="81" name="Text 79"/>
          <p:cNvSpPr txBox="1"/>
          <p:nvPr/>
        </p:nvSpPr>
        <p:spPr>
          <a:xfrm>
            <a:off x="8076998" y="5098923"/>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every step</a:t>
            </a:r>
            <a:endParaRPr lang="en-US" sz="1000" dirty="0"/>
          </a:p>
        </p:txBody>
      </p:sp>
      <p:sp>
        <p:nvSpPr>
          <p:cNvPr id="82" name="Text 80"/>
          <p:cNvSpPr txBox="1"/>
          <p:nvPr/>
        </p:nvSpPr>
        <p:spPr>
          <a:xfrm>
            <a:off x="8076998" y="5276718"/>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was accepted</a:t>
            </a:r>
            <a:endParaRPr lang="en-US" sz="1000" dirty="0"/>
          </a:p>
        </p:txBody>
      </p:sp>
      <p:sp>
        <p:nvSpPr>
          <p:cNvPr id="83" name="Shape 81"/>
          <p:cNvSpPr/>
          <p:nvPr/>
        </p:nvSpPr>
        <p:spPr>
          <a:xfrm>
            <a:off x="9937502" y="4603635"/>
            <a:ext cx="1809705" cy="952476"/>
          </a:xfrm>
          <a:prstGeom prst="rect">
            <a:avLst/>
          </a:prstGeom>
          <a:ln w="22859">
            <a:solidFill>
              <a:srgbClr val="1A1A16"/>
            </a:solidFill>
            <a:prstDash val="solid"/>
          </a:ln>
        </p:spPr>
      </p:sp>
      <p:sp>
        <p:nvSpPr>
          <p:cNvPr id="84" name="Text 82"/>
          <p:cNvSpPr txBox="1"/>
          <p:nvPr/>
        </p:nvSpPr>
        <p:spPr>
          <a:xfrm>
            <a:off x="10077198" y="4781430"/>
            <a:ext cx="1530312" cy="323842"/>
          </a:xfrm>
          <a:prstGeom prst="rect">
            <a:avLst/>
          </a:prstGeom>
          <a:noFill/>
          <a:ln/>
        </p:spPr>
        <p:txBody>
          <a:bodyPr wrap="square" lIns="0" tIns="0" rIns="0" bIns="0" rtlCol="0" anchor="t"/>
          <a:lstStyle/>
          <a:p>
            <a:pPr algn="l" indent="0" marL="0">
              <a:buNone/>
            </a:pPr>
            <a:r>
              <a:rPr lang="en-US" sz="1500" b="1" dirty="0">
                <a:solidFill>
                  <a:srgbClr val="1A1A16"/>
                </a:solidFill>
                <a:latin typeface="Calibri" pitchFamily="34" charset="0"/>
                <a:ea typeface="Calibri" pitchFamily="34" charset="-122"/>
                <a:cs typeface="Calibri" pitchFamily="34" charset="-120"/>
              </a:rPr>
              <a:t>it does not</a:t>
            </a:r>
            <a:endParaRPr lang="en-US" sz="1500" dirty="0"/>
          </a:p>
        </p:txBody>
      </p:sp>
      <p:sp>
        <p:nvSpPr>
          <p:cNvPr id="85" name="Text 83"/>
          <p:cNvSpPr txBox="1"/>
          <p:nvPr/>
        </p:nvSpPr>
        <p:spPr>
          <a:xfrm>
            <a:off x="10077198" y="5098923"/>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it names</a:t>
            </a:r>
            <a:endParaRPr lang="en-US" sz="1000" dirty="0"/>
          </a:p>
        </p:txBody>
      </p:sp>
      <p:sp>
        <p:nvSpPr>
          <p:cNvPr id="86" name="Text 84"/>
          <p:cNvSpPr txBox="1"/>
          <p:nvPr/>
        </p:nvSpPr>
        <p:spPr>
          <a:xfrm>
            <a:off x="10077198" y="5276718"/>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a:t>
            </a:r>
            <a:endParaRPr lang="en-US" sz="1000" dirty="0"/>
          </a:p>
        </p:txBody>
      </p:sp>
      <p:sp>
        <p:nvSpPr>
          <p:cNvPr id="87" name="Shape 85"/>
          <p:cNvSpPr/>
          <p:nvPr/>
        </p:nvSpPr>
        <p:spPr>
          <a:xfrm>
            <a:off x="10842354" y="5556111"/>
            <a:ext cx="0" cy="527037"/>
          </a:xfrm>
          <a:prstGeom prst="line">
            <a:avLst/>
          </a:prstGeom>
          <a:noFill/>
          <a:ln w="12700">
            <a:solidFill>
              <a:srgbClr val="1A1A16"/>
            </a:solidFill>
            <a:prstDash val="solid"/>
          </a:ln>
        </p:spPr>
      </p:sp>
      <p:sp>
        <p:nvSpPr>
          <p:cNvPr id="88" name="Shape 86"/>
          <p:cNvSpPr/>
          <p:nvPr/>
        </p:nvSpPr>
        <p:spPr>
          <a:xfrm>
            <a:off x="3746406" y="6083148"/>
            <a:ext cx="7095948" cy="0"/>
          </a:xfrm>
          <a:prstGeom prst="line">
            <a:avLst/>
          </a:prstGeom>
          <a:noFill/>
          <a:ln w="12700">
            <a:solidFill>
              <a:srgbClr val="1A1A16"/>
            </a:solidFill>
            <a:prstDash val="solid"/>
          </a:ln>
        </p:spPr>
      </p:sp>
      <p:sp>
        <p:nvSpPr>
          <p:cNvPr id="89" name="Shape 87"/>
          <p:cNvSpPr/>
          <p:nvPr/>
        </p:nvSpPr>
        <p:spPr>
          <a:xfrm>
            <a:off x="3746406" y="3994050"/>
            <a:ext cx="0" cy="2089098"/>
          </a:xfrm>
          <a:prstGeom prst="line">
            <a:avLst/>
          </a:prstGeom>
          <a:noFill/>
          <a:ln w="12700">
            <a:solidFill>
              <a:srgbClr val="1A1A16"/>
            </a:solidFill>
            <a:prstDash val="solid"/>
            <a:headEnd type="triangle"/>
          </a:ln>
        </p:spPr>
      </p:sp>
      <p:sp>
        <p:nvSpPr>
          <p:cNvPr id="90" name="Text 88"/>
          <p:cNvSpPr txBox="1"/>
          <p:nvPr/>
        </p:nvSpPr>
        <p:spPr>
          <a:xfrm>
            <a:off x="3911502" y="5867253"/>
            <a:ext cx="3555911"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 goes back in</a:t>
            </a:r>
            <a:endParaRPr lang="en-US" sz="100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0541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math-claim-ir  ·  the theorem this chain ends at</a:t>
            </a:r>
            <a:endParaRPr lang="en-US" sz="1160" dirty="0"/>
          </a:p>
        </p:txBody>
      </p:sp>
      <p:sp>
        <p:nvSpPr>
          <p:cNvPr id="3" name="Text 1"/>
          <p:cNvSpPr txBox="1"/>
          <p:nvPr/>
        </p:nvSpPr>
        <p:spPr>
          <a:xfrm>
            <a:off x="1322539" y="924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claim.id</a:t>
            </a:r>
            <a:endParaRPr lang="en-US" sz="1160" dirty="0"/>
          </a:p>
        </p:txBody>
      </p:sp>
      <p:sp>
        <p:nvSpPr>
          <p:cNvPr id="4" name="Text 2"/>
          <p:cNvSpPr txBox="1"/>
          <p:nvPr/>
        </p:nvSpPr>
        <p:spPr>
          <a:xfrm>
            <a:off x="3914511" y="924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closed-form-equality</a:t>
            </a:r>
            <a:endParaRPr lang="en-US" sz="1160" dirty="0"/>
          </a:p>
        </p:txBody>
      </p:sp>
      <p:sp>
        <p:nvSpPr>
          <p:cNvPr id="5" name="Text 3"/>
          <p:cNvSpPr txBox="1"/>
          <p:nvPr/>
        </p:nvSpPr>
        <p:spPr>
          <a:xfrm>
            <a:off x="1322539" y="113117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statement_kind</a:t>
            </a:r>
            <a:endParaRPr lang="en-US" sz="1160" dirty="0"/>
          </a:p>
        </p:txBody>
      </p:sp>
      <p:sp>
        <p:nvSpPr>
          <p:cNvPr id="6" name="Text 4"/>
          <p:cNvSpPr txBox="1"/>
          <p:nvPr/>
        </p:nvSpPr>
        <p:spPr>
          <a:xfrm>
            <a:off x="3914511" y="113117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theorem</a:t>
            </a:r>
            <a:endParaRPr lang="en-US" sz="1160" dirty="0"/>
          </a:p>
        </p:txBody>
      </p:sp>
      <p:sp>
        <p:nvSpPr>
          <p:cNvPr id="7" name="Text 5"/>
          <p:cNvSpPr txBox="1"/>
          <p:nvPr/>
        </p:nvSpPr>
        <p:spPr>
          <a:xfrm>
            <a:off x="1322539" y="133735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source.occurrence_work</a:t>
            </a:r>
            <a:endParaRPr lang="en-US" sz="1160" dirty="0"/>
          </a:p>
        </p:txBody>
      </p:sp>
      <p:sp>
        <p:nvSpPr>
          <p:cNvPr id="8" name="Text 6"/>
          <p:cNvSpPr txBox="1"/>
          <p:nvPr/>
        </p:nvSpPr>
        <p:spPr>
          <a:xfrm>
            <a:off x="3914511" y="133735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arxiv:2607.26154v1</a:t>
            </a:r>
            <a:endParaRPr lang="en-US" sz="1160" dirty="0"/>
          </a:p>
        </p:txBody>
      </p:sp>
      <p:sp>
        <p:nvSpPr>
          <p:cNvPr id="9" name="Text 7"/>
          <p:cNvSpPr txBox="1"/>
          <p:nvPr/>
        </p:nvSpPr>
        <p:spPr>
          <a:xfrm>
            <a:off x="1322539" y="1656932"/>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 the paper states it</a:t>
            </a:r>
            <a:endParaRPr lang="en-US" sz="1160" dirty="0"/>
          </a:p>
        </p:txBody>
      </p:sp>
      <p:sp>
        <p:nvSpPr>
          <p:cNvPr id="10" name="Text 8"/>
          <p:cNvSpPr txBox="1"/>
          <p:nvPr/>
        </p:nvSpPr>
        <p:spPr>
          <a:xfrm>
            <a:off x="1422212" y="1863112"/>
            <a:ext cx="9543171"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sum_{P in Q} |tr(P rho)| )</a:t>
            </a:r>
            <a:endParaRPr lang="en-US" sz="1160" dirty="0"/>
          </a:p>
        </p:txBody>
      </p:sp>
      <p:sp>
        <p:nvSpPr>
          <p:cNvPr id="11" name="Shape 9"/>
          <p:cNvSpPr/>
          <p:nvPr/>
        </p:nvSpPr>
        <p:spPr>
          <a:xfrm>
            <a:off x="1322539" y="2246017"/>
            <a:ext cx="9543171" cy="0"/>
          </a:xfrm>
          <a:prstGeom prst="line">
            <a:avLst/>
          </a:prstGeom>
          <a:noFill/>
          <a:ln w="7069">
            <a:solidFill>
              <a:srgbClr val="1A1A16"/>
            </a:solidFill>
            <a:prstDash val="solid"/>
          </a:ln>
        </p:spPr>
      </p:sp>
      <p:sp>
        <p:nvSpPr>
          <p:cNvPr id="12" name="Text 10"/>
          <p:cNvSpPr txBox="1"/>
          <p:nvPr/>
        </p:nvSpPr>
        <p:spPr>
          <a:xfrm>
            <a:off x="1322539" y="228872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structured_statement  —  what that one sentence actually contains</a:t>
            </a:r>
            <a:endParaRPr lang="en-US" sz="1160" dirty="0"/>
          </a:p>
        </p:txBody>
      </p:sp>
      <p:sp>
        <p:nvSpPr>
          <p:cNvPr id="13" name="Text 11"/>
          <p:cNvSpPr txBox="1"/>
          <p:nvPr/>
        </p:nvSpPr>
        <p:spPr>
          <a:xfrm>
            <a:off x="1322539" y="260830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assumptions.explicit</a:t>
            </a:r>
            <a:endParaRPr lang="en-US" sz="1160" dirty="0"/>
          </a:p>
        </p:txBody>
      </p:sp>
      <p:sp>
        <p:nvSpPr>
          <p:cNvPr id="14" name="Text 12"/>
          <p:cNvSpPr txBox="1"/>
          <p:nvPr/>
        </p:nvSpPr>
        <p:spPr>
          <a:xfrm>
            <a:off x="3914511" y="260830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has no active dependencies</a:t>
            </a:r>
            <a:endParaRPr lang="en-US" sz="1160" dirty="0"/>
          </a:p>
        </p:txBody>
      </p:sp>
      <p:sp>
        <p:nvSpPr>
          <p:cNvPr id="15" name="Text 13"/>
          <p:cNvSpPr txBox="1"/>
          <p:nvPr/>
        </p:nvSpPr>
        <p:spPr>
          <a:xfrm>
            <a:off x="3914511" y="281448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G_M is perfect</a:t>
            </a:r>
            <a:endParaRPr lang="en-US" sz="1160" dirty="0"/>
          </a:p>
        </p:txBody>
      </p:sp>
      <p:sp>
        <p:nvSpPr>
          <p:cNvPr id="16" name="Text 14"/>
          <p:cNvSpPr txBox="1"/>
          <p:nvPr/>
        </p:nvSpPr>
        <p:spPr>
          <a:xfrm>
            <a:off x="1322539" y="302066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assumptions.source_implicit</a:t>
            </a:r>
            <a:endParaRPr lang="en-US" sz="1160" dirty="0"/>
          </a:p>
        </p:txBody>
      </p:sp>
      <p:sp>
        <p:nvSpPr>
          <p:cNvPr id="17" name="Text 15"/>
          <p:cNvSpPr txBox="1"/>
          <p:nvPr/>
        </p:nvSpPr>
        <p:spPr>
          <a:xfrm>
            <a:off x="3914511" y="302066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&gt;= 1     found in the PROOF, not the statement</a:t>
            </a:r>
            <a:endParaRPr lang="en-US" sz="1160" dirty="0"/>
          </a:p>
        </p:txBody>
      </p:sp>
      <p:sp>
        <p:nvSpPr>
          <p:cNvPr id="18" name="Text 16"/>
          <p:cNvSpPr txBox="1"/>
          <p:nvPr/>
        </p:nvSpPr>
        <p:spPr>
          <a:xfrm>
            <a:off x="1322539" y="322684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quantifiers</a:t>
            </a:r>
            <a:endParaRPr lang="en-US" sz="1160" dirty="0"/>
          </a:p>
        </p:txBody>
      </p:sp>
      <p:sp>
        <p:nvSpPr>
          <p:cNvPr id="19" name="Text 17"/>
          <p:cNvSpPr txBox="1"/>
          <p:nvPr/>
        </p:nvSpPr>
        <p:spPr>
          <a:xfrm>
            <a:off x="3914511" y="322684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4  —  3 SOURCE_IMPLICIT (n, m, M),  1 SOURCE_EXPLICIT (rho)</a:t>
            </a:r>
            <a:endParaRPr lang="en-US" sz="1160" dirty="0"/>
          </a:p>
        </p:txBody>
      </p:sp>
      <p:sp>
        <p:nvSpPr>
          <p:cNvPr id="20" name="Text 18"/>
          <p:cNvSpPr txBox="1"/>
          <p:nvPr/>
        </p:nvSpPr>
        <p:spPr>
          <a:xfrm>
            <a:off x="1322539" y="343302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local_binders</a:t>
            </a:r>
            <a:endParaRPr lang="en-US" sz="1160" dirty="0"/>
          </a:p>
        </p:txBody>
      </p:sp>
      <p:sp>
        <p:nvSpPr>
          <p:cNvPr id="21" name="Text 19"/>
          <p:cNvSpPr txBox="1"/>
          <p:nvPr/>
        </p:nvSpPr>
        <p:spPr>
          <a:xfrm>
            <a:off x="3914511" y="343302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Q over Cliques(G_M)</a:t>
            </a:r>
            <a:endParaRPr lang="en-US" sz="1160" dirty="0"/>
          </a:p>
        </p:txBody>
      </p:sp>
      <p:sp>
        <p:nvSpPr>
          <p:cNvPr id="22" name="Text 20"/>
          <p:cNvSpPr txBox="1"/>
          <p:nvPr/>
        </p:nvSpPr>
        <p:spPr>
          <a:xfrm>
            <a:off x="1322539" y="363920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conventions</a:t>
            </a:r>
            <a:endParaRPr lang="en-US" sz="1160" dirty="0"/>
          </a:p>
        </p:txBody>
      </p:sp>
      <p:sp>
        <p:nvSpPr>
          <p:cNvPr id="23" name="Text 21"/>
          <p:cNvSpPr txBox="1"/>
          <p:nvPr/>
        </p:nvSpPr>
        <p:spPr>
          <a:xfrm>
            <a:off x="3914511" y="363920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 empty clique is allowed and contributes 0.</a:t>
            </a:r>
            <a:endParaRPr lang="en-US" sz="1160" dirty="0"/>
          </a:p>
        </p:txBody>
      </p:sp>
      <p:sp>
        <p:nvSpPr>
          <p:cNvPr id="24" name="Text 22"/>
          <p:cNvSpPr txBox="1"/>
          <p:nvPr/>
        </p:nvSpPr>
        <p:spPr>
          <a:xfrm>
            <a:off x="1322539" y="384538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conclusion</a:t>
            </a:r>
            <a:endParaRPr lang="en-US" sz="1160" dirty="0"/>
          </a:p>
        </p:txBody>
      </p:sp>
      <p:sp>
        <p:nvSpPr>
          <p:cNvPr id="25" name="Text 23"/>
          <p:cNvSpPr txBox="1"/>
          <p:nvPr/>
        </p:nvSpPr>
        <p:spPr>
          <a:xfrm>
            <a:off x="3914511" y="384538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in Cliques(G_M)} sum_{P in Q} |tr(P rho)| }</a:t>
            </a:r>
            <a:endParaRPr lang="en-US" sz="1160" dirty="0"/>
          </a:p>
        </p:txBody>
      </p:sp>
      <p:sp>
        <p:nvSpPr>
          <p:cNvPr id="26" name="Shape 24"/>
          <p:cNvSpPr/>
          <p:nvPr/>
        </p:nvSpPr>
        <p:spPr>
          <a:xfrm>
            <a:off x="1322539" y="4228287"/>
            <a:ext cx="9543171" cy="0"/>
          </a:xfrm>
          <a:prstGeom prst="line">
            <a:avLst/>
          </a:prstGeom>
          <a:noFill/>
          <a:ln w="7069">
            <a:solidFill>
              <a:srgbClr val="1A1A16"/>
            </a:solidFill>
            <a:prstDash val="solid"/>
          </a:ln>
        </p:spPr>
      </p:sp>
      <p:sp>
        <p:nvSpPr>
          <p:cNvPr id="27" name="Text 25"/>
          <p:cNvSpPr txBox="1"/>
          <p:nvPr/>
        </p:nvSpPr>
        <p:spPr>
          <a:xfrm>
            <a:off x="1322539" y="4270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normalization.relation_to_source</a:t>
            </a:r>
            <a:endParaRPr lang="en-US" sz="1160" dirty="0"/>
          </a:p>
        </p:txBody>
      </p:sp>
      <p:sp>
        <p:nvSpPr>
          <p:cNvPr id="28" name="Text 26"/>
          <p:cNvSpPr txBox="1"/>
          <p:nvPr/>
        </p:nvSpPr>
        <p:spPr>
          <a:xfrm>
            <a:off x="3914511" y="4270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LOGICAL_FORM_EXPANDED</a:t>
            </a:r>
            <a:endParaRPr lang="en-US" sz="1160" dirty="0"/>
          </a:p>
        </p:txBody>
      </p:sp>
      <p:sp>
        <p:nvSpPr>
          <p:cNvPr id="29" name="Text 27"/>
          <p:cNvSpPr txBox="1"/>
          <p:nvPr/>
        </p:nvSpPr>
        <p:spPr>
          <a:xfrm>
            <a:off x="1322539" y="447717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normalization.unresolved_symbols</a:t>
            </a:r>
            <a:endParaRPr lang="en-US" sz="1160" dirty="0"/>
          </a:p>
        </p:txBody>
      </p:sp>
      <p:sp>
        <p:nvSpPr>
          <p:cNvPr id="30" name="Text 28"/>
          <p:cNvSpPr txBox="1"/>
          <p:nvPr/>
        </p:nvSpPr>
        <p:spPr>
          <a:xfrm>
            <a:off x="3914511" y="447717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 ]     nothing left unresolved</a:t>
            </a:r>
            <a:endParaRPr lang="en-US" sz="1160" dirty="0"/>
          </a:p>
        </p:txBody>
      </p:sp>
      <p:sp>
        <p:nvSpPr>
          <p:cNvPr id="31" name="Text 29"/>
          <p:cNvSpPr txBox="1"/>
          <p:nvPr/>
        </p:nvSpPr>
        <p:spPr>
          <a:xfrm>
            <a:off x="1322539" y="479675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claim.content_hash</a:t>
            </a:r>
            <a:endParaRPr lang="en-US" sz="1160" dirty="0"/>
          </a:p>
        </p:txBody>
      </p:sp>
      <p:sp>
        <p:nvSpPr>
          <p:cNvPr id="32" name="Text 30"/>
          <p:cNvSpPr txBox="1"/>
          <p:nvPr/>
        </p:nvSpPr>
        <p:spPr>
          <a:xfrm>
            <a:off x="3914511" y="479675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sha256:9168a6687534c0387f16decb4e334d18b…</a:t>
            </a:r>
            <a:endParaRPr lang="en-US" sz="1160" dirty="0"/>
          </a:p>
        </p:txBody>
      </p:sp>
      <p:sp>
        <p:nvSpPr>
          <p:cNvPr id="33" name="Text 31"/>
          <p:cNvSpPr txBox="1"/>
          <p:nvPr/>
        </p:nvSpPr>
        <p:spPr>
          <a:xfrm>
            <a:off x="1322539" y="500293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semantic_content_hash</a:t>
            </a:r>
            <a:endParaRPr lang="en-US" sz="1160" dirty="0"/>
          </a:p>
        </p:txBody>
      </p:sp>
      <p:sp>
        <p:nvSpPr>
          <p:cNvPr id="34" name="Text 32"/>
          <p:cNvSpPr txBox="1"/>
          <p:nvPr/>
        </p:nvSpPr>
        <p:spPr>
          <a:xfrm>
            <a:off x="3914511" y="500293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sha256:bfd91f0b1a13fec71d05f5e4e5f0e890c…</a:t>
            </a:r>
            <a:endParaRPr lang="en-US" sz="1160" dirty="0"/>
          </a:p>
        </p:txBody>
      </p:sp>
      <p:sp>
        <p:nvSpPr>
          <p:cNvPr id="35" name="Text 33"/>
          <p:cNvSpPr txBox="1"/>
          <p:nvPr/>
        </p:nvSpPr>
        <p:spPr>
          <a:xfrm>
            <a:off x="1322539" y="520911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artifact.artifact_hash</a:t>
            </a:r>
            <a:endParaRPr lang="en-US" sz="1160" dirty="0"/>
          </a:p>
        </p:txBody>
      </p:sp>
      <p:sp>
        <p:nvSpPr>
          <p:cNvPr id="36" name="Text 34"/>
          <p:cNvSpPr txBox="1"/>
          <p:nvPr/>
        </p:nvSpPr>
        <p:spPr>
          <a:xfrm>
            <a:off x="3914511" y="520911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sha256:46b60671563656ba0e1e919f833599a84…</a:t>
            </a:r>
            <a:endParaRPr lang="en-US" sz="1160" dirty="0"/>
          </a:p>
        </p:txBody>
      </p:sp>
      <p:sp>
        <p:nvSpPr>
          <p:cNvPr id="37" name="Shape 35"/>
          <p:cNvSpPr/>
          <p:nvPr/>
        </p:nvSpPr>
        <p:spPr>
          <a:xfrm>
            <a:off x="1322539" y="5592018"/>
            <a:ext cx="9543171" cy="0"/>
          </a:xfrm>
          <a:prstGeom prst="line">
            <a:avLst/>
          </a:prstGeom>
          <a:noFill/>
          <a:ln w="7069">
            <a:solidFill>
              <a:srgbClr val="1A1A16"/>
            </a:solidFill>
            <a:prstDash val="solid"/>
          </a:ln>
        </p:spPr>
      </p:sp>
      <p:sp>
        <p:nvSpPr>
          <p:cNvPr id="38" name="Text 36"/>
          <p:cNvSpPr txBox="1"/>
          <p:nvPr/>
        </p:nvSpPr>
        <p:spPr>
          <a:xfrm>
            <a:off x="1322539" y="5634726"/>
            <a:ext cx="9543171" cy="250361"/>
          </a:xfrm>
          <a:prstGeom prst="rect">
            <a:avLst/>
          </a:prstGeom>
          <a:noFill/>
          <a:ln/>
        </p:spPr>
        <p:txBody>
          <a:bodyPr wrap="square" lIns="0" tIns="0" rIns="0" bIns="0" rtlCol="0" anchor="t"/>
          <a:lstStyle/>
          <a:p>
            <a:pPr algn="l" indent="0" marL="0">
              <a:buNone/>
            </a:pPr>
            <a:r>
              <a:rPr lang="en-US" sz="1160" b="1" dirty="0">
                <a:solidFill>
                  <a:srgbClr val="1A1A16"/>
                </a:solidFill>
                <a:latin typeface="Calibri" pitchFamily="34" charset="0"/>
                <a:ea typeface="Calibri" pitchFamily="34" charset="-122"/>
                <a:cs typeface="Calibri" pitchFamily="34" charset="-120"/>
              </a:rPr>
              <a:t>one sentence in the paper. four quantifiers, three assumptions and a convention in the record.</a:t>
            </a:r>
            <a:endParaRPr lang="en-US" sz="1160" dirty="0"/>
          </a:p>
        </p:txBody>
      </p:sp>
      <p:sp>
        <p:nvSpPr>
          <p:cNvPr id="39" name="Text 3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1613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lamport.json  ·  the structured proof the model returned</a:t>
            </a:r>
            <a:endParaRPr lang="en-US" sz="1067" dirty="0"/>
          </a:p>
        </p:txBody>
      </p:sp>
      <p:sp>
        <p:nvSpPr>
          <p:cNvPr id="3" name="Text 1"/>
          <p:cNvSpPr txBox="1"/>
          <p:nvPr/>
        </p:nvSpPr>
        <p:spPr>
          <a:xfrm>
            <a:off x="1383672" y="89919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1. Fix a finite index type ι and coefficients x : ι → ℝ satisfying ∑ i, x i</a:t>
            </a:r>
            <a:endParaRPr lang="en-US" sz="1067" dirty="0"/>
          </a:p>
        </p:txBody>
      </p:sp>
      <p:sp>
        <p:nvSpPr>
          <p:cNvPr id="4" name="Text 2"/>
          <p:cNvSpPr txBox="1"/>
          <p:nvPr/>
        </p:nvSpPr>
        <p:spPr>
          <a:xfrm>
            <a:off x="1475371" y="108180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1.</a:t>
            </a:r>
            <a:endParaRPr lang="en-US" sz="1067" dirty="0"/>
          </a:p>
        </p:txBody>
      </p:sp>
      <p:sp>
        <p:nvSpPr>
          <p:cNvPr id="5" name="Text 3"/>
          <p:cNvSpPr txBox="1"/>
          <p:nvPr/>
        </p:nvSpPr>
        <p:spPr>
          <a:xfrm>
            <a:off x="1383672" y="1264425"/>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2. Apply AgtXIv.RoM.normalized_l1 to x and the normalization hypothesis;</a:t>
            </a:r>
            <a:endParaRPr lang="en-US" sz="1067" dirty="0"/>
          </a:p>
        </p:txBody>
      </p:sp>
      <p:sp>
        <p:nvSpPr>
          <p:cNvPr id="6" name="Text 4"/>
          <p:cNvSpPr txBox="1"/>
          <p:nvPr/>
        </p:nvSpPr>
        <p:spPr>
          <a:xfrm>
            <a:off x="1475371" y="144704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project its first conjunct to obtain 1 ≤ AgtXIv.RoM.l1Cost x.</a:t>
            </a:r>
            <a:endParaRPr lang="en-US" sz="1067" dirty="0"/>
          </a:p>
        </p:txBody>
      </p:sp>
      <p:sp>
        <p:nvSpPr>
          <p:cNvPr id="7" name="Text 5"/>
          <p:cNvSpPr txBox="1"/>
          <p:nvPr/>
        </p:nvSpPr>
        <p:spPr>
          <a:xfrm>
            <a:off x="1383672" y="1629658"/>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3. Unfold l1Cost to express the bound as 1 ≤ ∑ i, |x i|.</a:t>
            </a:r>
            <a:endParaRPr lang="en-US" sz="1067" dirty="0"/>
          </a:p>
        </p:txBody>
      </p:sp>
      <p:sp>
        <p:nvSpPr>
          <p:cNvPr id="8" name="Shape 6"/>
          <p:cNvSpPr/>
          <p:nvPr/>
        </p:nvSpPr>
        <p:spPr>
          <a:xfrm>
            <a:off x="1322539" y="1965318"/>
            <a:ext cx="9543171" cy="0"/>
          </a:xfrm>
          <a:prstGeom prst="line">
            <a:avLst/>
          </a:prstGeom>
          <a:noFill/>
          <a:ln w="7069">
            <a:solidFill>
              <a:srgbClr val="1A1A16"/>
            </a:solidFill>
            <a:prstDash val="solid"/>
          </a:ln>
        </p:spPr>
      </p:sp>
      <p:sp>
        <p:nvSpPr>
          <p:cNvPr id="9" name="Text 7"/>
          <p:cNvSpPr txBox="1"/>
          <p:nvPr/>
        </p:nvSpPr>
        <p:spPr>
          <a:xfrm>
            <a:off x="1322539" y="201874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alignment_notes</a:t>
            </a:r>
            <a:endParaRPr lang="en-US" sz="1067" dirty="0"/>
          </a:p>
        </p:txBody>
      </p:sp>
      <p:sp>
        <p:nvSpPr>
          <p:cNvPr id="10" name="Text 8"/>
          <p:cNvSpPr txBox="1"/>
          <p:nvPr/>
        </p:nvSpPr>
        <p:spPr>
          <a:xfrm>
            <a:off x="1383672" y="2201364"/>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Fintype represents the finite index type; x has real coefficients and the</a:t>
            </a:r>
            <a:endParaRPr lang="en-US" sz="1067" dirty="0"/>
          </a:p>
        </p:txBody>
      </p:sp>
      <p:sp>
        <p:nvSpPr>
          <p:cNvPr id="11" name="Text 9"/>
          <p:cNvSpPr txBox="1"/>
          <p:nvPr/>
        </p:nvSpPr>
        <p:spPr>
          <a:xfrm>
            <a:off x="1444805" y="2383981"/>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hypothesis preserves their sum being one. No nonnegativity or nonempty-</a:t>
            </a:r>
            <a:endParaRPr lang="en-US" sz="1067" dirty="0"/>
          </a:p>
        </p:txBody>
      </p:sp>
      <p:sp>
        <p:nvSpPr>
          <p:cNvPr id="12" name="Text 10"/>
          <p:cNvSpPr txBox="1"/>
          <p:nvPr/>
        </p:nvSpPr>
        <p:spPr>
          <a:xfrm>
            <a:off x="1444805" y="2566597"/>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index assumption is added.</a:t>
            </a:r>
            <a:endParaRPr lang="en-US" sz="1067" dirty="0"/>
          </a:p>
        </p:txBody>
      </p:sp>
      <p:sp>
        <p:nvSpPr>
          <p:cNvPr id="13" name="Text 11"/>
          <p:cNvSpPr txBox="1"/>
          <p:nvPr/>
        </p:nvSpPr>
        <p:spPr>
          <a:xfrm>
            <a:off x="1383672" y="274921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The explicit sum of absolute values represents the source's coefficient</a:t>
            </a:r>
            <a:endParaRPr lang="en-US" sz="1067" dirty="0"/>
          </a:p>
        </p:txBody>
      </p:sp>
      <p:sp>
        <p:nvSpPr>
          <p:cNvPr id="14" name="Text 12"/>
          <p:cNvSpPr txBox="1"/>
          <p:nvPr/>
        </p:nvSpPr>
        <p:spPr>
          <a:xfrm>
            <a:off x="1444805" y="293182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cost. Only the lower-bound conjunct of normalized_l1 is used.</a:t>
            </a:r>
            <a:endParaRPr lang="en-US" sz="1067" dirty="0"/>
          </a:p>
        </p:txBody>
      </p:sp>
      <p:sp>
        <p:nvSpPr>
          <p:cNvPr id="15" name="Text 13"/>
          <p:cNvSpPr txBox="1"/>
          <p:nvPr/>
        </p:nvSpPr>
        <p:spPr>
          <a:xfrm>
            <a:off x="1383672" y="3114446"/>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This statement concerns the coefficient bound alone; it does not assert</a:t>
            </a:r>
            <a:endParaRPr lang="en-US" sz="1067" dirty="0"/>
          </a:p>
        </p:txBody>
      </p:sp>
      <p:sp>
        <p:nvSpPr>
          <p:cNvPr id="16" name="Text 14"/>
          <p:cNvSpPr txBox="1"/>
          <p:nvPr/>
        </p:nvSpPr>
        <p:spPr>
          <a:xfrm>
            <a:off x="1444805" y="329706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primal feasibility or strong duality.</a:t>
            </a:r>
            <a:endParaRPr lang="en-US" sz="1067" dirty="0"/>
          </a:p>
        </p:txBody>
      </p:sp>
      <p:sp>
        <p:nvSpPr>
          <p:cNvPr id="17" name="Text 15"/>
          <p:cNvSpPr txBox="1"/>
          <p:nvPr/>
        </p:nvSpPr>
        <p:spPr>
          <a:xfrm>
            <a:off x="1322539" y="3580117"/>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remaining_obligations</a:t>
            </a:r>
            <a:endParaRPr lang="en-US" sz="1067" dirty="0"/>
          </a:p>
        </p:txBody>
      </p:sp>
      <p:sp>
        <p:nvSpPr>
          <p:cNvPr id="18" name="Text 16"/>
          <p:cNvSpPr txBox="1"/>
          <p:nvPr/>
        </p:nvSpPr>
        <p:spPr>
          <a:xfrm>
            <a:off x="1383672" y="3762733"/>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 Host elaboration of the proposed terms remains pending; no Lean execution</a:t>
            </a:r>
            <a:endParaRPr lang="en-US" sz="1067" dirty="0"/>
          </a:p>
        </p:txBody>
      </p:sp>
      <p:sp>
        <p:nvSpPr>
          <p:cNvPr id="19" name="Text 17"/>
          <p:cNvSpPr txBox="1"/>
          <p:nvPr/>
        </p:nvSpPr>
        <p:spPr>
          <a:xfrm>
            <a:off x="1444805" y="394534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was performed.</a:t>
            </a:r>
            <a:endParaRPr lang="en-US" sz="1067" dirty="0"/>
          </a:p>
        </p:txBody>
      </p:sp>
      <p:sp>
        <p:nvSpPr>
          <p:cNvPr id="20" name="Shape 18"/>
          <p:cNvSpPr/>
          <p:nvPr/>
        </p:nvSpPr>
        <p:spPr>
          <a:xfrm>
            <a:off x="1322539" y="4281010"/>
            <a:ext cx="9543171" cy="0"/>
          </a:xfrm>
          <a:prstGeom prst="line">
            <a:avLst/>
          </a:prstGeom>
          <a:noFill/>
          <a:ln w="7069">
            <a:solidFill>
              <a:srgbClr val="1A1A16"/>
            </a:solidFill>
            <a:prstDash val="solid"/>
          </a:ln>
        </p:spPr>
      </p:sp>
      <p:sp>
        <p:nvSpPr>
          <p:cNvPr id="21" name="Text 19"/>
          <p:cNvSpPr txBox="1"/>
          <p:nvPr/>
        </p:nvSpPr>
        <p:spPr>
          <a:xfrm>
            <a:off x="1322539" y="4334440"/>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ledger.json  ·  and what the host did next</a:t>
            </a:r>
            <a:endParaRPr lang="en-US" sz="1067" dirty="0"/>
          </a:p>
        </p:txBody>
      </p:sp>
      <p:sp>
        <p:nvSpPr>
          <p:cNvPr id="22" name="Text 20"/>
          <p:cNvSpPr txBox="1"/>
          <p:nvPr/>
        </p:nvSpPr>
        <p:spPr>
          <a:xfrm>
            <a:off x="1322539" y="4617495"/>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result.kernel_checked</a:t>
            </a:r>
            <a:endParaRPr lang="en-US" sz="1067" dirty="0"/>
          </a:p>
        </p:txBody>
      </p:sp>
      <p:sp>
        <p:nvSpPr>
          <p:cNvPr id="23" name="Text 21"/>
          <p:cNvSpPr txBox="1"/>
          <p:nvPr/>
        </p:nvSpPr>
        <p:spPr>
          <a:xfrm>
            <a:off x="3914511" y="4617495"/>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true</a:t>
            </a:r>
            <a:endParaRPr lang="en-US" sz="1067" dirty="0"/>
          </a:p>
        </p:txBody>
      </p:sp>
      <p:sp>
        <p:nvSpPr>
          <p:cNvPr id="24" name="Text 22"/>
          <p:cNvSpPr txBox="1"/>
          <p:nvPr/>
        </p:nvSpPr>
        <p:spPr>
          <a:xfrm>
            <a:off x="1322539" y="4800111"/>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audit_record.declaration</a:t>
            </a:r>
            <a:endParaRPr lang="en-US" sz="1067" dirty="0"/>
          </a:p>
        </p:txBody>
      </p:sp>
      <p:sp>
        <p:nvSpPr>
          <p:cNvPr id="25" name="Text 23"/>
          <p:cNvSpPr txBox="1"/>
          <p:nvPr/>
        </p:nvSpPr>
        <p:spPr>
          <a:xfrm>
            <a:off x="3914511" y="4800111"/>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AgtXIv.Generated.Proof_a29f133fb6f82da97507</a:t>
            </a:r>
            <a:endParaRPr lang="en-US" sz="1067" dirty="0"/>
          </a:p>
        </p:txBody>
      </p:sp>
      <p:sp>
        <p:nvSpPr>
          <p:cNvPr id="26" name="Text 24"/>
          <p:cNvSpPr txBox="1"/>
          <p:nvPr/>
        </p:nvSpPr>
        <p:spPr>
          <a:xfrm>
            <a:off x="1322539" y="4982727"/>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audit_record.axioms</a:t>
            </a:r>
            <a:endParaRPr lang="en-US" sz="1067" dirty="0"/>
          </a:p>
        </p:txBody>
      </p:sp>
      <p:sp>
        <p:nvSpPr>
          <p:cNvPr id="27" name="Text 25"/>
          <p:cNvSpPr txBox="1"/>
          <p:nvPr/>
        </p:nvSpPr>
        <p:spPr>
          <a:xfrm>
            <a:off x="3914511" y="4982727"/>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propext, Classical.choice, Quot.sound</a:t>
            </a:r>
            <a:endParaRPr lang="en-US" sz="1067" dirty="0"/>
          </a:p>
        </p:txBody>
      </p:sp>
      <p:sp>
        <p:nvSpPr>
          <p:cNvPr id="28" name="Text 26"/>
          <p:cNvSpPr txBox="1"/>
          <p:nvPr/>
        </p:nvSpPr>
        <p:spPr>
          <a:xfrm>
            <a:off x="1322539" y="5165344"/>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result.lean_source</a:t>
            </a:r>
            <a:endParaRPr lang="en-US" sz="1067" dirty="0"/>
          </a:p>
        </p:txBody>
      </p:sp>
      <p:sp>
        <p:nvSpPr>
          <p:cNvPr id="29" name="Text 27"/>
          <p:cNvSpPr txBox="1"/>
          <p:nvPr/>
        </p:nvSpPr>
        <p:spPr>
          <a:xfrm>
            <a:off x="3914511" y="5165344"/>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488 bytes</a:t>
            </a:r>
            <a:endParaRPr lang="en-US" sz="1067" dirty="0"/>
          </a:p>
        </p:txBody>
      </p:sp>
      <p:sp>
        <p:nvSpPr>
          <p:cNvPr id="30" name="Text 28"/>
          <p:cNvSpPr txBox="1"/>
          <p:nvPr/>
        </p:nvSpPr>
        <p:spPr>
          <a:xfrm>
            <a:off x="1322539" y="544839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obligation above was outstanding when the model wrote it.</a:t>
            </a:r>
            <a:endParaRPr lang="en-US" sz="1067" dirty="0"/>
          </a:p>
        </p:txBody>
      </p:sp>
      <p:sp>
        <p:nvSpPr>
          <p:cNvPr id="31" name="Text 29"/>
          <p:cNvSpPr txBox="1"/>
          <p:nvPr/>
        </p:nvSpPr>
        <p:spPr>
          <a:xfrm>
            <a:off x="1322539" y="5631015"/>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host then elaborated the terms and the kernel accepted them.</a:t>
            </a:r>
            <a:endParaRPr lang="en-US" sz="1067" dirty="0"/>
          </a:p>
        </p:txBody>
      </p:sp>
      <p:sp>
        <p:nvSpPr>
          <p:cNvPr id="32" name="Text 3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frames/open00.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frames/open01.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070676"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3" name="Shape 1"/>
          <p:cNvSpPr/>
          <p:nvPr/>
        </p:nvSpPr>
        <p:spPr>
          <a:xfrm>
            <a:off x="5453495"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4" name="Shape 2"/>
          <p:cNvSpPr/>
          <p:nvPr/>
        </p:nvSpPr>
        <p:spPr>
          <a:xfrm>
            <a:off x="9512288" y="2035419"/>
            <a:ext cx="270979" cy="2533064"/>
          </a:xfrm>
          <a:custGeom>
            <a:avLst/>
            <a:gdLst/>
            <a:ahLst/>
            <a:cxnLst/>
            <a:rect l="l" t="t" r="r" b="b"/>
            <a:pathLst>
              <a:path w="270979" h="2533064">
                <a:moveTo>
                  <a:pt x="0" y="0"/>
                </a:moveTo>
                <a:cubicBezTo>
                  <a:pt x="0" y="1354895"/>
                  <a:pt x="270979" y="1354895"/>
                  <a:pt x="270979" y="2533064"/>
                </a:cubicBezTo>
              </a:path>
            </a:pathLst>
          </a:custGeom>
          <a:ln w="7069">
            <a:solidFill>
              <a:srgbClr val="C5C5C0"/>
            </a:solidFill>
            <a:prstDash val="dash"/>
          </a:ln>
        </p:spPr>
      </p:sp>
      <p:sp>
        <p:nvSpPr>
          <p:cNvPr id="5" name="Shape 3"/>
          <p:cNvSpPr/>
          <p:nvPr/>
        </p:nvSpPr>
        <p:spPr>
          <a:xfrm>
            <a:off x="4371052"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6" name="Shape 4"/>
          <p:cNvSpPr/>
          <p:nvPr/>
        </p:nvSpPr>
        <p:spPr>
          <a:xfrm>
            <a:off x="6535938"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7" name="Shape 5"/>
          <p:cNvSpPr/>
          <p:nvPr/>
        </p:nvSpPr>
        <p:spPr>
          <a:xfrm>
            <a:off x="3153119"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8" name="Shape 6"/>
          <p:cNvSpPr/>
          <p:nvPr/>
        </p:nvSpPr>
        <p:spPr>
          <a:xfrm>
            <a:off x="7618381"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9" name="Shape 7"/>
          <p:cNvSpPr/>
          <p:nvPr/>
        </p:nvSpPr>
        <p:spPr>
          <a:xfrm>
            <a:off x="8565334"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10" name="Shape 8"/>
          <p:cNvSpPr/>
          <p:nvPr/>
        </p:nvSpPr>
        <p:spPr>
          <a:xfrm>
            <a:off x="2206166"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1" name="Shape 9"/>
          <p:cNvSpPr/>
          <p:nvPr/>
        </p:nvSpPr>
        <p:spPr>
          <a:xfrm>
            <a:off x="8700824"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2" name="Shape 10"/>
          <p:cNvSpPr/>
          <p:nvPr/>
        </p:nvSpPr>
        <p:spPr>
          <a:xfrm>
            <a:off x="9783267"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3" name="Shape 11"/>
          <p:cNvSpPr/>
          <p:nvPr/>
        </p:nvSpPr>
        <p:spPr>
          <a:xfrm>
            <a:off x="10865710"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4" name="Shape 12"/>
          <p:cNvSpPr/>
          <p:nvPr/>
        </p:nvSpPr>
        <p:spPr>
          <a:xfrm>
            <a:off x="3288609"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5" name="Shape 13"/>
          <p:cNvSpPr/>
          <p:nvPr/>
        </p:nvSpPr>
        <p:spPr>
          <a:xfrm>
            <a:off x="9783267" y="2035419"/>
            <a:ext cx="270979" cy="2533064"/>
          </a:xfrm>
          <a:custGeom>
            <a:avLst/>
            <a:gdLst/>
            <a:ahLst/>
            <a:cxnLst/>
            <a:rect l="l" t="t" r="r" b="b"/>
            <a:pathLst>
              <a:path w="270979" h="2533064">
                <a:moveTo>
                  <a:pt x="270979" y="0"/>
                </a:moveTo>
                <a:cubicBezTo>
                  <a:pt x="270979" y="1354895"/>
                  <a:pt x="0" y="1354895"/>
                  <a:pt x="0" y="2533064"/>
                </a:cubicBezTo>
              </a:path>
            </a:pathLst>
          </a:custGeom>
          <a:ln w="7069">
            <a:solidFill>
              <a:srgbClr val="C5C5C0"/>
            </a:solidFill>
            <a:prstDash val="dash"/>
          </a:ln>
        </p:spPr>
      </p:sp>
      <p:sp>
        <p:nvSpPr>
          <p:cNvPr id="16" name="Shape 14"/>
          <p:cNvSpPr/>
          <p:nvPr/>
        </p:nvSpPr>
        <p:spPr>
          <a:xfrm>
            <a:off x="8565334" y="1328518"/>
            <a:ext cx="270979" cy="706902"/>
          </a:xfrm>
          <a:custGeom>
            <a:avLst/>
            <a:gdLst/>
            <a:ahLst/>
            <a:cxnLst/>
            <a:rect l="l" t="t" r="r" b="b"/>
            <a:pathLst>
              <a:path w="270979" h="706902">
                <a:moveTo>
                  <a:pt x="0" y="706902"/>
                </a:moveTo>
                <a:cubicBezTo>
                  <a:pt x="0" y="0"/>
                  <a:pt x="270979" y="0"/>
                  <a:pt x="270979" y="706902"/>
                </a:cubicBezTo>
              </a:path>
            </a:pathLst>
          </a:custGeom>
          <a:ln w="10604">
            <a:solidFill>
              <a:srgbClr val="81817F"/>
            </a:solidFill>
            <a:prstDash val="solid"/>
          </a:ln>
        </p:spPr>
      </p:sp>
      <p:sp>
        <p:nvSpPr>
          <p:cNvPr id="17" name="Shape 15"/>
          <p:cNvSpPr/>
          <p:nvPr/>
        </p:nvSpPr>
        <p:spPr>
          <a:xfrm>
            <a:off x="9783267" y="1328518"/>
            <a:ext cx="270979" cy="706902"/>
          </a:xfrm>
          <a:custGeom>
            <a:avLst/>
            <a:gdLst/>
            <a:ahLst/>
            <a:cxnLst/>
            <a:rect l="l" t="t" r="r" b="b"/>
            <a:pathLst>
              <a:path w="270979" h="706902">
                <a:moveTo>
                  <a:pt x="270979" y="706902"/>
                </a:moveTo>
                <a:cubicBezTo>
                  <a:pt x="270979" y="0"/>
                  <a:pt x="0" y="0"/>
                  <a:pt x="0" y="706902"/>
                </a:cubicBezTo>
              </a:path>
            </a:pathLst>
          </a:custGeom>
          <a:ln w="10604">
            <a:solidFill>
              <a:srgbClr val="81817F"/>
            </a:solidFill>
            <a:prstDash val="solid"/>
          </a:ln>
        </p:spPr>
      </p:sp>
      <p:sp>
        <p:nvSpPr>
          <p:cNvPr id="18" name="Shape 16"/>
          <p:cNvSpPr/>
          <p:nvPr/>
        </p:nvSpPr>
        <p:spPr>
          <a:xfrm>
            <a:off x="6535938" y="1328518"/>
            <a:ext cx="4329772" cy="706902"/>
          </a:xfrm>
          <a:custGeom>
            <a:avLst/>
            <a:gdLst/>
            <a:ahLst/>
            <a:cxnLst/>
            <a:rect l="l" t="t" r="r" b="b"/>
            <a:pathLst>
              <a:path w="4329772" h="706902">
                <a:moveTo>
                  <a:pt x="0" y="706902"/>
                </a:moveTo>
                <a:cubicBezTo>
                  <a:pt x="0" y="0"/>
                  <a:pt x="4329772" y="0"/>
                  <a:pt x="4329772" y="706902"/>
                </a:cubicBezTo>
              </a:path>
            </a:pathLst>
          </a:custGeom>
          <a:ln w="10604">
            <a:solidFill>
              <a:srgbClr val="81817F"/>
            </a:solidFill>
            <a:prstDash val="solid"/>
          </a:ln>
        </p:spPr>
      </p:sp>
      <p:sp>
        <p:nvSpPr>
          <p:cNvPr id="19" name="Shape 17"/>
          <p:cNvSpPr/>
          <p:nvPr/>
        </p:nvSpPr>
        <p:spPr>
          <a:xfrm>
            <a:off x="5453495"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0" name="Shape 18"/>
          <p:cNvSpPr/>
          <p:nvPr/>
        </p:nvSpPr>
        <p:spPr>
          <a:xfrm>
            <a:off x="4371052" y="1328518"/>
            <a:ext cx="2164886" cy="706902"/>
          </a:xfrm>
          <a:custGeom>
            <a:avLst/>
            <a:gdLst/>
            <a:ahLst/>
            <a:cxnLst/>
            <a:rect l="l" t="t" r="r" b="b"/>
            <a:pathLst>
              <a:path w="2164886" h="706902">
                <a:moveTo>
                  <a:pt x="0" y="706902"/>
                </a:moveTo>
                <a:cubicBezTo>
                  <a:pt x="0" y="0"/>
                  <a:pt x="2164886" y="0"/>
                  <a:pt x="2164886" y="706902"/>
                </a:cubicBezTo>
              </a:path>
            </a:pathLst>
          </a:custGeom>
          <a:ln w="10604">
            <a:solidFill>
              <a:srgbClr val="81817F"/>
            </a:solidFill>
            <a:prstDash val="solid"/>
          </a:ln>
        </p:spPr>
      </p:sp>
      <p:sp>
        <p:nvSpPr>
          <p:cNvPr id="21" name="Shape 19"/>
          <p:cNvSpPr/>
          <p:nvPr/>
        </p:nvSpPr>
        <p:spPr>
          <a:xfrm>
            <a:off x="6535938" y="1328518"/>
            <a:ext cx="3518308" cy="706902"/>
          </a:xfrm>
          <a:custGeom>
            <a:avLst/>
            <a:gdLst/>
            <a:ahLst/>
            <a:cxnLst/>
            <a:rect l="l" t="t" r="r" b="b"/>
            <a:pathLst>
              <a:path w="3518308" h="706902">
                <a:moveTo>
                  <a:pt x="3518308" y="706902"/>
                </a:moveTo>
                <a:cubicBezTo>
                  <a:pt x="3518308" y="0"/>
                  <a:pt x="0" y="0"/>
                  <a:pt x="0" y="706902"/>
                </a:cubicBezTo>
              </a:path>
            </a:pathLst>
          </a:custGeom>
          <a:ln w="10604">
            <a:solidFill>
              <a:srgbClr val="81817F"/>
            </a:solidFill>
            <a:prstDash val="solid"/>
          </a:ln>
        </p:spPr>
      </p:sp>
      <p:sp>
        <p:nvSpPr>
          <p:cNvPr id="22" name="Shape 20"/>
          <p:cNvSpPr/>
          <p:nvPr/>
        </p:nvSpPr>
        <p:spPr>
          <a:xfrm>
            <a:off x="6535938"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3" name="Shape 21"/>
          <p:cNvSpPr/>
          <p:nvPr/>
        </p:nvSpPr>
        <p:spPr>
          <a:xfrm>
            <a:off x="9512288" y="1328518"/>
            <a:ext cx="541958" cy="706902"/>
          </a:xfrm>
          <a:custGeom>
            <a:avLst/>
            <a:gdLst/>
            <a:ahLst/>
            <a:cxnLst/>
            <a:rect l="l" t="t" r="r" b="b"/>
            <a:pathLst>
              <a:path w="541958" h="706902">
                <a:moveTo>
                  <a:pt x="541958" y="706902"/>
                </a:moveTo>
                <a:cubicBezTo>
                  <a:pt x="541958" y="0"/>
                  <a:pt x="0" y="0"/>
                  <a:pt x="0" y="706902"/>
                </a:cubicBezTo>
              </a:path>
            </a:pathLst>
          </a:custGeom>
          <a:ln w="10604">
            <a:solidFill>
              <a:srgbClr val="81817F"/>
            </a:solidFill>
            <a:prstDash val="solid"/>
          </a:ln>
        </p:spPr>
      </p:sp>
      <p:sp>
        <p:nvSpPr>
          <p:cNvPr id="24" name="Shape 22"/>
          <p:cNvSpPr/>
          <p:nvPr/>
        </p:nvSpPr>
        <p:spPr>
          <a:xfrm>
            <a:off x="2005877" y="1970620"/>
            <a:ext cx="129599" cy="129599"/>
          </a:xfrm>
          <a:prstGeom prst="ellipse">
            <a:avLst/>
          </a:prstGeom>
          <a:solidFill>
            <a:srgbClr val="FFFFFF"/>
          </a:solidFill>
          <a:ln w="11782">
            <a:solidFill>
              <a:srgbClr val="1A1A16"/>
            </a:solidFill>
            <a:prstDash val="solid"/>
          </a:ln>
        </p:spPr>
      </p:sp>
      <p:sp>
        <p:nvSpPr>
          <p:cNvPr id="25" name="Shape 23"/>
          <p:cNvSpPr/>
          <p:nvPr/>
        </p:nvSpPr>
        <p:spPr>
          <a:xfrm>
            <a:off x="5388695" y="1970620"/>
            <a:ext cx="129599" cy="129599"/>
          </a:xfrm>
          <a:prstGeom prst="ellipse">
            <a:avLst/>
          </a:prstGeom>
          <a:solidFill>
            <a:srgbClr val="FFFFFF"/>
          </a:solidFill>
          <a:ln w="11782">
            <a:solidFill>
              <a:srgbClr val="1A1A16"/>
            </a:solidFill>
            <a:prstDash val="solid"/>
          </a:ln>
        </p:spPr>
      </p:sp>
      <p:sp>
        <p:nvSpPr>
          <p:cNvPr id="26" name="Shape 24"/>
          <p:cNvSpPr/>
          <p:nvPr/>
        </p:nvSpPr>
        <p:spPr>
          <a:xfrm>
            <a:off x="9447488" y="1970620"/>
            <a:ext cx="129599" cy="129599"/>
          </a:xfrm>
          <a:prstGeom prst="ellipse">
            <a:avLst/>
          </a:prstGeom>
          <a:solidFill>
            <a:srgbClr val="FFFFFF"/>
          </a:solidFill>
          <a:ln w="11782">
            <a:solidFill>
              <a:srgbClr val="1A1A16"/>
            </a:solidFill>
            <a:prstDash val="solid"/>
          </a:ln>
        </p:spPr>
      </p:sp>
      <p:sp>
        <p:nvSpPr>
          <p:cNvPr id="27" name="Shape 25"/>
          <p:cNvSpPr/>
          <p:nvPr/>
        </p:nvSpPr>
        <p:spPr>
          <a:xfrm>
            <a:off x="4306253" y="1970620"/>
            <a:ext cx="129599" cy="129599"/>
          </a:xfrm>
          <a:prstGeom prst="ellipse">
            <a:avLst/>
          </a:prstGeom>
          <a:solidFill>
            <a:srgbClr val="FFFFFF"/>
          </a:solidFill>
          <a:ln w="11782">
            <a:solidFill>
              <a:srgbClr val="1A1A16"/>
            </a:solidFill>
            <a:prstDash val="solid"/>
          </a:ln>
        </p:spPr>
      </p:sp>
      <p:sp>
        <p:nvSpPr>
          <p:cNvPr id="28" name="Shape 26"/>
          <p:cNvSpPr/>
          <p:nvPr/>
        </p:nvSpPr>
        <p:spPr>
          <a:xfrm>
            <a:off x="6471138" y="1970620"/>
            <a:ext cx="129599" cy="129599"/>
          </a:xfrm>
          <a:prstGeom prst="ellipse">
            <a:avLst/>
          </a:prstGeom>
          <a:solidFill>
            <a:srgbClr val="FFFFFF"/>
          </a:solidFill>
          <a:ln w="11782">
            <a:solidFill>
              <a:srgbClr val="1A1A16"/>
            </a:solidFill>
            <a:prstDash val="solid"/>
          </a:ln>
        </p:spPr>
      </p:sp>
      <p:sp>
        <p:nvSpPr>
          <p:cNvPr id="29" name="Shape 27"/>
          <p:cNvSpPr/>
          <p:nvPr/>
        </p:nvSpPr>
        <p:spPr>
          <a:xfrm>
            <a:off x="3088320" y="1970620"/>
            <a:ext cx="129599" cy="129599"/>
          </a:xfrm>
          <a:prstGeom prst="ellipse">
            <a:avLst/>
          </a:prstGeom>
          <a:solidFill>
            <a:srgbClr val="FFFFFF"/>
          </a:solidFill>
          <a:ln w="11782">
            <a:solidFill>
              <a:srgbClr val="1A1A16"/>
            </a:solidFill>
            <a:prstDash val="solid"/>
          </a:ln>
        </p:spPr>
      </p:sp>
      <p:sp>
        <p:nvSpPr>
          <p:cNvPr id="30" name="Shape 28"/>
          <p:cNvSpPr/>
          <p:nvPr/>
        </p:nvSpPr>
        <p:spPr>
          <a:xfrm>
            <a:off x="7553581" y="1970620"/>
            <a:ext cx="129599" cy="129599"/>
          </a:xfrm>
          <a:prstGeom prst="ellipse">
            <a:avLst/>
          </a:prstGeom>
          <a:solidFill>
            <a:srgbClr val="FFFFFF"/>
          </a:solidFill>
          <a:ln w="11782">
            <a:solidFill>
              <a:srgbClr val="1A1A16"/>
            </a:solidFill>
            <a:prstDash val="solid"/>
          </a:ln>
        </p:spPr>
      </p:sp>
      <p:sp>
        <p:nvSpPr>
          <p:cNvPr id="31" name="Shape 29"/>
          <p:cNvSpPr/>
          <p:nvPr/>
        </p:nvSpPr>
        <p:spPr>
          <a:xfrm>
            <a:off x="8500535" y="1970620"/>
            <a:ext cx="129599" cy="129599"/>
          </a:xfrm>
          <a:prstGeom prst="ellipse">
            <a:avLst/>
          </a:prstGeom>
          <a:solidFill>
            <a:srgbClr val="FFFFFF"/>
          </a:solidFill>
          <a:ln w="11782">
            <a:solidFill>
              <a:srgbClr val="1A1A16"/>
            </a:solidFill>
            <a:prstDash val="solid"/>
          </a:ln>
        </p:spPr>
      </p:sp>
      <p:sp>
        <p:nvSpPr>
          <p:cNvPr id="32" name="Shape 30"/>
          <p:cNvSpPr/>
          <p:nvPr/>
        </p:nvSpPr>
        <p:spPr>
          <a:xfrm>
            <a:off x="2276856" y="1970620"/>
            <a:ext cx="129599" cy="129599"/>
          </a:xfrm>
          <a:prstGeom prst="ellipse">
            <a:avLst/>
          </a:prstGeom>
          <a:solidFill>
            <a:srgbClr val="FFFFFF"/>
          </a:solidFill>
          <a:ln w="11782">
            <a:solidFill>
              <a:srgbClr val="1A1A16"/>
            </a:solidFill>
            <a:prstDash val="solid"/>
          </a:ln>
        </p:spPr>
      </p:sp>
      <p:sp>
        <p:nvSpPr>
          <p:cNvPr id="33" name="Shape 31"/>
          <p:cNvSpPr/>
          <p:nvPr/>
        </p:nvSpPr>
        <p:spPr>
          <a:xfrm>
            <a:off x="8771514" y="1970620"/>
            <a:ext cx="129599" cy="129599"/>
          </a:xfrm>
          <a:prstGeom prst="ellipse">
            <a:avLst/>
          </a:prstGeom>
          <a:solidFill>
            <a:srgbClr val="FFFFFF"/>
          </a:solidFill>
          <a:ln w="11782">
            <a:solidFill>
              <a:srgbClr val="1A1A16"/>
            </a:solidFill>
            <a:prstDash val="solid"/>
          </a:ln>
        </p:spPr>
      </p:sp>
      <p:sp>
        <p:nvSpPr>
          <p:cNvPr id="34" name="Shape 32"/>
          <p:cNvSpPr/>
          <p:nvPr/>
        </p:nvSpPr>
        <p:spPr>
          <a:xfrm>
            <a:off x="9718467" y="1970620"/>
            <a:ext cx="129599" cy="129599"/>
          </a:xfrm>
          <a:prstGeom prst="ellipse">
            <a:avLst/>
          </a:prstGeom>
          <a:solidFill>
            <a:srgbClr val="FFFFFF"/>
          </a:solidFill>
          <a:ln w="11782">
            <a:solidFill>
              <a:srgbClr val="1A1A16"/>
            </a:solidFill>
            <a:prstDash val="solid"/>
          </a:ln>
        </p:spPr>
      </p:sp>
      <p:sp>
        <p:nvSpPr>
          <p:cNvPr id="35" name="Shape 33"/>
          <p:cNvSpPr/>
          <p:nvPr/>
        </p:nvSpPr>
        <p:spPr>
          <a:xfrm>
            <a:off x="10800910" y="1970620"/>
            <a:ext cx="129599" cy="129599"/>
          </a:xfrm>
          <a:prstGeom prst="ellipse">
            <a:avLst/>
          </a:prstGeom>
          <a:solidFill>
            <a:srgbClr val="FFFFFF"/>
          </a:solidFill>
          <a:ln w="11782">
            <a:solidFill>
              <a:srgbClr val="1A1A16"/>
            </a:solidFill>
            <a:prstDash val="solid"/>
          </a:ln>
        </p:spPr>
      </p:sp>
      <p:sp>
        <p:nvSpPr>
          <p:cNvPr id="36" name="Shape 34"/>
          <p:cNvSpPr/>
          <p:nvPr/>
        </p:nvSpPr>
        <p:spPr>
          <a:xfrm>
            <a:off x="3359299" y="1970620"/>
            <a:ext cx="129599" cy="129599"/>
          </a:xfrm>
          <a:prstGeom prst="ellipse">
            <a:avLst/>
          </a:prstGeom>
          <a:solidFill>
            <a:srgbClr val="FFFFFF"/>
          </a:solidFill>
          <a:ln w="11782">
            <a:solidFill>
              <a:srgbClr val="1A1A16"/>
            </a:solidFill>
            <a:prstDash val="solid"/>
          </a:ln>
        </p:spPr>
      </p:sp>
      <p:sp>
        <p:nvSpPr>
          <p:cNvPr id="37" name="Shape 35"/>
          <p:cNvSpPr/>
          <p:nvPr/>
        </p:nvSpPr>
        <p:spPr>
          <a:xfrm>
            <a:off x="9989446" y="1970620"/>
            <a:ext cx="129599" cy="129599"/>
          </a:xfrm>
          <a:prstGeom prst="ellipse">
            <a:avLst/>
          </a:prstGeom>
          <a:solidFill>
            <a:srgbClr val="FFFFFF"/>
          </a:solidFill>
          <a:ln w="11782">
            <a:solidFill>
              <a:srgbClr val="1A1A16"/>
            </a:solidFill>
            <a:prstDash val="solid"/>
          </a:ln>
        </p:spPr>
      </p:sp>
      <p:sp>
        <p:nvSpPr>
          <p:cNvPr id="38" name="Shape 36"/>
          <p:cNvSpPr/>
          <p:nvPr/>
        </p:nvSpPr>
        <p:spPr>
          <a:xfrm>
            <a:off x="2053004" y="4592046"/>
            <a:ext cx="306324" cy="306324"/>
          </a:xfrm>
          <a:prstGeom prst="ellipse">
            <a:avLst/>
          </a:prstGeom>
          <a:solidFill>
            <a:srgbClr val="FFFFFF"/>
          </a:solidFill>
          <a:ln w="15316">
            <a:solidFill>
              <a:srgbClr val="1A1A16"/>
            </a:solidFill>
            <a:prstDash val="solid"/>
          </a:ln>
        </p:spPr>
      </p:sp>
      <p:sp>
        <p:nvSpPr>
          <p:cNvPr id="39" name="Text 37"/>
          <p:cNvSpPr txBox="1"/>
          <p:nvPr/>
        </p:nvSpPr>
        <p:spPr>
          <a:xfrm>
            <a:off x="1322539"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def:active</a:t>
            </a:r>
            <a:endParaRPr lang="en-US" sz="974" dirty="0"/>
          </a:p>
        </p:txBody>
      </p:sp>
      <p:sp>
        <p:nvSpPr>
          <p:cNvPr id="40" name="Text 38"/>
          <p:cNvSpPr txBox="1"/>
          <p:nvPr/>
        </p:nvSpPr>
        <p:spPr>
          <a:xfrm>
            <a:off x="1322539"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definition</a:t>
            </a:r>
            <a:endParaRPr lang="en-US" sz="789" dirty="0"/>
          </a:p>
        </p:txBody>
      </p:sp>
      <p:sp>
        <p:nvSpPr>
          <p:cNvPr id="41" name="Shape 39"/>
          <p:cNvSpPr/>
          <p:nvPr/>
        </p:nvSpPr>
        <p:spPr>
          <a:xfrm>
            <a:off x="3152825" y="4609719"/>
            <a:ext cx="271568" cy="270979"/>
          </a:xfrm>
          <a:prstGeom prst="rect">
            <a:avLst/>
          </a:prstGeom>
          <a:solidFill>
            <a:srgbClr val="FFFFFF"/>
          </a:solidFill>
          <a:ln w="15316">
            <a:solidFill>
              <a:srgbClr val="1A1A16"/>
            </a:solidFill>
            <a:prstDash val="solid"/>
          </a:ln>
        </p:spPr>
      </p:sp>
      <p:sp>
        <p:nvSpPr>
          <p:cNvPr id="42" name="Text 40"/>
          <p:cNvSpPr txBox="1"/>
          <p:nvPr/>
        </p:nvSpPr>
        <p:spPr>
          <a:xfrm>
            <a:off x="2404982"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lem:collapse</a:t>
            </a:r>
            <a:endParaRPr lang="en-US" sz="974" dirty="0"/>
          </a:p>
        </p:txBody>
      </p:sp>
      <p:sp>
        <p:nvSpPr>
          <p:cNvPr id="43" name="Text 41"/>
          <p:cNvSpPr txBox="1"/>
          <p:nvPr/>
        </p:nvSpPr>
        <p:spPr>
          <a:xfrm>
            <a:off x="2404982"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44" name="Shape 42"/>
          <p:cNvSpPr/>
          <p:nvPr/>
        </p:nvSpPr>
        <p:spPr>
          <a:xfrm>
            <a:off x="4179010" y="4553167"/>
            <a:ext cx="384083" cy="384083"/>
          </a:xfrm>
          <a:prstGeom prst="diamond">
            <a:avLst/>
          </a:prstGeom>
          <a:solidFill>
            <a:srgbClr val="FFFFFF"/>
          </a:solidFill>
          <a:ln w="15316">
            <a:solidFill>
              <a:srgbClr val="1A1A16"/>
            </a:solidFill>
            <a:prstDash val="solid"/>
          </a:ln>
        </p:spPr>
      </p:sp>
      <p:sp>
        <p:nvSpPr>
          <p:cNvPr id="45" name="Text 43"/>
          <p:cNvSpPr txBox="1"/>
          <p:nvPr/>
        </p:nvSpPr>
        <p:spPr>
          <a:xfrm>
            <a:off x="3487425"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thm:mwis</a:t>
            </a:r>
            <a:endParaRPr lang="en-US" sz="974" dirty="0"/>
          </a:p>
        </p:txBody>
      </p:sp>
      <p:sp>
        <p:nvSpPr>
          <p:cNvPr id="46" name="Text 44"/>
          <p:cNvSpPr txBox="1"/>
          <p:nvPr/>
        </p:nvSpPr>
        <p:spPr>
          <a:xfrm>
            <a:off x="3487425"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47" name="Shape 45"/>
          <p:cNvSpPr/>
          <p:nvPr/>
        </p:nvSpPr>
        <p:spPr>
          <a:xfrm>
            <a:off x="5247021" y="4507218"/>
            <a:ext cx="412948" cy="356985"/>
          </a:xfrm>
          <a:prstGeom prst="triangle">
            <a:avLst/>
          </a:prstGeom>
          <a:solidFill>
            <a:srgbClr val="FFFFFF"/>
          </a:solidFill>
          <a:ln w="15316">
            <a:solidFill>
              <a:srgbClr val="1A1A16"/>
            </a:solidFill>
            <a:prstDash val="solid"/>
          </a:ln>
        </p:spPr>
      </p:sp>
      <p:sp>
        <p:nvSpPr>
          <p:cNvPr id="48" name="Text 46"/>
          <p:cNvSpPr txBox="1"/>
          <p:nvPr/>
        </p:nvSpPr>
        <p:spPr>
          <a:xfrm>
            <a:off x="4569868"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prop:relaxation</a:t>
            </a:r>
            <a:endParaRPr lang="en-US" sz="974" dirty="0"/>
          </a:p>
        </p:txBody>
      </p:sp>
      <p:sp>
        <p:nvSpPr>
          <p:cNvPr id="49" name="Text 47"/>
          <p:cNvSpPr txBox="1"/>
          <p:nvPr/>
        </p:nvSpPr>
        <p:spPr>
          <a:xfrm>
            <a:off x="4569868"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0" name="Shape 48"/>
          <p:cNvSpPr/>
          <p:nvPr/>
        </p:nvSpPr>
        <p:spPr>
          <a:xfrm>
            <a:off x="6343896" y="4553167"/>
            <a:ext cx="384083" cy="384083"/>
          </a:xfrm>
          <a:prstGeom prst="diamond">
            <a:avLst/>
          </a:prstGeom>
          <a:solidFill>
            <a:srgbClr val="FFFFFF"/>
          </a:solidFill>
          <a:ln w="15316">
            <a:solidFill>
              <a:srgbClr val="1A1A16"/>
            </a:solidFill>
            <a:prstDash val="solid"/>
          </a:ln>
        </p:spPr>
      </p:sp>
      <p:sp>
        <p:nvSpPr>
          <p:cNvPr id="51" name="Text 49"/>
          <p:cNvSpPr txBox="1"/>
          <p:nvPr/>
        </p:nvSpPr>
        <p:spPr>
          <a:xfrm>
            <a:off x="5652311"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thm:solvable</a:t>
            </a:r>
            <a:endParaRPr lang="en-US" sz="974" dirty="0"/>
          </a:p>
        </p:txBody>
      </p:sp>
      <p:sp>
        <p:nvSpPr>
          <p:cNvPr id="52" name="Text 50"/>
          <p:cNvSpPr txBox="1"/>
          <p:nvPr/>
        </p:nvSpPr>
        <p:spPr>
          <a:xfrm>
            <a:off x="5652311"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53" name="Shape 51"/>
          <p:cNvSpPr/>
          <p:nvPr/>
        </p:nvSpPr>
        <p:spPr>
          <a:xfrm>
            <a:off x="7411907" y="4507218"/>
            <a:ext cx="412948" cy="356985"/>
          </a:xfrm>
          <a:prstGeom prst="triangle">
            <a:avLst/>
          </a:prstGeom>
          <a:solidFill>
            <a:srgbClr val="FFFFFF"/>
          </a:solidFill>
          <a:ln w="15316">
            <a:solidFill>
              <a:srgbClr val="1A1A16"/>
            </a:solidFill>
            <a:prstDash val="solid"/>
          </a:ln>
        </p:spPr>
      </p:sp>
      <p:sp>
        <p:nvSpPr>
          <p:cNvPr id="54" name="Text 52"/>
          <p:cNvSpPr txBox="1"/>
          <p:nvPr/>
        </p:nvSpPr>
        <p:spPr>
          <a:xfrm>
            <a:off x="6734754"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prop:clifford</a:t>
            </a:r>
            <a:endParaRPr lang="en-US" sz="974" dirty="0"/>
          </a:p>
        </p:txBody>
      </p:sp>
      <p:sp>
        <p:nvSpPr>
          <p:cNvPr id="55" name="Text 53"/>
          <p:cNvSpPr txBox="1"/>
          <p:nvPr/>
        </p:nvSpPr>
        <p:spPr>
          <a:xfrm>
            <a:off x="6734754"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6" name="Shape 54"/>
          <p:cNvSpPr/>
          <p:nvPr/>
        </p:nvSpPr>
        <p:spPr>
          <a:xfrm>
            <a:off x="8565334" y="4609719"/>
            <a:ext cx="270979" cy="270979"/>
          </a:xfrm>
          <a:prstGeom prst="rect">
            <a:avLst/>
          </a:prstGeom>
          <a:solidFill>
            <a:srgbClr val="FFFFFF"/>
          </a:solidFill>
          <a:ln w="15316">
            <a:solidFill>
              <a:srgbClr val="1A1A16"/>
            </a:solidFill>
            <a:prstDash val="solid"/>
          </a:ln>
        </p:spPr>
      </p:sp>
      <p:sp>
        <p:nvSpPr>
          <p:cNvPr id="57" name="Text 55"/>
          <p:cNvSpPr txBox="1"/>
          <p:nvPr/>
        </p:nvSpPr>
        <p:spPr>
          <a:xfrm>
            <a:off x="7817197"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lem:lovasz-sandwich</a:t>
            </a:r>
            <a:endParaRPr lang="en-US" sz="974" dirty="0"/>
          </a:p>
        </p:txBody>
      </p:sp>
      <p:sp>
        <p:nvSpPr>
          <p:cNvPr id="58" name="Text 56"/>
          <p:cNvSpPr txBox="1"/>
          <p:nvPr/>
        </p:nvSpPr>
        <p:spPr>
          <a:xfrm>
            <a:off x="7817197"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59" name="Shape 57"/>
          <p:cNvSpPr/>
          <p:nvPr/>
        </p:nvSpPr>
        <p:spPr>
          <a:xfrm>
            <a:off x="9647483" y="4609719"/>
            <a:ext cx="271568" cy="270979"/>
          </a:xfrm>
          <a:prstGeom prst="rect">
            <a:avLst/>
          </a:prstGeom>
          <a:solidFill>
            <a:srgbClr val="FFFFFF"/>
          </a:solidFill>
          <a:ln w="15316">
            <a:solidFill>
              <a:srgbClr val="1A1A16"/>
            </a:solidFill>
            <a:prstDash val="solid"/>
          </a:ln>
        </p:spPr>
      </p:sp>
      <p:sp>
        <p:nvSpPr>
          <p:cNvPr id="60" name="Text 58"/>
          <p:cNvSpPr txBox="1"/>
          <p:nvPr/>
        </p:nvSpPr>
        <p:spPr>
          <a:xfrm>
            <a:off x="8899640"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lem:perfect-collapse</a:t>
            </a:r>
            <a:endParaRPr lang="en-US" sz="974" dirty="0"/>
          </a:p>
        </p:txBody>
      </p:sp>
      <p:sp>
        <p:nvSpPr>
          <p:cNvPr id="61" name="Text 59"/>
          <p:cNvSpPr txBox="1"/>
          <p:nvPr/>
        </p:nvSpPr>
        <p:spPr>
          <a:xfrm>
            <a:off x="8899640"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62" name="Shape 60"/>
          <p:cNvSpPr/>
          <p:nvPr/>
        </p:nvSpPr>
        <p:spPr>
          <a:xfrm>
            <a:off x="10659530" y="4507218"/>
            <a:ext cx="412359" cy="356985"/>
          </a:xfrm>
          <a:prstGeom prst="triangle">
            <a:avLst/>
          </a:prstGeom>
          <a:solidFill>
            <a:srgbClr val="FFFFFF"/>
          </a:solidFill>
          <a:ln w="15316">
            <a:solidFill>
              <a:srgbClr val="1A1A16"/>
            </a:solidFill>
            <a:prstDash val="solid"/>
          </a:ln>
        </p:spPr>
      </p:sp>
      <p:sp>
        <p:nvSpPr>
          <p:cNvPr id="63" name="Text 61"/>
          <p:cNvSpPr txBox="1"/>
          <p:nvPr/>
        </p:nvSpPr>
        <p:spPr>
          <a:xfrm>
            <a:off x="9982083"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prop:extremal</a:t>
            </a:r>
            <a:endParaRPr lang="en-US" sz="974" dirty="0"/>
          </a:p>
        </p:txBody>
      </p:sp>
      <p:sp>
        <p:nvSpPr>
          <p:cNvPr id="64" name="Text 62"/>
          <p:cNvSpPr txBox="1"/>
          <p:nvPr/>
        </p:nvSpPr>
        <p:spPr>
          <a:xfrm>
            <a:off x="9982083"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65" name="Text 63"/>
          <p:cNvSpPr txBox="1"/>
          <p:nvPr/>
        </p:nvSpPr>
        <p:spPr>
          <a:xfrm>
            <a:off x="851271" y="867854"/>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14 candidates that land inside a declared result  (one mark each, kind not shown)</a:t>
            </a:r>
            <a:endParaRPr lang="en-US" sz="928" dirty="0"/>
          </a:p>
        </p:txBody>
      </p:sp>
      <p:sp>
        <p:nvSpPr>
          <p:cNvPr id="66" name="Text 64"/>
          <p:cNvSpPr txBox="1"/>
          <p:nvPr/>
        </p:nvSpPr>
        <p:spPr>
          <a:xfrm>
            <a:off x="851271" y="5686566"/>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the 9 results the paper actually declares</a:t>
            </a:r>
            <a:endParaRPr lang="en-US" sz="928"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frames/open02.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frames/open03.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592813" y="473756"/>
            <a:ext cx="354629" cy="354629"/>
          </a:xfrm>
          <a:prstGeom prst="diamond">
            <a:avLst/>
          </a:prstGeom>
          <a:solidFill>
            <a:srgbClr val="FFFFFF"/>
          </a:solidFill>
          <a:ln w="18851">
            <a:solidFill>
              <a:srgbClr val="1A1A16"/>
            </a:solidFill>
            <a:prstDash val="solid"/>
          </a:ln>
        </p:spPr>
      </p:sp>
      <p:sp>
        <p:nvSpPr>
          <p:cNvPr id="36" name="Text 3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37" name="Text 3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592813" y="473756"/>
            <a:ext cx="354629" cy="354629"/>
          </a:xfrm>
          <a:prstGeom prst="diamond">
            <a:avLst/>
          </a:prstGeom>
          <a:solidFill>
            <a:srgbClr val="FFFFFF"/>
          </a:solidFill>
          <a:ln w="18851">
            <a:solidFill>
              <a:srgbClr val="1A1A16"/>
            </a:solidFill>
            <a:prstDash val="solid"/>
          </a:ln>
        </p:spPr>
      </p:sp>
      <p:sp>
        <p:nvSpPr>
          <p:cNvPr id="43" name="Shape 41"/>
          <p:cNvSpPr/>
          <p:nvPr/>
        </p:nvSpPr>
        <p:spPr>
          <a:xfrm>
            <a:off x="7721176" y="1137065"/>
            <a:ext cx="221496" cy="220907"/>
          </a:xfrm>
          <a:prstGeom prst="diamond">
            <a:avLst/>
          </a:prstGeom>
          <a:solidFill>
            <a:srgbClr val="FFFFFF"/>
          </a:solidFill>
          <a:ln w="12371">
            <a:solidFill>
              <a:srgbClr val="1A1A16"/>
            </a:solidFill>
            <a:prstDash val="solid"/>
          </a:ln>
        </p:spPr>
      </p:sp>
      <p:sp>
        <p:nvSpPr>
          <p:cNvPr id="44" name="Shape 42"/>
          <p:cNvSpPr/>
          <p:nvPr/>
        </p:nvSpPr>
        <p:spPr>
          <a:xfrm>
            <a:off x="9844826" y="2362361"/>
            <a:ext cx="156697" cy="156107"/>
          </a:xfrm>
          <a:prstGeom prst="rect">
            <a:avLst/>
          </a:prstGeom>
          <a:solidFill>
            <a:srgbClr val="FFFFFF"/>
          </a:solidFill>
          <a:ln w="12371">
            <a:solidFill>
              <a:srgbClr val="1A1A16"/>
            </a:solidFill>
            <a:prstDash val="solid"/>
          </a:ln>
        </p:spPr>
      </p:sp>
      <p:sp>
        <p:nvSpPr>
          <p:cNvPr id="45" name="Shape 43"/>
          <p:cNvSpPr/>
          <p:nvPr/>
        </p:nvSpPr>
        <p:spPr>
          <a:xfrm>
            <a:off x="9805357" y="3515494"/>
            <a:ext cx="235634" cy="235634"/>
          </a:xfrm>
          <a:prstGeom prst="ellipse">
            <a:avLst/>
          </a:prstGeom>
          <a:solidFill>
            <a:srgbClr val="FFFFFF"/>
          </a:solidFill>
          <a:ln w="12371">
            <a:solidFill>
              <a:srgbClr val="1A1A16"/>
            </a:solidFill>
            <a:prstDash val="solid"/>
          </a:ln>
        </p:spPr>
      </p:sp>
      <p:sp>
        <p:nvSpPr>
          <p:cNvPr id="46" name="Text 4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47" name="Text 4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48" name="Text 4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12960">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6494">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6494">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12960">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12960">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6494">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6494">
            <a:solidFill>
              <a:srgbClr val="31312D"/>
            </a:solidFill>
            <a:prstDash val="solid"/>
            <a:headEnd type="triangle"/>
          </a:ln>
        </p:spPr>
      </p:sp>
      <p:sp>
        <p:nvSpPr>
          <p:cNvPr id="54" name="Shape 52"/>
          <p:cNvSpPr/>
          <p:nvPr/>
        </p:nvSpPr>
        <p:spPr>
          <a:xfrm>
            <a:off x="5592813" y="473756"/>
            <a:ext cx="354629" cy="354629"/>
          </a:xfrm>
          <a:prstGeom prst="diamond">
            <a:avLst/>
          </a:prstGeom>
          <a:solidFill>
            <a:srgbClr val="FFFFFF"/>
          </a:solidFill>
          <a:ln w="18851">
            <a:solidFill>
              <a:srgbClr val="1A1A16"/>
            </a:solidFill>
            <a:prstDash val="solid"/>
          </a:ln>
        </p:spPr>
      </p:sp>
      <p:sp>
        <p:nvSpPr>
          <p:cNvPr id="55" name="Shape 53"/>
          <p:cNvSpPr/>
          <p:nvPr/>
        </p:nvSpPr>
        <p:spPr>
          <a:xfrm>
            <a:off x="7721176" y="1137065"/>
            <a:ext cx="221496" cy="220907"/>
          </a:xfrm>
          <a:prstGeom prst="diamond">
            <a:avLst/>
          </a:prstGeom>
          <a:solidFill>
            <a:srgbClr val="FFFFFF"/>
          </a:solidFill>
          <a:ln w="12371">
            <a:solidFill>
              <a:srgbClr val="1A1A16"/>
            </a:solidFill>
            <a:prstDash val="solid"/>
          </a:ln>
        </p:spPr>
      </p:sp>
      <p:sp>
        <p:nvSpPr>
          <p:cNvPr id="56" name="Shape 54"/>
          <p:cNvSpPr/>
          <p:nvPr/>
        </p:nvSpPr>
        <p:spPr>
          <a:xfrm>
            <a:off x="9844826" y="2362361"/>
            <a:ext cx="156697" cy="156107"/>
          </a:xfrm>
          <a:prstGeom prst="rect">
            <a:avLst/>
          </a:prstGeom>
          <a:solidFill>
            <a:srgbClr val="FFFFFF"/>
          </a:solidFill>
          <a:ln w="12371">
            <a:solidFill>
              <a:srgbClr val="1A1A16"/>
            </a:solidFill>
            <a:prstDash val="solid"/>
          </a:ln>
        </p:spPr>
      </p:sp>
      <p:sp>
        <p:nvSpPr>
          <p:cNvPr id="57" name="Shape 55"/>
          <p:cNvSpPr/>
          <p:nvPr/>
        </p:nvSpPr>
        <p:spPr>
          <a:xfrm>
            <a:off x="9805357" y="3515494"/>
            <a:ext cx="235634" cy="235634"/>
          </a:xfrm>
          <a:prstGeom prst="ellipse">
            <a:avLst/>
          </a:prstGeom>
          <a:solidFill>
            <a:srgbClr val="FFFFFF"/>
          </a:solidFill>
          <a:ln w="12371">
            <a:solidFill>
              <a:srgbClr val="1A1A16"/>
            </a:solidFill>
            <a:prstDash val="solid"/>
          </a:ln>
        </p:spPr>
      </p:sp>
      <p:sp>
        <p:nvSpPr>
          <p:cNvPr id="58" name="Shape 56"/>
          <p:cNvSpPr/>
          <p:nvPr/>
        </p:nvSpPr>
        <p:spPr>
          <a:xfrm>
            <a:off x="5628747" y="1702586"/>
            <a:ext cx="282761" cy="282761"/>
          </a:xfrm>
          <a:prstGeom prst="ellipse">
            <a:avLst/>
          </a:prstGeom>
          <a:ln w="15316">
            <a:solidFill>
              <a:srgbClr val="BABAB9"/>
            </a:solidFill>
            <a:prstDash val="solid"/>
          </a:ln>
        </p:spPr>
      </p:sp>
      <p:sp>
        <p:nvSpPr>
          <p:cNvPr id="59" name="Shape 57"/>
          <p:cNvSpPr/>
          <p:nvPr/>
        </p:nvSpPr>
        <p:spPr>
          <a:xfrm>
            <a:off x="5659380" y="1733219"/>
            <a:ext cx="221496" cy="221496"/>
          </a:xfrm>
          <a:prstGeom prst="diamond">
            <a:avLst/>
          </a:prstGeom>
          <a:solidFill>
            <a:srgbClr val="FFFFFF"/>
          </a:solidFill>
          <a:ln w="21207">
            <a:solidFill>
              <a:srgbClr val="1A1A16"/>
            </a:solidFill>
            <a:prstDash val="solid"/>
          </a:ln>
        </p:spPr>
      </p:sp>
      <p:sp>
        <p:nvSpPr>
          <p:cNvPr id="60" name="Shape 58"/>
          <p:cNvSpPr/>
          <p:nvPr/>
        </p:nvSpPr>
        <p:spPr>
          <a:xfrm>
            <a:off x="7690544" y="1702586"/>
            <a:ext cx="282761" cy="282761"/>
          </a:xfrm>
          <a:prstGeom prst="ellipse">
            <a:avLst/>
          </a:prstGeom>
          <a:ln w="15316">
            <a:solidFill>
              <a:srgbClr val="BABAB9"/>
            </a:solidFill>
            <a:prstDash val="solid"/>
          </a:ln>
        </p:spPr>
      </p:sp>
      <p:sp>
        <p:nvSpPr>
          <p:cNvPr id="61" name="Shape 59"/>
          <p:cNvSpPr/>
          <p:nvPr/>
        </p:nvSpPr>
        <p:spPr>
          <a:xfrm>
            <a:off x="7712929" y="1706710"/>
            <a:ext cx="237990" cy="206180"/>
          </a:xfrm>
          <a:prstGeom prst="triangle">
            <a:avLst/>
          </a:prstGeom>
          <a:solidFill>
            <a:srgbClr val="FFFFFF"/>
          </a:solidFill>
          <a:ln w="21207">
            <a:solidFill>
              <a:srgbClr val="1A1A16"/>
            </a:solidFill>
            <a:prstDash val="solid"/>
          </a:ln>
        </p:spPr>
      </p:sp>
      <p:sp>
        <p:nvSpPr>
          <p:cNvPr id="62" name="Shape 60"/>
          <p:cNvSpPr/>
          <p:nvPr/>
        </p:nvSpPr>
        <p:spPr>
          <a:xfrm>
            <a:off x="9752340" y="5251821"/>
            <a:ext cx="341669" cy="341669"/>
          </a:xfrm>
          <a:prstGeom prst="ellipse">
            <a:avLst/>
          </a:prstGeom>
          <a:ln w="15316">
            <a:solidFill>
              <a:srgbClr val="BABAB9"/>
            </a:solidFill>
            <a:prstDash val="solid"/>
          </a:ln>
        </p:spPr>
      </p:sp>
      <p:sp>
        <p:nvSpPr>
          <p:cNvPr id="63" name="Shape 61"/>
          <p:cNvSpPr/>
          <p:nvPr/>
        </p:nvSpPr>
        <p:spPr>
          <a:xfrm>
            <a:off x="9811248" y="5293057"/>
            <a:ext cx="223852" cy="259197"/>
          </a:xfrm>
          <a:prstGeom prst="hexagon">
            <a:avLst/>
          </a:prstGeom>
          <a:solidFill>
            <a:srgbClr val="FFFFFF"/>
          </a:solidFill>
          <a:ln w="21207">
            <a:solidFill>
              <a:srgbClr val="2A78D6"/>
            </a:solidFill>
            <a:prstDash val="solid"/>
          </a:ln>
        </p:spPr>
      </p:sp>
      <p:sp>
        <p:nvSpPr>
          <p:cNvPr id="64" name="Text 6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65" name="Text 6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66" name="Text 6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1782">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2960">
            <a:solidFill>
              <a:srgbClr val="31312D"/>
            </a:solidFill>
            <a:prstDash val="solid"/>
            <a:headEnd type="triangle"/>
          </a:ln>
        </p:spPr>
      </p:sp>
      <p:sp>
        <p:nvSpPr>
          <p:cNvPr id="54" name="Shape 52"/>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B1B1B0"/>
            </a:solidFill>
            <a:prstDash val="solid"/>
          </a:ln>
        </p:spPr>
      </p:sp>
      <p:sp>
        <p:nvSpPr>
          <p:cNvPr id="55" name="Shape 53"/>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56" name="Shape 54"/>
          <p:cNvSpPr/>
          <p:nvPr/>
        </p:nvSpPr>
        <p:spPr>
          <a:xfrm>
            <a:off x="5705328" y="2073710"/>
            <a:ext cx="129599" cy="129599"/>
          </a:xfrm>
          <a:prstGeom prst="ellipse">
            <a:avLst/>
          </a:prstGeom>
          <a:solidFill>
            <a:srgbClr val="FFFFFF"/>
          </a:solidFill>
          <a:ln w="16494">
            <a:solidFill>
              <a:srgbClr val="1A1A16"/>
            </a:solidFill>
            <a:prstDash val="solid"/>
          </a:ln>
        </p:spPr>
      </p:sp>
      <p:sp>
        <p:nvSpPr>
          <p:cNvPr id="57" name="Shape 55"/>
          <p:cNvSpPr/>
          <p:nvPr/>
        </p:nvSpPr>
        <p:spPr>
          <a:xfrm>
            <a:off x="5734783" y="2138509"/>
            <a:ext cx="70690" cy="0"/>
          </a:xfrm>
          <a:prstGeom prst="line">
            <a:avLst/>
          </a:prstGeom>
          <a:noFill/>
          <a:ln w="10604">
            <a:solidFill>
              <a:srgbClr val="1A1A16"/>
            </a:solidFill>
            <a:prstDash val="solid"/>
          </a:ln>
        </p:spPr>
      </p:sp>
      <p:sp>
        <p:nvSpPr>
          <p:cNvPr id="58" name="Shape 56"/>
          <p:cNvSpPr/>
          <p:nvPr/>
        </p:nvSpPr>
        <p:spPr>
          <a:xfrm>
            <a:off x="5770128" y="2103164"/>
            <a:ext cx="0" cy="70690"/>
          </a:xfrm>
          <a:prstGeom prst="line">
            <a:avLst/>
          </a:prstGeom>
          <a:noFill/>
          <a:ln w="10604">
            <a:solidFill>
              <a:srgbClr val="1A1A16"/>
            </a:solidFill>
            <a:prstDash val="solid"/>
          </a:ln>
        </p:spPr>
      </p:sp>
      <p:sp>
        <p:nvSpPr>
          <p:cNvPr id="59" name="Shape 57"/>
          <p:cNvSpPr/>
          <p:nvPr/>
        </p:nvSpPr>
        <p:spPr>
          <a:xfrm>
            <a:off x="5770128" y="1950002"/>
            <a:ext cx="0" cy="123708"/>
          </a:xfrm>
          <a:prstGeom prst="line">
            <a:avLst/>
          </a:prstGeom>
          <a:noFill/>
          <a:ln w="16494">
            <a:solidFill>
              <a:srgbClr val="31312D"/>
            </a:solidFill>
            <a:prstDash val="solid"/>
            <a:headEnd type="triangle"/>
          </a:ln>
        </p:spPr>
      </p:sp>
      <p:sp>
        <p:nvSpPr>
          <p:cNvPr id="60" name="Shape 5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12960">
            <a:solidFill>
              <a:srgbClr val="B1B1B0"/>
            </a:solidFill>
            <a:prstDash val="solid"/>
          </a:ln>
        </p:spPr>
      </p:sp>
      <p:sp>
        <p:nvSpPr>
          <p:cNvPr id="61" name="Shape 5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12960">
            <a:solidFill>
              <a:srgbClr val="B1B1B0"/>
            </a:solidFill>
            <a:prstDash val="solid"/>
          </a:ln>
        </p:spPr>
      </p:sp>
      <p:sp>
        <p:nvSpPr>
          <p:cNvPr id="62" name="Shape 6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12960">
            <a:solidFill>
              <a:srgbClr val="B1B1B0"/>
            </a:solidFill>
            <a:prstDash val="solid"/>
          </a:ln>
        </p:spPr>
      </p:sp>
      <p:sp>
        <p:nvSpPr>
          <p:cNvPr id="63" name="Shape 6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64" name="Shape 62"/>
          <p:cNvSpPr/>
          <p:nvPr/>
        </p:nvSpPr>
        <p:spPr>
          <a:xfrm>
            <a:off x="7767125" y="2073710"/>
            <a:ext cx="129599" cy="129599"/>
          </a:xfrm>
          <a:prstGeom prst="ellipse">
            <a:avLst/>
          </a:prstGeom>
          <a:solidFill>
            <a:srgbClr val="FFFFFF"/>
          </a:solidFill>
          <a:ln w="16494">
            <a:solidFill>
              <a:srgbClr val="1A1A16"/>
            </a:solidFill>
            <a:prstDash val="solid"/>
          </a:ln>
        </p:spPr>
      </p:sp>
      <p:sp>
        <p:nvSpPr>
          <p:cNvPr id="65" name="Shape 63"/>
          <p:cNvSpPr/>
          <p:nvPr/>
        </p:nvSpPr>
        <p:spPr>
          <a:xfrm>
            <a:off x="7796579" y="2138509"/>
            <a:ext cx="70690" cy="0"/>
          </a:xfrm>
          <a:prstGeom prst="line">
            <a:avLst/>
          </a:prstGeom>
          <a:noFill/>
          <a:ln w="10604">
            <a:solidFill>
              <a:srgbClr val="1A1A16"/>
            </a:solidFill>
            <a:prstDash val="solid"/>
          </a:ln>
        </p:spPr>
      </p:sp>
      <p:sp>
        <p:nvSpPr>
          <p:cNvPr id="66" name="Shape 64"/>
          <p:cNvSpPr/>
          <p:nvPr/>
        </p:nvSpPr>
        <p:spPr>
          <a:xfrm>
            <a:off x="7831924" y="2103164"/>
            <a:ext cx="0" cy="70690"/>
          </a:xfrm>
          <a:prstGeom prst="line">
            <a:avLst/>
          </a:prstGeom>
          <a:noFill/>
          <a:ln w="10604">
            <a:solidFill>
              <a:srgbClr val="1A1A16"/>
            </a:solidFill>
            <a:prstDash val="solid"/>
          </a:ln>
        </p:spPr>
      </p:sp>
      <p:sp>
        <p:nvSpPr>
          <p:cNvPr id="67" name="Shape 65"/>
          <p:cNvSpPr/>
          <p:nvPr/>
        </p:nvSpPr>
        <p:spPr>
          <a:xfrm>
            <a:off x="7831924" y="1950002"/>
            <a:ext cx="0" cy="123708"/>
          </a:xfrm>
          <a:prstGeom prst="line">
            <a:avLst/>
          </a:prstGeom>
          <a:noFill/>
          <a:ln w="16494">
            <a:solidFill>
              <a:srgbClr val="31312D"/>
            </a:solidFill>
            <a:prstDash val="solid"/>
            <a:headEnd type="triangle"/>
          </a:ln>
        </p:spPr>
      </p:sp>
      <p:sp>
        <p:nvSpPr>
          <p:cNvPr id="68" name="Shape 66"/>
          <p:cNvSpPr/>
          <p:nvPr/>
        </p:nvSpPr>
        <p:spPr>
          <a:xfrm>
            <a:off x="5592813" y="473756"/>
            <a:ext cx="354629" cy="354629"/>
          </a:xfrm>
          <a:prstGeom prst="diamond">
            <a:avLst/>
          </a:prstGeom>
          <a:solidFill>
            <a:srgbClr val="FFFFFF"/>
          </a:solidFill>
          <a:ln w="18851">
            <a:solidFill>
              <a:srgbClr val="1A1A16"/>
            </a:solidFill>
            <a:prstDash val="solid"/>
          </a:ln>
        </p:spPr>
      </p:sp>
      <p:sp>
        <p:nvSpPr>
          <p:cNvPr id="69" name="Shape 67"/>
          <p:cNvSpPr/>
          <p:nvPr/>
        </p:nvSpPr>
        <p:spPr>
          <a:xfrm>
            <a:off x="7721176" y="1137065"/>
            <a:ext cx="221496" cy="220907"/>
          </a:xfrm>
          <a:prstGeom prst="diamond">
            <a:avLst/>
          </a:prstGeom>
          <a:solidFill>
            <a:srgbClr val="FFFFFF"/>
          </a:solidFill>
          <a:ln w="12371">
            <a:solidFill>
              <a:srgbClr val="1A1A16"/>
            </a:solidFill>
            <a:prstDash val="solid"/>
          </a:ln>
        </p:spPr>
      </p:sp>
      <p:sp>
        <p:nvSpPr>
          <p:cNvPr id="70" name="Shape 68"/>
          <p:cNvSpPr/>
          <p:nvPr/>
        </p:nvSpPr>
        <p:spPr>
          <a:xfrm>
            <a:off x="4150145" y="3491931"/>
            <a:ext cx="282761" cy="282761"/>
          </a:xfrm>
          <a:prstGeom prst="ellipse">
            <a:avLst/>
          </a:prstGeom>
          <a:ln w="15316">
            <a:solidFill>
              <a:srgbClr val="BABAB9"/>
            </a:solidFill>
            <a:prstDash val="solid"/>
          </a:ln>
        </p:spPr>
      </p:sp>
      <p:sp>
        <p:nvSpPr>
          <p:cNvPr id="71" name="Shape 69"/>
          <p:cNvSpPr/>
          <p:nvPr/>
        </p:nvSpPr>
        <p:spPr>
          <a:xfrm>
            <a:off x="4180777" y="3522858"/>
            <a:ext cx="221496" cy="220907"/>
          </a:xfrm>
          <a:prstGeom prst="diamond">
            <a:avLst/>
          </a:prstGeom>
          <a:solidFill>
            <a:srgbClr val="FFFFFF"/>
          </a:solidFill>
          <a:ln w="21207">
            <a:solidFill>
              <a:srgbClr val="1A1A16"/>
            </a:solidFill>
            <a:prstDash val="solid"/>
          </a:ln>
        </p:spPr>
      </p:sp>
      <p:sp>
        <p:nvSpPr>
          <p:cNvPr id="72" name="Shape 70"/>
          <p:cNvSpPr/>
          <p:nvPr/>
        </p:nvSpPr>
        <p:spPr>
          <a:xfrm>
            <a:off x="4150145" y="4088379"/>
            <a:ext cx="282761" cy="282761"/>
          </a:xfrm>
          <a:prstGeom prst="ellipse">
            <a:avLst/>
          </a:prstGeom>
          <a:ln w="15316">
            <a:solidFill>
              <a:srgbClr val="BABAB9"/>
            </a:solidFill>
            <a:prstDash val="solid"/>
          </a:ln>
        </p:spPr>
      </p:sp>
      <p:sp>
        <p:nvSpPr>
          <p:cNvPr id="73" name="Shape 71"/>
          <p:cNvSpPr/>
          <p:nvPr/>
        </p:nvSpPr>
        <p:spPr>
          <a:xfrm>
            <a:off x="4203163" y="4141397"/>
            <a:ext cx="176725" cy="176725"/>
          </a:xfrm>
          <a:prstGeom prst="ellipse">
            <a:avLst/>
          </a:prstGeom>
          <a:solidFill>
            <a:srgbClr val="FFFFFF"/>
          </a:solidFill>
          <a:ln w="21207">
            <a:solidFill>
              <a:srgbClr val="1A1A16"/>
            </a:solidFill>
            <a:prstDash val="solid"/>
          </a:ln>
        </p:spPr>
      </p:sp>
      <p:sp>
        <p:nvSpPr>
          <p:cNvPr id="74" name="Shape 72"/>
          <p:cNvSpPr/>
          <p:nvPr/>
        </p:nvSpPr>
        <p:spPr>
          <a:xfrm>
            <a:off x="7661089" y="3462477"/>
            <a:ext cx="341669" cy="341669"/>
          </a:xfrm>
          <a:prstGeom prst="ellipse">
            <a:avLst/>
          </a:prstGeom>
          <a:ln w="15316">
            <a:solidFill>
              <a:srgbClr val="BABAB9"/>
            </a:solidFill>
            <a:prstDash val="solid"/>
          </a:ln>
        </p:spPr>
      </p:sp>
      <p:sp>
        <p:nvSpPr>
          <p:cNvPr id="75" name="Shape 73"/>
          <p:cNvSpPr/>
          <p:nvPr/>
        </p:nvSpPr>
        <p:spPr>
          <a:xfrm>
            <a:off x="7714107" y="3515494"/>
            <a:ext cx="235634" cy="235634"/>
          </a:xfrm>
          <a:prstGeom prst="ellipse">
            <a:avLst/>
          </a:prstGeom>
          <a:solidFill>
            <a:srgbClr val="FFFFFF"/>
          </a:solidFill>
          <a:ln w="21207">
            <a:solidFill>
              <a:srgbClr val="1A1A16"/>
            </a:solidFill>
            <a:prstDash val="solid"/>
          </a:ln>
        </p:spPr>
      </p:sp>
      <p:sp>
        <p:nvSpPr>
          <p:cNvPr id="76" name="Shape 74"/>
          <p:cNvSpPr/>
          <p:nvPr/>
        </p:nvSpPr>
        <p:spPr>
          <a:xfrm>
            <a:off x="5628747" y="2299035"/>
            <a:ext cx="282761" cy="282761"/>
          </a:xfrm>
          <a:prstGeom prst="ellipse">
            <a:avLst/>
          </a:prstGeom>
          <a:ln w="15316">
            <a:solidFill>
              <a:srgbClr val="BABAB9"/>
            </a:solidFill>
            <a:prstDash val="solid"/>
          </a:ln>
        </p:spPr>
      </p:sp>
      <p:sp>
        <p:nvSpPr>
          <p:cNvPr id="77" name="Shape 75"/>
          <p:cNvSpPr/>
          <p:nvPr/>
        </p:nvSpPr>
        <p:spPr>
          <a:xfrm>
            <a:off x="5691780" y="2362361"/>
            <a:ext cx="156697" cy="156107"/>
          </a:xfrm>
          <a:prstGeom prst="rect">
            <a:avLst/>
          </a:prstGeom>
          <a:solidFill>
            <a:srgbClr val="FFFFFF"/>
          </a:solidFill>
          <a:ln w="21207">
            <a:solidFill>
              <a:srgbClr val="1A1A16"/>
            </a:solidFill>
            <a:prstDash val="solid"/>
          </a:ln>
        </p:spPr>
      </p:sp>
      <p:sp>
        <p:nvSpPr>
          <p:cNvPr id="78" name="Shape 76"/>
          <p:cNvSpPr/>
          <p:nvPr/>
        </p:nvSpPr>
        <p:spPr>
          <a:xfrm>
            <a:off x="9844826" y="2362361"/>
            <a:ext cx="156697" cy="156107"/>
          </a:xfrm>
          <a:prstGeom prst="rect">
            <a:avLst/>
          </a:prstGeom>
          <a:solidFill>
            <a:srgbClr val="FFFFFF"/>
          </a:solidFill>
          <a:ln w="12371">
            <a:solidFill>
              <a:srgbClr val="1A1A16"/>
            </a:solidFill>
            <a:prstDash val="solid"/>
          </a:ln>
        </p:spPr>
      </p:sp>
      <p:sp>
        <p:nvSpPr>
          <p:cNvPr id="79" name="Shape 77"/>
          <p:cNvSpPr/>
          <p:nvPr/>
        </p:nvSpPr>
        <p:spPr>
          <a:xfrm>
            <a:off x="9805357" y="3515494"/>
            <a:ext cx="235634" cy="235634"/>
          </a:xfrm>
          <a:prstGeom prst="ellipse">
            <a:avLst/>
          </a:prstGeom>
          <a:solidFill>
            <a:srgbClr val="FFFFFF"/>
          </a:solidFill>
          <a:ln w="12371">
            <a:solidFill>
              <a:srgbClr val="1A1A16"/>
            </a:solidFill>
            <a:prstDash val="solid"/>
          </a:ln>
        </p:spPr>
      </p:sp>
      <p:sp>
        <p:nvSpPr>
          <p:cNvPr id="80" name="Shape 78"/>
          <p:cNvSpPr/>
          <p:nvPr/>
        </p:nvSpPr>
        <p:spPr>
          <a:xfrm>
            <a:off x="5659380" y="1733219"/>
            <a:ext cx="221496" cy="221496"/>
          </a:xfrm>
          <a:prstGeom prst="diamond">
            <a:avLst/>
          </a:prstGeom>
          <a:solidFill>
            <a:srgbClr val="FFFFFF"/>
          </a:solidFill>
          <a:ln w="12371">
            <a:solidFill>
              <a:srgbClr val="1A1A16"/>
            </a:solidFill>
            <a:prstDash val="solid"/>
          </a:ln>
        </p:spPr>
      </p:sp>
      <p:sp>
        <p:nvSpPr>
          <p:cNvPr id="81" name="Shape 79"/>
          <p:cNvSpPr/>
          <p:nvPr/>
        </p:nvSpPr>
        <p:spPr>
          <a:xfrm>
            <a:off x="7967413" y="2299035"/>
            <a:ext cx="282761" cy="282761"/>
          </a:xfrm>
          <a:prstGeom prst="ellipse">
            <a:avLst/>
          </a:prstGeom>
          <a:ln w="15316">
            <a:solidFill>
              <a:srgbClr val="BABAB9"/>
            </a:solidFill>
            <a:prstDash val="solid"/>
          </a:ln>
        </p:spPr>
      </p:sp>
      <p:sp>
        <p:nvSpPr>
          <p:cNvPr id="82" name="Shape 80"/>
          <p:cNvSpPr/>
          <p:nvPr/>
        </p:nvSpPr>
        <p:spPr>
          <a:xfrm>
            <a:off x="7989799" y="2302864"/>
            <a:ext cx="237990" cy="206180"/>
          </a:xfrm>
          <a:prstGeom prst="triangle">
            <a:avLst/>
          </a:prstGeom>
          <a:solidFill>
            <a:srgbClr val="FFFFFF"/>
          </a:solidFill>
          <a:ln w="21207">
            <a:solidFill>
              <a:srgbClr val="1A1A16"/>
            </a:solidFill>
            <a:prstDash val="solid"/>
          </a:ln>
        </p:spPr>
      </p:sp>
      <p:sp>
        <p:nvSpPr>
          <p:cNvPr id="83" name="Shape 81"/>
          <p:cNvSpPr/>
          <p:nvPr/>
        </p:nvSpPr>
        <p:spPr>
          <a:xfrm>
            <a:off x="7712929" y="1706710"/>
            <a:ext cx="237990" cy="206180"/>
          </a:xfrm>
          <a:prstGeom prst="triangle">
            <a:avLst/>
          </a:prstGeom>
          <a:solidFill>
            <a:srgbClr val="FFFFFF"/>
          </a:solidFill>
          <a:ln w="12371">
            <a:solidFill>
              <a:srgbClr val="1A1A16"/>
            </a:solidFill>
            <a:prstDash val="solid"/>
          </a:ln>
        </p:spPr>
      </p:sp>
      <p:sp>
        <p:nvSpPr>
          <p:cNvPr id="84" name="Shape 82"/>
          <p:cNvSpPr/>
          <p:nvPr/>
        </p:nvSpPr>
        <p:spPr>
          <a:xfrm>
            <a:off x="7413674" y="2299035"/>
            <a:ext cx="282761" cy="282761"/>
          </a:xfrm>
          <a:prstGeom prst="ellipse">
            <a:avLst/>
          </a:prstGeom>
          <a:ln w="15316">
            <a:solidFill>
              <a:srgbClr val="BABAB9"/>
            </a:solidFill>
            <a:prstDash val="solid"/>
          </a:ln>
        </p:spPr>
      </p:sp>
      <p:sp>
        <p:nvSpPr>
          <p:cNvPr id="85" name="Shape 83"/>
          <p:cNvSpPr/>
          <p:nvPr/>
        </p:nvSpPr>
        <p:spPr>
          <a:xfrm>
            <a:off x="7476706" y="2362361"/>
            <a:ext cx="156697" cy="156107"/>
          </a:xfrm>
          <a:prstGeom prst="rect">
            <a:avLst/>
          </a:prstGeom>
          <a:solidFill>
            <a:srgbClr val="FFFFFF"/>
          </a:solidFill>
          <a:ln w="21207">
            <a:solidFill>
              <a:srgbClr val="1A1A16"/>
            </a:solidFill>
            <a:prstDash val="solid"/>
          </a:ln>
        </p:spPr>
      </p:sp>
      <p:sp>
        <p:nvSpPr>
          <p:cNvPr id="86" name="Shape 84"/>
          <p:cNvSpPr/>
          <p:nvPr/>
        </p:nvSpPr>
        <p:spPr>
          <a:xfrm>
            <a:off x="9811248" y="5293057"/>
            <a:ext cx="223852" cy="259197"/>
          </a:xfrm>
          <a:prstGeom prst="hexagon">
            <a:avLst/>
          </a:prstGeom>
          <a:solidFill>
            <a:srgbClr val="FFFFFF"/>
          </a:solidFill>
          <a:ln w="12371">
            <a:solidFill>
              <a:srgbClr val="2A78D6"/>
            </a:solidFill>
            <a:prstDash val="solid"/>
          </a:ln>
        </p:spPr>
      </p:sp>
      <p:sp>
        <p:nvSpPr>
          <p:cNvPr id="87" name="Text 85"/>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88" name="Text 86"/>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89" name="Text 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90" name="Text 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9" name="Shape 47"/>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12960">
            <a:solidFill>
              <a:srgbClr val="B1B1B0"/>
            </a:solidFill>
            <a:prstDash val="solid"/>
          </a:ln>
        </p:spPr>
      </p:sp>
      <p:sp>
        <p:nvSpPr>
          <p:cNvPr id="50" name="Shape 48"/>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12960">
            <a:solidFill>
              <a:srgbClr val="9289CA"/>
            </a:solidFill>
            <a:prstDash val="solid"/>
          </a:ln>
        </p:spPr>
      </p:sp>
      <p:sp>
        <p:nvSpPr>
          <p:cNvPr id="51" name="Shape 49"/>
          <p:cNvSpPr/>
          <p:nvPr/>
        </p:nvSpPr>
        <p:spPr>
          <a:xfrm>
            <a:off x="4226726" y="3863054"/>
            <a:ext cx="129599" cy="129599"/>
          </a:xfrm>
          <a:prstGeom prst="ellipse">
            <a:avLst/>
          </a:prstGeom>
          <a:solidFill>
            <a:srgbClr val="FFFFFF"/>
          </a:solidFill>
          <a:ln w="16494">
            <a:solidFill>
              <a:srgbClr val="1A1A16"/>
            </a:solidFill>
            <a:prstDash val="solid"/>
          </a:ln>
        </p:spPr>
      </p:sp>
      <p:sp>
        <p:nvSpPr>
          <p:cNvPr id="52" name="Shape 50"/>
          <p:cNvSpPr/>
          <p:nvPr/>
        </p:nvSpPr>
        <p:spPr>
          <a:xfrm>
            <a:off x="4256180" y="3927854"/>
            <a:ext cx="70690" cy="0"/>
          </a:xfrm>
          <a:prstGeom prst="line">
            <a:avLst/>
          </a:prstGeom>
          <a:noFill/>
          <a:ln w="10604">
            <a:solidFill>
              <a:srgbClr val="1A1A16"/>
            </a:solidFill>
            <a:prstDash val="solid"/>
          </a:ln>
        </p:spPr>
      </p:sp>
      <p:sp>
        <p:nvSpPr>
          <p:cNvPr id="53" name="Shape 51"/>
          <p:cNvSpPr/>
          <p:nvPr/>
        </p:nvSpPr>
        <p:spPr>
          <a:xfrm>
            <a:off x="4291525" y="3892508"/>
            <a:ext cx="0" cy="70690"/>
          </a:xfrm>
          <a:prstGeom prst="line">
            <a:avLst/>
          </a:prstGeom>
          <a:noFill/>
          <a:ln w="10604">
            <a:solidFill>
              <a:srgbClr val="1A1A16"/>
            </a:solidFill>
            <a:prstDash val="solid"/>
          </a:ln>
        </p:spPr>
      </p:sp>
      <p:sp>
        <p:nvSpPr>
          <p:cNvPr id="54" name="Shape 52"/>
          <p:cNvSpPr/>
          <p:nvPr/>
        </p:nvSpPr>
        <p:spPr>
          <a:xfrm>
            <a:off x="4291525" y="3739346"/>
            <a:ext cx="0" cy="123708"/>
          </a:xfrm>
          <a:prstGeom prst="line">
            <a:avLst/>
          </a:prstGeom>
          <a:noFill/>
          <a:ln w="16494">
            <a:solidFill>
              <a:srgbClr val="31312D"/>
            </a:solidFill>
            <a:prstDash val="solid"/>
            <a:headEnd type="triangle"/>
          </a:ln>
        </p:spPr>
      </p:sp>
      <p:sp>
        <p:nvSpPr>
          <p:cNvPr id="55" name="Shape 53"/>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12960">
            <a:solidFill>
              <a:srgbClr val="B1B1B0"/>
            </a:solidFill>
            <a:prstDash val="solid"/>
          </a:ln>
        </p:spPr>
      </p:sp>
      <p:sp>
        <p:nvSpPr>
          <p:cNvPr id="56" name="Shape 54"/>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76CFAF"/>
            </a:solidFill>
            <a:prstDash val="solid"/>
          </a:ln>
        </p:spPr>
      </p:sp>
      <p:sp>
        <p:nvSpPr>
          <p:cNvPr id="57" name="Shape 55"/>
          <p:cNvSpPr/>
          <p:nvPr/>
        </p:nvSpPr>
        <p:spPr>
          <a:xfrm>
            <a:off x="4226726" y="4459502"/>
            <a:ext cx="129599" cy="129599"/>
          </a:xfrm>
          <a:prstGeom prst="ellipse">
            <a:avLst/>
          </a:prstGeom>
          <a:solidFill>
            <a:srgbClr val="FFFFFF"/>
          </a:solidFill>
          <a:ln w="16494">
            <a:solidFill>
              <a:srgbClr val="1A1A16"/>
            </a:solidFill>
            <a:prstDash val="solid"/>
          </a:ln>
        </p:spPr>
      </p:sp>
      <p:sp>
        <p:nvSpPr>
          <p:cNvPr id="58" name="Shape 56"/>
          <p:cNvSpPr/>
          <p:nvPr/>
        </p:nvSpPr>
        <p:spPr>
          <a:xfrm>
            <a:off x="4256180" y="4524302"/>
            <a:ext cx="70690" cy="0"/>
          </a:xfrm>
          <a:prstGeom prst="line">
            <a:avLst/>
          </a:prstGeom>
          <a:noFill/>
          <a:ln w="10604">
            <a:solidFill>
              <a:srgbClr val="1A1A16"/>
            </a:solidFill>
            <a:prstDash val="solid"/>
          </a:ln>
        </p:spPr>
      </p:sp>
      <p:sp>
        <p:nvSpPr>
          <p:cNvPr id="59" name="Shape 57"/>
          <p:cNvSpPr/>
          <p:nvPr/>
        </p:nvSpPr>
        <p:spPr>
          <a:xfrm>
            <a:off x="4291525" y="4488957"/>
            <a:ext cx="0" cy="70690"/>
          </a:xfrm>
          <a:prstGeom prst="line">
            <a:avLst/>
          </a:prstGeom>
          <a:noFill/>
          <a:ln w="10604">
            <a:solidFill>
              <a:srgbClr val="1A1A16"/>
            </a:solidFill>
            <a:prstDash val="solid"/>
          </a:ln>
        </p:spPr>
      </p:sp>
      <p:sp>
        <p:nvSpPr>
          <p:cNvPr id="60" name="Shape 58"/>
          <p:cNvSpPr/>
          <p:nvPr/>
        </p:nvSpPr>
        <p:spPr>
          <a:xfrm>
            <a:off x="4291525" y="4335795"/>
            <a:ext cx="0" cy="123708"/>
          </a:xfrm>
          <a:prstGeom prst="line">
            <a:avLst/>
          </a:prstGeom>
          <a:noFill/>
          <a:ln w="16494">
            <a:solidFill>
              <a:srgbClr val="31312D"/>
            </a:solidFill>
            <a:prstDash val="solid"/>
            <a:headEnd type="triangle"/>
          </a:ln>
        </p:spPr>
      </p:sp>
      <p:sp>
        <p:nvSpPr>
          <p:cNvPr id="61" name="Shape 59"/>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B1B1B0"/>
            </a:solidFill>
            <a:prstDash val="solid"/>
          </a:ln>
        </p:spPr>
      </p:sp>
      <p:sp>
        <p:nvSpPr>
          <p:cNvPr id="62" name="Shape 60"/>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63" name="Shape 61"/>
          <p:cNvSpPr/>
          <p:nvPr/>
        </p:nvSpPr>
        <p:spPr>
          <a:xfrm>
            <a:off x="5705328" y="2670158"/>
            <a:ext cx="129599" cy="129599"/>
          </a:xfrm>
          <a:prstGeom prst="ellipse">
            <a:avLst/>
          </a:prstGeom>
          <a:solidFill>
            <a:srgbClr val="FFFFFF"/>
          </a:solidFill>
          <a:ln w="16494">
            <a:solidFill>
              <a:srgbClr val="1A1A16"/>
            </a:solidFill>
            <a:prstDash val="solid"/>
          </a:ln>
        </p:spPr>
      </p:sp>
      <p:sp>
        <p:nvSpPr>
          <p:cNvPr id="64" name="Shape 62"/>
          <p:cNvSpPr/>
          <p:nvPr/>
        </p:nvSpPr>
        <p:spPr>
          <a:xfrm>
            <a:off x="5734783" y="2734957"/>
            <a:ext cx="70690" cy="0"/>
          </a:xfrm>
          <a:prstGeom prst="line">
            <a:avLst/>
          </a:prstGeom>
          <a:noFill/>
          <a:ln w="10604">
            <a:solidFill>
              <a:srgbClr val="1A1A16"/>
            </a:solidFill>
            <a:prstDash val="solid"/>
          </a:ln>
        </p:spPr>
      </p:sp>
      <p:sp>
        <p:nvSpPr>
          <p:cNvPr id="65" name="Shape 63"/>
          <p:cNvSpPr/>
          <p:nvPr/>
        </p:nvSpPr>
        <p:spPr>
          <a:xfrm>
            <a:off x="5770128" y="2699612"/>
            <a:ext cx="0" cy="70690"/>
          </a:xfrm>
          <a:prstGeom prst="line">
            <a:avLst/>
          </a:prstGeom>
          <a:noFill/>
          <a:ln w="10604">
            <a:solidFill>
              <a:srgbClr val="1A1A16"/>
            </a:solidFill>
            <a:prstDash val="solid"/>
          </a:ln>
        </p:spPr>
      </p:sp>
      <p:sp>
        <p:nvSpPr>
          <p:cNvPr id="66" name="Shape 64"/>
          <p:cNvSpPr/>
          <p:nvPr/>
        </p:nvSpPr>
        <p:spPr>
          <a:xfrm>
            <a:off x="5770128" y="2546450"/>
            <a:ext cx="0" cy="123708"/>
          </a:xfrm>
          <a:prstGeom prst="line">
            <a:avLst/>
          </a:prstGeom>
          <a:noFill/>
          <a:ln w="16494">
            <a:solidFill>
              <a:srgbClr val="31312D"/>
            </a:solidFill>
            <a:prstDash val="solid"/>
            <a:headEnd type="triangle"/>
          </a:ln>
        </p:spPr>
      </p:sp>
      <p:sp>
        <p:nvSpPr>
          <p:cNvPr id="67" name="Shape 65"/>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68" name="Shape 66"/>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69" name="Shape 67"/>
          <p:cNvSpPr/>
          <p:nvPr/>
        </p:nvSpPr>
        <p:spPr>
          <a:xfrm>
            <a:off x="9858375" y="2670158"/>
            <a:ext cx="129599" cy="129599"/>
          </a:xfrm>
          <a:prstGeom prst="ellipse">
            <a:avLst/>
          </a:prstGeom>
          <a:solidFill>
            <a:srgbClr val="FFFFFF"/>
          </a:solidFill>
          <a:ln w="11782">
            <a:solidFill>
              <a:srgbClr val="1A1A16"/>
            </a:solidFill>
            <a:prstDash val="solid"/>
          </a:ln>
        </p:spPr>
      </p:sp>
      <p:sp>
        <p:nvSpPr>
          <p:cNvPr id="70" name="Shape 68"/>
          <p:cNvSpPr/>
          <p:nvPr/>
        </p:nvSpPr>
        <p:spPr>
          <a:xfrm>
            <a:off x="9887829" y="2734957"/>
            <a:ext cx="70690" cy="0"/>
          </a:xfrm>
          <a:prstGeom prst="line">
            <a:avLst/>
          </a:prstGeom>
          <a:noFill/>
          <a:ln w="10604">
            <a:solidFill>
              <a:srgbClr val="1A1A16"/>
            </a:solidFill>
            <a:prstDash val="solid"/>
          </a:ln>
        </p:spPr>
      </p:sp>
      <p:sp>
        <p:nvSpPr>
          <p:cNvPr id="71" name="Shape 69"/>
          <p:cNvSpPr/>
          <p:nvPr/>
        </p:nvSpPr>
        <p:spPr>
          <a:xfrm>
            <a:off x="9923174" y="2699612"/>
            <a:ext cx="0" cy="70690"/>
          </a:xfrm>
          <a:prstGeom prst="line">
            <a:avLst/>
          </a:prstGeom>
          <a:noFill/>
          <a:ln w="10604">
            <a:solidFill>
              <a:srgbClr val="1A1A16"/>
            </a:solidFill>
            <a:prstDash val="solid"/>
          </a:ln>
        </p:spPr>
      </p:sp>
      <p:sp>
        <p:nvSpPr>
          <p:cNvPr id="72" name="Shape 70"/>
          <p:cNvSpPr/>
          <p:nvPr/>
        </p:nvSpPr>
        <p:spPr>
          <a:xfrm>
            <a:off x="9923174" y="2546450"/>
            <a:ext cx="0" cy="123708"/>
          </a:xfrm>
          <a:prstGeom prst="line">
            <a:avLst/>
          </a:prstGeom>
          <a:noFill/>
          <a:ln w="12960">
            <a:solidFill>
              <a:srgbClr val="31312D"/>
            </a:solidFill>
            <a:prstDash val="solid"/>
            <a:headEnd type="triangle"/>
          </a:ln>
        </p:spPr>
      </p:sp>
      <p:sp>
        <p:nvSpPr>
          <p:cNvPr id="73" name="Shape 71"/>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74" name="Shape 72"/>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5" name="Shape 73"/>
          <p:cNvSpPr/>
          <p:nvPr/>
        </p:nvSpPr>
        <p:spPr>
          <a:xfrm>
            <a:off x="5705328" y="2073710"/>
            <a:ext cx="129599" cy="129599"/>
          </a:xfrm>
          <a:prstGeom prst="ellipse">
            <a:avLst/>
          </a:prstGeom>
          <a:solidFill>
            <a:srgbClr val="FFFFFF"/>
          </a:solidFill>
          <a:ln w="11782">
            <a:solidFill>
              <a:srgbClr val="1A1A16"/>
            </a:solidFill>
            <a:prstDash val="solid"/>
          </a:ln>
        </p:spPr>
      </p:sp>
      <p:sp>
        <p:nvSpPr>
          <p:cNvPr id="76" name="Shape 74"/>
          <p:cNvSpPr/>
          <p:nvPr/>
        </p:nvSpPr>
        <p:spPr>
          <a:xfrm>
            <a:off x="5734783" y="2138509"/>
            <a:ext cx="70690" cy="0"/>
          </a:xfrm>
          <a:prstGeom prst="line">
            <a:avLst/>
          </a:prstGeom>
          <a:noFill/>
          <a:ln w="10604">
            <a:solidFill>
              <a:srgbClr val="1A1A16"/>
            </a:solidFill>
            <a:prstDash val="solid"/>
          </a:ln>
        </p:spPr>
      </p:sp>
      <p:sp>
        <p:nvSpPr>
          <p:cNvPr id="77" name="Shape 75"/>
          <p:cNvSpPr/>
          <p:nvPr/>
        </p:nvSpPr>
        <p:spPr>
          <a:xfrm>
            <a:off x="5770128" y="2103164"/>
            <a:ext cx="0" cy="70690"/>
          </a:xfrm>
          <a:prstGeom prst="line">
            <a:avLst/>
          </a:prstGeom>
          <a:noFill/>
          <a:ln w="10604">
            <a:solidFill>
              <a:srgbClr val="1A1A16"/>
            </a:solidFill>
            <a:prstDash val="solid"/>
          </a:ln>
        </p:spPr>
      </p:sp>
      <p:sp>
        <p:nvSpPr>
          <p:cNvPr id="78" name="Shape 76"/>
          <p:cNvSpPr/>
          <p:nvPr/>
        </p:nvSpPr>
        <p:spPr>
          <a:xfrm>
            <a:off x="5770128" y="1950002"/>
            <a:ext cx="0" cy="123708"/>
          </a:xfrm>
          <a:prstGeom prst="line">
            <a:avLst/>
          </a:prstGeom>
          <a:noFill/>
          <a:ln w="12960">
            <a:solidFill>
              <a:srgbClr val="31312D"/>
            </a:solidFill>
            <a:prstDash val="solid"/>
            <a:headEnd type="triangle"/>
          </a:ln>
        </p:spPr>
      </p:sp>
      <p:sp>
        <p:nvSpPr>
          <p:cNvPr id="79" name="Shape 77"/>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80" name="Shape 78"/>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12960">
            <a:solidFill>
              <a:srgbClr val="B1B1B0"/>
            </a:solidFill>
            <a:prstDash val="solid"/>
          </a:ln>
        </p:spPr>
      </p:sp>
      <p:sp>
        <p:nvSpPr>
          <p:cNvPr id="81" name="Shape 79"/>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12960">
            <a:solidFill>
              <a:srgbClr val="B1B1B0"/>
            </a:solidFill>
            <a:prstDash val="solid"/>
          </a:ln>
        </p:spPr>
      </p:sp>
      <p:sp>
        <p:nvSpPr>
          <p:cNvPr id="82" name="Shape 80"/>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12960">
            <a:solidFill>
              <a:srgbClr val="66B566"/>
            </a:solidFill>
            <a:prstDash val="solid"/>
          </a:ln>
        </p:spPr>
      </p:sp>
      <p:sp>
        <p:nvSpPr>
          <p:cNvPr id="83" name="Shape 81"/>
          <p:cNvSpPr/>
          <p:nvPr/>
        </p:nvSpPr>
        <p:spPr>
          <a:xfrm>
            <a:off x="8043994" y="2670158"/>
            <a:ext cx="129599" cy="129599"/>
          </a:xfrm>
          <a:prstGeom prst="ellipse">
            <a:avLst/>
          </a:prstGeom>
          <a:solidFill>
            <a:srgbClr val="FFFFFF"/>
          </a:solidFill>
          <a:ln w="16494">
            <a:solidFill>
              <a:srgbClr val="1A1A16"/>
            </a:solidFill>
            <a:prstDash val="solid"/>
          </a:ln>
        </p:spPr>
      </p:sp>
      <p:sp>
        <p:nvSpPr>
          <p:cNvPr id="84" name="Shape 82"/>
          <p:cNvSpPr/>
          <p:nvPr/>
        </p:nvSpPr>
        <p:spPr>
          <a:xfrm>
            <a:off x="8073449" y="2734957"/>
            <a:ext cx="70690" cy="0"/>
          </a:xfrm>
          <a:prstGeom prst="line">
            <a:avLst/>
          </a:prstGeom>
          <a:noFill/>
          <a:ln w="10604">
            <a:solidFill>
              <a:srgbClr val="1A1A16"/>
            </a:solidFill>
            <a:prstDash val="solid"/>
          </a:ln>
        </p:spPr>
      </p:sp>
      <p:sp>
        <p:nvSpPr>
          <p:cNvPr id="85" name="Shape 83"/>
          <p:cNvSpPr/>
          <p:nvPr/>
        </p:nvSpPr>
        <p:spPr>
          <a:xfrm>
            <a:off x="8108794" y="2699612"/>
            <a:ext cx="0" cy="70690"/>
          </a:xfrm>
          <a:prstGeom prst="line">
            <a:avLst/>
          </a:prstGeom>
          <a:noFill/>
          <a:ln w="10604">
            <a:solidFill>
              <a:srgbClr val="1A1A16"/>
            </a:solidFill>
            <a:prstDash val="solid"/>
          </a:ln>
        </p:spPr>
      </p:sp>
      <p:sp>
        <p:nvSpPr>
          <p:cNvPr id="86" name="Shape 84"/>
          <p:cNvSpPr/>
          <p:nvPr/>
        </p:nvSpPr>
        <p:spPr>
          <a:xfrm>
            <a:off x="8108794" y="2546450"/>
            <a:ext cx="0" cy="123708"/>
          </a:xfrm>
          <a:prstGeom prst="line">
            <a:avLst/>
          </a:prstGeom>
          <a:noFill/>
          <a:ln w="16494">
            <a:solidFill>
              <a:srgbClr val="31312D"/>
            </a:solidFill>
            <a:prstDash val="solid"/>
            <a:headEnd type="triangle"/>
          </a:ln>
        </p:spPr>
      </p:sp>
      <p:sp>
        <p:nvSpPr>
          <p:cNvPr id="87" name="Shape 85"/>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88" name="Shape 86"/>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89" name="Shape 87"/>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90" name="Shape 88"/>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91" name="Shape 89"/>
          <p:cNvSpPr/>
          <p:nvPr/>
        </p:nvSpPr>
        <p:spPr>
          <a:xfrm>
            <a:off x="7767125" y="2073710"/>
            <a:ext cx="129599" cy="129599"/>
          </a:xfrm>
          <a:prstGeom prst="ellipse">
            <a:avLst/>
          </a:prstGeom>
          <a:solidFill>
            <a:srgbClr val="FFFFFF"/>
          </a:solidFill>
          <a:ln w="11782">
            <a:solidFill>
              <a:srgbClr val="1A1A16"/>
            </a:solidFill>
            <a:prstDash val="solid"/>
          </a:ln>
        </p:spPr>
      </p:sp>
      <p:sp>
        <p:nvSpPr>
          <p:cNvPr id="92" name="Shape 90"/>
          <p:cNvSpPr/>
          <p:nvPr/>
        </p:nvSpPr>
        <p:spPr>
          <a:xfrm>
            <a:off x="7796579" y="2138509"/>
            <a:ext cx="70690" cy="0"/>
          </a:xfrm>
          <a:prstGeom prst="line">
            <a:avLst/>
          </a:prstGeom>
          <a:noFill/>
          <a:ln w="10604">
            <a:solidFill>
              <a:srgbClr val="1A1A16"/>
            </a:solidFill>
            <a:prstDash val="solid"/>
          </a:ln>
        </p:spPr>
      </p:sp>
      <p:sp>
        <p:nvSpPr>
          <p:cNvPr id="93" name="Shape 91"/>
          <p:cNvSpPr/>
          <p:nvPr/>
        </p:nvSpPr>
        <p:spPr>
          <a:xfrm>
            <a:off x="7831924" y="2103164"/>
            <a:ext cx="0" cy="70690"/>
          </a:xfrm>
          <a:prstGeom prst="line">
            <a:avLst/>
          </a:prstGeom>
          <a:noFill/>
          <a:ln w="10604">
            <a:solidFill>
              <a:srgbClr val="1A1A16"/>
            </a:solidFill>
            <a:prstDash val="solid"/>
          </a:ln>
        </p:spPr>
      </p:sp>
      <p:sp>
        <p:nvSpPr>
          <p:cNvPr id="94" name="Shape 92"/>
          <p:cNvSpPr/>
          <p:nvPr/>
        </p:nvSpPr>
        <p:spPr>
          <a:xfrm>
            <a:off x="7831924" y="1950002"/>
            <a:ext cx="0" cy="123708"/>
          </a:xfrm>
          <a:prstGeom prst="line">
            <a:avLst/>
          </a:prstGeom>
          <a:noFill/>
          <a:ln w="12960">
            <a:solidFill>
              <a:srgbClr val="31312D"/>
            </a:solidFill>
            <a:prstDash val="solid"/>
            <a:headEnd type="triangle"/>
          </a:ln>
        </p:spPr>
      </p:sp>
      <p:sp>
        <p:nvSpPr>
          <p:cNvPr id="95" name="Shape 9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12960">
            <a:solidFill>
              <a:srgbClr val="B1B1B0"/>
            </a:solidFill>
            <a:prstDash val="solid"/>
          </a:ln>
        </p:spPr>
      </p:sp>
      <p:sp>
        <p:nvSpPr>
          <p:cNvPr id="96" name="Shape 9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12960">
            <a:solidFill>
              <a:srgbClr val="B1B1B0"/>
            </a:solidFill>
            <a:prstDash val="solid"/>
          </a:ln>
        </p:spPr>
      </p:sp>
      <p:sp>
        <p:nvSpPr>
          <p:cNvPr id="97" name="Shape 95"/>
          <p:cNvSpPr/>
          <p:nvPr/>
        </p:nvSpPr>
        <p:spPr>
          <a:xfrm>
            <a:off x="7490255" y="2670158"/>
            <a:ext cx="129599" cy="129599"/>
          </a:xfrm>
          <a:prstGeom prst="ellipse">
            <a:avLst/>
          </a:prstGeom>
          <a:solidFill>
            <a:srgbClr val="FFFFFF"/>
          </a:solidFill>
          <a:ln w="16494">
            <a:solidFill>
              <a:srgbClr val="1A1A16"/>
            </a:solidFill>
            <a:prstDash val="solid"/>
          </a:ln>
        </p:spPr>
      </p:sp>
      <p:sp>
        <p:nvSpPr>
          <p:cNvPr id="98" name="Shape 96"/>
          <p:cNvSpPr/>
          <p:nvPr/>
        </p:nvSpPr>
        <p:spPr>
          <a:xfrm>
            <a:off x="7519709" y="2734957"/>
            <a:ext cx="70690" cy="0"/>
          </a:xfrm>
          <a:prstGeom prst="line">
            <a:avLst/>
          </a:prstGeom>
          <a:noFill/>
          <a:ln w="10604">
            <a:solidFill>
              <a:srgbClr val="1A1A16"/>
            </a:solidFill>
            <a:prstDash val="solid"/>
          </a:ln>
        </p:spPr>
      </p:sp>
      <p:sp>
        <p:nvSpPr>
          <p:cNvPr id="99" name="Shape 97"/>
          <p:cNvSpPr/>
          <p:nvPr/>
        </p:nvSpPr>
        <p:spPr>
          <a:xfrm>
            <a:off x="7555054" y="2699612"/>
            <a:ext cx="0" cy="70690"/>
          </a:xfrm>
          <a:prstGeom prst="line">
            <a:avLst/>
          </a:prstGeom>
          <a:noFill/>
          <a:ln w="10604">
            <a:solidFill>
              <a:srgbClr val="1A1A16"/>
            </a:solidFill>
            <a:prstDash val="solid"/>
          </a:ln>
        </p:spPr>
      </p:sp>
      <p:sp>
        <p:nvSpPr>
          <p:cNvPr id="100" name="Shape 98"/>
          <p:cNvSpPr/>
          <p:nvPr/>
        </p:nvSpPr>
        <p:spPr>
          <a:xfrm>
            <a:off x="7555054" y="2546450"/>
            <a:ext cx="0" cy="123708"/>
          </a:xfrm>
          <a:prstGeom prst="line">
            <a:avLst/>
          </a:prstGeom>
          <a:noFill/>
          <a:ln w="16494">
            <a:solidFill>
              <a:srgbClr val="31312D"/>
            </a:solidFill>
            <a:prstDash val="solid"/>
            <a:headEnd type="triangle"/>
          </a:ln>
        </p:spPr>
      </p:sp>
      <p:sp>
        <p:nvSpPr>
          <p:cNvPr id="101" name="Shape 99"/>
          <p:cNvSpPr/>
          <p:nvPr/>
        </p:nvSpPr>
        <p:spPr>
          <a:xfrm>
            <a:off x="5592813" y="473756"/>
            <a:ext cx="354629" cy="354629"/>
          </a:xfrm>
          <a:prstGeom prst="diamond">
            <a:avLst/>
          </a:prstGeom>
          <a:solidFill>
            <a:srgbClr val="FFFFFF"/>
          </a:solidFill>
          <a:ln w="18851">
            <a:solidFill>
              <a:srgbClr val="1A1A16"/>
            </a:solidFill>
            <a:prstDash val="solid"/>
          </a:ln>
        </p:spPr>
      </p:sp>
      <p:sp>
        <p:nvSpPr>
          <p:cNvPr id="102" name="Shape 100"/>
          <p:cNvSpPr/>
          <p:nvPr/>
        </p:nvSpPr>
        <p:spPr>
          <a:xfrm>
            <a:off x="3596406" y="3491931"/>
            <a:ext cx="282761" cy="282761"/>
          </a:xfrm>
          <a:prstGeom prst="ellipse">
            <a:avLst/>
          </a:prstGeom>
          <a:ln w="15316">
            <a:solidFill>
              <a:srgbClr val="BABAB9"/>
            </a:solidFill>
            <a:prstDash val="solid"/>
          </a:ln>
        </p:spPr>
      </p:sp>
      <p:sp>
        <p:nvSpPr>
          <p:cNvPr id="103" name="Shape 101"/>
          <p:cNvSpPr/>
          <p:nvPr/>
        </p:nvSpPr>
        <p:spPr>
          <a:xfrm>
            <a:off x="3659438" y="3555258"/>
            <a:ext cx="156697" cy="156107"/>
          </a:xfrm>
          <a:prstGeom prst="rect">
            <a:avLst/>
          </a:prstGeom>
          <a:solidFill>
            <a:srgbClr val="FFFFFF"/>
          </a:solidFill>
          <a:ln w="21207">
            <a:solidFill>
              <a:srgbClr val="1A1A16"/>
            </a:solidFill>
            <a:prstDash val="solid"/>
          </a:ln>
        </p:spPr>
      </p:sp>
      <p:sp>
        <p:nvSpPr>
          <p:cNvPr id="104" name="Shape 102"/>
          <p:cNvSpPr/>
          <p:nvPr/>
        </p:nvSpPr>
        <p:spPr>
          <a:xfrm>
            <a:off x="7721176" y="1137065"/>
            <a:ext cx="221496" cy="220907"/>
          </a:xfrm>
          <a:prstGeom prst="diamond">
            <a:avLst/>
          </a:prstGeom>
          <a:solidFill>
            <a:srgbClr val="FFFFFF"/>
          </a:solidFill>
          <a:ln w="12371">
            <a:solidFill>
              <a:srgbClr val="1A1A16"/>
            </a:solidFill>
            <a:prstDash val="solid"/>
          </a:ln>
        </p:spPr>
      </p:sp>
      <p:sp>
        <p:nvSpPr>
          <p:cNvPr id="105" name="Shape 103"/>
          <p:cNvSpPr/>
          <p:nvPr/>
        </p:nvSpPr>
        <p:spPr>
          <a:xfrm>
            <a:off x="4180777" y="3522858"/>
            <a:ext cx="221496" cy="220907"/>
          </a:xfrm>
          <a:prstGeom prst="diamond">
            <a:avLst/>
          </a:prstGeom>
          <a:solidFill>
            <a:srgbClr val="FFFFFF"/>
          </a:solidFill>
          <a:ln w="12371">
            <a:solidFill>
              <a:srgbClr val="1A1A16"/>
            </a:solidFill>
            <a:prstDash val="solid"/>
          </a:ln>
        </p:spPr>
      </p:sp>
      <p:sp>
        <p:nvSpPr>
          <p:cNvPr id="106" name="Shape 104"/>
          <p:cNvSpPr/>
          <p:nvPr/>
        </p:nvSpPr>
        <p:spPr>
          <a:xfrm>
            <a:off x="4203163" y="4141397"/>
            <a:ext cx="176725" cy="176725"/>
          </a:xfrm>
          <a:prstGeom prst="ellipse">
            <a:avLst/>
          </a:prstGeom>
          <a:solidFill>
            <a:srgbClr val="FFFFFF"/>
          </a:solidFill>
          <a:ln w="12371">
            <a:solidFill>
              <a:srgbClr val="1A1A16"/>
            </a:solidFill>
            <a:prstDash val="solid"/>
          </a:ln>
        </p:spPr>
      </p:sp>
      <p:sp>
        <p:nvSpPr>
          <p:cNvPr id="107" name="Shape 105"/>
          <p:cNvSpPr/>
          <p:nvPr/>
        </p:nvSpPr>
        <p:spPr>
          <a:xfrm>
            <a:off x="7714107" y="3515494"/>
            <a:ext cx="235634" cy="235634"/>
          </a:xfrm>
          <a:prstGeom prst="ellipse">
            <a:avLst/>
          </a:prstGeom>
          <a:solidFill>
            <a:srgbClr val="FFFFFF"/>
          </a:solidFill>
          <a:ln w="12371">
            <a:solidFill>
              <a:srgbClr val="1A1A16"/>
            </a:solidFill>
            <a:prstDash val="solid"/>
          </a:ln>
        </p:spPr>
      </p:sp>
      <p:sp>
        <p:nvSpPr>
          <p:cNvPr id="108" name="Shape 106"/>
          <p:cNvSpPr/>
          <p:nvPr/>
        </p:nvSpPr>
        <p:spPr>
          <a:xfrm>
            <a:off x="5691780" y="2362361"/>
            <a:ext cx="156697" cy="156107"/>
          </a:xfrm>
          <a:prstGeom prst="rect">
            <a:avLst/>
          </a:prstGeom>
          <a:solidFill>
            <a:srgbClr val="FFFFFF"/>
          </a:solidFill>
          <a:ln w="12371">
            <a:solidFill>
              <a:srgbClr val="1A1A16"/>
            </a:solidFill>
            <a:prstDash val="solid"/>
          </a:ln>
        </p:spPr>
      </p:sp>
      <p:sp>
        <p:nvSpPr>
          <p:cNvPr id="109" name="Shape 107"/>
          <p:cNvSpPr/>
          <p:nvPr/>
        </p:nvSpPr>
        <p:spPr>
          <a:xfrm>
            <a:off x="5628747" y="2895483"/>
            <a:ext cx="282761" cy="282761"/>
          </a:xfrm>
          <a:prstGeom prst="ellipse">
            <a:avLst/>
          </a:prstGeom>
          <a:ln w="15316">
            <a:solidFill>
              <a:srgbClr val="BABAB9"/>
            </a:solidFill>
            <a:prstDash val="solid"/>
          </a:ln>
        </p:spPr>
      </p:sp>
      <p:sp>
        <p:nvSpPr>
          <p:cNvPr id="110" name="Shape 108"/>
          <p:cNvSpPr/>
          <p:nvPr/>
        </p:nvSpPr>
        <p:spPr>
          <a:xfrm>
            <a:off x="5681765" y="2948500"/>
            <a:ext cx="176725" cy="176725"/>
          </a:xfrm>
          <a:prstGeom prst="ellipse">
            <a:avLst/>
          </a:prstGeom>
          <a:solidFill>
            <a:srgbClr val="FFFFFF"/>
          </a:solidFill>
          <a:ln w="21207">
            <a:solidFill>
              <a:srgbClr val="1A1A16"/>
            </a:solidFill>
            <a:prstDash val="solid"/>
          </a:ln>
        </p:spPr>
      </p:sp>
      <p:sp>
        <p:nvSpPr>
          <p:cNvPr id="111" name="Shape 109"/>
          <p:cNvSpPr/>
          <p:nvPr/>
        </p:nvSpPr>
        <p:spPr>
          <a:xfrm>
            <a:off x="3566951" y="4655373"/>
            <a:ext cx="341669" cy="341669"/>
          </a:xfrm>
          <a:prstGeom prst="ellipse">
            <a:avLst/>
          </a:prstGeom>
          <a:ln w="15316">
            <a:solidFill>
              <a:srgbClr val="BABAB9"/>
            </a:solidFill>
            <a:prstDash val="solid"/>
          </a:ln>
        </p:spPr>
      </p:sp>
      <p:sp>
        <p:nvSpPr>
          <p:cNvPr id="112" name="Shape 110"/>
          <p:cNvSpPr/>
          <p:nvPr/>
        </p:nvSpPr>
        <p:spPr>
          <a:xfrm>
            <a:off x="3619969" y="4708391"/>
            <a:ext cx="235634" cy="235634"/>
          </a:xfrm>
          <a:prstGeom prst="ellipse">
            <a:avLst/>
          </a:prstGeom>
          <a:solidFill>
            <a:srgbClr val="FFFFFF"/>
          </a:solidFill>
          <a:ln w="21207">
            <a:solidFill>
              <a:srgbClr val="1A1A16"/>
            </a:solidFill>
            <a:prstDash val="solid"/>
          </a:ln>
        </p:spPr>
      </p:sp>
      <p:sp>
        <p:nvSpPr>
          <p:cNvPr id="113" name="Shape 111"/>
          <p:cNvSpPr/>
          <p:nvPr/>
        </p:nvSpPr>
        <p:spPr>
          <a:xfrm>
            <a:off x="9844826" y="2362361"/>
            <a:ext cx="156697" cy="156107"/>
          </a:xfrm>
          <a:prstGeom prst="rect">
            <a:avLst/>
          </a:prstGeom>
          <a:solidFill>
            <a:srgbClr val="FFFFFF"/>
          </a:solidFill>
          <a:ln w="12371">
            <a:solidFill>
              <a:srgbClr val="1A1A16"/>
            </a:solidFill>
            <a:prstDash val="solid"/>
          </a:ln>
        </p:spPr>
      </p:sp>
      <p:sp>
        <p:nvSpPr>
          <p:cNvPr id="114" name="Shape 112"/>
          <p:cNvSpPr/>
          <p:nvPr/>
        </p:nvSpPr>
        <p:spPr>
          <a:xfrm>
            <a:off x="9805357" y="3515494"/>
            <a:ext cx="235634" cy="235634"/>
          </a:xfrm>
          <a:prstGeom prst="ellipse">
            <a:avLst/>
          </a:prstGeom>
          <a:solidFill>
            <a:srgbClr val="FFFFFF"/>
          </a:solidFill>
          <a:ln w="12371">
            <a:solidFill>
              <a:srgbClr val="1A1A16"/>
            </a:solidFill>
            <a:prstDash val="solid"/>
          </a:ln>
        </p:spPr>
      </p:sp>
      <p:sp>
        <p:nvSpPr>
          <p:cNvPr id="115" name="Shape 113"/>
          <p:cNvSpPr/>
          <p:nvPr/>
        </p:nvSpPr>
        <p:spPr>
          <a:xfrm>
            <a:off x="3042666" y="4088379"/>
            <a:ext cx="282761" cy="282761"/>
          </a:xfrm>
          <a:prstGeom prst="ellipse">
            <a:avLst/>
          </a:prstGeom>
          <a:ln w="15316">
            <a:solidFill>
              <a:srgbClr val="BABAB9"/>
            </a:solidFill>
            <a:prstDash val="solid"/>
          </a:ln>
        </p:spPr>
      </p:sp>
      <p:sp>
        <p:nvSpPr>
          <p:cNvPr id="116" name="Shape 114"/>
          <p:cNvSpPr/>
          <p:nvPr/>
        </p:nvSpPr>
        <p:spPr>
          <a:xfrm>
            <a:off x="3095684" y="4141397"/>
            <a:ext cx="176725" cy="176725"/>
          </a:xfrm>
          <a:prstGeom prst="ellipse">
            <a:avLst/>
          </a:prstGeom>
          <a:solidFill>
            <a:srgbClr val="FFFFFF"/>
          </a:solidFill>
          <a:ln w="21207">
            <a:solidFill>
              <a:srgbClr val="1A1A16"/>
            </a:solidFill>
            <a:prstDash val="solid"/>
          </a:ln>
        </p:spPr>
      </p:sp>
      <p:sp>
        <p:nvSpPr>
          <p:cNvPr id="117" name="Shape 115"/>
          <p:cNvSpPr/>
          <p:nvPr/>
        </p:nvSpPr>
        <p:spPr>
          <a:xfrm>
            <a:off x="5659380" y="1733219"/>
            <a:ext cx="221496" cy="221496"/>
          </a:xfrm>
          <a:prstGeom prst="diamond">
            <a:avLst/>
          </a:prstGeom>
          <a:solidFill>
            <a:srgbClr val="FFFFFF"/>
          </a:solidFill>
          <a:ln w="12371">
            <a:solidFill>
              <a:srgbClr val="1A1A16"/>
            </a:solidFill>
            <a:prstDash val="solid"/>
          </a:ln>
        </p:spPr>
      </p:sp>
      <p:sp>
        <p:nvSpPr>
          <p:cNvPr id="118" name="Shape 116"/>
          <p:cNvSpPr/>
          <p:nvPr/>
        </p:nvSpPr>
        <p:spPr>
          <a:xfrm>
            <a:off x="7690544" y="2895483"/>
            <a:ext cx="282761" cy="282761"/>
          </a:xfrm>
          <a:prstGeom prst="ellipse">
            <a:avLst/>
          </a:prstGeom>
          <a:ln w="15316">
            <a:solidFill>
              <a:srgbClr val="BABAB9"/>
            </a:solidFill>
            <a:prstDash val="solid"/>
          </a:ln>
        </p:spPr>
      </p:sp>
      <p:sp>
        <p:nvSpPr>
          <p:cNvPr id="119" name="Shape 117"/>
          <p:cNvSpPr/>
          <p:nvPr/>
        </p:nvSpPr>
        <p:spPr>
          <a:xfrm>
            <a:off x="7753576" y="2958515"/>
            <a:ext cx="156697" cy="156697"/>
          </a:xfrm>
          <a:prstGeom prst="rect">
            <a:avLst/>
          </a:prstGeom>
          <a:solidFill>
            <a:srgbClr val="FFFFFF"/>
          </a:solidFill>
          <a:ln w="21207">
            <a:solidFill>
              <a:srgbClr val="1A1A16"/>
            </a:solidFill>
            <a:prstDash val="solid"/>
          </a:ln>
        </p:spPr>
      </p:sp>
      <p:sp>
        <p:nvSpPr>
          <p:cNvPr id="120" name="Shape 118"/>
          <p:cNvSpPr/>
          <p:nvPr/>
        </p:nvSpPr>
        <p:spPr>
          <a:xfrm>
            <a:off x="7989799" y="2302864"/>
            <a:ext cx="237990" cy="206180"/>
          </a:xfrm>
          <a:prstGeom prst="triangle">
            <a:avLst/>
          </a:prstGeom>
          <a:solidFill>
            <a:srgbClr val="FFFFFF"/>
          </a:solidFill>
          <a:ln w="12371">
            <a:solidFill>
              <a:srgbClr val="1A1A16"/>
            </a:solidFill>
            <a:prstDash val="solid"/>
          </a:ln>
        </p:spPr>
      </p:sp>
      <p:sp>
        <p:nvSpPr>
          <p:cNvPr id="121" name="Shape 119"/>
          <p:cNvSpPr/>
          <p:nvPr/>
        </p:nvSpPr>
        <p:spPr>
          <a:xfrm>
            <a:off x="7712929" y="1706710"/>
            <a:ext cx="237990" cy="206180"/>
          </a:xfrm>
          <a:prstGeom prst="triangle">
            <a:avLst/>
          </a:prstGeom>
          <a:solidFill>
            <a:srgbClr val="FFFFFF"/>
          </a:solidFill>
          <a:ln w="12371">
            <a:solidFill>
              <a:srgbClr val="1A1A16"/>
            </a:solidFill>
            <a:prstDash val="solid"/>
          </a:ln>
        </p:spPr>
      </p:sp>
      <p:sp>
        <p:nvSpPr>
          <p:cNvPr id="122" name="Shape 120"/>
          <p:cNvSpPr/>
          <p:nvPr/>
        </p:nvSpPr>
        <p:spPr>
          <a:xfrm>
            <a:off x="5351878" y="3491931"/>
            <a:ext cx="282761" cy="282761"/>
          </a:xfrm>
          <a:prstGeom prst="ellipse">
            <a:avLst/>
          </a:prstGeom>
          <a:ln w="15316">
            <a:solidFill>
              <a:srgbClr val="BABAB9"/>
            </a:solidFill>
            <a:prstDash val="solid"/>
          </a:ln>
        </p:spPr>
      </p:sp>
      <p:sp>
        <p:nvSpPr>
          <p:cNvPr id="123" name="Shape 121"/>
          <p:cNvSpPr/>
          <p:nvPr/>
        </p:nvSpPr>
        <p:spPr>
          <a:xfrm>
            <a:off x="5404895" y="3544949"/>
            <a:ext cx="176725" cy="176725"/>
          </a:xfrm>
          <a:prstGeom prst="ellipse">
            <a:avLst/>
          </a:prstGeom>
          <a:solidFill>
            <a:srgbClr val="FFFFFF"/>
          </a:solidFill>
          <a:ln w="21207">
            <a:solidFill>
              <a:srgbClr val="1A1A16"/>
            </a:solidFill>
            <a:prstDash val="solid"/>
          </a:ln>
        </p:spPr>
      </p:sp>
      <p:sp>
        <p:nvSpPr>
          <p:cNvPr id="124" name="Shape 122"/>
          <p:cNvSpPr/>
          <p:nvPr/>
        </p:nvSpPr>
        <p:spPr>
          <a:xfrm>
            <a:off x="7476706" y="2362361"/>
            <a:ext cx="156697" cy="156107"/>
          </a:xfrm>
          <a:prstGeom prst="rect">
            <a:avLst/>
          </a:prstGeom>
          <a:solidFill>
            <a:srgbClr val="FFFFFF"/>
          </a:solidFill>
          <a:ln w="12371">
            <a:solidFill>
              <a:srgbClr val="1A1A16"/>
            </a:solidFill>
            <a:prstDash val="solid"/>
          </a:ln>
        </p:spPr>
      </p:sp>
      <p:sp>
        <p:nvSpPr>
          <p:cNvPr id="125" name="Shape 123"/>
          <p:cNvSpPr/>
          <p:nvPr/>
        </p:nvSpPr>
        <p:spPr>
          <a:xfrm>
            <a:off x="5905617" y="3491931"/>
            <a:ext cx="282761" cy="282761"/>
          </a:xfrm>
          <a:prstGeom prst="ellipse">
            <a:avLst/>
          </a:prstGeom>
          <a:ln w="15316">
            <a:solidFill>
              <a:srgbClr val="BABAB9"/>
            </a:solidFill>
            <a:prstDash val="solid"/>
          </a:ln>
        </p:spPr>
      </p:sp>
      <p:sp>
        <p:nvSpPr>
          <p:cNvPr id="126" name="Shape 124"/>
          <p:cNvSpPr/>
          <p:nvPr/>
        </p:nvSpPr>
        <p:spPr>
          <a:xfrm>
            <a:off x="5958635" y="3544949"/>
            <a:ext cx="176725" cy="176725"/>
          </a:xfrm>
          <a:prstGeom prst="ellipse">
            <a:avLst/>
          </a:prstGeom>
          <a:solidFill>
            <a:srgbClr val="FFFFFF"/>
          </a:solidFill>
          <a:ln w="21207">
            <a:solidFill>
              <a:srgbClr val="1A1A16"/>
            </a:solidFill>
            <a:prstDash val="solid"/>
          </a:ln>
        </p:spPr>
      </p:sp>
      <p:sp>
        <p:nvSpPr>
          <p:cNvPr id="127" name="Shape 125"/>
          <p:cNvSpPr/>
          <p:nvPr/>
        </p:nvSpPr>
        <p:spPr>
          <a:xfrm>
            <a:off x="7661089" y="5251821"/>
            <a:ext cx="341669" cy="341669"/>
          </a:xfrm>
          <a:prstGeom prst="ellipse">
            <a:avLst/>
          </a:prstGeom>
          <a:ln w="15316">
            <a:solidFill>
              <a:srgbClr val="BABAB9"/>
            </a:solidFill>
            <a:prstDash val="solid"/>
          </a:ln>
        </p:spPr>
      </p:sp>
      <p:sp>
        <p:nvSpPr>
          <p:cNvPr id="128" name="Shape 126"/>
          <p:cNvSpPr/>
          <p:nvPr/>
        </p:nvSpPr>
        <p:spPr>
          <a:xfrm>
            <a:off x="7719998" y="5293057"/>
            <a:ext cx="223852" cy="259197"/>
          </a:xfrm>
          <a:prstGeom prst="hexagon">
            <a:avLst/>
          </a:prstGeom>
          <a:solidFill>
            <a:srgbClr val="FFFFFF"/>
          </a:solidFill>
          <a:ln w="21207">
            <a:solidFill>
              <a:srgbClr val="008300"/>
            </a:solidFill>
            <a:prstDash val="solid"/>
          </a:ln>
        </p:spPr>
      </p:sp>
      <p:sp>
        <p:nvSpPr>
          <p:cNvPr id="129" name="Shape 127"/>
          <p:cNvSpPr/>
          <p:nvPr/>
        </p:nvSpPr>
        <p:spPr>
          <a:xfrm>
            <a:off x="2088349" y="5251821"/>
            <a:ext cx="341669" cy="341669"/>
          </a:xfrm>
          <a:prstGeom prst="ellipse">
            <a:avLst/>
          </a:prstGeom>
          <a:ln w="15316">
            <a:solidFill>
              <a:srgbClr val="BABAB9"/>
            </a:solidFill>
            <a:prstDash val="solid"/>
          </a:ln>
        </p:spPr>
      </p:sp>
      <p:sp>
        <p:nvSpPr>
          <p:cNvPr id="130" name="Shape 128"/>
          <p:cNvSpPr/>
          <p:nvPr/>
        </p:nvSpPr>
        <p:spPr>
          <a:xfrm>
            <a:off x="2147257" y="5293057"/>
            <a:ext cx="223852" cy="259197"/>
          </a:xfrm>
          <a:prstGeom prst="hexagon">
            <a:avLst/>
          </a:prstGeom>
          <a:solidFill>
            <a:srgbClr val="FFFFFF"/>
          </a:solidFill>
          <a:ln w="21207">
            <a:solidFill>
              <a:srgbClr val="1BAF7A"/>
            </a:solidFill>
            <a:prstDash val="solid"/>
          </a:ln>
        </p:spPr>
      </p:sp>
      <p:sp>
        <p:nvSpPr>
          <p:cNvPr id="131" name="Shape 129"/>
          <p:cNvSpPr/>
          <p:nvPr/>
        </p:nvSpPr>
        <p:spPr>
          <a:xfrm>
            <a:off x="9811248" y="5293057"/>
            <a:ext cx="223852" cy="259197"/>
          </a:xfrm>
          <a:prstGeom prst="hexagon">
            <a:avLst/>
          </a:prstGeom>
          <a:solidFill>
            <a:srgbClr val="FFFFFF"/>
          </a:solidFill>
          <a:ln w="12371">
            <a:solidFill>
              <a:srgbClr val="2A78D6"/>
            </a:solidFill>
            <a:prstDash val="solid"/>
          </a:ln>
        </p:spPr>
      </p:sp>
      <p:sp>
        <p:nvSpPr>
          <p:cNvPr id="132" name="Shape 130"/>
          <p:cNvSpPr/>
          <p:nvPr/>
        </p:nvSpPr>
        <p:spPr>
          <a:xfrm>
            <a:off x="3566951" y="5251821"/>
            <a:ext cx="341669" cy="341669"/>
          </a:xfrm>
          <a:prstGeom prst="ellipse">
            <a:avLst/>
          </a:prstGeom>
          <a:ln w="15316">
            <a:solidFill>
              <a:srgbClr val="BABAB9"/>
            </a:solidFill>
            <a:prstDash val="solid"/>
          </a:ln>
        </p:spPr>
      </p:sp>
      <p:sp>
        <p:nvSpPr>
          <p:cNvPr id="133" name="Shape 131"/>
          <p:cNvSpPr/>
          <p:nvPr/>
        </p:nvSpPr>
        <p:spPr>
          <a:xfrm>
            <a:off x="3625860" y="5293057"/>
            <a:ext cx="223852" cy="259197"/>
          </a:xfrm>
          <a:prstGeom prst="hexagon">
            <a:avLst/>
          </a:prstGeom>
          <a:solidFill>
            <a:srgbClr val="FFFFFF"/>
          </a:solidFill>
          <a:ln w="21207">
            <a:solidFill>
              <a:srgbClr val="4A3AA7"/>
            </a:solidFill>
            <a:prstDash val="solid"/>
          </a:ln>
        </p:spPr>
      </p:sp>
      <p:sp>
        <p:nvSpPr>
          <p:cNvPr id="134" name="Text 13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35" name="Text 13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36" name="Text 134"/>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37" name="Text 135"/>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38" name="Text 136"/>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39" name="Text 137"/>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40" name="Text 13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6494">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6494">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69" name="Shape 67"/>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0" name="Shape 68"/>
          <p:cNvSpPr/>
          <p:nvPr/>
        </p:nvSpPr>
        <p:spPr>
          <a:xfrm>
            <a:off x="5705328" y="2670158"/>
            <a:ext cx="129599" cy="129599"/>
          </a:xfrm>
          <a:prstGeom prst="ellipse">
            <a:avLst/>
          </a:prstGeom>
          <a:solidFill>
            <a:srgbClr val="FFFFFF"/>
          </a:solidFill>
          <a:ln w="11782">
            <a:solidFill>
              <a:srgbClr val="1A1A16"/>
            </a:solidFill>
            <a:prstDash val="solid"/>
          </a:ln>
        </p:spPr>
      </p:sp>
      <p:sp>
        <p:nvSpPr>
          <p:cNvPr id="71" name="Shape 69"/>
          <p:cNvSpPr/>
          <p:nvPr/>
        </p:nvSpPr>
        <p:spPr>
          <a:xfrm>
            <a:off x="5734783" y="2734957"/>
            <a:ext cx="70690" cy="0"/>
          </a:xfrm>
          <a:prstGeom prst="line">
            <a:avLst/>
          </a:prstGeom>
          <a:noFill/>
          <a:ln w="10604">
            <a:solidFill>
              <a:srgbClr val="1A1A16"/>
            </a:solidFill>
            <a:prstDash val="solid"/>
          </a:ln>
        </p:spPr>
      </p:sp>
      <p:sp>
        <p:nvSpPr>
          <p:cNvPr id="72" name="Shape 70"/>
          <p:cNvSpPr/>
          <p:nvPr/>
        </p:nvSpPr>
        <p:spPr>
          <a:xfrm>
            <a:off x="5770128" y="2699612"/>
            <a:ext cx="0" cy="70690"/>
          </a:xfrm>
          <a:prstGeom prst="line">
            <a:avLst/>
          </a:prstGeom>
          <a:noFill/>
          <a:ln w="10604">
            <a:solidFill>
              <a:srgbClr val="1A1A16"/>
            </a:solidFill>
            <a:prstDash val="solid"/>
          </a:ln>
        </p:spPr>
      </p:sp>
      <p:sp>
        <p:nvSpPr>
          <p:cNvPr id="73" name="Shape 71"/>
          <p:cNvSpPr/>
          <p:nvPr/>
        </p:nvSpPr>
        <p:spPr>
          <a:xfrm>
            <a:off x="5770128" y="2546450"/>
            <a:ext cx="0" cy="123708"/>
          </a:xfrm>
          <a:prstGeom prst="line">
            <a:avLst/>
          </a:prstGeom>
          <a:noFill/>
          <a:ln w="12960">
            <a:solidFill>
              <a:srgbClr val="31312D"/>
            </a:solidFill>
            <a:prstDash val="solid"/>
            <a:headEnd type="triangle"/>
          </a:ln>
        </p:spPr>
      </p:sp>
      <p:sp>
        <p:nvSpPr>
          <p:cNvPr id="74" name="Shape 72"/>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12960">
            <a:solidFill>
              <a:srgbClr val="B1B1B0"/>
            </a:solidFill>
            <a:prstDash val="solid"/>
          </a:ln>
        </p:spPr>
      </p:sp>
      <p:sp>
        <p:nvSpPr>
          <p:cNvPr id="75" name="Shape 73"/>
          <p:cNvSpPr/>
          <p:nvPr/>
        </p:nvSpPr>
        <p:spPr>
          <a:xfrm>
            <a:off x="5705328" y="3266606"/>
            <a:ext cx="129599" cy="129599"/>
          </a:xfrm>
          <a:prstGeom prst="ellipse">
            <a:avLst/>
          </a:prstGeom>
          <a:solidFill>
            <a:srgbClr val="FFFFFF"/>
          </a:solidFill>
          <a:ln w="16494">
            <a:solidFill>
              <a:srgbClr val="1A1A16"/>
            </a:solidFill>
            <a:prstDash val="solid"/>
          </a:ln>
        </p:spPr>
      </p:sp>
      <p:sp>
        <p:nvSpPr>
          <p:cNvPr id="76" name="Shape 74"/>
          <p:cNvSpPr/>
          <p:nvPr/>
        </p:nvSpPr>
        <p:spPr>
          <a:xfrm>
            <a:off x="5734783" y="3331405"/>
            <a:ext cx="70690" cy="0"/>
          </a:xfrm>
          <a:prstGeom prst="line">
            <a:avLst/>
          </a:prstGeom>
          <a:noFill/>
          <a:ln w="10604">
            <a:solidFill>
              <a:srgbClr val="1A1A16"/>
            </a:solidFill>
            <a:prstDash val="solid"/>
          </a:ln>
        </p:spPr>
      </p:sp>
      <p:sp>
        <p:nvSpPr>
          <p:cNvPr id="77" name="Shape 75"/>
          <p:cNvSpPr/>
          <p:nvPr/>
        </p:nvSpPr>
        <p:spPr>
          <a:xfrm>
            <a:off x="5770128" y="3296060"/>
            <a:ext cx="0" cy="70690"/>
          </a:xfrm>
          <a:prstGeom prst="line">
            <a:avLst/>
          </a:prstGeom>
          <a:noFill/>
          <a:ln w="10604">
            <a:solidFill>
              <a:srgbClr val="1A1A16"/>
            </a:solidFill>
            <a:prstDash val="solid"/>
          </a:ln>
        </p:spPr>
      </p:sp>
      <p:sp>
        <p:nvSpPr>
          <p:cNvPr id="78" name="Shape 76"/>
          <p:cNvSpPr/>
          <p:nvPr/>
        </p:nvSpPr>
        <p:spPr>
          <a:xfrm>
            <a:off x="5770128" y="3142898"/>
            <a:ext cx="0" cy="123708"/>
          </a:xfrm>
          <a:prstGeom prst="line">
            <a:avLst/>
          </a:prstGeom>
          <a:noFill/>
          <a:ln w="16494">
            <a:solidFill>
              <a:srgbClr val="31312D"/>
            </a:solidFill>
            <a:prstDash val="solid"/>
            <a:headEnd type="triangle"/>
          </a:ln>
        </p:spPr>
      </p:sp>
      <p:sp>
        <p:nvSpPr>
          <p:cNvPr id="79" name="Shape 77"/>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0" name="Shape 78"/>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1" name="Shape 79"/>
          <p:cNvSpPr/>
          <p:nvPr/>
        </p:nvSpPr>
        <p:spPr>
          <a:xfrm>
            <a:off x="9858375" y="2670158"/>
            <a:ext cx="129599" cy="129599"/>
          </a:xfrm>
          <a:prstGeom prst="ellipse">
            <a:avLst/>
          </a:prstGeom>
          <a:solidFill>
            <a:srgbClr val="FFFFFF"/>
          </a:solidFill>
          <a:ln w="11782">
            <a:solidFill>
              <a:srgbClr val="1A1A16"/>
            </a:solidFill>
            <a:prstDash val="solid"/>
          </a:ln>
        </p:spPr>
      </p:sp>
      <p:sp>
        <p:nvSpPr>
          <p:cNvPr id="82" name="Shape 80"/>
          <p:cNvSpPr/>
          <p:nvPr/>
        </p:nvSpPr>
        <p:spPr>
          <a:xfrm>
            <a:off x="9887829" y="2734957"/>
            <a:ext cx="70690" cy="0"/>
          </a:xfrm>
          <a:prstGeom prst="line">
            <a:avLst/>
          </a:prstGeom>
          <a:noFill/>
          <a:ln w="10604">
            <a:solidFill>
              <a:srgbClr val="1A1A16"/>
            </a:solidFill>
            <a:prstDash val="solid"/>
          </a:ln>
        </p:spPr>
      </p:sp>
      <p:sp>
        <p:nvSpPr>
          <p:cNvPr id="83" name="Shape 81"/>
          <p:cNvSpPr/>
          <p:nvPr/>
        </p:nvSpPr>
        <p:spPr>
          <a:xfrm>
            <a:off x="9923174" y="2699612"/>
            <a:ext cx="0" cy="70690"/>
          </a:xfrm>
          <a:prstGeom prst="line">
            <a:avLst/>
          </a:prstGeom>
          <a:noFill/>
          <a:ln w="10604">
            <a:solidFill>
              <a:srgbClr val="1A1A16"/>
            </a:solidFill>
            <a:prstDash val="solid"/>
          </a:ln>
        </p:spPr>
      </p:sp>
      <p:sp>
        <p:nvSpPr>
          <p:cNvPr id="84" name="Shape 82"/>
          <p:cNvSpPr/>
          <p:nvPr/>
        </p:nvSpPr>
        <p:spPr>
          <a:xfrm>
            <a:off x="9923174" y="2546450"/>
            <a:ext cx="0" cy="123708"/>
          </a:xfrm>
          <a:prstGeom prst="line">
            <a:avLst/>
          </a:prstGeom>
          <a:noFill/>
          <a:ln w="12960">
            <a:solidFill>
              <a:srgbClr val="31312D"/>
            </a:solidFill>
            <a:prstDash val="solid"/>
            <a:headEnd type="triangle"/>
          </a:ln>
        </p:spPr>
      </p:sp>
      <p:sp>
        <p:nvSpPr>
          <p:cNvPr id="85" name="Shape 83"/>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86" name="Shape 84"/>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87" name="Shape 85"/>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12960">
            <a:solidFill>
              <a:srgbClr val="9289CA"/>
            </a:solidFill>
            <a:prstDash val="solid"/>
          </a:ln>
        </p:spPr>
      </p:sp>
      <p:sp>
        <p:nvSpPr>
          <p:cNvPr id="88" name="Shape 86"/>
          <p:cNvSpPr/>
          <p:nvPr/>
        </p:nvSpPr>
        <p:spPr>
          <a:xfrm>
            <a:off x="3119247" y="4459502"/>
            <a:ext cx="129599" cy="129599"/>
          </a:xfrm>
          <a:prstGeom prst="ellipse">
            <a:avLst/>
          </a:prstGeom>
          <a:solidFill>
            <a:srgbClr val="FFFFFF"/>
          </a:solidFill>
          <a:ln w="16494">
            <a:solidFill>
              <a:srgbClr val="1A1A16"/>
            </a:solidFill>
            <a:prstDash val="solid"/>
          </a:ln>
        </p:spPr>
      </p:sp>
      <p:sp>
        <p:nvSpPr>
          <p:cNvPr id="89" name="Shape 87"/>
          <p:cNvSpPr/>
          <p:nvPr/>
        </p:nvSpPr>
        <p:spPr>
          <a:xfrm>
            <a:off x="3148701" y="4524302"/>
            <a:ext cx="70690" cy="0"/>
          </a:xfrm>
          <a:prstGeom prst="line">
            <a:avLst/>
          </a:prstGeom>
          <a:noFill/>
          <a:ln w="10604">
            <a:solidFill>
              <a:srgbClr val="1A1A16"/>
            </a:solidFill>
            <a:prstDash val="solid"/>
          </a:ln>
        </p:spPr>
      </p:sp>
      <p:sp>
        <p:nvSpPr>
          <p:cNvPr id="90" name="Shape 88"/>
          <p:cNvSpPr/>
          <p:nvPr/>
        </p:nvSpPr>
        <p:spPr>
          <a:xfrm>
            <a:off x="3184046" y="4488957"/>
            <a:ext cx="0" cy="70690"/>
          </a:xfrm>
          <a:prstGeom prst="line">
            <a:avLst/>
          </a:prstGeom>
          <a:noFill/>
          <a:ln w="10604">
            <a:solidFill>
              <a:srgbClr val="1A1A16"/>
            </a:solidFill>
            <a:prstDash val="solid"/>
          </a:ln>
        </p:spPr>
      </p:sp>
      <p:sp>
        <p:nvSpPr>
          <p:cNvPr id="91" name="Shape 89"/>
          <p:cNvSpPr/>
          <p:nvPr/>
        </p:nvSpPr>
        <p:spPr>
          <a:xfrm>
            <a:off x="3184046" y="4335795"/>
            <a:ext cx="0" cy="123708"/>
          </a:xfrm>
          <a:prstGeom prst="line">
            <a:avLst/>
          </a:prstGeom>
          <a:noFill/>
          <a:ln w="16494">
            <a:solidFill>
              <a:srgbClr val="31312D"/>
            </a:solidFill>
            <a:prstDash val="solid"/>
            <a:headEnd type="triangle"/>
          </a:ln>
        </p:spPr>
      </p:sp>
      <p:sp>
        <p:nvSpPr>
          <p:cNvPr id="92" name="Shape 90"/>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93" name="Shape 91"/>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94" name="Shape 92"/>
          <p:cNvSpPr/>
          <p:nvPr/>
        </p:nvSpPr>
        <p:spPr>
          <a:xfrm>
            <a:off x="5705328" y="2073710"/>
            <a:ext cx="129599" cy="129599"/>
          </a:xfrm>
          <a:prstGeom prst="ellipse">
            <a:avLst/>
          </a:prstGeom>
          <a:solidFill>
            <a:srgbClr val="FFFFFF"/>
          </a:solidFill>
          <a:ln w="11782">
            <a:solidFill>
              <a:srgbClr val="1A1A16"/>
            </a:solidFill>
            <a:prstDash val="solid"/>
          </a:ln>
        </p:spPr>
      </p:sp>
      <p:sp>
        <p:nvSpPr>
          <p:cNvPr id="95" name="Shape 93"/>
          <p:cNvSpPr/>
          <p:nvPr/>
        </p:nvSpPr>
        <p:spPr>
          <a:xfrm>
            <a:off x="5734783" y="2138509"/>
            <a:ext cx="70690" cy="0"/>
          </a:xfrm>
          <a:prstGeom prst="line">
            <a:avLst/>
          </a:prstGeom>
          <a:noFill/>
          <a:ln w="10604">
            <a:solidFill>
              <a:srgbClr val="1A1A16"/>
            </a:solidFill>
            <a:prstDash val="solid"/>
          </a:ln>
        </p:spPr>
      </p:sp>
      <p:sp>
        <p:nvSpPr>
          <p:cNvPr id="96" name="Shape 94"/>
          <p:cNvSpPr/>
          <p:nvPr/>
        </p:nvSpPr>
        <p:spPr>
          <a:xfrm>
            <a:off x="5770128" y="2103164"/>
            <a:ext cx="0" cy="70690"/>
          </a:xfrm>
          <a:prstGeom prst="line">
            <a:avLst/>
          </a:prstGeom>
          <a:noFill/>
          <a:ln w="10604">
            <a:solidFill>
              <a:srgbClr val="1A1A16"/>
            </a:solidFill>
            <a:prstDash val="solid"/>
          </a:ln>
        </p:spPr>
      </p:sp>
      <p:sp>
        <p:nvSpPr>
          <p:cNvPr id="97" name="Shape 95"/>
          <p:cNvSpPr/>
          <p:nvPr/>
        </p:nvSpPr>
        <p:spPr>
          <a:xfrm>
            <a:off x="5770128" y="1950002"/>
            <a:ext cx="0" cy="123708"/>
          </a:xfrm>
          <a:prstGeom prst="line">
            <a:avLst/>
          </a:prstGeom>
          <a:noFill/>
          <a:ln w="12960">
            <a:solidFill>
              <a:srgbClr val="31312D"/>
            </a:solidFill>
            <a:prstDash val="solid"/>
            <a:headEnd type="triangle"/>
          </a:ln>
        </p:spPr>
      </p:sp>
      <p:sp>
        <p:nvSpPr>
          <p:cNvPr id="98" name="Shape 96"/>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12960">
            <a:solidFill>
              <a:srgbClr val="B1B1B0"/>
            </a:solidFill>
            <a:prstDash val="solid"/>
          </a:ln>
        </p:spPr>
      </p:sp>
      <p:sp>
        <p:nvSpPr>
          <p:cNvPr id="99" name="Shape 97"/>
          <p:cNvSpPr/>
          <p:nvPr/>
        </p:nvSpPr>
        <p:spPr>
          <a:xfrm>
            <a:off x="7767125" y="3266606"/>
            <a:ext cx="129599" cy="129599"/>
          </a:xfrm>
          <a:prstGeom prst="ellipse">
            <a:avLst/>
          </a:prstGeom>
          <a:solidFill>
            <a:srgbClr val="FFFFFF"/>
          </a:solidFill>
          <a:ln w="16494">
            <a:solidFill>
              <a:srgbClr val="1A1A16"/>
            </a:solidFill>
            <a:prstDash val="solid"/>
          </a:ln>
        </p:spPr>
      </p:sp>
      <p:sp>
        <p:nvSpPr>
          <p:cNvPr id="100" name="Shape 98"/>
          <p:cNvSpPr/>
          <p:nvPr/>
        </p:nvSpPr>
        <p:spPr>
          <a:xfrm>
            <a:off x="7796579" y="3331405"/>
            <a:ext cx="70690" cy="0"/>
          </a:xfrm>
          <a:prstGeom prst="line">
            <a:avLst/>
          </a:prstGeom>
          <a:noFill/>
          <a:ln w="10604">
            <a:solidFill>
              <a:srgbClr val="1A1A16"/>
            </a:solidFill>
            <a:prstDash val="solid"/>
          </a:ln>
        </p:spPr>
      </p:sp>
      <p:sp>
        <p:nvSpPr>
          <p:cNvPr id="101" name="Shape 99"/>
          <p:cNvSpPr/>
          <p:nvPr/>
        </p:nvSpPr>
        <p:spPr>
          <a:xfrm>
            <a:off x="7831924" y="3296060"/>
            <a:ext cx="0" cy="70690"/>
          </a:xfrm>
          <a:prstGeom prst="line">
            <a:avLst/>
          </a:prstGeom>
          <a:noFill/>
          <a:ln w="10604">
            <a:solidFill>
              <a:srgbClr val="1A1A16"/>
            </a:solidFill>
            <a:prstDash val="solid"/>
          </a:ln>
        </p:spPr>
      </p:sp>
      <p:sp>
        <p:nvSpPr>
          <p:cNvPr id="102" name="Shape 100"/>
          <p:cNvSpPr/>
          <p:nvPr/>
        </p:nvSpPr>
        <p:spPr>
          <a:xfrm>
            <a:off x="7831924" y="3142898"/>
            <a:ext cx="0" cy="123708"/>
          </a:xfrm>
          <a:prstGeom prst="line">
            <a:avLst/>
          </a:prstGeom>
          <a:noFill/>
          <a:ln w="16494">
            <a:solidFill>
              <a:srgbClr val="31312D"/>
            </a:solidFill>
            <a:prstDash val="solid"/>
            <a:headEnd type="triangle"/>
          </a:ln>
        </p:spPr>
      </p:sp>
      <p:sp>
        <p:nvSpPr>
          <p:cNvPr id="103" name="Shape 101"/>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04" name="Shape 102"/>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05" name="Shape 103"/>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06" name="Shape 104"/>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07" name="Shape 105"/>
          <p:cNvSpPr/>
          <p:nvPr/>
        </p:nvSpPr>
        <p:spPr>
          <a:xfrm>
            <a:off x="8043994" y="2670158"/>
            <a:ext cx="129599" cy="129599"/>
          </a:xfrm>
          <a:prstGeom prst="ellipse">
            <a:avLst/>
          </a:prstGeom>
          <a:solidFill>
            <a:srgbClr val="FFFFFF"/>
          </a:solidFill>
          <a:ln w="11782">
            <a:solidFill>
              <a:srgbClr val="1A1A16"/>
            </a:solidFill>
            <a:prstDash val="solid"/>
          </a:ln>
        </p:spPr>
      </p:sp>
      <p:sp>
        <p:nvSpPr>
          <p:cNvPr id="108" name="Shape 106"/>
          <p:cNvSpPr/>
          <p:nvPr/>
        </p:nvSpPr>
        <p:spPr>
          <a:xfrm>
            <a:off x="8073449" y="2734957"/>
            <a:ext cx="70690" cy="0"/>
          </a:xfrm>
          <a:prstGeom prst="line">
            <a:avLst/>
          </a:prstGeom>
          <a:noFill/>
          <a:ln w="10604">
            <a:solidFill>
              <a:srgbClr val="1A1A16"/>
            </a:solidFill>
            <a:prstDash val="solid"/>
          </a:ln>
        </p:spPr>
      </p:sp>
      <p:sp>
        <p:nvSpPr>
          <p:cNvPr id="109" name="Shape 107"/>
          <p:cNvSpPr/>
          <p:nvPr/>
        </p:nvSpPr>
        <p:spPr>
          <a:xfrm>
            <a:off x="8108794" y="2699612"/>
            <a:ext cx="0" cy="70690"/>
          </a:xfrm>
          <a:prstGeom prst="line">
            <a:avLst/>
          </a:prstGeom>
          <a:noFill/>
          <a:ln w="10604">
            <a:solidFill>
              <a:srgbClr val="1A1A16"/>
            </a:solidFill>
            <a:prstDash val="solid"/>
          </a:ln>
        </p:spPr>
      </p:sp>
      <p:sp>
        <p:nvSpPr>
          <p:cNvPr id="110" name="Shape 108"/>
          <p:cNvSpPr/>
          <p:nvPr/>
        </p:nvSpPr>
        <p:spPr>
          <a:xfrm>
            <a:off x="8108794" y="2546450"/>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12" name="Shape 110"/>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13" name="Shape 111"/>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14" name="Shape 112"/>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5" name="Shape 113"/>
          <p:cNvSpPr/>
          <p:nvPr/>
        </p:nvSpPr>
        <p:spPr>
          <a:xfrm>
            <a:off x="7767125" y="2073710"/>
            <a:ext cx="129599" cy="129599"/>
          </a:xfrm>
          <a:prstGeom prst="ellipse">
            <a:avLst/>
          </a:prstGeom>
          <a:solidFill>
            <a:srgbClr val="FFFFFF"/>
          </a:solidFill>
          <a:ln w="11782">
            <a:solidFill>
              <a:srgbClr val="1A1A16"/>
            </a:solidFill>
            <a:prstDash val="solid"/>
          </a:ln>
        </p:spPr>
      </p:sp>
      <p:sp>
        <p:nvSpPr>
          <p:cNvPr id="116" name="Shape 114"/>
          <p:cNvSpPr/>
          <p:nvPr/>
        </p:nvSpPr>
        <p:spPr>
          <a:xfrm>
            <a:off x="7796579" y="2138509"/>
            <a:ext cx="70690" cy="0"/>
          </a:xfrm>
          <a:prstGeom prst="line">
            <a:avLst/>
          </a:prstGeom>
          <a:noFill/>
          <a:ln w="10604">
            <a:solidFill>
              <a:srgbClr val="1A1A16"/>
            </a:solidFill>
            <a:prstDash val="solid"/>
          </a:ln>
        </p:spPr>
      </p:sp>
      <p:sp>
        <p:nvSpPr>
          <p:cNvPr id="117" name="Shape 115"/>
          <p:cNvSpPr/>
          <p:nvPr/>
        </p:nvSpPr>
        <p:spPr>
          <a:xfrm>
            <a:off x="7831924" y="2103164"/>
            <a:ext cx="0" cy="70690"/>
          </a:xfrm>
          <a:prstGeom prst="line">
            <a:avLst/>
          </a:prstGeom>
          <a:noFill/>
          <a:ln w="10604">
            <a:solidFill>
              <a:srgbClr val="1A1A16"/>
            </a:solidFill>
            <a:prstDash val="solid"/>
          </a:ln>
        </p:spPr>
      </p:sp>
      <p:sp>
        <p:nvSpPr>
          <p:cNvPr id="118" name="Shape 116"/>
          <p:cNvSpPr/>
          <p:nvPr/>
        </p:nvSpPr>
        <p:spPr>
          <a:xfrm>
            <a:off x="7831924" y="1950002"/>
            <a:ext cx="0" cy="123708"/>
          </a:xfrm>
          <a:prstGeom prst="line">
            <a:avLst/>
          </a:prstGeom>
          <a:noFill/>
          <a:ln w="12960">
            <a:solidFill>
              <a:srgbClr val="31312D"/>
            </a:solidFill>
            <a:prstDash val="solid"/>
            <a:headEnd type="triangle"/>
          </a:ln>
        </p:spPr>
      </p:sp>
      <p:sp>
        <p:nvSpPr>
          <p:cNvPr id="119" name="Shape 117"/>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120" name="Shape 118"/>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12960">
            <a:solidFill>
              <a:srgbClr val="B1B1B0"/>
            </a:solidFill>
            <a:prstDash val="solid"/>
          </a:ln>
        </p:spPr>
      </p:sp>
      <p:sp>
        <p:nvSpPr>
          <p:cNvPr id="121" name="Shape 119"/>
          <p:cNvSpPr/>
          <p:nvPr/>
        </p:nvSpPr>
        <p:spPr>
          <a:xfrm>
            <a:off x="5428459" y="3863054"/>
            <a:ext cx="129599" cy="129599"/>
          </a:xfrm>
          <a:prstGeom prst="ellipse">
            <a:avLst/>
          </a:prstGeom>
          <a:solidFill>
            <a:srgbClr val="FFFFFF"/>
          </a:solidFill>
          <a:ln w="16494">
            <a:solidFill>
              <a:srgbClr val="1A1A16"/>
            </a:solidFill>
            <a:prstDash val="solid"/>
          </a:ln>
        </p:spPr>
      </p:sp>
      <p:sp>
        <p:nvSpPr>
          <p:cNvPr id="122" name="Shape 120"/>
          <p:cNvSpPr/>
          <p:nvPr/>
        </p:nvSpPr>
        <p:spPr>
          <a:xfrm>
            <a:off x="5457913" y="3927854"/>
            <a:ext cx="70690" cy="0"/>
          </a:xfrm>
          <a:prstGeom prst="line">
            <a:avLst/>
          </a:prstGeom>
          <a:noFill/>
          <a:ln w="10604">
            <a:solidFill>
              <a:srgbClr val="1A1A16"/>
            </a:solidFill>
            <a:prstDash val="solid"/>
          </a:ln>
        </p:spPr>
      </p:sp>
      <p:sp>
        <p:nvSpPr>
          <p:cNvPr id="123" name="Shape 121"/>
          <p:cNvSpPr/>
          <p:nvPr/>
        </p:nvSpPr>
        <p:spPr>
          <a:xfrm>
            <a:off x="5493258" y="3892508"/>
            <a:ext cx="0" cy="70690"/>
          </a:xfrm>
          <a:prstGeom prst="line">
            <a:avLst/>
          </a:prstGeom>
          <a:noFill/>
          <a:ln w="10604">
            <a:solidFill>
              <a:srgbClr val="1A1A16"/>
            </a:solidFill>
            <a:prstDash val="solid"/>
          </a:ln>
        </p:spPr>
      </p:sp>
      <p:sp>
        <p:nvSpPr>
          <p:cNvPr id="124" name="Shape 122"/>
          <p:cNvSpPr/>
          <p:nvPr/>
        </p:nvSpPr>
        <p:spPr>
          <a:xfrm>
            <a:off x="5493258" y="3739346"/>
            <a:ext cx="0" cy="123708"/>
          </a:xfrm>
          <a:prstGeom prst="line">
            <a:avLst/>
          </a:prstGeom>
          <a:noFill/>
          <a:ln w="16494">
            <a:solidFill>
              <a:srgbClr val="31312D"/>
            </a:solidFill>
            <a:prstDash val="solid"/>
            <a:headEnd type="triangle"/>
          </a:ln>
        </p:spPr>
      </p:sp>
      <p:sp>
        <p:nvSpPr>
          <p:cNvPr id="125" name="Shape 12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26" name="Shape 12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27" name="Shape 125"/>
          <p:cNvSpPr/>
          <p:nvPr/>
        </p:nvSpPr>
        <p:spPr>
          <a:xfrm>
            <a:off x="7490255" y="2670158"/>
            <a:ext cx="129599" cy="129599"/>
          </a:xfrm>
          <a:prstGeom prst="ellipse">
            <a:avLst/>
          </a:prstGeom>
          <a:solidFill>
            <a:srgbClr val="FFFFFF"/>
          </a:solidFill>
          <a:ln w="11782">
            <a:solidFill>
              <a:srgbClr val="1A1A16"/>
            </a:solidFill>
            <a:prstDash val="solid"/>
          </a:ln>
        </p:spPr>
      </p:sp>
      <p:sp>
        <p:nvSpPr>
          <p:cNvPr id="128" name="Shape 126"/>
          <p:cNvSpPr/>
          <p:nvPr/>
        </p:nvSpPr>
        <p:spPr>
          <a:xfrm>
            <a:off x="7519709" y="2734957"/>
            <a:ext cx="70690" cy="0"/>
          </a:xfrm>
          <a:prstGeom prst="line">
            <a:avLst/>
          </a:prstGeom>
          <a:noFill/>
          <a:ln w="10604">
            <a:solidFill>
              <a:srgbClr val="1A1A16"/>
            </a:solidFill>
            <a:prstDash val="solid"/>
          </a:ln>
        </p:spPr>
      </p:sp>
      <p:sp>
        <p:nvSpPr>
          <p:cNvPr id="129" name="Shape 127"/>
          <p:cNvSpPr/>
          <p:nvPr/>
        </p:nvSpPr>
        <p:spPr>
          <a:xfrm>
            <a:off x="7555054" y="2699612"/>
            <a:ext cx="0" cy="70690"/>
          </a:xfrm>
          <a:prstGeom prst="line">
            <a:avLst/>
          </a:prstGeom>
          <a:noFill/>
          <a:ln w="10604">
            <a:solidFill>
              <a:srgbClr val="1A1A16"/>
            </a:solidFill>
            <a:prstDash val="solid"/>
          </a:ln>
        </p:spPr>
      </p:sp>
      <p:sp>
        <p:nvSpPr>
          <p:cNvPr id="130" name="Shape 128"/>
          <p:cNvSpPr/>
          <p:nvPr/>
        </p:nvSpPr>
        <p:spPr>
          <a:xfrm>
            <a:off x="7555054" y="2546450"/>
            <a:ext cx="0" cy="123708"/>
          </a:xfrm>
          <a:prstGeom prst="line">
            <a:avLst/>
          </a:prstGeom>
          <a:noFill/>
          <a:ln w="12960">
            <a:solidFill>
              <a:srgbClr val="31312D"/>
            </a:solidFill>
            <a:prstDash val="solid"/>
            <a:headEnd type="triangle"/>
          </a:ln>
        </p:spPr>
      </p:sp>
      <p:sp>
        <p:nvSpPr>
          <p:cNvPr id="131" name="Shape 129"/>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12960">
            <a:solidFill>
              <a:srgbClr val="B1B1B0"/>
            </a:solidFill>
            <a:prstDash val="solid"/>
          </a:ln>
        </p:spPr>
      </p:sp>
      <p:sp>
        <p:nvSpPr>
          <p:cNvPr id="132" name="Shape 130"/>
          <p:cNvSpPr/>
          <p:nvPr/>
        </p:nvSpPr>
        <p:spPr>
          <a:xfrm>
            <a:off x="5982198" y="3863054"/>
            <a:ext cx="129599" cy="129599"/>
          </a:xfrm>
          <a:prstGeom prst="ellipse">
            <a:avLst/>
          </a:prstGeom>
          <a:solidFill>
            <a:srgbClr val="FFFFFF"/>
          </a:solidFill>
          <a:ln w="16494">
            <a:solidFill>
              <a:srgbClr val="1A1A16"/>
            </a:solidFill>
            <a:prstDash val="solid"/>
          </a:ln>
        </p:spPr>
      </p:sp>
      <p:sp>
        <p:nvSpPr>
          <p:cNvPr id="133" name="Shape 131"/>
          <p:cNvSpPr/>
          <p:nvPr/>
        </p:nvSpPr>
        <p:spPr>
          <a:xfrm>
            <a:off x="6011652" y="3927854"/>
            <a:ext cx="70690" cy="0"/>
          </a:xfrm>
          <a:prstGeom prst="line">
            <a:avLst/>
          </a:prstGeom>
          <a:noFill/>
          <a:ln w="10604">
            <a:solidFill>
              <a:srgbClr val="1A1A16"/>
            </a:solidFill>
            <a:prstDash val="solid"/>
          </a:ln>
        </p:spPr>
      </p:sp>
      <p:sp>
        <p:nvSpPr>
          <p:cNvPr id="134" name="Shape 132"/>
          <p:cNvSpPr/>
          <p:nvPr/>
        </p:nvSpPr>
        <p:spPr>
          <a:xfrm>
            <a:off x="6046998" y="3892508"/>
            <a:ext cx="0" cy="70690"/>
          </a:xfrm>
          <a:prstGeom prst="line">
            <a:avLst/>
          </a:prstGeom>
          <a:noFill/>
          <a:ln w="10604">
            <a:solidFill>
              <a:srgbClr val="1A1A16"/>
            </a:solidFill>
            <a:prstDash val="solid"/>
          </a:ln>
        </p:spPr>
      </p:sp>
      <p:sp>
        <p:nvSpPr>
          <p:cNvPr id="135" name="Shape 133"/>
          <p:cNvSpPr/>
          <p:nvPr/>
        </p:nvSpPr>
        <p:spPr>
          <a:xfrm>
            <a:off x="6046998" y="3739346"/>
            <a:ext cx="0" cy="123708"/>
          </a:xfrm>
          <a:prstGeom prst="line">
            <a:avLst/>
          </a:prstGeom>
          <a:noFill/>
          <a:ln w="16494">
            <a:solidFill>
              <a:srgbClr val="31312D"/>
            </a:solidFill>
            <a:prstDash val="solid"/>
            <a:headEnd type="triangle"/>
          </a:ln>
        </p:spPr>
      </p:sp>
      <p:sp>
        <p:nvSpPr>
          <p:cNvPr id="136" name="Shape 134"/>
          <p:cNvSpPr/>
          <p:nvPr/>
        </p:nvSpPr>
        <p:spPr>
          <a:xfrm>
            <a:off x="5592813" y="473756"/>
            <a:ext cx="354629" cy="354629"/>
          </a:xfrm>
          <a:prstGeom prst="diamond">
            <a:avLst/>
          </a:prstGeom>
          <a:solidFill>
            <a:srgbClr val="FFFFFF"/>
          </a:solidFill>
          <a:ln w="18851">
            <a:solidFill>
              <a:srgbClr val="1A1A16"/>
            </a:solidFill>
            <a:prstDash val="solid"/>
          </a:ln>
        </p:spPr>
      </p:sp>
      <p:sp>
        <p:nvSpPr>
          <p:cNvPr id="137" name="Shape 135"/>
          <p:cNvSpPr/>
          <p:nvPr/>
        </p:nvSpPr>
        <p:spPr>
          <a:xfrm>
            <a:off x="3659438" y="3555258"/>
            <a:ext cx="156697" cy="156107"/>
          </a:xfrm>
          <a:prstGeom prst="rect">
            <a:avLst/>
          </a:prstGeom>
          <a:solidFill>
            <a:srgbClr val="FFFFFF"/>
          </a:solidFill>
          <a:ln w="12371">
            <a:solidFill>
              <a:srgbClr val="1A1A16"/>
            </a:solidFill>
            <a:prstDash val="solid"/>
          </a:ln>
        </p:spPr>
      </p:sp>
      <p:sp>
        <p:nvSpPr>
          <p:cNvPr id="138" name="Shape 136"/>
          <p:cNvSpPr/>
          <p:nvPr/>
        </p:nvSpPr>
        <p:spPr>
          <a:xfrm>
            <a:off x="7721176" y="1137065"/>
            <a:ext cx="221496" cy="220907"/>
          </a:xfrm>
          <a:prstGeom prst="diamond">
            <a:avLst/>
          </a:prstGeom>
          <a:solidFill>
            <a:srgbClr val="FFFFFF"/>
          </a:solidFill>
          <a:ln w="12371">
            <a:solidFill>
              <a:srgbClr val="1A1A16"/>
            </a:solidFill>
            <a:prstDash val="solid"/>
          </a:ln>
        </p:spPr>
      </p:sp>
      <p:sp>
        <p:nvSpPr>
          <p:cNvPr id="139" name="Shape 137"/>
          <p:cNvSpPr/>
          <p:nvPr/>
        </p:nvSpPr>
        <p:spPr>
          <a:xfrm>
            <a:off x="4180777" y="3522858"/>
            <a:ext cx="221496" cy="220907"/>
          </a:xfrm>
          <a:prstGeom prst="diamond">
            <a:avLst/>
          </a:prstGeom>
          <a:solidFill>
            <a:srgbClr val="FFFFFF"/>
          </a:solidFill>
          <a:ln w="12371">
            <a:solidFill>
              <a:srgbClr val="1A1A16"/>
            </a:solidFill>
            <a:prstDash val="solid"/>
          </a:ln>
        </p:spPr>
      </p:sp>
      <p:sp>
        <p:nvSpPr>
          <p:cNvPr id="140" name="Shape 138"/>
          <p:cNvSpPr/>
          <p:nvPr/>
        </p:nvSpPr>
        <p:spPr>
          <a:xfrm>
            <a:off x="4203163" y="4141397"/>
            <a:ext cx="176725" cy="176725"/>
          </a:xfrm>
          <a:prstGeom prst="ellipse">
            <a:avLst/>
          </a:prstGeom>
          <a:solidFill>
            <a:srgbClr val="FFFFFF"/>
          </a:solidFill>
          <a:ln w="12371">
            <a:solidFill>
              <a:srgbClr val="1A1A16"/>
            </a:solidFill>
            <a:prstDash val="solid"/>
          </a:ln>
        </p:spPr>
      </p:sp>
      <p:sp>
        <p:nvSpPr>
          <p:cNvPr id="141" name="Shape 139"/>
          <p:cNvSpPr/>
          <p:nvPr/>
        </p:nvSpPr>
        <p:spPr>
          <a:xfrm>
            <a:off x="1287194" y="4684827"/>
            <a:ext cx="282761" cy="282761"/>
          </a:xfrm>
          <a:prstGeom prst="ellipse">
            <a:avLst/>
          </a:prstGeom>
          <a:ln w="15316">
            <a:solidFill>
              <a:srgbClr val="BABAB9"/>
            </a:solidFill>
            <a:prstDash val="solid"/>
          </a:ln>
        </p:spPr>
      </p:sp>
      <p:sp>
        <p:nvSpPr>
          <p:cNvPr id="142" name="Shape 140"/>
          <p:cNvSpPr/>
          <p:nvPr/>
        </p:nvSpPr>
        <p:spPr>
          <a:xfrm>
            <a:off x="1340211" y="4737845"/>
            <a:ext cx="176725" cy="176725"/>
          </a:xfrm>
          <a:prstGeom prst="ellipse">
            <a:avLst/>
          </a:prstGeom>
          <a:solidFill>
            <a:srgbClr val="FFFFFF"/>
          </a:solidFill>
          <a:ln w="21207">
            <a:solidFill>
              <a:srgbClr val="1A1A16"/>
            </a:solidFill>
            <a:prstDash val="solid"/>
          </a:ln>
        </p:spPr>
      </p:sp>
      <p:sp>
        <p:nvSpPr>
          <p:cNvPr id="143" name="Shape 141"/>
          <p:cNvSpPr/>
          <p:nvPr/>
        </p:nvSpPr>
        <p:spPr>
          <a:xfrm>
            <a:off x="7714107" y="3515494"/>
            <a:ext cx="235634" cy="235634"/>
          </a:xfrm>
          <a:prstGeom prst="ellipse">
            <a:avLst/>
          </a:prstGeom>
          <a:solidFill>
            <a:srgbClr val="FFFFFF"/>
          </a:solidFill>
          <a:ln w="12371">
            <a:solidFill>
              <a:srgbClr val="1A1A16"/>
            </a:solidFill>
            <a:prstDash val="solid"/>
          </a:ln>
        </p:spPr>
      </p:sp>
      <p:sp>
        <p:nvSpPr>
          <p:cNvPr id="144" name="Shape 142"/>
          <p:cNvSpPr/>
          <p:nvPr/>
        </p:nvSpPr>
        <p:spPr>
          <a:xfrm>
            <a:off x="5691780" y="2362361"/>
            <a:ext cx="156697" cy="156107"/>
          </a:xfrm>
          <a:prstGeom prst="rect">
            <a:avLst/>
          </a:prstGeom>
          <a:solidFill>
            <a:srgbClr val="FFFFFF"/>
          </a:solidFill>
          <a:ln w="12371">
            <a:solidFill>
              <a:srgbClr val="1A1A16"/>
            </a:solidFill>
            <a:prstDash val="solid"/>
          </a:ln>
        </p:spPr>
      </p:sp>
      <p:sp>
        <p:nvSpPr>
          <p:cNvPr id="145" name="Shape 143"/>
          <p:cNvSpPr/>
          <p:nvPr/>
        </p:nvSpPr>
        <p:spPr>
          <a:xfrm>
            <a:off x="5681765" y="2948500"/>
            <a:ext cx="176725" cy="176725"/>
          </a:xfrm>
          <a:prstGeom prst="ellipse">
            <a:avLst/>
          </a:prstGeom>
          <a:solidFill>
            <a:srgbClr val="FFFFFF"/>
          </a:solidFill>
          <a:ln w="12371">
            <a:solidFill>
              <a:srgbClr val="1A1A16"/>
            </a:solidFill>
            <a:prstDash val="solid"/>
          </a:ln>
        </p:spPr>
      </p:sp>
      <p:sp>
        <p:nvSpPr>
          <p:cNvPr id="146" name="Shape 144"/>
          <p:cNvSpPr/>
          <p:nvPr/>
        </p:nvSpPr>
        <p:spPr>
          <a:xfrm>
            <a:off x="3619969" y="4708391"/>
            <a:ext cx="235634" cy="235634"/>
          </a:xfrm>
          <a:prstGeom prst="ellipse">
            <a:avLst/>
          </a:prstGeom>
          <a:solidFill>
            <a:srgbClr val="FFFFFF"/>
          </a:solidFill>
          <a:ln w="12371">
            <a:solidFill>
              <a:srgbClr val="1A1A16"/>
            </a:solidFill>
            <a:prstDash val="solid"/>
          </a:ln>
        </p:spPr>
      </p:sp>
      <p:sp>
        <p:nvSpPr>
          <p:cNvPr id="147" name="Shape 145"/>
          <p:cNvSpPr/>
          <p:nvPr/>
        </p:nvSpPr>
        <p:spPr>
          <a:xfrm>
            <a:off x="9844826" y="2362361"/>
            <a:ext cx="156697" cy="156107"/>
          </a:xfrm>
          <a:prstGeom prst="rect">
            <a:avLst/>
          </a:prstGeom>
          <a:solidFill>
            <a:srgbClr val="FFFFFF"/>
          </a:solidFill>
          <a:ln w="12371">
            <a:solidFill>
              <a:srgbClr val="1A1A16"/>
            </a:solidFill>
            <a:prstDash val="solid"/>
          </a:ln>
        </p:spPr>
      </p:sp>
      <p:sp>
        <p:nvSpPr>
          <p:cNvPr id="148" name="Shape 146"/>
          <p:cNvSpPr/>
          <p:nvPr/>
        </p:nvSpPr>
        <p:spPr>
          <a:xfrm>
            <a:off x="9805357" y="3515494"/>
            <a:ext cx="235634" cy="235634"/>
          </a:xfrm>
          <a:prstGeom prst="ellipse">
            <a:avLst/>
          </a:prstGeom>
          <a:solidFill>
            <a:srgbClr val="FFFFFF"/>
          </a:solidFill>
          <a:ln w="12371">
            <a:solidFill>
              <a:srgbClr val="1A1A16"/>
            </a:solidFill>
            <a:prstDash val="solid"/>
          </a:ln>
        </p:spPr>
      </p:sp>
      <p:sp>
        <p:nvSpPr>
          <p:cNvPr id="149" name="Shape 147"/>
          <p:cNvSpPr/>
          <p:nvPr/>
        </p:nvSpPr>
        <p:spPr>
          <a:xfrm>
            <a:off x="3596406" y="4088379"/>
            <a:ext cx="282761" cy="282761"/>
          </a:xfrm>
          <a:prstGeom prst="ellipse">
            <a:avLst/>
          </a:prstGeom>
          <a:ln w="15316">
            <a:solidFill>
              <a:srgbClr val="BABAB9"/>
            </a:solidFill>
            <a:prstDash val="solid"/>
          </a:ln>
        </p:spPr>
      </p:sp>
      <p:sp>
        <p:nvSpPr>
          <p:cNvPr id="150" name="Shape 148"/>
          <p:cNvSpPr/>
          <p:nvPr/>
        </p:nvSpPr>
        <p:spPr>
          <a:xfrm>
            <a:off x="3649423" y="4141397"/>
            <a:ext cx="176725" cy="176725"/>
          </a:xfrm>
          <a:prstGeom prst="ellipse">
            <a:avLst/>
          </a:prstGeom>
          <a:solidFill>
            <a:srgbClr val="FFFFFF"/>
          </a:solidFill>
          <a:ln w="21207">
            <a:solidFill>
              <a:srgbClr val="1A1A16"/>
            </a:solidFill>
            <a:prstDash val="solid"/>
          </a:ln>
        </p:spPr>
      </p:sp>
      <p:sp>
        <p:nvSpPr>
          <p:cNvPr id="151" name="Shape 149"/>
          <p:cNvSpPr/>
          <p:nvPr/>
        </p:nvSpPr>
        <p:spPr>
          <a:xfrm>
            <a:off x="3095684" y="4141397"/>
            <a:ext cx="176725" cy="176725"/>
          </a:xfrm>
          <a:prstGeom prst="ellipse">
            <a:avLst/>
          </a:prstGeom>
          <a:solidFill>
            <a:srgbClr val="FFFFFF"/>
          </a:solidFill>
          <a:ln w="12371">
            <a:solidFill>
              <a:srgbClr val="1A1A16"/>
            </a:solidFill>
            <a:prstDash val="solid"/>
          </a:ln>
        </p:spPr>
      </p:sp>
      <p:sp>
        <p:nvSpPr>
          <p:cNvPr id="152" name="Shape 150"/>
          <p:cNvSpPr/>
          <p:nvPr/>
        </p:nvSpPr>
        <p:spPr>
          <a:xfrm>
            <a:off x="5659380" y="1733219"/>
            <a:ext cx="221496" cy="221496"/>
          </a:xfrm>
          <a:prstGeom prst="diamond">
            <a:avLst/>
          </a:prstGeom>
          <a:solidFill>
            <a:srgbClr val="FFFFFF"/>
          </a:solidFill>
          <a:ln w="12371">
            <a:solidFill>
              <a:srgbClr val="1A1A16"/>
            </a:solidFill>
            <a:prstDash val="solid"/>
          </a:ln>
        </p:spPr>
      </p:sp>
      <p:sp>
        <p:nvSpPr>
          <p:cNvPr id="153" name="Shape 151"/>
          <p:cNvSpPr/>
          <p:nvPr/>
        </p:nvSpPr>
        <p:spPr>
          <a:xfrm>
            <a:off x="7753576" y="2958515"/>
            <a:ext cx="156697" cy="156697"/>
          </a:xfrm>
          <a:prstGeom prst="rect">
            <a:avLst/>
          </a:prstGeom>
          <a:solidFill>
            <a:srgbClr val="FFFFFF"/>
          </a:solidFill>
          <a:ln w="12371">
            <a:solidFill>
              <a:srgbClr val="1A1A16"/>
            </a:solidFill>
            <a:prstDash val="solid"/>
          </a:ln>
        </p:spPr>
      </p:sp>
      <p:sp>
        <p:nvSpPr>
          <p:cNvPr id="154" name="Shape 152"/>
          <p:cNvSpPr/>
          <p:nvPr/>
        </p:nvSpPr>
        <p:spPr>
          <a:xfrm>
            <a:off x="7989799" y="2302864"/>
            <a:ext cx="237990" cy="206180"/>
          </a:xfrm>
          <a:prstGeom prst="triangle">
            <a:avLst/>
          </a:prstGeom>
          <a:solidFill>
            <a:srgbClr val="FFFFFF"/>
          </a:solidFill>
          <a:ln w="12371">
            <a:solidFill>
              <a:srgbClr val="1A1A16"/>
            </a:solidFill>
            <a:prstDash val="solid"/>
          </a:ln>
        </p:spPr>
      </p:sp>
      <p:sp>
        <p:nvSpPr>
          <p:cNvPr id="155" name="Shape 153"/>
          <p:cNvSpPr/>
          <p:nvPr/>
        </p:nvSpPr>
        <p:spPr>
          <a:xfrm>
            <a:off x="7712929" y="1706710"/>
            <a:ext cx="237990" cy="206180"/>
          </a:xfrm>
          <a:prstGeom prst="triangle">
            <a:avLst/>
          </a:prstGeom>
          <a:solidFill>
            <a:srgbClr val="FFFFFF"/>
          </a:solidFill>
          <a:ln w="12371">
            <a:solidFill>
              <a:srgbClr val="1A1A16"/>
            </a:solidFill>
            <a:prstDash val="solid"/>
          </a:ln>
        </p:spPr>
      </p:sp>
      <p:sp>
        <p:nvSpPr>
          <p:cNvPr id="156" name="Shape 154"/>
          <p:cNvSpPr/>
          <p:nvPr/>
        </p:nvSpPr>
        <p:spPr>
          <a:xfrm>
            <a:off x="5404895" y="3544949"/>
            <a:ext cx="176725" cy="176725"/>
          </a:xfrm>
          <a:prstGeom prst="ellipse">
            <a:avLst/>
          </a:prstGeom>
          <a:solidFill>
            <a:srgbClr val="FFFFFF"/>
          </a:solidFill>
          <a:ln w="12371">
            <a:solidFill>
              <a:srgbClr val="1A1A16"/>
            </a:solidFill>
            <a:prstDash val="solid"/>
          </a:ln>
        </p:spPr>
      </p:sp>
      <p:sp>
        <p:nvSpPr>
          <p:cNvPr id="157" name="Shape 155"/>
          <p:cNvSpPr/>
          <p:nvPr/>
        </p:nvSpPr>
        <p:spPr>
          <a:xfrm>
            <a:off x="7476706" y="2362361"/>
            <a:ext cx="156697" cy="156107"/>
          </a:xfrm>
          <a:prstGeom prst="rect">
            <a:avLst/>
          </a:prstGeom>
          <a:solidFill>
            <a:srgbClr val="FFFFFF"/>
          </a:solidFill>
          <a:ln w="12371">
            <a:solidFill>
              <a:srgbClr val="1A1A16"/>
            </a:solidFill>
            <a:prstDash val="solid"/>
          </a:ln>
        </p:spPr>
      </p:sp>
      <p:sp>
        <p:nvSpPr>
          <p:cNvPr id="158" name="Shape 156"/>
          <p:cNvSpPr/>
          <p:nvPr/>
        </p:nvSpPr>
        <p:spPr>
          <a:xfrm>
            <a:off x="5958635" y="3544949"/>
            <a:ext cx="176725" cy="176725"/>
          </a:xfrm>
          <a:prstGeom prst="ellipse">
            <a:avLst/>
          </a:prstGeom>
          <a:solidFill>
            <a:srgbClr val="FFFFFF"/>
          </a:solidFill>
          <a:ln w="12371">
            <a:solidFill>
              <a:srgbClr val="1A1A16"/>
            </a:solidFill>
            <a:prstDash val="solid"/>
          </a:ln>
        </p:spPr>
      </p:sp>
      <p:sp>
        <p:nvSpPr>
          <p:cNvPr id="159" name="Shape 157"/>
          <p:cNvSpPr/>
          <p:nvPr/>
        </p:nvSpPr>
        <p:spPr>
          <a:xfrm>
            <a:off x="3042666" y="3491931"/>
            <a:ext cx="282761" cy="282761"/>
          </a:xfrm>
          <a:prstGeom prst="ellipse">
            <a:avLst/>
          </a:prstGeom>
          <a:ln w="15316">
            <a:solidFill>
              <a:srgbClr val="BABAB9"/>
            </a:solidFill>
            <a:prstDash val="solid"/>
          </a:ln>
        </p:spPr>
      </p:sp>
      <p:sp>
        <p:nvSpPr>
          <p:cNvPr id="160" name="Shape 158"/>
          <p:cNvSpPr/>
          <p:nvPr/>
        </p:nvSpPr>
        <p:spPr>
          <a:xfrm>
            <a:off x="3105698" y="3555258"/>
            <a:ext cx="156697" cy="156107"/>
          </a:xfrm>
          <a:prstGeom prst="rect">
            <a:avLst/>
          </a:prstGeom>
          <a:solidFill>
            <a:srgbClr val="FFFFFF"/>
          </a:solidFill>
          <a:ln w="21207">
            <a:solidFill>
              <a:srgbClr val="1A1A16"/>
            </a:solidFill>
            <a:prstDash val="solid"/>
          </a:ln>
        </p:spPr>
      </p:sp>
      <p:sp>
        <p:nvSpPr>
          <p:cNvPr id="161" name="Shape 159"/>
          <p:cNvSpPr/>
          <p:nvPr/>
        </p:nvSpPr>
        <p:spPr>
          <a:xfrm>
            <a:off x="7719998" y="5293057"/>
            <a:ext cx="223852" cy="259197"/>
          </a:xfrm>
          <a:prstGeom prst="hexagon">
            <a:avLst/>
          </a:prstGeom>
          <a:solidFill>
            <a:srgbClr val="FFFFFF"/>
          </a:solidFill>
          <a:ln w="12371">
            <a:solidFill>
              <a:srgbClr val="008300"/>
            </a:solidFill>
            <a:prstDash val="solid"/>
          </a:ln>
        </p:spPr>
      </p:sp>
      <p:sp>
        <p:nvSpPr>
          <p:cNvPr id="162" name="Shape 160"/>
          <p:cNvSpPr/>
          <p:nvPr/>
        </p:nvSpPr>
        <p:spPr>
          <a:xfrm>
            <a:off x="2147257" y="5293057"/>
            <a:ext cx="223852" cy="259197"/>
          </a:xfrm>
          <a:prstGeom prst="hexagon">
            <a:avLst/>
          </a:prstGeom>
          <a:solidFill>
            <a:srgbClr val="FFFFFF"/>
          </a:solidFill>
          <a:ln w="12371">
            <a:solidFill>
              <a:srgbClr val="1BAF7A"/>
            </a:solidFill>
            <a:prstDash val="solid"/>
          </a:ln>
        </p:spPr>
      </p:sp>
      <p:sp>
        <p:nvSpPr>
          <p:cNvPr id="163" name="Shape 161"/>
          <p:cNvSpPr/>
          <p:nvPr/>
        </p:nvSpPr>
        <p:spPr>
          <a:xfrm>
            <a:off x="9811248" y="5293057"/>
            <a:ext cx="223852" cy="259197"/>
          </a:xfrm>
          <a:prstGeom prst="hexagon">
            <a:avLst/>
          </a:prstGeom>
          <a:solidFill>
            <a:srgbClr val="FFFFFF"/>
          </a:solidFill>
          <a:ln w="12371">
            <a:solidFill>
              <a:srgbClr val="2A78D6"/>
            </a:solidFill>
            <a:prstDash val="solid"/>
          </a:ln>
        </p:spPr>
      </p:sp>
      <p:sp>
        <p:nvSpPr>
          <p:cNvPr id="164" name="Shape 162"/>
          <p:cNvSpPr/>
          <p:nvPr/>
        </p:nvSpPr>
        <p:spPr>
          <a:xfrm>
            <a:off x="3625860" y="5293057"/>
            <a:ext cx="223852" cy="259197"/>
          </a:xfrm>
          <a:prstGeom prst="hexagon">
            <a:avLst/>
          </a:prstGeom>
          <a:solidFill>
            <a:srgbClr val="FFFFFF"/>
          </a:solidFill>
          <a:ln w="12371">
            <a:solidFill>
              <a:srgbClr val="4A3AA7"/>
            </a:solidFill>
            <a:prstDash val="solid"/>
          </a:ln>
        </p:spPr>
      </p:sp>
      <p:sp>
        <p:nvSpPr>
          <p:cNvPr id="165" name="Text 16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66" name="Text 16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67" name="Text 16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68" name="Text 16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69" name="Text 16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70" name="Text 16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71" name="Text 16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12960">
            <a:solidFill>
              <a:srgbClr val="76CFAF"/>
            </a:solidFill>
            <a:prstDash val="solid"/>
          </a:ln>
        </p:spPr>
      </p:sp>
      <p:sp>
        <p:nvSpPr>
          <p:cNvPr id="69" name="Shape 67"/>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4C766"/>
            </a:solidFill>
            <a:prstDash val="solid"/>
          </a:ln>
        </p:spPr>
      </p:sp>
      <p:sp>
        <p:nvSpPr>
          <p:cNvPr id="70" name="Shape 68"/>
          <p:cNvSpPr/>
          <p:nvPr/>
        </p:nvSpPr>
        <p:spPr>
          <a:xfrm>
            <a:off x="1363775"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393229" y="5120750"/>
            <a:ext cx="70690" cy="0"/>
          </a:xfrm>
          <a:prstGeom prst="line">
            <a:avLst/>
          </a:prstGeom>
          <a:noFill/>
          <a:ln w="10604">
            <a:solidFill>
              <a:srgbClr val="1A1A16"/>
            </a:solidFill>
            <a:prstDash val="solid"/>
          </a:ln>
        </p:spPr>
      </p:sp>
      <p:sp>
        <p:nvSpPr>
          <p:cNvPr id="72" name="Shape 70"/>
          <p:cNvSpPr/>
          <p:nvPr/>
        </p:nvSpPr>
        <p:spPr>
          <a:xfrm>
            <a:off x="1428574" y="5085405"/>
            <a:ext cx="0" cy="70690"/>
          </a:xfrm>
          <a:prstGeom prst="line">
            <a:avLst/>
          </a:prstGeom>
          <a:noFill/>
          <a:ln w="10604">
            <a:solidFill>
              <a:srgbClr val="1A1A16"/>
            </a:solidFill>
            <a:prstDash val="solid"/>
          </a:ln>
        </p:spPr>
      </p:sp>
      <p:sp>
        <p:nvSpPr>
          <p:cNvPr id="73" name="Shape 71"/>
          <p:cNvSpPr/>
          <p:nvPr/>
        </p:nvSpPr>
        <p:spPr>
          <a:xfrm>
            <a:off x="1428574" y="4932243"/>
            <a:ext cx="0" cy="123708"/>
          </a:xfrm>
          <a:prstGeom prst="line">
            <a:avLst/>
          </a:prstGeom>
          <a:noFill/>
          <a:ln w="16494">
            <a:solidFill>
              <a:srgbClr val="31312D"/>
            </a:solidFill>
            <a:prstDash val="solid"/>
            <a:headEnd type="triangle"/>
          </a:ln>
        </p:spPr>
      </p:sp>
      <p:sp>
        <p:nvSpPr>
          <p:cNvPr id="74" name="Shape 72"/>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75" name="Shape 73"/>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6" name="Shape 74"/>
          <p:cNvSpPr/>
          <p:nvPr/>
        </p:nvSpPr>
        <p:spPr>
          <a:xfrm>
            <a:off x="5705328" y="2670158"/>
            <a:ext cx="129599" cy="129599"/>
          </a:xfrm>
          <a:prstGeom prst="ellipse">
            <a:avLst/>
          </a:prstGeom>
          <a:solidFill>
            <a:srgbClr val="FFFFFF"/>
          </a:solidFill>
          <a:ln w="11782">
            <a:solidFill>
              <a:srgbClr val="1A1A16"/>
            </a:solidFill>
            <a:prstDash val="solid"/>
          </a:ln>
        </p:spPr>
      </p:sp>
      <p:sp>
        <p:nvSpPr>
          <p:cNvPr id="77" name="Shape 75"/>
          <p:cNvSpPr/>
          <p:nvPr/>
        </p:nvSpPr>
        <p:spPr>
          <a:xfrm>
            <a:off x="5734783" y="2734957"/>
            <a:ext cx="70690" cy="0"/>
          </a:xfrm>
          <a:prstGeom prst="line">
            <a:avLst/>
          </a:prstGeom>
          <a:noFill/>
          <a:ln w="10604">
            <a:solidFill>
              <a:srgbClr val="1A1A16"/>
            </a:solidFill>
            <a:prstDash val="solid"/>
          </a:ln>
        </p:spPr>
      </p:sp>
      <p:sp>
        <p:nvSpPr>
          <p:cNvPr id="78" name="Shape 76"/>
          <p:cNvSpPr/>
          <p:nvPr/>
        </p:nvSpPr>
        <p:spPr>
          <a:xfrm>
            <a:off x="5770128" y="2699612"/>
            <a:ext cx="0" cy="70690"/>
          </a:xfrm>
          <a:prstGeom prst="line">
            <a:avLst/>
          </a:prstGeom>
          <a:noFill/>
          <a:ln w="10604">
            <a:solidFill>
              <a:srgbClr val="1A1A16"/>
            </a:solidFill>
            <a:prstDash val="solid"/>
          </a:ln>
        </p:spPr>
      </p:sp>
      <p:sp>
        <p:nvSpPr>
          <p:cNvPr id="79" name="Shape 77"/>
          <p:cNvSpPr/>
          <p:nvPr/>
        </p:nvSpPr>
        <p:spPr>
          <a:xfrm>
            <a:off x="5770128" y="2546450"/>
            <a:ext cx="0" cy="123708"/>
          </a:xfrm>
          <a:prstGeom prst="line">
            <a:avLst/>
          </a:prstGeom>
          <a:noFill/>
          <a:ln w="12960">
            <a:solidFill>
              <a:srgbClr val="31312D"/>
            </a:solidFill>
            <a:prstDash val="solid"/>
            <a:headEnd type="triangle"/>
          </a:ln>
        </p:spPr>
      </p:sp>
      <p:sp>
        <p:nvSpPr>
          <p:cNvPr id="80" name="Shape 78"/>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1" name="Shape 79"/>
          <p:cNvSpPr/>
          <p:nvPr/>
        </p:nvSpPr>
        <p:spPr>
          <a:xfrm>
            <a:off x="5705328" y="3266606"/>
            <a:ext cx="129599" cy="129599"/>
          </a:xfrm>
          <a:prstGeom prst="ellipse">
            <a:avLst/>
          </a:prstGeom>
          <a:solidFill>
            <a:srgbClr val="FFFFFF"/>
          </a:solidFill>
          <a:ln w="11782">
            <a:solidFill>
              <a:srgbClr val="1A1A16"/>
            </a:solidFill>
            <a:prstDash val="solid"/>
          </a:ln>
        </p:spPr>
      </p:sp>
      <p:sp>
        <p:nvSpPr>
          <p:cNvPr id="82" name="Shape 80"/>
          <p:cNvSpPr/>
          <p:nvPr/>
        </p:nvSpPr>
        <p:spPr>
          <a:xfrm>
            <a:off x="5734783" y="3331405"/>
            <a:ext cx="70690" cy="0"/>
          </a:xfrm>
          <a:prstGeom prst="line">
            <a:avLst/>
          </a:prstGeom>
          <a:noFill/>
          <a:ln w="10604">
            <a:solidFill>
              <a:srgbClr val="1A1A16"/>
            </a:solidFill>
            <a:prstDash val="solid"/>
          </a:ln>
        </p:spPr>
      </p:sp>
      <p:sp>
        <p:nvSpPr>
          <p:cNvPr id="83" name="Shape 81"/>
          <p:cNvSpPr/>
          <p:nvPr/>
        </p:nvSpPr>
        <p:spPr>
          <a:xfrm>
            <a:off x="5770128" y="3296060"/>
            <a:ext cx="0" cy="70690"/>
          </a:xfrm>
          <a:prstGeom prst="line">
            <a:avLst/>
          </a:prstGeom>
          <a:noFill/>
          <a:ln w="10604">
            <a:solidFill>
              <a:srgbClr val="1A1A16"/>
            </a:solidFill>
            <a:prstDash val="solid"/>
          </a:ln>
        </p:spPr>
      </p:sp>
      <p:sp>
        <p:nvSpPr>
          <p:cNvPr id="84" name="Shape 82"/>
          <p:cNvSpPr/>
          <p:nvPr/>
        </p:nvSpPr>
        <p:spPr>
          <a:xfrm>
            <a:off x="5770128" y="3142898"/>
            <a:ext cx="0" cy="123708"/>
          </a:xfrm>
          <a:prstGeom prst="line">
            <a:avLst/>
          </a:prstGeom>
          <a:noFill/>
          <a:ln w="12960">
            <a:solidFill>
              <a:srgbClr val="31312D"/>
            </a:solidFill>
            <a:prstDash val="solid"/>
            <a:headEnd type="triangle"/>
          </a:ln>
        </p:spPr>
      </p:sp>
      <p:sp>
        <p:nvSpPr>
          <p:cNvPr id="85" name="Shape 83"/>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6" name="Shape 84"/>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7" name="Shape 85"/>
          <p:cNvSpPr/>
          <p:nvPr/>
        </p:nvSpPr>
        <p:spPr>
          <a:xfrm>
            <a:off x="9858375" y="2670158"/>
            <a:ext cx="129599" cy="129599"/>
          </a:xfrm>
          <a:prstGeom prst="ellipse">
            <a:avLst/>
          </a:prstGeom>
          <a:solidFill>
            <a:srgbClr val="FFFFFF"/>
          </a:solidFill>
          <a:ln w="11782">
            <a:solidFill>
              <a:srgbClr val="1A1A16"/>
            </a:solidFill>
            <a:prstDash val="solid"/>
          </a:ln>
        </p:spPr>
      </p:sp>
      <p:sp>
        <p:nvSpPr>
          <p:cNvPr id="88" name="Shape 86"/>
          <p:cNvSpPr/>
          <p:nvPr/>
        </p:nvSpPr>
        <p:spPr>
          <a:xfrm>
            <a:off x="9887829" y="2734957"/>
            <a:ext cx="70690" cy="0"/>
          </a:xfrm>
          <a:prstGeom prst="line">
            <a:avLst/>
          </a:prstGeom>
          <a:noFill/>
          <a:ln w="10604">
            <a:solidFill>
              <a:srgbClr val="1A1A16"/>
            </a:solidFill>
            <a:prstDash val="solid"/>
          </a:ln>
        </p:spPr>
      </p:sp>
      <p:sp>
        <p:nvSpPr>
          <p:cNvPr id="89" name="Shape 87"/>
          <p:cNvSpPr/>
          <p:nvPr/>
        </p:nvSpPr>
        <p:spPr>
          <a:xfrm>
            <a:off x="9923174" y="2699612"/>
            <a:ext cx="0" cy="70690"/>
          </a:xfrm>
          <a:prstGeom prst="line">
            <a:avLst/>
          </a:prstGeom>
          <a:noFill/>
          <a:ln w="10604">
            <a:solidFill>
              <a:srgbClr val="1A1A16"/>
            </a:solidFill>
            <a:prstDash val="solid"/>
          </a:ln>
        </p:spPr>
      </p:sp>
      <p:sp>
        <p:nvSpPr>
          <p:cNvPr id="90" name="Shape 88"/>
          <p:cNvSpPr/>
          <p:nvPr/>
        </p:nvSpPr>
        <p:spPr>
          <a:xfrm>
            <a:off x="9923174" y="2546450"/>
            <a:ext cx="0" cy="123708"/>
          </a:xfrm>
          <a:prstGeom prst="line">
            <a:avLst/>
          </a:prstGeom>
          <a:noFill/>
          <a:ln w="12960">
            <a:solidFill>
              <a:srgbClr val="31312D"/>
            </a:solidFill>
            <a:prstDash val="solid"/>
            <a:headEnd type="triangle"/>
          </a:ln>
        </p:spPr>
      </p:sp>
      <p:sp>
        <p:nvSpPr>
          <p:cNvPr id="91" name="Shape 89"/>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92" name="Shape 90"/>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93" name="Shape 91"/>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12960">
            <a:solidFill>
              <a:srgbClr val="9289CA"/>
            </a:solidFill>
            <a:prstDash val="solid"/>
          </a:ln>
        </p:spPr>
      </p:sp>
      <p:sp>
        <p:nvSpPr>
          <p:cNvPr id="94" name="Shape 92"/>
          <p:cNvSpPr/>
          <p:nvPr/>
        </p:nvSpPr>
        <p:spPr>
          <a:xfrm>
            <a:off x="3672987" y="4459502"/>
            <a:ext cx="129599" cy="129599"/>
          </a:xfrm>
          <a:prstGeom prst="ellipse">
            <a:avLst/>
          </a:prstGeom>
          <a:solidFill>
            <a:srgbClr val="FFFFFF"/>
          </a:solidFill>
          <a:ln w="16494">
            <a:solidFill>
              <a:srgbClr val="1A1A16"/>
            </a:solidFill>
            <a:prstDash val="solid"/>
          </a:ln>
        </p:spPr>
      </p:sp>
      <p:sp>
        <p:nvSpPr>
          <p:cNvPr id="95" name="Shape 93"/>
          <p:cNvSpPr/>
          <p:nvPr/>
        </p:nvSpPr>
        <p:spPr>
          <a:xfrm>
            <a:off x="3702441" y="4524302"/>
            <a:ext cx="70690" cy="0"/>
          </a:xfrm>
          <a:prstGeom prst="line">
            <a:avLst/>
          </a:prstGeom>
          <a:noFill/>
          <a:ln w="10604">
            <a:solidFill>
              <a:srgbClr val="1A1A16"/>
            </a:solidFill>
            <a:prstDash val="solid"/>
          </a:ln>
        </p:spPr>
      </p:sp>
      <p:sp>
        <p:nvSpPr>
          <p:cNvPr id="96" name="Shape 94"/>
          <p:cNvSpPr/>
          <p:nvPr/>
        </p:nvSpPr>
        <p:spPr>
          <a:xfrm>
            <a:off x="3737786" y="4488957"/>
            <a:ext cx="0" cy="70690"/>
          </a:xfrm>
          <a:prstGeom prst="line">
            <a:avLst/>
          </a:prstGeom>
          <a:noFill/>
          <a:ln w="10604">
            <a:solidFill>
              <a:srgbClr val="1A1A16"/>
            </a:solidFill>
            <a:prstDash val="solid"/>
          </a:ln>
        </p:spPr>
      </p:sp>
      <p:sp>
        <p:nvSpPr>
          <p:cNvPr id="97" name="Shape 95"/>
          <p:cNvSpPr/>
          <p:nvPr/>
        </p:nvSpPr>
        <p:spPr>
          <a:xfrm>
            <a:off x="3737786" y="4335795"/>
            <a:ext cx="0" cy="123708"/>
          </a:xfrm>
          <a:prstGeom prst="line">
            <a:avLst/>
          </a:prstGeom>
          <a:noFill/>
          <a:ln w="16494">
            <a:solidFill>
              <a:srgbClr val="31312D"/>
            </a:solidFill>
            <a:prstDash val="solid"/>
            <a:headEnd type="triangle"/>
          </a:ln>
        </p:spPr>
      </p:sp>
      <p:sp>
        <p:nvSpPr>
          <p:cNvPr id="98" name="Shape 96"/>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9" name="Shape 97"/>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0" name="Shape 98"/>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1" name="Shape 99"/>
          <p:cNvSpPr/>
          <p:nvPr/>
        </p:nvSpPr>
        <p:spPr>
          <a:xfrm>
            <a:off x="3119247" y="4459502"/>
            <a:ext cx="129599" cy="129599"/>
          </a:xfrm>
          <a:prstGeom prst="ellipse">
            <a:avLst/>
          </a:prstGeom>
          <a:solidFill>
            <a:srgbClr val="FFFFFF"/>
          </a:solidFill>
          <a:ln w="11782">
            <a:solidFill>
              <a:srgbClr val="1A1A16"/>
            </a:solidFill>
            <a:prstDash val="solid"/>
          </a:ln>
        </p:spPr>
      </p:sp>
      <p:sp>
        <p:nvSpPr>
          <p:cNvPr id="102" name="Shape 100"/>
          <p:cNvSpPr/>
          <p:nvPr/>
        </p:nvSpPr>
        <p:spPr>
          <a:xfrm>
            <a:off x="3148701" y="4524302"/>
            <a:ext cx="70690" cy="0"/>
          </a:xfrm>
          <a:prstGeom prst="line">
            <a:avLst/>
          </a:prstGeom>
          <a:noFill/>
          <a:ln w="10604">
            <a:solidFill>
              <a:srgbClr val="1A1A16"/>
            </a:solidFill>
            <a:prstDash val="solid"/>
          </a:ln>
        </p:spPr>
      </p:sp>
      <p:sp>
        <p:nvSpPr>
          <p:cNvPr id="103" name="Shape 101"/>
          <p:cNvSpPr/>
          <p:nvPr/>
        </p:nvSpPr>
        <p:spPr>
          <a:xfrm>
            <a:off x="3184046" y="4488957"/>
            <a:ext cx="0" cy="70690"/>
          </a:xfrm>
          <a:prstGeom prst="line">
            <a:avLst/>
          </a:prstGeom>
          <a:noFill/>
          <a:ln w="10604">
            <a:solidFill>
              <a:srgbClr val="1A1A16"/>
            </a:solidFill>
            <a:prstDash val="solid"/>
          </a:ln>
        </p:spPr>
      </p:sp>
      <p:sp>
        <p:nvSpPr>
          <p:cNvPr id="104" name="Shape 102"/>
          <p:cNvSpPr/>
          <p:nvPr/>
        </p:nvSpPr>
        <p:spPr>
          <a:xfrm>
            <a:off x="3184046" y="4335795"/>
            <a:ext cx="0" cy="123708"/>
          </a:xfrm>
          <a:prstGeom prst="line">
            <a:avLst/>
          </a:prstGeom>
          <a:noFill/>
          <a:ln w="12960">
            <a:solidFill>
              <a:srgbClr val="31312D"/>
            </a:solidFill>
            <a:prstDash val="solid"/>
            <a:headEnd type="triangle"/>
          </a:ln>
        </p:spPr>
      </p:sp>
      <p:sp>
        <p:nvSpPr>
          <p:cNvPr id="105" name="Shape 103"/>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06" name="Shape 104"/>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07" name="Shape 105"/>
          <p:cNvSpPr/>
          <p:nvPr/>
        </p:nvSpPr>
        <p:spPr>
          <a:xfrm>
            <a:off x="5705328" y="2073710"/>
            <a:ext cx="129599" cy="129599"/>
          </a:xfrm>
          <a:prstGeom prst="ellipse">
            <a:avLst/>
          </a:prstGeom>
          <a:solidFill>
            <a:srgbClr val="FFFFFF"/>
          </a:solidFill>
          <a:ln w="11782">
            <a:solidFill>
              <a:srgbClr val="1A1A16"/>
            </a:solidFill>
            <a:prstDash val="solid"/>
          </a:ln>
        </p:spPr>
      </p:sp>
      <p:sp>
        <p:nvSpPr>
          <p:cNvPr id="108" name="Shape 106"/>
          <p:cNvSpPr/>
          <p:nvPr/>
        </p:nvSpPr>
        <p:spPr>
          <a:xfrm>
            <a:off x="5734783" y="2138509"/>
            <a:ext cx="70690" cy="0"/>
          </a:xfrm>
          <a:prstGeom prst="line">
            <a:avLst/>
          </a:prstGeom>
          <a:noFill/>
          <a:ln w="10604">
            <a:solidFill>
              <a:srgbClr val="1A1A16"/>
            </a:solidFill>
            <a:prstDash val="solid"/>
          </a:ln>
        </p:spPr>
      </p:sp>
      <p:sp>
        <p:nvSpPr>
          <p:cNvPr id="109" name="Shape 107"/>
          <p:cNvSpPr/>
          <p:nvPr/>
        </p:nvSpPr>
        <p:spPr>
          <a:xfrm>
            <a:off x="5770128" y="2103164"/>
            <a:ext cx="0" cy="70690"/>
          </a:xfrm>
          <a:prstGeom prst="line">
            <a:avLst/>
          </a:prstGeom>
          <a:noFill/>
          <a:ln w="10604">
            <a:solidFill>
              <a:srgbClr val="1A1A16"/>
            </a:solidFill>
            <a:prstDash val="solid"/>
          </a:ln>
        </p:spPr>
      </p:sp>
      <p:sp>
        <p:nvSpPr>
          <p:cNvPr id="110" name="Shape 108"/>
          <p:cNvSpPr/>
          <p:nvPr/>
        </p:nvSpPr>
        <p:spPr>
          <a:xfrm>
            <a:off x="5770128" y="1950002"/>
            <a:ext cx="0" cy="123708"/>
          </a:xfrm>
          <a:prstGeom prst="line">
            <a:avLst/>
          </a:prstGeom>
          <a:noFill/>
          <a:ln w="12960">
            <a:solidFill>
              <a:srgbClr val="31312D"/>
            </a:solidFill>
            <a:prstDash val="solid"/>
            <a:headEnd type="triangle"/>
          </a:ln>
        </p:spPr>
      </p:sp>
      <p:sp>
        <p:nvSpPr>
          <p:cNvPr id="111" name="Shape 109"/>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2" name="Shape 110"/>
          <p:cNvSpPr/>
          <p:nvPr/>
        </p:nvSpPr>
        <p:spPr>
          <a:xfrm>
            <a:off x="7767125" y="3266606"/>
            <a:ext cx="129599" cy="129599"/>
          </a:xfrm>
          <a:prstGeom prst="ellipse">
            <a:avLst/>
          </a:prstGeom>
          <a:solidFill>
            <a:srgbClr val="FFFFFF"/>
          </a:solidFill>
          <a:ln w="11782">
            <a:solidFill>
              <a:srgbClr val="1A1A16"/>
            </a:solidFill>
            <a:prstDash val="solid"/>
          </a:ln>
        </p:spPr>
      </p:sp>
      <p:sp>
        <p:nvSpPr>
          <p:cNvPr id="113" name="Shape 111"/>
          <p:cNvSpPr/>
          <p:nvPr/>
        </p:nvSpPr>
        <p:spPr>
          <a:xfrm>
            <a:off x="7796579" y="3331405"/>
            <a:ext cx="70690" cy="0"/>
          </a:xfrm>
          <a:prstGeom prst="line">
            <a:avLst/>
          </a:prstGeom>
          <a:noFill/>
          <a:ln w="10604">
            <a:solidFill>
              <a:srgbClr val="1A1A16"/>
            </a:solidFill>
            <a:prstDash val="solid"/>
          </a:ln>
        </p:spPr>
      </p:sp>
      <p:sp>
        <p:nvSpPr>
          <p:cNvPr id="114" name="Shape 112"/>
          <p:cNvSpPr/>
          <p:nvPr/>
        </p:nvSpPr>
        <p:spPr>
          <a:xfrm>
            <a:off x="7831924" y="3296060"/>
            <a:ext cx="0" cy="70690"/>
          </a:xfrm>
          <a:prstGeom prst="line">
            <a:avLst/>
          </a:prstGeom>
          <a:noFill/>
          <a:ln w="10604">
            <a:solidFill>
              <a:srgbClr val="1A1A16"/>
            </a:solidFill>
            <a:prstDash val="solid"/>
          </a:ln>
        </p:spPr>
      </p:sp>
      <p:sp>
        <p:nvSpPr>
          <p:cNvPr id="115" name="Shape 113"/>
          <p:cNvSpPr/>
          <p:nvPr/>
        </p:nvSpPr>
        <p:spPr>
          <a:xfrm>
            <a:off x="7831924" y="3142898"/>
            <a:ext cx="0" cy="123708"/>
          </a:xfrm>
          <a:prstGeom prst="line">
            <a:avLst/>
          </a:prstGeom>
          <a:noFill/>
          <a:ln w="12960">
            <a:solidFill>
              <a:srgbClr val="31312D"/>
            </a:solidFill>
            <a:prstDash val="solid"/>
            <a:headEnd type="triangle"/>
          </a:ln>
        </p:spPr>
      </p:sp>
      <p:sp>
        <p:nvSpPr>
          <p:cNvPr id="116" name="Shape 114"/>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7" name="Shape 115"/>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18" name="Shape 116"/>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19" name="Shape 117"/>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0" name="Shape 118"/>
          <p:cNvSpPr/>
          <p:nvPr/>
        </p:nvSpPr>
        <p:spPr>
          <a:xfrm>
            <a:off x="8043994" y="2670158"/>
            <a:ext cx="129599" cy="129599"/>
          </a:xfrm>
          <a:prstGeom prst="ellipse">
            <a:avLst/>
          </a:prstGeom>
          <a:solidFill>
            <a:srgbClr val="FFFFFF"/>
          </a:solidFill>
          <a:ln w="11782">
            <a:solidFill>
              <a:srgbClr val="1A1A16"/>
            </a:solidFill>
            <a:prstDash val="solid"/>
          </a:ln>
        </p:spPr>
      </p:sp>
      <p:sp>
        <p:nvSpPr>
          <p:cNvPr id="121" name="Shape 119"/>
          <p:cNvSpPr/>
          <p:nvPr/>
        </p:nvSpPr>
        <p:spPr>
          <a:xfrm>
            <a:off x="8073449" y="2734957"/>
            <a:ext cx="70690" cy="0"/>
          </a:xfrm>
          <a:prstGeom prst="line">
            <a:avLst/>
          </a:prstGeom>
          <a:noFill/>
          <a:ln w="10604">
            <a:solidFill>
              <a:srgbClr val="1A1A16"/>
            </a:solidFill>
            <a:prstDash val="solid"/>
          </a:ln>
        </p:spPr>
      </p:sp>
      <p:sp>
        <p:nvSpPr>
          <p:cNvPr id="122" name="Shape 120"/>
          <p:cNvSpPr/>
          <p:nvPr/>
        </p:nvSpPr>
        <p:spPr>
          <a:xfrm>
            <a:off x="8108794" y="2699612"/>
            <a:ext cx="0" cy="70690"/>
          </a:xfrm>
          <a:prstGeom prst="line">
            <a:avLst/>
          </a:prstGeom>
          <a:noFill/>
          <a:ln w="10604">
            <a:solidFill>
              <a:srgbClr val="1A1A16"/>
            </a:solidFill>
            <a:prstDash val="solid"/>
          </a:ln>
        </p:spPr>
      </p:sp>
      <p:sp>
        <p:nvSpPr>
          <p:cNvPr id="123" name="Shape 121"/>
          <p:cNvSpPr/>
          <p:nvPr/>
        </p:nvSpPr>
        <p:spPr>
          <a:xfrm>
            <a:off x="8108794" y="2546450"/>
            <a:ext cx="0" cy="123708"/>
          </a:xfrm>
          <a:prstGeom prst="line">
            <a:avLst/>
          </a:prstGeom>
          <a:noFill/>
          <a:ln w="12960">
            <a:solidFill>
              <a:srgbClr val="31312D"/>
            </a:solidFill>
            <a:prstDash val="solid"/>
            <a:headEnd type="triangle"/>
          </a:ln>
        </p:spPr>
      </p:sp>
      <p:sp>
        <p:nvSpPr>
          <p:cNvPr id="124" name="Shape 122"/>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25" name="Shape 123"/>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26" name="Shape 124"/>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27" name="Shape 125"/>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8" name="Shape 126"/>
          <p:cNvSpPr/>
          <p:nvPr/>
        </p:nvSpPr>
        <p:spPr>
          <a:xfrm>
            <a:off x="7767125" y="2073710"/>
            <a:ext cx="129599" cy="129599"/>
          </a:xfrm>
          <a:prstGeom prst="ellipse">
            <a:avLst/>
          </a:prstGeom>
          <a:solidFill>
            <a:srgbClr val="FFFFFF"/>
          </a:solidFill>
          <a:ln w="11782">
            <a:solidFill>
              <a:srgbClr val="1A1A16"/>
            </a:solidFill>
            <a:prstDash val="solid"/>
          </a:ln>
        </p:spPr>
      </p:sp>
      <p:sp>
        <p:nvSpPr>
          <p:cNvPr id="129" name="Shape 127"/>
          <p:cNvSpPr/>
          <p:nvPr/>
        </p:nvSpPr>
        <p:spPr>
          <a:xfrm>
            <a:off x="7796579" y="2138509"/>
            <a:ext cx="70690" cy="0"/>
          </a:xfrm>
          <a:prstGeom prst="line">
            <a:avLst/>
          </a:prstGeom>
          <a:noFill/>
          <a:ln w="10604">
            <a:solidFill>
              <a:srgbClr val="1A1A16"/>
            </a:solidFill>
            <a:prstDash val="solid"/>
          </a:ln>
        </p:spPr>
      </p:sp>
      <p:sp>
        <p:nvSpPr>
          <p:cNvPr id="130" name="Shape 128"/>
          <p:cNvSpPr/>
          <p:nvPr/>
        </p:nvSpPr>
        <p:spPr>
          <a:xfrm>
            <a:off x="7831924" y="2103164"/>
            <a:ext cx="0" cy="70690"/>
          </a:xfrm>
          <a:prstGeom prst="line">
            <a:avLst/>
          </a:prstGeom>
          <a:noFill/>
          <a:ln w="10604">
            <a:solidFill>
              <a:srgbClr val="1A1A16"/>
            </a:solidFill>
            <a:prstDash val="solid"/>
          </a:ln>
        </p:spPr>
      </p:sp>
      <p:sp>
        <p:nvSpPr>
          <p:cNvPr id="131" name="Shape 129"/>
          <p:cNvSpPr/>
          <p:nvPr/>
        </p:nvSpPr>
        <p:spPr>
          <a:xfrm>
            <a:off x="7831924" y="1950002"/>
            <a:ext cx="0" cy="123708"/>
          </a:xfrm>
          <a:prstGeom prst="line">
            <a:avLst/>
          </a:prstGeom>
          <a:noFill/>
          <a:ln w="12960">
            <a:solidFill>
              <a:srgbClr val="31312D"/>
            </a:solidFill>
            <a:prstDash val="solid"/>
            <a:headEnd type="triangle"/>
          </a:ln>
        </p:spPr>
      </p:sp>
      <p:sp>
        <p:nvSpPr>
          <p:cNvPr id="132" name="Shape 130"/>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3" name="Shape 131"/>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34" name="Shape 132"/>
          <p:cNvSpPr/>
          <p:nvPr/>
        </p:nvSpPr>
        <p:spPr>
          <a:xfrm>
            <a:off x="5428459" y="3863054"/>
            <a:ext cx="129599" cy="129599"/>
          </a:xfrm>
          <a:prstGeom prst="ellipse">
            <a:avLst/>
          </a:prstGeom>
          <a:solidFill>
            <a:srgbClr val="FFFFFF"/>
          </a:solidFill>
          <a:ln w="11782">
            <a:solidFill>
              <a:srgbClr val="1A1A16"/>
            </a:solidFill>
            <a:prstDash val="solid"/>
          </a:ln>
        </p:spPr>
      </p:sp>
      <p:sp>
        <p:nvSpPr>
          <p:cNvPr id="135" name="Shape 133"/>
          <p:cNvSpPr/>
          <p:nvPr/>
        </p:nvSpPr>
        <p:spPr>
          <a:xfrm>
            <a:off x="5457913" y="3927854"/>
            <a:ext cx="70690" cy="0"/>
          </a:xfrm>
          <a:prstGeom prst="line">
            <a:avLst/>
          </a:prstGeom>
          <a:noFill/>
          <a:ln w="10604">
            <a:solidFill>
              <a:srgbClr val="1A1A16"/>
            </a:solidFill>
            <a:prstDash val="solid"/>
          </a:ln>
        </p:spPr>
      </p:sp>
      <p:sp>
        <p:nvSpPr>
          <p:cNvPr id="136" name="Shape 134"/>
          <p:cNvSpPr/>
          <p:nvPr/>
        </p:nvSpPr>
        <p:spPr>
          <a:xfrm>
            <a:off x="5493258" y="3892508"/>
            <a:ext cx="0" cy="70690"/>
          </a:xfrm>
          <a:prstGeom prst="line">
            <a:avLst/>
          </a:prstGeom>
          <a:noFill/>
          <a:ln w="10604">
            <a:solidFill>
              <a:srgbClr val="1A1A16"/>
            </a:solidFill>
            <a:prstDash val="solid"/>
          </a:ln>
        </p:spPr>
      </p:sp>
      <p:sp>
        <p:nvSpPr>
          <p:cNvPr id="137" name="Shape 135"/>
          <p:cNvSpPr/>
          <p:nvPr/>
        </p:nvSpPr>
        <p:spPr>
          <a:xfrm>
            <a:off x="5493258" y="3739346"/>
            <a:ext cx="0" cy="123708"/>
          </a:xfrm>
          <a:prstGeom prst="line">
            <a:avLst/>
          </a:prstGeom>
          <a:noFill/>
          <a:ln w="12960">
            <a:solidFill>
              <a:srgbClr val="31312D"/>
            </a:solidFill>
            <a:prstDash val="solid"/>
            <a:headEnd type="triangle"/>
          </a:ln>
        </p:spPr>
      </p:sp>
      <p:sp>
        <p:nvSpPr>
          <p:cNvPr id="138" name="Shape 136"/>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39" name="Shape 137"/>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0" name="Shape 138"/>
          <p:cNvSpPr/>
          <p:nvPr/>
        </p:nvSpPr>
        <p:spPr>
          <a:xfrm>
            <a:off x="7490255" y="2670158"/>
            <a:ext cx="129599" cy="129599"/>
          </a:xfrm>
          <a:prstGeom prst="ellipse">
            <a:avLst/>
          </a:prstGeom>
          <a:solidFill>
            <a:srgbClr val="FFFFFF"/>
          </a:solidFill>
          <a:ln w="11782">
            <a:solidFill>
              <a:srgbClr val="1A1A16"/>
            </a:solidFill>
            <a:prstDash val="solid"/>
          </a:ln>
        </p:spPr>
      </p:sp>
      <p:sp>
        <p:nvSpPr>
          <p:cNvPr id="141" name="Shape 139"/>
          <p:cNvSpPr/>
          <p:nvPr/>
        </p:nvSpPr>
        <p:spPr>
          <a:xfrm>
            <a:off x="7519709" y="2734957"/>
            <a:ext cx="70690" cy="0"/>
          </a:xfrm>
          <a:prstGeom prst="line">
            <a:avLst/>
          </a:prstGeom>
          <a:noFill/>
          <a:ln w="10604">
            <a:solidFill>
              <a:srgbClr val="1A1A16"/>
            </a:solidFill>
            <a:prstDash val="solid"/>
          </a:ln>
        </p:spPr>
      </p:sp>
      <p:sp>
        <p:nvSpPr>
          <p:cNvPr id="142" name="Shape 140"/>
          <p:cNvSpPr/>
          <p:nvPr/>
        </p:nvSpPr>
        <p:spPr>
          <a:xfrm>
            <a:off x="7555054" y="2699612"/>
            <a:ext cx="0" cy="70690"/>
          </a:xfrm>
          <a:prstGeom prst="line">
            <a:avLst/>
          </a:prstGeom>
          <a:noFill/>
          <a:ln w="10604">
            <a:solidFill>
              <a:srgbClr val="1A1A16"/>
            </a:solidFill>
            <a:prstDash val="solid"/>
          </a:ln>
        </p:spPr>
      </p:sp>
      <p:sp>
        <p:nvSpPr>
          <p:cNvPr id="143" name="Shape 141"/>
          <p:cNvSpPr/>
          <p:nvPr/>
        </p:nvSpPr>
        <p:spPr>
          <a:xfrm>
            <a:off x="7555054" y="2546450"/>
            <a:ext cx="0" cy="123708"/>
          </a:xfrm>
          <a:prstGeom prst="line">
            <a:avLst/>
          </a:prstGeom>
          <a:noFill/>
          <a:ln w="12960">
            <a:solidFill>
              <a:srgbClr val="31312D"/>
            </a:solidFill>
            <a:prstDash val="solid"/>
            <a:headEnd type="triangle"/>
          </a:ln>
        </p:spPr>
      </p:sp>
      <p:sp>
        <p:nvSpPr>
          <p:cNvPr id="144" name="Shape 142"/>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45" name="Shape 143"/>
          <p:cNvSpPr/>
          <p:nvPr/>
        </p:nvSpPr>
        <p:spPr>
          <a:xfrm>
            <a:off x="5982198" y="3863054"/>
            <a:ext cx="129599" cy="129599"/>
          </a:xfrm>
          <a:prstGeom prst="ellipse">
            <a:avLst/>
          </a:prstGeom>
          <a:solidFill>
            <a:srgbClr val="FFFFFF"/>
          </a:solidFill>
          <a:ln w="11782">
            <a:solidFill>
              <a:srgbClr val="1A1A16"/>
            </a:solidFill>
            <a:prstDash val="solid"/>
          </a:ln>
        </p:spPr>
      </p:sp>
      <p:sp>
        <p:nvSpPr>
          <p:cNvPr id="146" name="Shape 144"/>
          <p:cNvSpPr/>
          <p:nvPr/>
        </p:nvSpPr>
        <p:spPr>
          <a:xfrm>
            <a:off x="6011652" y="3927854"/>
            <a:ext cx="70690" cy="0"/>
          </a:xfrm>
          <a:prstGeom prst="line">
            <a:avLst/>
          </a:prstGeom>
          <a:noFill/>
          <a:ln w="10604">
            <a:solidFill>
              <a:srgbClr val="1A1A16"/>
            </a:solidFill>
            <a:prstDash val="solid"/>
          </a:ln>
        </p:spPr>
      </p:sp>
      <p:sp>
        <p:nvSpPr>
          <p:cNvPr id="147" name="Shape 145"/>
          <p:cNvSpPr/>
          <p:nvPr/>
        </p:nvSpPr>
        <p:spPr>
          <a:xfrm>
            <a:off x="6046998" y="3892508"/>
            <a:ext cx="0" cy="70690"/>
          </a:xfrm>
          <a:prstGeom prst="line">
            <a:avLst/>
          </a:prstGeom>
          <a:noFill/>
          <a:ln w="10604">
            <a:solidFill>
              <a:srgbClr val="1A1A16"/>
            </a:solidFill>
            <a:prstDash val="solid"/>
          </a:ln>
        </p:spPr>
      </p:sp>
      <p:sp>
        <p:nvSpPr>
          <p:cNvPr id="148" name="Shape 146"/>
          <p:cNvSpPr/>
          <p:nvPr/>
        </p:nvSpPr>
        <p:spPr>
          <a:xfrm>
            <a:off x="6046998" y="3739346"/>
            <a:ext cx="0" cy="123708"/>
          </a:xfrm>
          <a:prstGeom prst="line">
            <a:avLst/>
          </a:prstGeom>
          <a:noFill/>
          <a:ln w="12960">
            <a:solidFill>
              <a:srgbClr val="31312D"/>
            </a:solidFill>
            <a:prstDash val="solid"/>
            <a:headEnd type="triangle"/>
          </a:ln>
        </p:spPr>
      </p:sp>
      <p:sp>
        <p:nvSpPr>
          <p:cNvPr id="149" name="Shape 147"/>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12960">
            <a:solidFill>
              <a:srgbClr val="B1B1B0"/>
            </a:solidFill>
            <a:prstDash val="solid"/>
          </a:ln>
        </p:spPr>
      </p:sp>
      <p:sp>
        <p:nvSpPr>
          <p:cNvPr id="150" name="Shape 148"/>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12960">
            <a:solidFill>
              <a:srgbClr val="76CFAF"/>
            </a:solidFill>
            <a:prstDash val="solid"/>
          </a:ln>
        </p:spPr>
      </p:sp>
      <p:sp>
        <p:nvSpPr>
          <p:cNvPr id="151" name="Shape 149"/>
          <p:cNvSpPr/>
          <p:nvPr/>
        </p:nvSpPr>
        <p:spPr>
          <a:xfrm>
            <a:off x="3119247" y="3863054"/>
            <a:ext cx="129599" cy="129599"/>
          </a:xfrm>
          <a:prstGeom prst="ellipse">
            <a:avLst/>
          </a:prstGeom>
          <a:solidFill>
            <a:srgbClr val="FFFFFF"/>
          </a:solidFill>
          <a:ln w="16494">
            <a:solidFill>
              <a:srgbClr val="1A1A16"/>
            </a:solidFill>
            <a:prstDash val="solid"/>
          </a:ln>
        </p:spPr>
      </p:sp>
      <p:sp>
        <p:nvSpPr>
          <p:cNvPr id="152" name="Shape 150"/>
          <p:cNvSpPr/>
          <p:nvPr/>
        </p:nvSpPr>
        <p:spPr>
          <a:xfrm>
            <a:off x="3148701" y="3927854"/>
            <a:ext cx="70690" cy="0"/>
          </a:xfrm>
          <a:prstGeom prst="line">
            <a:avLst/>
          </a:prstGeom>
          <a:noFill/>
          <a:ln w="10604">
            <a:solidFill>
              <a:srgbClr val="1A1A16"/>
            </a:solidFill>
            <a:prstDash val="solid"/>
          </a:ln>
        </p:spPr>
      </p:sp>
      <p:sp>
        <p:nvSpPr>
          <p:cNvPr id="153" name="Shape 151"/>
          <p:cNvSpPr/>
          <p:nvPr/>
        </p:nvSpPr>
        <p:spPr>
          <a:xfrm>
            <a:off x="3184046" y="3892508"/>
            <a:ext cx="0" cy="70690"/>
          </a:xfrm>
          <a:prstGeom prst="line">
            <a:avLst/>
          </a:prstGeom>
          <a:noFill/>
          <a:ln w="10604">
            <a:solidFill>
              <a:srgbClr val="1A1A16"/>
            </a:solidFill>
            <a:prstDash val="solid"/>
          </a:ln>
        </p:spPr>
      </p:sp>
      <p:sp>
        <p:nvSpPr>
          <p:cNvPr id="154" name="Shape 152"/>
          <p:cNvSpPr/>
          <p:nvPr/>
        </p:nvSpPr>
        <p:spPr>
          <a:xfrm>
            <a:off x="3184046" y="3739346"/>
            <a:ext cx="0" cy="123708"/>
          </a:xfrm>
          <a:prstGeom prst="line">
            <a:avLst/>
          </a:prstGeom>
          <a:noFill/>
          <a:ln w="16494">
            <a:solidFill>
              <a:srgbClr val="31312D"/>
            </a:solidFill>
            <a:prstDash val="solid"/>
            <a:headEnd type="triangle"/>
          </a:ln>
        </p:spPr>
      </p:sp>
      <p:sp>
        <p:nvSpPr>
          <p:cNvPr id="155" name="Shape 153"/>
          <p:cNvSpPr/>
          <p:nvPr/>
        </p:nvSpPr>
        <p:spPr>
          <a:xfrm>
            <a:off x="5592813" y="473756"/>
            <a:ext cx="354629" cy="354629"/>
          </a:xfrm>
          <a:prstGeom prst="diamond">
            <a:avLst/>
          </a:prstGeom>
          <a:solidFill>
            <a:srgbClr val="FFFFFF"/>
          </a:solidFill>
          <a:ln w="18851">
            <a:solidFill>
              <a:srgbClr val="1A1A16"/>
            </a:solidFill>
            <a:prstDash val="solid"/>
          </a:ln>
        </p:spPr>
      </p:sp>
      <p:sp>
        <p:nvSpPr>
          <p:cNvPr id="156" name="Shape 154"/>
          <p:cNvSpPr/>
          <p:nvPr/>
        </p:nvSpPr>
        <p:spPr>
          <a:xfrm>
            <a:off x="3659438" y="3555258"/>
            <a:ext cx="156697" cy="156107"/>
          </a:xfrm>
          <a:prstGeom prst="rect">
            <a:avLst/>
          </a:prstGeom>
          <a:solidFill>
            <a:srgbClr val="FFFFFF"/>
          </a:solidFill>
          <a:ln w="12371">
            <a:solidFill>
              <a:srgbClr val="1A1A16"/>
            </a:solidFill>
            <a:prstDash val="solid"/>
          </a:ln>
        </p:spPr>
      </p:sp>
      <p:sp>
        <p:nvSpPr>
          <p:cNvPr id="157" name="Shape 155"/>
          <p:cNvSpPr/>
          <p:nvPr/>
        </p:nvSpPr>
        <p:spPr>
          <a:xfrm>
            <a:off x="7721176" y="1137065"/>
            <a:ext cx="221496" cy="220907"/>
          </a:xfrm>
          <a:prstGeom prst="diamond">
            <a:avLst/>
          </a:prstGeom>
          <a:solidFill>
            <a:srgbClr val="FFFFFF"/>
          </a:solidFill>
          <a:ln w="12371">
            <a:solidFill>
              <a:srgbClr val="1A1A16"/>
            </a:solidFill>
            <a:prstDash val="solid"/>
          </a:ln>
        </p:spPr>
      </p:sp>
      <p:sp>
        <p:nvSpPr>
          <p:cNvPr id="158" name="Shape 156"/>
          <p:cNvSpPr/>
          <p:nvPr/>
        </p:nvSpPr>
        <p:spPr>
          <a:xfrm>
            <a:off x="4180777" y="3522858"/>
            <a:ext cx="221496" cy="220907"/>
          </a:xfrm>
          <a:prstGeom prst="diamond">
            <a:avLst/>
          </a:prstGeom>
          <a:solidFill>
            <a:srgbClr val="FFFFFF"/>
          </a:solidFill>
          <a:ln w="12371">
            <a:solidFill>
              <a:srgbClr val="1A1A16"/>
            </a:solidFill>
            <a:prstDash val="solid"/>
          </a:ln>
        </p:spPr>
      </p:sp>
      <p:sp>
        <p:nvSpPr>
          <p:cNvPr id="159" name="Shape 157"/>
          <p:cNvSpPr/>
          <p:nvPr/>
        </p:nvSpPr>
        <p:spPr>
          <a:xfrm>
            <a:off x="4203163" y="4141397"/>
            <a:ext cx="176725" cy="176725"/>
          </a:xfrm>
          <a:prstGeom prst="ellipse">
            <a:avLst/>
          </a:prstGeom>
          <a:solidFill>
            <a:srgbClr val="FFFFFF"/>
          </a:solidFill>
          <a:ln w="12371">
            <a:solidFill>
              <a:srgbClr val="1A1A16"/>
            </a:solidFill>
            <a:prstDash val="solid"/>
          </a:ln>
        </p:spPr>
      </p:sp>
      <p:sp>
        <p:nvSpPr>
          <p:cNvPr id="160" name="Shape 158"/>
          <p:cNvSpPr/>
          <p:nvPr/>
        </p:nvSpPr>
        <p:spPr>
          <a:xfrm>
            <a:off x="1840933" y="4684827"/>
            <a:ext cx="282761" cy="282761"/>
          </a:xfrm>
          <a:prstGeom prst="ellipse">
            <a:avLst/>
          </a:prstGeom>
          <a:ln w="15316">
            <a:solidFill>
              <a:srgbClr val="BABAB9"/>
            </a:solidFill>
            <a:prstDash val="solid"/>
          </a:ln>
        </p:spPr>
      </p:sp>
      <p:sp>
        <p:nvSpPr>
          <p:cNvPr id="161" name="Shape 159"/>
          <p:cNvSpPr/>
          <p:nvPr/>
        </p:nvSpPr>
        <p:spPr>
          <a:xfrm>
            <a:off x="1893951" y="4737845"/>
            <a:ext cx="176725" cy="176725"/>
          </a:xfrm>
          <a:prstGeom prst="ellipse">
            <a:avLst/>
          </a:prstGeom>
          <a:solidFill>
            <a:srgbClr val="FFFFFF"/>
          </a:solidFill>
          <a:ln w="21207">
            <a:solidFill>
              <a:srgbClr val="1A1A16"/>
            </a:solidFill>
            <a:prstDash val="solid"/>
          </a:ln>
        </p:spPr>
      </p:sp>
      <p:sp>
        <p:nvSpPr>
          <p:cNvPr id="162" name="Shape 160"/>
          <p:cNvSpPr/>
          <p:nvPr/>
        </p:nvSpPr>
        <p:spPr>
          <a:xfrm>
            <a:off x="1340211" y="4737845"/>
            <a:ext cx="176725" cy="176725"/>
          </a:xfrm>
          <a:prstGeom prst="ellipse">
            <a:avLst/>
          </a:prstGeom>
          <a:solidFill>
            <a:srgbClr val="FFFFFF"/>
          </a:solidFill>
          <a:ln w="12371">
            <a:solidFill>
              <a:srgbClr val="1A1A16"/>
            </a:solidFill>
            <a:prstDash val="solid"/>
          </a:ln>
        </p:spPr>
      </p:sp>
      <p:sp>
        <p:nvSpPr>
          <p:cNvPr id="163" name="Shape 161"/>
          <p:cNvSpPr/>
          <p:nvPr/>
        </p:nvSpPr>
        <p:spPr>
          <a:xfrm>
            <a:off x="7714107" y="3515494"/>
            <a:ext cx="235634" cy="235634"/>
          </a:xfrm>
          <a:prstGeom prst="ellipse">
            <a:avLst/>
          </a:prstGeom>
          <a:solidFill>
            <a:srgbClr val="FFFFFF"/>
          </a:solidFill>
          <a:ln w="12371">
            <a:solidFill>
              <a:srgbClr val="1A1A16"/>
            </a:solidFill>
            <a:prstDash val="solid"/>
          </a:ln>
        </p:spPr>
      </p:sp>
      <p:sp>
        <p:nvSpPr>
          <p:cNvPr id="164" name="Shape 162"/>
          <p:cNvSpPr/>
          <p:nvPr/>
        </p:nvSpPr>
        <p:spPr>
          <a:xfrm>
            <a:off x="5691780" y="2362361"/>
            <a:ext cx="156697" cy="156107"/>
          </a:xfrm>
          <a:prstGeom prst="rect">
            <a:avLst/>
          </a:prstGeom>
          <a:solidFill>
            <a:srgbClr val="FFFFFF"/>
          </a:solidFill>
          <a:ln w="12371">
            <a:solidFill>
              <a:srgbClr val="1A1A16"/>
            </a:solidFill>
            <a:prstDash val="solid"/>
          </a:ln>
        </p:spPr>
      </p:sp>
      <p:sp>
        <p:nvSpPr>
          <p:cNvPr id="165" name="Shape 163"/>
          <p:cNvSpPr/>
          <p:nvPr/>
        </p:nvSpPr>
        <p:spPr>
          <a:xfrm>
            <a:off x="5681765" y="2948500"/>
            <a:ext cx="176725" cy="176725"/>
          </a:xfrm>
          <a:prstGeom prst="ellipse">
            <a:avLst/>
          </a:prstGeom>
          <a:solidFill>
            <a:srgbClr val="FFFFFF"/>
          </a:solidFill>
          <a:ln w="12371">
            <a:solidFill>
              <a:srgbClr val="1A1A16"/>
            </a:solidFill>
            <a:prstDash val="solid"/>
          </a:ln>
        </p:spPr>
      </p:sp>
      <p:sp>
        <p:nvSpPr>
          <p:cNvPr id="166" name="Shape 164"/>
          <p:cNvSpPr/>
          <p:nvPr/>
        </p:nvSpPr>
        <p:spPr>
          <a:xfrm>
            <a:off x="3619969" y="4708391"/>
            <a:ext cx="235634" cy="235634"/>
          </a:xfrm>
          <a:prstGeom prst="ellipse">
            <a:avLst/>
          </a:prstGeom>
          <a:solidFill>
            <a:srgbClr val="FFFFFF"/>
          </a:solidFill>
          <a:ln w="12371">
            <a:solidFill>
              <a:srgbClr val="1A1A16"/>
            </a:solidFill>
            <a:prstDash val="solid"/>
          </a:ln>
        </p:spPr>
      </p:sp>
      <p:sp>
        <p:nvSpPr>
          <p:cNvPr id="167" name="Shape 165"/>
          <p:cNvSpPr/>
          <p:nvPr/>
        </p:nvSpPr>
        <p:spPr>
          <a:xfrm>
            <a:off x="9844826" y="2362361"/>
            <a:ext cx="156697" cy="156107"/>
          </a:xfrm>
          <a:prstGeom prst="rect">
            <a:avLst/>
          </a:prstGeom>
          <a:solidFill>
            <a:srgbClr val="FFFFFF"/>
          </a:solidFill>
          <a:ln w="12371">
            <a:solidFill>
              <a:srgbClr val="1A1A16"/>
            </a:solidFill>
            <a:prstDash val="solid"/>
          </a:ln>
        </p:spPr>
      </p:sp>
      <p:sp>
        <p:nvSpPr>
          <p:cNvPr id="168" name="Shape 166"/>
          <p:cNvSpPr/>
          <p:nvPr/>
        </p:nvSpPr>
        <p:spPr>
          <a:xfrm>
            <a:off x="980535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3649423" y="4141397"/>
            <a:ext cx="176725" cy="176725"/>
          </a:xfrm>
          <a:prstGeom prst="ellipse">
            <a:avLst/>
          </a:prstGeom>
          <a:solidFill>
            <a:srgbClr val="FFFFFF"/>
          </a:solidFill>
          <a:ln w="12371">
            <a:solidFill>
              <a:srgbClr val="1A1A16"/>
            </a:solidFill>
            <a:prstDash val="solid"/>
          </a:ln>
        </p:spPr>
      </p:sp>
      <p:sp>
        <p:nvSpPr>
          <p:cNvPr id="170" name="Shape 168"/>
          <p:cNvSpPr/>
          <p:nvPr/>
        </p:nvSpPr>
        <p:spPr>
          <a:xfrm>
            <a:off x="3095684" y="4141397"/>
            <a:ext cx="176725" cy="176725"/>
          </a:xfrm>
          <a:prstGeom prst="ellipse">
            <a:avLst/>
          </a:prstGeom>
          <a:solidFill>
            <a:srgbClr val="FFFFFF"/>
          </a:solidFill>
          <a:ln w="12371">
            <a:solidFill>
              <a:srgbClr val="1A1A16"/>
            </a:solidFill>
            <a:prstDash val="solid"/>
          </a:ln>
        </p:spPr>
      </p:sp>
      <p:sp>
        <p:nvSpPr>
          <p:cNvPr id="171" name="Shape 169"/>
          <p:cNvSpPr/>
          <p:nvPr/>
        </p:nvSpPr>
        <p:spPr>
          <a:xfrm>
            <a:off x="5659380" y="1733219"/>
            <a:ext cx="221496" cy="221496"/>
          </a:xfrm>
          <a:prstGeom prst="diamond">
            <a:avLst/>
          </a:prstGeom>
          <a:solidFill>
            <a:srgbClr val="FFFFFF"/>
          </a:solidFill>
          <a:ln w="12371">
            <a:solidFill>
              <a:srgbClr val="1A1A16"/>
            </a:solidFill>
            <a:prstDash val="solid"/>
          </a:ln>
        </p:spPr>
      </p:sp>
      <p:sp>
        <p:nvSpPr>
          <p:cNvPr id="172" name="Shape 170"/>
          <p:cNvSpPr/>
          <p:nvPr/>
        </p:nvSpPr>
        <p:spPr>
          <a:xfrm>
            <a:off x="7753576" y="2958515"/>
            <a:ext cx="156697" cy="156697"/>
          </a:xfrm>
          <a:prstGeom prst="rect">
            <a:avLst/>
          </a:prstGeom>
          <a:solidFill>
            <a:srgbClr val="FFFFFF"/>
          </a:solidFill>
          <a:ln w="12371">
            <a:solidFill>
              <a:srgbClr val="1A1A16"/>
            </a:solidFill>
            <a:prstDash val="solid"/>
          </a:ln>
        </p:spPr>
      </p:sp>
      <p:sp>
        <p:nvSpPr>
          <p:cNvPr id="173" name="Shape 171"/>
          <p:cNvSpPr/>
          <p:nvPr/>
        </p:nvSpPr>
        <p:spPr>
          <a:xfrm>
            <a:off x="7989799" y="2302864"/>
            <a:ext cx="237990" cy="206180"/>
          </a:xfrm>
          <a:prstGeom prst="triangle">
            <a:avLst/>
          </a:prstGeom>
          <a:solidFill>
            <a:srgbClr val="FFFFFF"/>
          </a:solidFill>
          <a:ln w="12371">
            <a:solidFill>
              <a:srgbClr val="1A1A16"/>
            </a:solidFill>
            <a:prstDash val="solid"/>
          </a:ln>
        </p:spPr>
      </p:sp>
      <p:sp>
        <p:nvSpPr>
          <p:cNvPr id="174" name="Shape 172"/>
          <p:cNvSpPr/>
          <p:nvPr/>
        </p:nvSpPr>
        <p:spPr>
          <a:xfrm>
            <a:off x="7712929" y="1706710"/>
            <a:ext cx="237990" cy="206180"/>
          </a:xfrm>
          <a:prstGeom prst="triangle">
            <a:avLst/>
          </a:prstGeom>
          <a:solidFill>
            <a:srgbClr val="FFFFFF"/>
          </a:solidFill>
          <a:ln w="12371">
            <a:solidFill>
              <a:srgbClr val="1A1A16"/>
            </a:solidFill>
            <a:prstDash val="solid"/>
          </a:ln>
        </p:spPr>
      </p:sp>
      <p:sp>
        <p:nvSpPr>
          <p:cNvPr id="175" name="Shape 173"/>
          <p:cNvSpPr/>
          <p:nvPr/>
        </p:nvSpPr>
        <p:spPr>
          <a:xfrm>
            <a:off x="5404895" y="3544949"/>
            <a:ext cx="176725" cy="176725"/>
          </a:xfrm>
          <a:prstGeom prst="ellipse">
            <a:avLst/>
          </a:prstGeom>
          <a:solidFill>
            <a:srgbClr val="FFFFFF"/>
          </a:solidFill>
          <a:ln w="12371">
            <a:solidFill>
              <a:srgbClr val="1A1A16"/>
            </a:solidFill>
            <a:prstDash val="solid"/>
          </a:ln>
        </p:spPr>
      </p:sp>
      <p:sp>
        <p:nvSpPr>
          <p:cNvPr id="176" name="Shape 174"/>
          <p:cNvSpPr/>
          <p:nvPr/>
        </p:nvSpPr>
        <p:spPr>
          <a:xfrm>
            <a:off x="7476706" y="2362361"/>
            <a:ext cx="156697" cy="156107"/>
          </a:xfrm>
          <a:prstGeom prst="rect">
            <a:avLst/>
          </a:prstGeom>
          <a:solidFill>
            <a:srgbClr val="FFFFFF"/>
          </a:solidFill>
          <a:ln w="12371">
            <a:solidFill>
              <a:srgbClr val="1A1A16"/>
            </a:solidFill>
            <a:prstDash val="solid"/>
          </a:ln>
        </p:spPr>
      </p:sp>
      <p:sp>
        <p:nvSpPr>
          <p:cNvPr id="177" name="Shape 175"/>
          <p:cNvSpPr/>
          <p:nvPr/>
        </p:nvSpPr>
        <p:spPr>
          <a:xfrm>
            <a:off x="5958635" y="3544949"/>
            <a:ext cx="176725" cy="176725"/>
          </a:xfrm>
          <a:prstGeom prst="ellipse">
            <a:avLst/>
          </a:prstGeom>
          <a:solidFill>
            <a:srgbClr val="FFFFFF"/>
          </a:solidFill>
          <a:ln w="12371">
            <a:solidFill>
              <a:srgbClr val="1A1A16"/>
            </a:solidFill>
            <a:prstDash val="solid"/>
          </a:ln>
        </p:spPr>
      </p:sp>
      <p:sp>
        <p:nvSpPr>
          <p:cNvPr id="178" name="Shape 176"/>
          <p:cNvSpPr/>
          <p:nvPr/>
        </p:nvSpPr>
        <p:spPr>
          <a:xfrm>
            <a:off x="3105698" y="3555258"/>
            <a:ext cx="156697" cy="156107"/>
          </a:xfrm>
          <a:prstGeom prst="rect">
            <a:avLst/>
          </a:prstGeom>
          <a:solidFill>
            <a:srgbClr val="FFFFFF"/>
          </a:solidFill>
          <a:ln w="12371">
            <a:solidFill>
              <a:srgbClr val="1A1A16"/>
            </a:solidFill>
            <a:prstDash val="solid"/>
          </a:ln>
        </p:spPr>
      </p:sp>
      <p:sp>
        <p:nvSpPr>
          <p:cNvPr id="179" name="Shape 177"/>
          <p:cNvSpPr/>
          <p:nvPr/>
        </p:nvSpPr>
        <p:spPr>
          <a:xfrm>
            <a:off x="7719998" y="5293057"/>
            <a:ext cx="223852" cy="259197"/>
          </a:xfrm>
          <a:prstGeom prst="hexagon">
            <a:avLst/>
          </a:prstGeom>
          <a:solidFill>
            <a:srgbClr val="FFFFFF"/>
          </a:solidFill>
          <a:ln w="12371">
            <a:solidFill>
              <a:srgbClr val="008300"/>
            </a:solidFill>
            <a:prstDash val="solid"/>
          </a:ln>
        </p:spPr>
      </p:sp>
      <p:sp>
        <p:nvSpPr>
          <p:cNvPr id="180" name="Shape 178"/>
          <p:cNvSpPr/>
          <p:nvPr/>
        </p:nvSpPr>
        <p:spPr>
          <a:xfrm>
            <a:off x="2147257" y="5293057"/>
            <a:ext cx="223852" cy="259197"/>
          </a:xfrm>
          <a:prstGeom prst="hexagon">
            <a:avLst/>
          </a:prstGeom>
          <a:solidFill>
            <a:srgbClr val="FFFFFF"/>
          </a:solidFill>
          <a:ln w="12371">
            <a:solidFill>
              <a:srgbClr val="1BAF7A"/>
            </a:solidFill>
            <a:prstDash val="solid"/>
          </a:ln>
        </p:spPr>
      </p:sp>
      <p:sp>
        <p:nvSpPr>
          <p:cNvPr id="181" name="Shape 179"/>
          <p:cNvSpPr/>
          <p:nvPr/>
        </p:nvSpPr>
        <p:spPr>
          <a:xfrm>
            <a:off x="9811248" y="5293057"/>
            <a:ext cx="223852" cy="259197"/>
          </a:xfrm>
          <a:prstGeom prst="hexagon">
            <a:avLst/>
          </a:prstGeom>
          <a:solidFill>
            <a:srgbClr val="FFFFFF"/>
          </a:solidFill>
          <a:ln w="12371">
            <a:solidFill>
              <a:srgbClr val="2A78D6"/>
            </a:solidFill>
            <a:prstDash val="solid"/>
          </a:ln>
        </p:spPr>
      </p:sp>
      <p:sp>
        <p:nvSpPr>
          <p:cNvPr id="182" name="Shape 180"/>
          <p:cNvSpPr/>
          <p:nvPr/>
        </p:nvSpPr>
        <p:spPr>
          <a:xfrm>
            <a:off x="3625860" y="5293057"/>
            <a:ext cx="223852" cy="259197"/>
          </a:xfrm>
          <a:prstGeom prst="hexagon">
            <a:avLst/>
          </a:prstGeom>
          <a:solidFill>
            <a:srgbClr val="FFFFFF"/>
          </a:solidFill>
          <a:ln w="12371">
            <a:solidFill>
              <a:srgbClr val="4A3AA7"/>
            </a:solidFill>
            <a:prstDash val="solid"/>
          </a:ln>
        </p:spPr>
      </p:sp>
      <p:sp>
        <p:nvSpPr>
          <p:cNvPr id="183" name="Shape 181"/>
          <p:cNvSpPr/>
          <p:nvPr/>
        </p:nvSpPr>
        <p:spPr>
          <a:xfrm>
            <a:off x="980870" y="5251821"/>
            <a:ext cx="341669" cy="341669"/>
          </a:xfrm>
          <a:prstGeom prst="ellipse">
            <a:avLst/>
          </a:prstGeom>
          <a:ln w="15316">
            <a:solidFill>
              <a:srgbClr val="BABAB9"/>
            </a:solidFill>
            <a:prstDash val="solid"/>
          </a:ln>
        </p:spPr>
      </p:sp>
      <p:sp>
        <p:nvSpPr>
          <p:cNvPr id="184" name="Shape 182"/>
          <p:cNvSpPr/>
          <p:nvPr/>
        </p:nvSpPr>
        <p:spPr>
          <a:xfrm>
            <a:off x="1039778" y="5293057"/>
            <a:ext cx="223852" cy="259197"/>
          </a:xfrm>
          <a:prstGeom prst="hexagon">
            <a:avLst/>
          </a:prstGeom>
          <a:solidFill>
            <a:srgbClr val="FFFFFF"/>
          </a:solidFill>
          <a:ln w="21207">
            <a:solidFill>
              <a:srgbClr val="EDA100"/>
            </a:solidFill>
            <a:prstDash val="solid"/>
          </a:ln>
        </p:spPr>
      </p:sp>
      <p:sp>
        <p:nvSpPr>
          <p:cNvPr id="185" name="Text 18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86" name="Text 18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87" name="Text 18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88" name="Text 18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89" name="Text 1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0" name="Text 1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1" name="Text 1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1B0C8"/>
            </a:solidFill>
            <a:prstDash val="solid"/>
          </a:ln>
        </p:spPr>
      </p:sp>
      <p:sp>
        <p:nvSpPr>
          <p:cNvPr id="70" name="Shape 68"/>
          <p:cNvSpPr/>
          <p:nvPr/>
        </p:nvSpPr>
        <p:spPr>
          <a:xfrm>
            <a:off x="1917514"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946969" y="5120750"/>
            <a:ext cx="70690" cy="0"/>
          </a:xfrm>
          <a:prstGeom prst="line">
            <a:avLst/>
          </a:prstGeom>
          <a:noFill/>
          <a:ln w="10604">
            <a:solidFill>
              <a:srgbClr val="1A1A16"/>
            </a:solidFill>
            <a:prstDash val="solid"/>
          </a:ln>
        </p:spPr>
      </p:sp>
      <p:sp>
        <p:nvSpPr>
          <p:cNvPr id="72" name="Shape 70"/>
          <p:cNvSpPr/>
          <p:nvPr/>
        </p:nvSpPr>
        <p:spPr>
          <a:xfrm>
            <a:off x="1982314" y="5085405"/>
            <a:ext cx="0" cy="70690"/>
          </a:xfrm>
          <a:prstGeom prst="line">
            <a:avLst/>
          </a:prstGeom>
          <a:noFill/>
          <a:ln w="10604">
            <a:solidFill>
              <a:srgbClr val="1A1A16"/>
            </a:solidFill>
            <a:prstDash val="solid"/>
          </a:ln>
        </p:spPr>
      </p:sp>
      <p:sp>
        <p:nvSpPr>
          <p:cNvPr id="73" name="Shape 71"/>
          <p:cNvSpPr/>
          <p:nvPr/>
        </p:nvSpPr>
        <p:spPr>
          <a:xfrm>
            <a:off x="1982314" y="4932243"/>
            <a:ext cx="0" cy="123708"/>
          </a:xfrm>
          <a:prstGeom prst="line">
            <a:avLst/>
          </a:prstGeom>
          <a:noFill/>
          <a:ln w="16494">
            <a:solidFill>
              <a:srgbClr val="31312D"/>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76CFA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4C766"/>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1A1A16"/>
            </a:solidFill>
            <a:prstDash val="solid"/>
          </a:ln>
        </p:spPr>
      </p:sp>
      <p:sp>
        <p:nvSpPr>
          <p:cNvPr id="77" name="Shape 75"/>
          <p:cNvSpPr/>
          <p:nvPr/>
        </p:nvSpPr>
        <p:spPr>
          <a:xfrm>
            <a:off x="1393229" y="5120750"/>
            <a:ext cx="70690" cy="0"/>
          </a:xfrm>
          <a:prstGeom prst="line">
            <a:avLst/>
          </a:prstGeom>
          <a:noFill/>
          <a:ln w="10604">
            <a:solidFill>
              <a:srgbClr val="1A1A16"/>
            </a:solidFill>
            <a:prstDash val="solid"/>
          </a:ln>
        </p:spPr>
      </p:sp>
      <p:sp>
        <p:nvSpPr>
          <p:cNvPr id="78" name="Shape 76"/>
          <p:cNvSpPr/>
          <p:nvPr/>
        </p:nvSpPr>
        <p:spPr>
          <a:xfrm>
            <a:off x="1428574" y="5085405"/>
            <a:ext cx="0" cy="70690"/>
          </a:xfrm>
          <a:prstGeom prst="line">
            <a:avLst/>
          </a:prstGeom>
          <a:noFill/>
          <a:ln w="10604">
            <a:solidFill>
              <a:srgbClr val="1A1A16"/>
            </a:solidFill>
            <a:prstDash val="solid"/>
          </a:ln>
        </p:spPr>
      </p:sp>
      <p:sp>
        <p:nvSpPr>
          <p:cNvPr id="79" name="Shape 77"/>
          <p:cNvSpPr/>
          <p:nvPr/>
        </p:nvSpPr>
        <p:spPr>
          <a:xfrm>
            <a:off x="1428574" y="4932243"/>
            <a:ext cx="0" cy="123708"/>
          </a:xfrm>
          <a:prstGeom prst="line">
            <a:avLst/>
          </a:prstGeom>
          <a:noFill/>
          <a:ln w="12960">
            <a:solidFill>
              <a:srgbClr val="31312D"/>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1A1A16"/>
            </a:solidFill>
            <a:prstDash val="solid"/>
          </a:ln>
        </p:spPr>
      </p:sp>
      <p:sp>
        <p:nvSpPr>
          <p:cNvPr id="83" name="Shape 81"/>
          <p:cNvSpPr/>
          <p:nvPr/>
        </p:nvSpPr>
        <p:spPr>
          <a:xfrm>
            <a:off x="5734783" y="2734957"/>
            <a:ext cx="70690" cy="0"/>
          </a:xfrm>
          <a:prstGeom prst="line">
            <a:avLst/>
          </a:prstGeom>
          <a:noFill/>
          <a:ln w="10604">
            <a:solidFill>
              <a:srgbClr val="1A1A16"/>
            </a:solidFill>
            <a:prstDash val="solid"/>
          </a:ln>
        </p:spPr>
      </p:sp>
      <p:sp>
        <p:nvSpPr>
          <p:cNvPr id="84" name="Shape 82"/>
          <p:cNvSpPr/>
          <p:nvPr/>
        </p:nvSpPr>
        <p:spPr>
          <a:xfrm>
            <a:off x="5770128" y="2699612"/>
            <a:ext cx="0" cy="70690"/>
          </a:xfrm>
          <a:prstGeom prst="line">
            <a:avLst/>
          </a:prstGeom>
          <a:noFill/>
          <a:ln w="10604">
            <a:solidFill>
              <a:srgbClr val="1A1A16"/>
            </a:solidFill>
            <a:prstDash val="solid"/>
          </a:ln>
        </p:spPr>
      </p:sp>
      <p:sp>
        <p:nvSpPr>
          <p:cNvPr id="85" name="Shape 83"/>
          <p:cNvSpPr/>
          <p:nvPr/>
        </p:nvSpPr>
        <p:spPr>
          <a:xfrm>
            <a:off x="5770128" y="2546450"/>
            <a:ext cx="0" cy="123708"/>
          </a:xfrm>
          <a:prstGeom prst="line">
            <a:avLst/>
          </a:prstGeom>
          <a:noFill/>
          <a:ln w="12960">
            <a:solidFill>
              <a:srgbClr val="31312D"/>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1A1A16"/>
            </a:solidFill>
            <a:prstDash val="solid"/>
          </a:ln>
        </p:spPr>
      </p:sp>
      <p:sp>
        <p:nvSpPr>
          <p:cNvPr id="88" name="Shape 86"/>
          <p:cNvSpPr/>
          <p:nvPr/>
        </p:nvSpPr>
        <p:spPr>
          <a:xfrm>
            <a:off x="5734783" y="3331405"/>
            <a:ext cx="70690" cy="0"/>
          </a:xfrm>
          <a:prstGeom prst="line">
            <a:avLst/>
          </a:prstGeom>
          <a:noFill/>
          <a:ln w="10604">
            <a:solidFill>
              <a:srgbClr val="1A1A16"/>
            </a:solidFill>
            <a:prstDash val="solid"/>
          </a:ln>
        </p:spPr>
      </p:sp>
      <p:sp>
        <p:nvSpPr>
          <p:cNvPr id="89" name="Shape 87"/>
          <p:cNvSpPr/>
          <p:nvPr/>
        </p:nvSpPr>
        <p:spPr>
          <a:xfrm>
            <a:off x="5770128" y="3296060"/>
            <a:ext cx="0" cy="70690"/>
          </a:xfrm>
          <a:prstGeom prst="line">
            <a:avLst/>
          </a:prstGeom>
          <a:noFill/>
          <a:ln w="10604">
            <a:solidFill>
              <a:srgbClr val="1A1A16"/>
            </a:solidFill>
            <a:prstDash val="solid"/>
          </a:ln>
        </p:spPr>
      </p:sp>
      <p:sp>
        <p:nvSpPr>
          <p:cNvPr id="90" name="Shape 88"/>
          <p:cNvSpPr/>
          <p:nvPr/>
        </p:nvSpPr>
        <p:spPr>
          <a:xfrm>
            <a:off x="5770128" y="3142898"/>
            <a:ext cx="0" cy="123708"/>
          </a:xfrm>
          <a:prstGeom prst="line">
            <a:avLst/>
          </a:prstGeom>
          <a:noFill/>
          <a:ln w="12960">
            <a:solidFill>
              <a:srgbClr val="31312D"/>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1A1A16"/>
            </a:solidFill>
            <a:prstDash val="solid"/>
          </a:ln>
        </p:spPr>
      </p:sp>
      <p:sp>
        <p:nvSpPr>
          <p:cNvPr id="94" name="Shape 92"/>
          <p:cNvSpPr/>
          <p:nvPr/>
        </p:nvSpPr>
        <p:spPr>
          <a:xfrm>
            <a:off x="9887829" y="2734957"/>
            <a:ext cx="70690" cy="0"/>
          </a:xfrm>
          <a:prstGeom prst="line">
            <a:avLst/>
          </a:prstGeom>
          <a:noFill/>
          <a:ln w="10604">
            <a:solidFill>
              <a:srgbClr val="1A1A16"/>
            </a:solidFill>
            <a:prstDash val="solid"/>
          </a:ln>
        </p:spPr>
      </p:sp>
      <p:sp>
        <p:nvSpPr>
          <p:cNvPr id="95" name="Shape 93"/>
          <p:cNvSpPr/>
          <p:nvPr/>
        </p:nvSpPr>
        <p:spPr>
          <a:xfrm>
            <a:off x="9923174" y="2699612"/>
            <a:ext cx="0" cy="70690"/>
          </a:xfrm>
          <a:prstGeom prst="line">
            <a:avLst/>
          </a:prstGeom>
          <a:noFill/>
          <a:ln w="10604">
            <a:solidFill>
              <a:srgbClr val="1A1A16"/>
            </a:solidFill>
            <a:prstDash val="solid"/>
          </a:ln>
        </p:spPr>
      </p:sp>
      <p:sp>
        <p:nvSpPr>
          <p:cNvPr id="96" name="Shape 94"/>
          <p:cNvSpPr/>
          <p:nvPr/>
        </p:nvSpPr>
        <p:spPr>
          <a:xfrm>
            <a:off x="9923174" y="2546450"/>
            <a:ext cx="0" cy="123708"/>
          </a:xfrm>
          <a:prstGeom prst="line">
            <a:avLst/>
          </a:prstGeom>
          <a:noFill/>
          <a:ln w="12960">
            <a:solidFill>
              <a:srgbClr val="31312D"/>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9289CA"/>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1A1A16"/>
            </a:solidFill>
            <a:prstDash val="solid"/>
          </a:ln>
        </p:spPr>
      </p:sp>
      <p:sp>
        <p:nvSpPr>
          <p:cNvPr id="101" name="Shape 99"/>
          <p:cNvSpPr/>
          <p:nvPr/>
        </p:nvSpPr>
        <p:spPr>
          <a:xfrm>
            <a:off x="3702441" y="4524302"/>
            <a:ext cx="70690" cy="0"/>
          </a:xfrm>
          <a:prstGeom prst="line">
            <a:avLst/>
          </a:prstGeom>
          <a:noFill/>
          <a:ln w="10604">
            <a:solidFill>
              <a:srgbClr val="1A1A16"/>
            </a:solidFill>
            <a:prstDash val="solid"/>
          </a:ln>
        </p:spPr>
      </p:sp>
      <p:sp>
        <p:nvSpPr>
          <p:cNvPr id="102" name="Shape 100"/>
          <p:cNvSpPr/>
          <p:nvPr/>
        </p:nvSpPr>
        <p:spPr>
          <a:xfrm>
            <a:off x="3737786" y="4488957"/>
            <a:ext cx="0" cy="70690"/>
          </a:xfrm>
          <a:prstGeom prst="line">
            <a:avLst/>
          </a:prstGeom>
          <a:noFill/>
          <a:ln w="10604">
            <a:solidFill>
              <a:srgbClr val="1A1A16"/>
            </a:solidFill>
            <a:prstDash val="solid"/>
          </a:ln>
        </p:spPr>
      </p:sp>
      <p:sp>
        <p:nvSpPr>
          <p:cNvPr id="103" name="Shape 101"/>
          <p:cNvSpPr/>
          <p:nvPr/>
        </p:nvSpPr>
        <p:spPr>
          <a:xfrm>
            <a:off x="3737786" y="4335795"/>
            <a:ext cx="0" cy="123708"/>
          </a:xfrm>
          <a:prstGeom prst="line">
            <a:avLst/>
          </a:prstGeom>
          <a:noFill/>
          <a:ln w="12960">
            <a:solidFill>
              <a:srgbClr val="31312D"/>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1A1A16"/>
            </a:solidFill>
            <a:prstDash val="solid"/>
          </a:ln>
        </p:spPr>
      </p:sp>
      <p:sp>
        <p:nvSpPr>
          <p:cNvPr id="108" name="Shape 106"/>
          <p:cNvSpPr/>
          <p:nvPr/>
        </p:nvSpPr>
        <p:spPr>
          <a:xfrm>
            <a:off x="3148701" y="4524302"/>
            <a:ext cx="70690" cy="0"/>
          </a:xfrm>
          <a:prstGeom prst="line">
            <a:avLst/>
          </a:prstGeom>
          <a:noFill/>
          <a:ln w="10604">
            <a:solidFill>
              <a:srgbClr val="1A1A16"/>
            </a:solidFill>
            <a:prstDash val="solid"/>
          </a:ln>
        </p:spPr>
      </p:sp>
      <p:sp>
        <p:nvSpPr>
          <p:cNvPr id="109" name="Shape 107"/>
          <p:cNvSpPr/>
          <p:nvPr/>
        </p:nvSpPr>
        <p:spPr>
          <a:xfrm>
            <a:off x="3184046" y="4488957"/>
            <a:ext cx="0" cy="70690"/>
          </a:xfrm>
          <a:prstGeom prst="line">
            <a:avLst/>
          </a:prstGeom>
          <a:noFill/>
          <a:ln w="10604">
            <a:solidFill>
              <a:srgbClr val="1A1A16"/>
            </a:solidFill>
            <a:prstDash val="solid"/>
          </a:ln>
        </p:spPr>
      </p:sp>
      <p:sp>
        <p:nvSpPr>
          <p:cNvPr id="110" name="Shape 108"/>
          <p:cNvSpPr/>
          <p:nvPr/>
        </p:nvSpPr>
        <p:spPr>
          <a:xfrm>
            <a:off x="3184046" y="4335795"/>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1A1A16"/>
            </a:solidFill>
            <a:prstDash val="solid"/>
          </a:ln>
        </p:spPr>
      </p:sp>
      <p:sp>
        <p:nvSpPr>
          <p:cNvPr id="114" name="Shape 112"/>
          <p:cNvSpPr/>
          <p:nvPr/>
        </p:nvSpPr>
        <p:spPr>
          <a:xfrm>
            <a:off x="5734783" y="2138509"/>
            <a:ext cx="70690" cy="0"/>
          </a:xfrm>
          <a:prstGeom prst="line">
            <a:avLst/>
          </a:prstGeom>
          <a:noFill/>
          <a:ln w="10604">
            <a:solidFill>
              <a:srgbClr val="1A1A16"/>
            </a:solidFill>
            <a:prstDash val="solid"/>
          </a:ln>
        </p:spPr>
      </p:sp>
      <p:sp>
        <p:nvSpPr>
          <p:cNvPr id="115" name="Shape 113"/>
          <p:cNvSpPr/>
          <p:nvPr/>
        </p:nvSpPr>
        <p:spPr>
          <a:xfrm>
            <a:off x="5770128" y="2103164"/>
            <a:ext cx="0" cy="70690"/>
          </a:xfrm>
          <a:prstGeom prst="line">
            <a:avLst/>
          </a:prstGeom>
          <a:noFill/>
          <a:ln w="10604">
            <a:solidFill>
              <a:srgbClr val="1A1A16"/>
            </a:solidFill>
            <a:prstDash val="solid"/>
          </a:ln>
        </p:spPr>
      </p:sp>
      <p:sp>
        <p:nvSpPr>
          <p:cNvPr id="116" name="Shape 114"/>
          <p:cNvSpPr/>
          <p:nvPr/>
        </p:nvSpPr>
        <p:spPr>
          <a:xfrm>
            <a:off x="5770128" y="1950002"/>
            <a:ext cx="0" cy="123708"/>
          </a:xfrm>
          <a:prstGeom prst="line">
            <a:avLst/>
          </a:prstGeom>
          <a:noFill/>
          <a:ln w="12960">
            <a:solidFill>
              <a:srgbClr val="31312D"/>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1A1A16"/>
            </a:solidFill>
            <a:prstDash val="solid"/>
          </a:ln>
        </p:spPr>
      </p:sp>
      <p:sp>
        <p:nvSpPr>
          <p:cNvPr id="119" name="Shape 117"/>
          <p:cNvSpPr/>
          <p:nvPr/>
        </p:nvSpPr>
        <p:spPr>
          <a:xfrm>
            <a:off x="7796579" y="3331405"/>
            <a:ext cx="70690" cy="0"/>
          </a:xfrm>
          <a:prstGeom prst="line">
            <a:avLst/>
          </a:prstGeom>
          <a:noFill/>
          <a:ln w="10604">
            <a:solidFill>
              <a:srgbClr val="1A1A16"/>
            </a:solidFill>
            <a:prstDash val="solid"/>
          </a:ln>
        </p:spPr>
      </p:sp>
      <p:sp>
        <p:nvSpPr>
          <p:cNvPr id="120" name="Shape 118"/>
          <p:cNvSpPr/>
          <p:nvPr/>
        </p:nvSpPr>
        <p:spPr>
          <a:xfrm>
            <a:off x="7831924" y="3296060"/>
            <a:ext cx="0" cy="70690"/>
          </a:xfrm>
          <a:prstGeom prst="line">
            <a:avLst/>
          </a:prstGeom>
          <a:noFill/>
          <a:ln w="10604">
            <a:solidFill>
              <a:srgbClr val="1A1A16"/>
            </a:solidFill>
            <a:prstDash val="solid"/>
          </a:ln>
        </p:spPr>
      </p:sp>
      <p:sp>
        <p:nvSpPr>
          <p:cNvPr id="121" name="Shape 119"/>
          <p:cNvSpPr/>
          <p:nvPr/>
        </p:nvSpPr>
        <p:spPr>
          <a:xfrm>
            <a:off x="7831924" y="3142898"/>
            <a:ext cx="0" cy="123708"/>
          </a:xfrm>
          <a:prstGeom prst="line">
            <a:avLst/>
          </a:prstGeom>
          <a:noFill/>
          <a:ln w="12960">
            <a:solidFill>
              <a:srgbClr val="31312D"/>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1A1A16"/>
            </a:solidFill>
            <a:prstDash val="solid"/>
          </a:ln>
        </p:spPr>
      </p:sp>
      <p:sp>
        <p:nvSpPr>
          <p:cNvPr id="127" name="Shape 125"/>
          <p:cNvSpPr/>
          <p:nvPr/>
        </p:nvSpPr>
        <p:spPr>
          <a:xfrm>
            <a:off x="8073449" y="2734957"/>
            <a:ext cx="70690" cy="0"/>
          </a:xfrm>
          <a:prstGeom prst="line">
            <a:avLst/>
          </a:prstGeom>
          <a:noFill/>
          <a:ln w="10604">
            <a:solidFill>
              <a:srgbClr val="1A1A16"/>
            </a:solidFill>
            <a:prstDash val="solid"/>
          </a:ln>
        </p:spPr>
      </p:sp>
      <p:sp>
        <p:nvSpPr>
          <p:cNvPr id="128" name="Shape 126"/>
          <p:cNvSpPr/>
          <p:nvPr/>
        </p:nvSpPr>
        <p:spPr>
          <a:xfrm>
            <a:off x="8108794" y="2699612"/>
            <a:ext cx="0" cy="70690"/>
          </a:xfrm>
          <a:prstGeom prst="line">
            <a:avLst/>
          </a:prstGeom>
          <a:noFill/>
          <a:ln w="10604">
            <a:solidFill>
              <a:srgbClr val="1A1A16"/>
            </a:solidFill>
            <a:prstDash val="solid"/>
          </a:ln>
        </p:spPr>
      </p:sp>
      <p:sp>
        <p:nvSpPr>
          <p:cNvPr id="129" name="Shape 127"/>
          <p:cNvSpPr/>
          <p:nvPr/>
        </p:nvSpPr>
        <p:spPr>
          <a:xfrm>
            <a:off x="8108794" y="2546450"/>
            <a:ext cx="0" cy="123708"/>
          </a:xfrm>
          <a:prstGeom prst="line">
            <a:avLst/>
          </a:prstGeom>
          <a:noFill/>
          <a:ln w="12960">
            <a:solidFill>
              <a:srgbClr val="31312D"/>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1A1A16"/>
            </a:solidFill>
            <a:prstDash val="solid"/>
          </a:ln>
        </p:spPr>
      </p:sp>
      <p:sp>
        <p:nvSpPr>
          <p:cNvPr id="135" name="Shape 133"/>
          <p:cNvSpPr/>
          <p:nvPr/>
        </p:nvSpPr>
        <p:spPr>
          <a:xfrm>
            <a:off x="7796579" y="2138509"/>
            <a:ext cx="70690" cy="0"/>
          </a:xfrm>
          <a:prstGeom prst="line">
            <a:avLst/>
          </a:prstGeom>
          <a:noFill/>
          <a:ln w="10604">
            <a:solidFill>
              <a:srgbClr val="1A1A16"/>
            </a:solidFill>
            <a:prstDash val="solid"/>
          </a:ln>
        </p:spPr>
      </p:sp>
      <p:sp>
        <p:nvSpPr>
          <p:cNvPr id="136" name="Shape 134"/>
          <p:cNvSpPr/>
          <p:nvPr/>
        </p:nvSpPr>
        <p:spPr>
          <a:xfrm>
            <a:off x="7831924" y="2103164"/>
            <a:ext cx="0" cy="70690"/>
          </a:xfrm>
          <a:prstGeom prst="line">
            <a:avLst/>
          </a:prstGeom>
          <a:noFill/>
          <a:ln w="10604">
            <a:solidFill>
              <a:srgbClr val="1A1A16"/>
            </a:solidFill>
            <a:prstDash val="solid"/>
          </a:ln>
        </p:spPr>
      </p:sp>
      <p:sp>
        <p:nvSpPr>
          <p:cNvPr id="137" name="Shape 135"/>
          <p:cNvSpPr/>
          <p:nvPr/>
        </p:nvSpPr>
        <p:spPr>
          <a:xfrm>
            <a:off x="7831924" y="1950002"/>
            <a:ext cx="0" cy="123708"/>
          </a:xfrm>
          <a:prstGeom prst="line">
            <a:avLst/>
          </a:prstGeom>
          <a:noFill/>
          <a:ln w="12960">
            <a:solidFill>
              <a:srgbClr val="31312D"/>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1A1A16"/>
            </a:solidFill>
            <a:prstDash val="solid"/>
          </a:ln>
        </p:spPr>
      </p:sp>
      <p:sp>
        <p:nvSpPr>
          <p:cNvPr id="141" name="Shape 139"/>
          <p:cNvSpPr/>
          <p:nvPr/>
        </p:nvSpPr>
        <p:spPr>
          <a:xfrm>
            <a:off x="5457913" y="3927854"/>
            <a:ext cx="70690" cy="0"/>
          </a:xfrm>
          <a:prstGeom prst="line">
            <a:avLst/>
          </a:prstGeom>
          <a:noFill/>
          <a:ln w="10604">
            <a:solidFill>
              <a:srgbClr val="1A1A16"/>
            </a:solidFill>
            <a:prstDash val="solid"/>
          </a:ln>
        </p:spPr>
      </p:sp>
      <p:sp>
        <p:nvSpPr>
          <p:cNvPr id="142" name="Shape 140"/>
          <p:cNvSpPr/>
          <p:nvPr/>
        </p:nvSpPr>
        <p:spPr>
          <a:xfrm>
            <a:off x="5493258" y="3892508"/>
            <a:ext cx="0" cy="70690"/>
          </a:xfrm>
          <a:prstGeom prst="line">
            <a:avLst/>
          </a:prstGeom>
          <a:noFill/>
          <a:ln w="10604">
            <a:solidFill>
              <a:srgbClr val="1A1A16"/>
            </a:solidFill>
            <a:prstDash val="solid"/>
          </a:ln>
        </p:spPr>
      </p:sp>
      <p:sp>
        <p:nvSpPr>
          <p:cNvPr id="143" name="Shape 141"/>
          <p:cNvSpPr/>
          <p:nvPr/>
        </p:nvSpPr>
        <p:spPr>
          <a:xfrm>
            <a:off x="5493258" y="3739346"/>
            <a:ext cx="0" cy="123708"/>
          </a:xfrm>
          <a:prstGeom prst="line">
            <a:avLst/>
          </a:prstGeom>
          <a:noFill/>
          <a:ln w="12960">
            <a:solidFill>
              <a:srgbClr val="31312D"/>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1A1A16"/>
            </a:solidFill>
            <a:prstDash val="solid"/>
          </a:ln>
        </p:spPr>
      </p:sp>
      <p:sp>
        <p:nvSpPr>
          <p:cNvPr id="147" name="Shape 145"/>
          <p:cNvSpPr/>
          <p:nvPr/>
        </p:nvSpPr>
        <p:spPr>
          <a:xfrm>
            <a:off x="7519709" y="2734957"/>
            <a:ext cx="70690" cy="0"/>
          </a:xfrm>
          <a:prstGeom prst="line">
            <a:avLst/>
          </a:prstGeom>
          <a:noFill/>
          <a:ln w="10604">
            <a:solidFill>
              <a:srgbClr val="1A1A16"/>
            </a:solidFill>
            <a:prstDash val="solid"/>
          </a:ln>
        </p:spPr>
      </p:sp>
      <p:sp>
        <p:nvSpPr>
          <p:cNvPr id="148" name="Shape 146"/>
          <p:cNvSpPr/>
          <p:nvPr/>
        </p:nvSpPr>
        <p:spPr>
          <a:xfrm>
            <a:off x="7555054" y="2699612"/>
            <a:ext cx="0" cy="70690"/>
          </a:xfrm>
          <a:prstGeom prst="line">
            <a:avLst/>
          </a:prstGeom>
          <a:noFill/>
          <a:ln w="10604">
            <a:solidFill>
              <a:srgbClr val="1A1A16"/>
            </a:solidFill>
            <a:prstDash val="solid"/>
          </a:ln>
        </p:spPr>
      </p:sp>
      <p:sp>
        <p:nvSpPr>
          <p:cNvPr id="149" name="Shape 147"/>
          <p:cNvSpPr/>
          <p:nvPr/>
        </p:nvSpPr>
        <p:spPr>
          <a:xfrm>
            <a:off x="7555054" y="2546450"/>
            <a:ext cx="0" cy="123708"/>
          </a:xfrm>
          <a:prstGeom prst="line">
            <a:avLst/>
          </a:prstGeom>
          <a:noFill/>
          <a:ln w="12960">
            <a:solidFill>
              <a:srgbClr val="31312D"/>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1A1A16"/>
            </a:solidFill>
            <a:prstDash val="solid"/>
          </a:ln>
        </p:spPr>
      </p:sp>
      <p:sp>
        <p:nvSpPr>
          <p:cNvPr id="152" name="Shape 150"/>
          <p:cNvSpPr/>
          <p:nvPr/>
        </p:nvSpPr>
        <p:spPr>
          <a:xfrm>
            <a:off x="6011652" y="3927854"/>
            <a:ext cx="70690" cy="0"/>
          </a:xfrm>
          <a:prstGeom prst="line">
            <a:avLst/>
          </a:prstGeom>
          <a:noFill/>
          <a:ln w="10604">
            <a:solidFill>
              <a:srgbClr val="1A1A16"/>
            </a:solidFill>
            <a:prstDash val="solid"/>
          </a:ln>
        </p:spPr>
      </p:sp>
      <p:sp>
        <p:nvSpPr>
          <p:cNvPr id="153" name="Shape 151"/>
          <p:cNvSpPr/>
          <p:nvPr/>
        </p:nvSpPr>
        <p:spPr>
          <a:xfrm>
            <a:off x="6046998" y="3892508"/>
            <a:ext cx="0" cy="70690"/>
          </a:xfrm>
          <a:prstGeom prst="line">
            <a:avLst/>
          </a:prstGeom>
          <a:noFill/>
          <a:ln w="10604">
            <a:solidFill>
              <a:srgbClr val="1A1A16"/>
            </a:solidFill>
            <a:prstDash val="solid"/>
          </a:ln>
        </p:spPr>
      </p:sp>
      <p:sp>
        <p:nvSpPr>
          <p:cNvPr id="154" name="Shape 152"/>
          <p:cNvSpPr/>
          <p:nvPr/>
        </p:nvSpPr>
        <p:spPr>
          <a:xfrm>
            <a:off x="6046998" y="3739346"/>
            <a:ext cx="0" cy="123708"/>
          </a:xfrm>
          <a:prstGeom prst="line">
            <a:avLst/>
          </a:prstGeom>
          <a:noFill/>
          <a:ln w="12960">
            <a:solidFill>
              <a:srgbClr val="31312D"/>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B1B1B0"/>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76CFA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1A1A16"/>
            </a:solidFill>
            <a:prstDash val="solid"/>
          </a:ln>
        </p:spPr>
      </p:sp>
      <p:sp>
        <p:nvSpPr>
          <p:cNvPr id="158" name="Shape 156"/>
          <p:cNvSpPr/>
          <p:nvPr/>
        </p:nvSpPr>
        <p:spPr>
          <a:xfrm>
            <a:off x="3148701" y="3927854"/>
            <a:ext cx="70690" cy="0"/>
          </a:xfrm>
          <a:prstGeom prst="line">
            <a:avLst/>
          </a:prstGeom>
          <a:noFill/>
          <a:ln w="10604">
            <a:solidFill>
              <a:srgbClr val="1A1A16"/>
            </a:solidFill>
            <a:prstDash val="solid"/>
          </a:ln>
        </p:spPr>
      </p:sp>
      <p:sp>
        <p:nvSpPr>
          <p:cNvPr id="159" name="Shape 157"/>
          <p:cNvSpPr/>
          <p:nvPr/>
        </p:nvSpPr>
        <p:spPr>
          <a:xfrm>
            <a:off x="3184046" y="3892508"/>
            <a:ext cx="0" cy="70690"/>
          </a:xfrm>
          <a:prstGeom prst="line">
            <a:avLst/>
          </a:prstGeom>
          <a:noFill/>
          <a:ln w="10604">
            <a:solidFill>
              <a:srgbClr val="1A1A16"/>
            </a:solidFill>
            <a:prstDash val="solid"/>
          </a:ln>
        </p:spPr>
      </p:sp>
      <p:sp>
        <p:nvSpPr>
          <p:cNvPr id="160" name="Shape 158"/>
          <p:cNvSpPr/>
          <p:nvPr/>
        </p:nvSpPr>
        <p:spPr>
          <a:xfrm>
            <a:off x="3184046" y="3739346"/>
            <a:ext cx="0" cy="123708"/>
          </a:xfrm>
          <a:prstGeom prst="line">
            <a:avLst/>
          </a:prstGeom>
          <a:noFill/>
          <a:ln w="12960">
            <a:solidFill>
              <a:srgbClr val="31312D"/>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1BAF7A"/>
            </a:solidFill>
            <a:prstDash val="solid"/>
          </a:ln>
        </p:spPr>
      </p:sp>
      <p:sp>
        <p:nvSpPr>
          <p:cNvPr id="186" name="Shape 184"/>
          <p:cNvSpPr/>
          <p:nvPr/>
        </p:nvSpPr>
        <p:spPr>
          <a:xfrm>
            <a:off x="1534609" y="5251821"/>
            <a:ext cx="341669" cy="341669"/>
          </a:xfrm>
          <a:prstGeom prst="ellipse">
            <a:avLst/>
          </a:prstGeom>
          <a:ln w="15316">
            <a:solidFill>
              <a:srgbClr val="BABAB9"/>
            </a:solidFill>
            <a:prstDash val="solid"/>
          </a:ln>
        </p:spPr>
      </p:sp>
      <p:sp>
        <p:nvSpPr>
          <p:cNvPr id="187" name="Shape 185"/>
          <p:cNvSpPr/>
          <p:nvPr/>
        </p:nvSpPr>
        <p:spPr>
          <a:xfrm>
            <a:off x="1593518" y="5293057"/>
            <a:ext cx="223852" cy="259197"/>
          </a:xfrm>
          <a:prstGeom prst="hexagon">
            <a:avLst/>
          </a:prstGeom>
          <a:solidFill>
            <a:srgbClr val="FFFFFF"/>
          </a:solidFill>
          <a:ln w="21207">
            <a:solidFill>
              <a:srgbClr val="E87BA4"/>
            </a:solidFill>
            <a:prstDash val="solid"/>
          </a:ln>
        </p:spPr>
      </p:sp>
      <p:sp>
        <p:nvSpPr>
          <p:cNvPr id="188" name="Shape 186"/>
          <p:cNvSpPr/>
          <p:nvPr/>
        </p:nvSpPr>
        <p:spPr>
          <a:xfrm>
            <a:off x="9811248" y="5293057"/>
            <a:ext cx="223852" cy="259197"/>
          </a:xfrm>
          <a:prstGeom prst="hexagon">
            <a:avLst/>
          </a:prstGeom>
          <a:solidFill>
            <a:srgbClr val="FFFFFF"/>
          </a:solidFill>
          <a:ln w="12371">
            <a:solidFill>
              <a:srgbClr val="2A78D6"/>
            </a:solidFill>
            <a:prstDash val="solid"/>
          </a:ln>
        </p:spPr>
      </p:sp>
      <p:sp>
        <p:nvSpPr>
          <p:cNvPr id="189" name="Shape 187"/>
          <p:cNvSpPr/>
          <p:nvPr/>
        </p:nvSpPr>
        <p:spPr>
          <a:xfrm>
            <a:off x="3625860" y="5293057"/>
            <a:ext cx="223852" cy="259197"/>
          </a:xfrm>
          <a:prstGeom prst="hexagon">
            <a:avLst/>
          </a:prstGeom>
          <a:solidFill>
            <a:srgbClr val="FFFFFF"/>
          </a:solidFill>
          <a:ln w="12371">
            <a:solidFill>
              <a:srgbClr val="4A3AA7"/>
            </a:solidFill>
            <a:prstDash val="solid"/>
          </a:ln>
        </p:spPr>
      </p:sp>
      <p:sp>
        <p:nvSpPr>
          <p:cNvPr id="190" name="Shape 188"/>
          <p:cNvSpPr/>
          <p:nvPr/>
        </p:nvSpPr>
        <p:spPr>
          <a:xfrm>
            <a:off x="1039778" y="5293057"/>
            <a:ext cx="223852" cy="259197"/>
          </a:xfrm>
          <a:prstGeom prst="hexagon">
            <a:avLst/>
          </a:prstGeom>
          <a:solidFill>
            <a:srgbClr val="FFFFFF"/>
          </a:solidFill>
          <a:ln w="12371">
            <a:solidFill>
              <a:srgbClr val="EDA100"/>
            </a:solidFill>
            <a:prstDash val="solid"/>
          </a:ln>
        </p:spPr>
      </p:sp>
      <p:sp>
        <p:nvSpPr>
          <p:cNvPr id="191" name="Text 189"/>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2" name="Text 190"/>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3" name="Text 191"/>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4" name="Text 192"/>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5" name="Text 193"/>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6" name="Text 19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7" name="Text 19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661089" y="3462477"/>
            <a:ext cx="341669" cy="341669"/>
          </a:xfrm>
          <a:prstGeom prst="ellipse">
            <a:avLst/>
          </a:prstGeom>
          <a:ln w="15316">
            <a:solidFill>
              <a:srgbClr val="1A1A16"/>
            </a:solidFill>
            <a:prstDash val="dash"/>
          </a:ln>
        </p:spPr>
      </p:sp>
      <p:sp>
        <p:nvSpPr>
          <p:cNvPr id="169" name="Shape 167"/>
          <p:cNvSpPr/>
          <p:nvPr/>
        </p:nvSpPr>
        <p:spPr>
          <a:xfrm>
            <a:off x="7714107" y="3515494"/>
            <a:ext cx="235634" cy="235634"/>
          </a:xfrm>
          <a:prstGeom prst="ellipse">
            <a:avLst/>
          </a:prstGeom>
          <a:solidFill>
            <a:srgbClr val="FFFFFF"/>
          </a:solidFill>
          <a:ln w="20029">
            <a:solidFill>
              <a:srgbClr val="1A1A16"/>
            </a:solidFill>
            <a:prstDash val="solid"/>
          </a:ln>
        </p:spPr>
      </p:sp>
      <p:sp>
        <p:nvSpPr>
          <p:cNvPr id="170" name="Shape 168"/>
          <p:cNvSpPr/>
          <p:nvPr/>
        </p:nvSpPr>
        <p:spPr>
          <a:xfrm>
            <a:off x="5691780" y="2362361"/>
            <a:ext cx="156697" cy="156107"/>
          </a:xfrm>
          <a:prstGeom prst="rect">
            <a:avLst/>
          </a:prstGeom>
          <a:solidFill>
            <a:srgbClr val="FFFFFF"/>
          </a:solidFill>
          <a:ln w="12371">
            <a:solidFill>
              <a:srgbClr val="DFDFDE"/>
            </a:solidFill>
            <a:prstDash val="solid"/>
          </a:ln>
        </p:spPr>
      </p:sp>
      <p:sp>
        <p:nvSpPr>
          <p:cNvPr id="171" name="Shape 169"/>
          <p:cNvSpPr/>
          <p:nvPr/>
        </p:nvSpPr>
        <p:spPr>
          <a:xfrm>
            <a:off x="5681765" y="2948500"/>
            <a:ext cx="176725" cy="176725"/>
          </a:xfrm>
          <a:prstGeom prst="ellipse">
            <a:avLst/>
          </a:prstGeom>
          <a:solidFill>
            <a:srgbClr val="FFFFFF"/>
          </a:solidFill>
          <a:ln w="12371">
            <a:solidFill>
              <a:srgbClr val="DFDFDE"/>
            </a:solidFill>
            <a:prstDash val="solid"/>
          </a:ln>
        </p:spPr>
      </p:sp>
      <p:sp>
        <p:nvSpPr>
          <p:cNvPr id="172" name="Shape 170"/>
          <p:cNvSpPr/>
          <p:nvPr/>
        </p:nvSpPr>
        <p:spPr>
          <a:xfrm>
            <a:off x="3566951" y="4655373"/>
            <a:ext cx="341669" cy="341669"/>
          </a:xfrm>
          <a:prstGeom prst="ellipse">
            <a:avLst/>
          </a:prstGeom>
          <a:ln w="15316">
            <a:solidFill>
              <a:srgbClr val="1A1A16"/>
            </a:solidFill>
            <a:prstDash val="dash"/>
          </a:ln>
        </p:spPr>
      </p:sp>
      <p:sp>
        <p:nvSpPr>
          <p:cNvPr id="173" name="Shape 171"/>
          <p:cNvSpPr/>
          <p:nvPr/>
        </p:nvSpPr>
        <p:spPr>
          <a:xfrm>
            <a:off x="3619969" y="4708391"/>
            <a:ext cx="235634" cy="235634"/>
          </a:xfrm>
          <a:prstGeom prst="ellipse">
            <a:avLst/>
          </a:prstGeom>
          <a:solidFill>
            <a:srgbClr val="FFFFFF"/>
          </a:solidFill>
          <a:ln w="20029">
            <a:solidFill>
              <a:srgbClr val="1A1A16"/>
            </a:solidFill>
            <a:prstDash val="solid"/>
          </a:ln>
        </p:spPr>
      </p:sp>
      <p:sp>
        <p:nvSpPr>
          <p:cNvPr id="174" name="Shape 172"/>
          <p:cNvSpPr/>
          <p:nvPr/>
        </p:nvSpPr>
        <p:spPr>
          <a:xfrm>
            <a:off x="9844826" y="2362361"/>
            <a:ext cx="156697" cy="156107"/>
          </a:xfrm>
          <a:prstGeom prst="rect">
            <a:avLst/>
          </a:prstGeom>
          <a:solidFill>
            <a:srgbClr val="FFFFFF"/>
          </a:solidFill>
          <a:ln w="12371">
            <a:solidFill>
              <a:srgbClr val="DFDFDE"/>
            </a:solidFill>
            <a:prstDash val="solid"/>
          </a:ln>
        </p:spPr>
      </p:sp>
      <p:sp>
        <p:nvSpPr>
          <p:cNvPr id="175" name="Shape 173"/>
          <p:cNvSpPr/>
          <p:nvPr/>
        </p:nvSpPr>
        <p:spPr>
          <a:xfrm>
            <a:off x="9752340" y="3462477"/>
            <a:ext cx="341669" cy="341669"/>
          </a:xfrm>
          <a:prstGeom prst="ellipse">
            <a:avLst/>
          </a:prstGeom>
          <a:ln w="15316">
            <a:solidFill>
              <a:srgbClr val="1A1A16"/>
            </a:solidFill>
            <a:prstDash val="dash"/>
          </a:ln>
        </p:spPr>
      </p:sp>
      <p:sp>
        <p:nvSpPr>
          <p:cNvPr id="176" name="Shape 174"/>
          <p:cNvSpPr/>
          <p:nvPr/>
        </p:nvSpPr>
        <p:spPr>
          <a:xfrm>
            <a:off x="9805357" y="3515494"/>
            <a:ext cx="235634" cy="235634"/>
          </a:xfrm>
          <a:prstGeom prst="ellipse">
            <a:avLst/>
          </a:prstGeom>
          <a:solidFill>
            <a:srgbClr val="FFFFFF"/>
          </a:solidFill>
          <a:ln w="20029">
            <a:solidFill>
              <a:srgbClr val="1A1A16"/>
            </a:solidFill>
            <a:prstDash val="solid"/>
          </a:ln>
        </p:spPr>
      </p:sp>
      <p:sp>
        <p:nvSpPr>
          <p:cNvPr id="177" name="Shape 175"/>
          <p:cNvSpPr/>
          <p:nvPr/>
        </p:nvSpPr>
        <p:spPr>
          <a:xfrm>
            <a:off x="3649423" y="4141397"/>
            <a:ext cx="176725" cy="176725"/>
          </a:xfrm>
          <a:prstGeom prst="ellipse">
            <a:avLst/>
          </a:prstGeom>
          <a:solidFill>
            <a:srgbClr val="FFFFFF"/>
          </a:solidFill>
          <a:ln w="12371">
            <a:solidFill>
              <a:srgbClr val="DFDFDE"/>
            </a:solidFill>
            <a:prstDash val="solid"/>
          </a:ln>
        </p:spPr>
      </p:sp>
      <p:sp>
        <p:nvSpPr>
          <p:cNvPr id="178" name="Shape 176"/>
          <p:cNvSpPr/>
          <p:nvPr/>
        </p:nvSpPr>
        <p:spPr>
          <a:xfrm>
            <a:off x="3095684" y="4141397"/>
            <a:ext cx="176725" cy="176725"/>
          </a:xfrm>
          <a:prstGeom prst="ellipse">
            <a:avLst/>
          </a:prstGeom>
          <a:solidFill>
            <a:srgbClr val="FFFFFF"/>
          </a:solidFill>
          <a:ln w="12371">
            <a:solidFill>
              <a:srgbClr val="DFDFDE"/>
            </a:solidFill>
            <a:prstDash val="solid"/>
          </a:ln>
        </p:spPr>
      </p:sp>
      <p:sp>
        <p:nvSpPr>
          <p:cNvPr id="179" name="Shape 177"/>
          <p:cNvSpPr/>
          <p:nvPr/>
        </p:nvSpPr>
        <p:spPr>
          <a:xfrm>
            <a:off x="5659380" y="1733219"/>
            <a:ext cx="221496" cy="221496"/>
          </a:xfrm>
          <a:prstGeom prst="diamond">
            <a:avLst/>
          </a:prstGeom>
          <a:solidFill>
            <a:srgbClr val="FFFFFF"/>
          </a:solidFill>
          <a:ln w="12371">
            <a:solidFill>
              <a:srgbClr val="DFDFDE"/>
            </a:solidFill>
            <a:prstDash val="solid"/>
          </a:ln>
        </p:spPr>
      </p:sp>
      <p:sp>
        <p:nvSpPr>
          <p:cNvPr id="180" name="Shape 178"/>
          <p:cNvSpPr/>
          <p:nvPr/>
        </p:nvSpPr>
        <p:spPr>
          <a:xfrm>
            <a:off x="7753576" y="2958515"/>
            <a:ext cx="156697" cy="156697"/>
          </a:xfrm>
          <a:prstGeom prst="rect">
            <a:avLst/>
          </a:prstGeom>
          <a:solidFill>
            <a:srgbClr val="FFFFFF"/>
          </a:solidFill>
          <a:ln w="12371">
            <a:solidFill>
              <a:srgbClr val="DFDFDE"/>
            </a:solidFill>
            <a:prstDash val="solid"/>
          </a:ln>
        </p:spPr>
      </p:sp>
      <p:sp>
        <p:nvSpPr>
          <p:cNvPr id="181" name="Shape 179"/>
          <p:cNvSpPr/>
          <p:nvPr/>
        </p:nvSpPr>
        <p:spPr>
          <a:xfrm>
            <a:off x="7989799" y="2302864"/>
            <a:ext cx="237990" cy="206180"/>
          </a:xfrm>
          <a:prstGeom prst="triangle">
            <a:avLst/>
          </a:prstGeom>
          <a:solidFill>
            <a:srgbClr val="FFFFFF"/>
          </a:solidFill>
          <a:ln w="12371">
            <a:solidFill>
              <a:srgbClr val="DFDFDE"/>
            </a:solidFill>
            <a:prstDash val="solid"/>
          </a:ln>
        </p:spPr>
      </p:sp>
      <p:sp>
        <p:nvSpPr>
          <p:cNvPr id="182" name="Shape 180"/>
          <p:cNvSpPr/>
          <p:nvPr/>
        </p:nvSpPr>
        <p:spPr>
          <a:xfrm>
            <a:off x="7712929" y="1706710"/>
            <a:ext cx="237990" cy="206180"/>
          </a:xfrm>
          <a:prstGeom prst="triangle">
            <a:avLst/>
          </a:prstGeom>
          <a:solidFill>
            <a:srgbClr val="FFFFFF"/>
          </a:solidFill>
          <a:ln w="12371">
            <a:solidFill>
              <a:srgbClr val="DFDFDE"/>
            </a:solidFill>
            <a:prstDash val="solid"/>
          </a:ln>
        </p:spPr>
      </p:sp>
      <p:sp>
        <p:nvSpPr>
          <p:cNvPr id="183" name="Shape 181"/>
          <p:cNvSpPr/>
          <p:nvPr/>
        </p:nvSpPr>
        <p:spPr>
          <a:xfrm>
            <a:off x="5404895" y="3544949"/>
            <a:ext cx="176725" cy="176725"/>
          </a:xfrm>
          <a:prstGeom prst="ellipse">
            <a:avLst/>
          </a:prstGeom>
          <a:solidFill>
            <a:srgbClr val="FFFFFF"/>
          </a:solidFill>
          <a:ln w="12371">
            <a:solidFill>
              <a:srgbClr val="DFDFDE"/>
            </a:solidFill>
            <a:prstDash val="solid"/>
          </a:ln>
        </p:spPr>
      </p:sp>
      <p:sp>
        <p:nvSpPr>
          <p:cNvPr id="184" name="Shape 182"/>
          <p:cNvSpPr/>
          <p:nvPr/>
        </p:nvSpPr>
        <p:spPr>
          <a:xfrm>
            <a:off x="7476706" y="2362361"/>
            <a:ext cx="156697" cy="156107"/>
          </a:xfrm>
          <a:prstGeom prst="rect">
            <a:avLst/>
          </a:prstGeom>
          <a:solidFill>
            <a:srgbClr val="FFFFFF"/>
          </a:solidFill>
          <a:ln w="12371">
            <a:solidFill>
              <a:srgbClr val="DFDFDE"/>
            </a:solidFill>
            <a:prstDash val="solid"/>
          </a:ln>
        </p:spPr>
      </p:sp>
      <p:sp>
        <p:nvSpPr>
          <p:cNvPr id="185" name="Shape 183"/>
          <p:cNvSpPr/>
          <p:nvPr/>
        </p:nvSpPr>
        <p:spPr>
          <a:xfrm>
            <a:off x="5958635" y="3544949"/>
            <a:ext cx="176725" cy="176725"/>
          </a:xfrm>
          <a:prstGeom prst="ellipse">
            <a:avLst/>
          </a:prstGeom>
          <a:solidFill>
            <a:srgbClr val="FFFFFF"/>
          </a:solidFill>
          <a:ln w="12371">
            <a:solidFill>
              <a:srgbClr val="DFDFDE"/>
            </a:solidFill>
            <a:prstDash val="solid"/>
          </a:ln>
        </p:spPr>
      </p:sp>
      <p:sp>
        <p:nvSpPr>
          <p:cNvPr id="186" name="Shape 184"/>
          <p:cNvSpPr/>
          <p:nvPr/>
        </p:nvSpPr>
        <p:spPr>
          <a:xfrm>
            <a:off x="3105698" y="3555258"/>
            <a:ext cx="156697" cy="156107"/>
          </a:xfrm>
          <a:prstGeom prst="rect">
            <a:avLst/>
          </a:prstGeom>
          <a:solidFill>
            <a:srgbClr val="FFFFFF"/>
          </a:solidFill>
          <a:ln w="12371">
            <a:solidFill>
              <a:srgbClr val="DFDFDE"/>
            </a:solidFill>
            <a:prstDash val="solid"/>
          </a:ln>
        </p:spPr>
      </p:sp>
      <p:sp>
        <p:nvSpPr>
          <p:cNvPr id="187" name="Shape 185"/>
          <p:cNvSpPr/>
          <p:nvPr/>
        </p:nvSpPr>
        <p:spPr>
          <a:xfrm>
            <a:off x="7661089" y="5251821"/>
            <a:ext cx="341669" cy="341669"/>
          </a:xfrm>
          <a:prstGeom prst="ellipse">
            <a:avLst/>
          </a:prstGeom>
          <a:ln w="15316">
            <a:solidFill>
              <a:srgbClr val="008300"/>
            </a:solidFill>
            <a:prstDash val="dash"/>
          </a:ln>
        </p:spPr>
      </p:sp>
      <p:sp>
        <p:nvSpPr>
          <p:cNvPr id="188" name="Shape 186"/>
          <p:cNvSpPr/>
          <p:nvPr/>
        </p:nvSpPr>
        <p:spPr>
          <a:xfrm>
            <a:off x="7719998" y="5293057"/>
            <a:ext cx="223852" cy="259197"/>
          </a:xfrm>
          <a:prstGeom prst="hexagon">
            <a:avLst/>
          </a:prstGeom>
          <a:solidFill>
            <a:srgbClr val="FFFFFF"/>
          </a:solidFill>
          <a:ln w="22385">
            <a:solidFill>
              <a:srgbClr val="008300"/>
            </a:solidFill>
            <a:prstDash val="solid"/>
          </a:ln>
        </p:spPr>
      </p:sp>
      <p:sp>
        <p:nvSpPr>
          <p:cNvPr id="189" name="Shape 187"/>
          <p:cNvSpPr/>
          <p:nvPr/>
        </p:nvSpPr>
        <p:spPr>
          <a:xfrm>
            <a:off x="2088349" y="5251821"/>
            <a:ext cx="341669" cy="341669"/>
          </a:xfrm>
          <a:prstGeom prst="ellipse">
            <a:avLst/>
          </a:prstGeom>
          <a:ln w="15316">
            <a:solidFill>
              <a:srgbClr val="1BAF7A"/>
            </a:solidFill>
            <a:prstDash val="dash"/>
          </a:ln>
        </p:spPr>
      </p:sp>
      <p:sp>
        <p:nvSpPr>
          <p:cNvPr id="190" name="Shape 188"/>
          <p:cNvSpPr/>
          <p:nvPr/>
        </p:nvSpPr>
        <p:spPr>
          <a:xfrm>
            <a:off x="2147257" y="5293057"/>
            <a:ext cx="223852" cy="259197"/>
          </a:xfrm>
          <a:prstGeom prst="hexagon">
            <a:avLst/>
          </a:prstGeom>
          <a:solidFill>
            <a:srgbClr val="FFFFFF"/>
          </a:solidFill>
          <a:ln w="22385">
            <a:solidFill>
              <a:srgbClr val="1BAF7A"/>
            </a:solidFill>
            <a:prstDash val="solid"/>
          </a:ln>
        </p:spPr>
      </p:sp>
      <p:sp>
        <p:nvSpPr>
          <p:cNvPr id="191" name="Shape 189"/>
          <p:cNvSpPr/>
          <p:nvPr/>
        </p:nvSpPr>
        <p:spPr>
          <a:xfrm>
            <a:off x="1534609" y="5251821"/>
            <a:ext cx="341669" cy="341669"/>
          </a:xfrm>
          <a:prstGeom prst="ellipse">
            <a:avLst/>
          </a:prstGeom>
          <a:ln w="15316">
            <a:solidFill>
              <a:srgbClr val="E87BA4"/>
            </a:solidFill>
            <a:prstDash val="dash"/>
          </a:ln>
        </p:spPr>
      </p:sp>
      <p:sp>
        <p:nvSpPr>
          <p:cNvPr id="192" name="Shape 190"/>
          <p:cNvSpPr/>
          <p:nvPr/>
        </p:nvSpPr>
        <p:spPr>
          <a:xfrm>
            <a:off x="1593518" y="5293057"/>
            <a:ext cx="223852" cy="259197"/>
          </a:xfrm>
          <a:prstGeom prst="hexagon">
            <a:avLst/>
          </a:prstGeom>
          <a:solidFill>
            <a:srgbClr val="FFFFFF"/>
          </a:solidFill>
          <a:ln w="22385">
            <a:solidFill>
              <a:srgbClr val="E87BA4"/>
            </a:solidFill>
            <a:prstDash val="solid"/>
          </a:ln>
        </p:spPr>
      </p:sp>
      <p:sp>
        <p:nvSpPr>
          <p:cNvPr id="193" name="Shape 191"/>
          <p:cNvSpPr/>
          <p:nvPr/>
        </p:nvSpPr>
        <p:spPr>
          <a:xfrm>
            <a:off x="9752340" y="5251821"/>
            <a:ext cx="341669" cy="341669"/>
          </a:xfrm>
          <a:prstGeom prst="ellipse">
            <a:avLst/>
          </a:prstGeom>
          <a:ln w="15316">
            <a:solidFill>
              <a:srgbClr val="2A78D6"/>
            </a:solidFill>
            <a:prstDash val="dash"/>
          </a:ln>
        </p:spPr>
      </p:sp>
      <p:sp>
        <p:nvSpPr>
          <p:cNvPr id="194" name="Shape 192"/>
          <p:cNvSpPr/>
          <p:nvPr/>
        </p:nvSpPr>
        <p:spPr>
          <a:xfrm>
            <a:off x="9811248" y="5293057"/>
            <a:ext cx="223852" cy="259197"/>
          </a:xfrm>
          <a:prstGeom prst="hexagon">
            <a:avLst/>
          </a:prstGeom>
          <a:solidFill>
            <a:srgbClr val="FFFFFF"/>
          </a:solidFill>
          <a:ln w="22385">
            <a:solidFill>
              <a:srgbClr val="2A78D6"/>
            </a:solidFill>
            <a:prstDash val="solid"/>
          </a:ln>
        </p:spPr>
      </p:sp>
      <p:sp>
        <p:nvSpPr>
          <p:cNvPr id="195" name="Shape 193"/>
          <p:cNvSpPr/>
          <p:nvPr/>
        </p:nvSpPr>
        <p:spPr>
          <a:xfrm>
            <a:off x="3566951" y="5251821"/>
            <a:ext cx="341669" cy="341669"/>
          </a:xfrm>
          <a:prstGeom prst="ellipse">
            <a:avLst/>
          </a:prstGeom>
          <a:ln w="15316">
            <a:solidFill>
              <a:srgbClr val="4A3AA7"/>
            </a:solidFill>
            <a:prstDash val="dash"/>
          </a:ln>
        </p:spPr>
      </p:sp>
      <p:sp>
        <p:nvSpPr>
          <p:cNvPr id="196" name="Shape 194"/>
          <p:cNvSpPr/>
          <p:nvPr/>
        </p:nvSpPr>
        <p:spPr>
          <a:xfrm>
            <a:off x="3625860" y="5293057"/>
            <a:ext cx="223852" cy="259197"/>
          </a:xfrm>
          <a:prstGeom prst="hexagon">
            <a:avLst/>
          </a:prstGeom>
          <a:solidFill>
            <a:srgbClr val="FFFFFF"/>
          </a:solidFill>
          <a:ln w="22385">
            <a:solidFill>
              <a:srgbClr val="4A3AA7"/>
            </a:solidFill>
            <a:prstDash val="solid"/>
          </a:ln>
        </p:spPr>
      </p:sp>
      <p:sp>
        <p:nvSpPr>
          <p:cNvPr id="197" name="Shape 195"/>
          <p:cNvSpPr/>
          <p:nvPr/>
        </p:nvSpPr>
        <p:spPr>
          <a:xfrm>
            <a:off x="980870" y="5251821"/>
            <a:ext cx="341669" cy="341669"/>
          </a:xfrm>
          <a:prstGeom prst="ellipse">
            <a:avLst/>
          </a:prstGeom>
          <a:ln w="15316">
            <a:solidFill>
              <a:srgbClr val="EDA100"/>
            </a:solidFill>
            <a:prstDash val="dash"/>
          </a:ln>
        </p:spPr>
      </p:sp>
      <p:sp>
        <p:nvSpPr>
          <p:cNvPr id="198" name="Shape 196"/>
          <p:cNvSpPr/>
          <p:nvPr/>
        </p:nvSpPr>
        <p:spPr>
          <a:xfrm>
            <a:off x="1039778" y="5293057"/>
            <a:ext cx="223852" cy="259197"/>
          </a:xfrm>
          <a:prstGeom prst="hexagon">
            <a:avLst/>
          </a:prstGeom>
          <a:solidFill>
            <a:srgbClr val="FFFFFF"/>
          </a:solidFill>
          <a:ln w="22385">
            <a:solidFill>
              <a:srgbClr val="EDA100"/>
            </a:solidFill>
            <a:prstDash val="solid"/>
          </a:ln>
        </p:spPr>
      </p:sp>
      <p:sp>
        <p:nvSpPr>
          <p:cNvPr id="199" name="Text 197"/>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200" name="Text 198"/>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201" name="Text 199"/>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202" name="Text 200"/>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203" name="Text 201"/>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204" name="Text 202"/>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205" name="Text 20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1A1A16"/>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1A1A16"/>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1A1A16"/>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1A1A16"/>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1A1A16"/>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1A1A16"/>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1A1A16"/>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1A1A16"/>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DFDFDE"/>
            </a:solidFill>
            <a:prstDash val="solid"/>
          </a:ln>
        </p:spPr>
      </p:sp>
      <p:sp>
        <p:nvSpPr>
          <p:cNvPr id="173" name="Shape 171"/>
          <p:cNvSpPr/>
          <p:nvPr/>
        </p:nvSpPr>
        <p:spPr>
          <a:xfrm>
            <a:off x="9805357" y="3515494"/>
            <a:ext cx="235634" cy="235634"/>
          </a:xfrm>
          <a:prstGeom prst="ellipse">
            <a:avLst/>
          </a:prstGeom>
          <a:solidFill>
            <a:srgbClr val="1A1A16"/>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DFDFDE"/>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DFDFDE"/>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DFDFDE"/>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DFDFDE"/>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DFDFDE"/>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DFDFDE"/>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DFDFDE"/>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DFDFDE"/>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DFDFDE"/>
            </a:solidFill>
            <a:prstDash val="solid"/>
          </a:ln>
        </p:spPr>
      </p:sp>
      <p:sp>
        <p:nvSpPr>
          <p:cNvPr id="183" name="Shape 181"/>
          <p:cNvSpPr/>
          <p:nvPr/>
        </p:nvSpPr>
        <p:spPr>
          <a:xfrm>
            <a:off x="3105698" y="3555258"/>
            <a:ext cx="156697" cy="156107"/>
          </a:xfrm>
          <a:prstGeom prst="rect">
            <a:avLst/>
          </a:prstGeom>
          <a:solidFill>
            <a:srgbClr val="1A1A16"/>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1A1A16"/>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1A1A16"/>
          </a:solidFill>
          <a:ln w="12371">
            <a:solidFill>
              <a:srgbClr val="1BAF7A"/>
            </a:solidFill>
            <a:prstDash val="solid"/>
          </a:ln>
        </p:spPr>
      </p:sp>
      <p:sp>
        <p:nvSpPr>
          <p:cNvPr id="186" name="Shape 184"/>
          <p:cNvSpPr/>
          <p:nvPr/>
        </p:nvSpPr>
        <p:spPr>
          <a:xfrm>
            <a:off x="1593518" y="5293057"/>
            <a:ext cx="223852" cy="259197"/>
          </a:xfrm>
          <a:prstGeom prst="hexagon">
            <a:avLst/>
          </a:prstGeom>
          <a:solidFill>
            <a:srgbClr val="1A1A16"/>
          </a:solidFill>
          <a:ln w="12371">
            <a:solidFill>
              <a:srgbClr val="E87BA4"/>
            </a:solidFill>
            <a:prstDash val="solid"/>
          </a:ln>
        </p:spPr>
      </p:sp>
      <p:sp>
        <p:nvSpPr>
          <p:cNvPr id="187" name="Shape 185"/>
          <p:cNvSpPr/>
          <p:nvPr/>
        </p:nvSpPr>
        <p:spPr>
          <a:xfrm>
            <a:off x="9811248" y="5293057"/>
            <a:ext cx="223852" cy="259197"/>
          </a:xfrm>
          <a:prstGeom prst="hexagon">
            <a:avLst/>
          </a:prstGeom>
          <a:solidFill>
            <a:srgbClr val="FFFFFF"/>
          </a:solidFill>
          <a:ln w="12371">
            <a:solidFill>
              <a:srgbClr val="E1ECF9"/>
            </a:solidFill>
            <a:prstDash val="solid"/>
          </a:ln>
        </p:spPr>
      </p:sp>
      <p:sp>
        <p:nvSpPr>
          <p:cNvPr id="188" name="Shape 186"/>
          <p:cNvSpPr/>
          <p:nvPr/>
        </p:nvSpPr>
        <p:spPr>
          <a:xfrm>
            <a:off x="3625860" y="5293057"/>
            <a:ext cx="223852" cy="259197"/>
          </a:xfrm>
          <a:prstGeom prst="hexagon">
            <a:avLst/>
          </a:prstGeom>
          <a:solidFill>
            <a:srgbClr val="FFFFFF"/>
          </a:solidFill>
          <a:ln w="12371">
            <a:solidFill>
              <a:srgbClr val="E6E3F3"/>
            </a:solidFill>
            <a:prstDash val="solid"/>
          </a:ln>
        </p:spPr>
      </p:sp>
      <p:sp>
        <p:nvSpPr>
          <p:cNvPr id="189" name="Shape 187"/>
          <p:cNvSpPr/>
          <p:nvPr/>
        </p:nvSpPr>
        <p:spPr>
          <a:xfrm>
            <a:off x="1039778" y="5293057"/>
            <a:ext cx="223852" cy="259197"/>
          </a:xfrm>
          <a:prstGeom prst="hexagon">
            <a:avLst/>
          </a:prstGeom>
          <a:solidFill>
            <a:srgbClr val="1A1A16"/>
          </a:solidFill>
          <a:ln w="12371">
            <a:solidFill>
              <a:srgbClr val="EDA100"/>
            </a:solidFill>
            <a:prstDash val="solid"/>
          </a:ln>
        </p:spPr>
      </p:sp>
      <p:sp>
        <p:nvSpPr>
          <p:cNvPr id="190" name="Text 188"/>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1" name="Text 189"/>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2" name="Text 190"/>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3" name="Text 191"/>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4" name="Text 192"/>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5" name="Text 193"/>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6" name="Text 19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23563">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6494">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6494">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DFDFDE"/>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DFDFDE"/>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DFDFDE"/>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DFDFDE"/>
            </a:solidFill>
            <a:prstDash val="solid"/>
          </a:ln>
        </p:spPr>
      </p:sp>
      <p:sp>
        <p:nvSpPr>
          <p:cNvPr id="172" name="Shape 170"/>
          <p:cNvSpPr/>
          <p:nvPr/>
        </p:nvSpPr>
        <p:spPr>
          <a:xfrm>
            <a:off x="9844826" y="2362361"/>
            <a:ext cx="156697" cy="156107"/>
          </a:xfrm>
          <a:prstGeom prst="rect">
            <a:avLst/>
          </a:prstGeom>
          <a:solidFill>
            <a:srgbClr val="FFFFFF"/>
          </a:solidFill>
          <a:ln w="16494">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DFDFDE"/>
            </a:solidFill>
            <a:prstDash val="solid"/>
          </a:ln>
        </p:spPr>
      </p:sp>
      <p:sp>
        <p:nvSpPr>
          <p:cNvPr id="174" name="Shape 172"/>
          <p:cNvSpPr/>
          <p:nvPr/>
        </p:nvSpPr>
        <p:spPr>
          <a:xfrm>
            <a:off x="3649423" y="4141397"/>
            <a:ext cx="176725" cy="176725"/>
          </a:xfrm>
          <a:prstGeom prst="ellipse">
            <a:avLst/>
          </a:prstGeom>
          <a:solidFill>
            <a:srgbClr val="FFFFFF"/>
          </a:solidFill>
          <a:ln w="16494">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6494">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6494">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6494">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6494">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6494">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6494">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6494">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6494">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DFDFDE"/>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DBEEDB"/>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DFF4EC"/>
            </a:solidFill>
            <a:prstDash val="solid"/>
          </a:ln>
        </p:spPr>
      </p:sp>
      <p:sp>
        <p:nvSpPr>
          <p:cNvPr id="186" name="Shape 184"/>
          <p:cNvSpPr/>
          <p:nvPr/>
        </p:nvSpPr>
        <p:spPr>
          <a:xfrm>
            <a:off x="1593518" y="5293057"/>
            <a:ext cx="223852" cy="259197"/>
          </a:xfrm>
          <a:prstGeom prst="hexagon">
            <a:avLst/>
          </a:prstGeom>
          <a:solidFill>
            <a:srgbClr val="FFFFFF"/>
          </a:solidFill>
          <a:ln w="12371">
            <a:solidFill>
              <a:srgbClr val="FCEDF2"/>
            </a:solidFill>
            <a:prstDash val="solid"/>
          </a:ln>
        </p:spPr>
      </p:sp>
      <p:sp>
        <p:nvSpPr>
          <p:cNvPr id="187" name="Shape 185"/>
          <p:cNvSpPr/>
          <p:nvPr/>
        </p:nvSpPr>
        <p:spPr>
          <a:xfrm>
            <a:off x="9752340" y="5251821"/>
            <a:ext cx="341669" cy="341669"/>
          </a:xfrm>
          <a:prstGeom prst="ellipse">
            <a:avLst/>
          </a:prstGeom>
          <a:ln w="14727">
            <a:solidFill>
              <a:srgbClr val="2A78D6"/>
            </a:solidFill>
            <a:prstDash val="dash"/>
          </a:ln>
        </p:spPr>
      </p:sp>
      <p:sp>
        <p:nvSpPr>
          <p:cNvPr id="188" name="Shape 186"/>
          <p:cNvSpPr/>
          <p:nvPr/>
        </p:nvSpPr>
        <p:spPr>
          <a:xfrm>
            <a:off x="9811248" y="5293057"/>
            <a:ext cx="223852" cy="259197"/>
          </a:xfrm>
          <a:prstGeom prst="hexagon">
            <a:avLst/>
          </a:prstGeom>
          <a:solidFill>
            <a:srgbClr val="FFFFFF"/>
          </a:solidFill>
          <a:ln w="22385">
            <a:solidFill>
              <a:srgbClr val="2A78D6"/>
            </a:solidFill>
            <a:prstDash val="solid"/>
          </a:ln>
        </p:spPr>
      </p:sp>
      <p:sp>
        <p:nvSpPr>
          <p:cNvPr id="189" name="Shape 187"/>
          <p:cNvSpPr/>
          <p:nvPr/>
        </p:nvSpPr>
        <p:spPr>
          <a:xfrm>
            <a:off x="3566951" y="5251821"/>
            <a:ext cx="341669" cy="341669"/>
          </a:xfrm>
          <a:prstGeom prst="ellipse">
            <a:avLst/>
          </a:prstGeom>
          <a:ln w="14727">
            <a:solidFill>
              <a:srgbClr val="4A3AA7"/>
            </a:solidFill>
            <a:prstDash val="dash"/>
          </a:ln>
        </p:spPr>
      </p:sp>
      <p:sp>
        <p:nvSpPr>
          <p:cNvPr id="190" name="Shape 188"/>
          <p:cNvSpPr/>
          <p:nvPr/>
        </p:nvSpPr>
        <p:spPr>
          <a:xfrm>
            <a:off x="3625860" y="5293057"/>
            <a:ext cx="223852" cy="259197"/>
          </a:xfrm>
          <a:prstGeom prst="hexagon">
            <a:avLst/>
          </a:prstGeom>
          <a:solidFill>
            <a:srgbClr val="FFFFFF"/>
          </a:solidFill>
          <a:ln w="22385">
            <a:solidFill>
              <a:srgbClr val="4A3AA7"/>
            </a:solidFill>
            <a:prstDash val="solid"/>
          </a:ln>
        </p:spPr>
      </p:sp>
      <p:sp>
        <p:nvSpPr>
          <p:cNvPr id="191" name="Shape 189"/>
          <p:cNvSpPr/>
          <p:nvPr/>
        </p:nvSpPr>
        <p:spPr>
          <a:xfrm>
            <a:off x="1039778" y="5293057"/>
            <a:ext cx="223852" cy="259197"/>
          </a:xfrm>
          <a:prstGeom prst="hexagon">
            <a:avLst/>
          </a:prstGeom>
          <a:solidFill>
            <a:srgbClr val="FFFFFF"/>
          </a:solidFill>
          <a:ln w="12371">
            <a:solidFill>
              <a:srgbClr val="FCF2DB"/>
            </a:solidFill>
            <a:prstDash val="solid"/>
          </a:ln>
        </p:spPr>
      </p:sp>
      <p:sp>
        <p:nvSpPr>
          <p:cNvPr id="192" name="Text 190"/>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3" name="Text 191"/>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4" name="Text 192"/>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5" name="Text 193"/>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6" name="Text 194"/>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7" name="Text 19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8" name="Text 19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55</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sp>
      <p:sp>
        <p:nvSpPr>
          <p:cNvPr id="77" name="Text 75"/>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One theorem, and everything it rests on</a:t>
            </a:r>
            <a:endParaRPr lang="en-US" sz="1700" dirty="0"/>
          </a:p>
        </p:txBody>
      </p:sp>
      <p:sp>
        <p:nvSpPr>
          <p:cNvPr id="78" name="Text 76"/>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29 claims and 46 dependencies — the object the rest of this act works on</a:t>
            </a:r>
            <a:endParaRPr lang="en-US" sz="1100" dirty="0"/>
          </a:p>
        </p:txBody>
      </p:sp>
      <p:sp>
        <p:nvSpPr>
          <p:cNvPr id="79" name="Text 7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56</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CDCDCC"/>
            </a:solidFill>
            <a:prstDash val="dash"/>
          </a:ln>
        </p:spPr>
      </p:sp>
      <p:sp>
        <p:nvSpPr>
          <p:cNvPr id="3" name="Text 1"/>
          <p:cNvSpPr txBox="1"/>
          <p:nvPr/>
        </p:nvSpPr>
        <p:spPr>
          <a:xfrm>
            <a:off x="1111222" y="1930352"/>
            <a:ext cx="285742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CDCDCC"/>
            </a:solidFill>
            <a:prstDash val="dash"/>
          </a:ln>
        </p:spPr>
      </p:sp>
      <p:sp>
        <p:nvSpPr>
          <p:cNvPr id="5" name="Text 3"/>
          <p:cNvSpPr txBox="1"/>
          <p:nvPr/>
        </p:nvSpPr>
        <p:spPr>
          <a:xfrm>
            <a:off x="5048124" y="723882"/>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CDCDCC"/>
            </a:solidFill>
            <a:prstDash val="dash"/>
          </a:ln>
        </p:spPr>
      </p:sp>
      <p:sp>
        <p:nvSpPr>
          <p:cNvPr id="7" name="Text 5"/>
          <p:cNvSpPr txBox="1"/>
          <p:nvPr/>
        </p:nvSpPr>
        <p:spPr>
          <a:xfrm>
            <a:off x="5429114" y="6045049"/>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CDCDCC"/>
            </a:solidFill>
            <a:prstDash val="dash"/>
          </a:ln>
        </p:spPr>
      </p:sp>
      <p:sp>
        <p:nvSpPr>
          <p:cNvPr id="9" name="Text 7"/>
          <p:cNvSpPr txBox="1"/>
          <p:nvPr/>
        </p:nvSpPr>
        <p:spPr>
          <a:xfrm>
            <a:off x="9016775" y="1962101"/>
            <a:ext cx="2412940"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A3A3A2"/>
            </a:solidFill>
            <a:prstDash val="solid"/>
          </a:ln>
        </p:spPr>
      </p:sp>
      <p:sp>
        <p:nvSpPr>
          <p:cNvPr id="11" name="Shape 9"/>
          <p:cNvSpPr/>
          <p:nvPr/>
        </p:nvSpPr>
        <p:spPr>
          <a:xfrm>
            <a:off x="1644877" y="3039832"/>
            <a:ext cx="908310" cy="521607"/>
          </a:xfrm>
          <a:prstGeom prst="line">
            <a:avLst/>
          </a:prstGeom>
          <a:noFill/>
          <a:ln w="12700">
            <a:solidFill>
              <a:srgbClr val="A3A3A2"/>
            </a:solidFill>
            <a:prstDash val="solid"/>
          </a:ln>
        </p:spPr>
      </p:sp>
      <p:sp>
        <p:nvSpPr>
          <p:cNvPr id="12" name="Shape 10"/>
          <p:cNvSpPr/>
          <p:nvPr/>
        </p:nvSpPr>
        <p:spPr>
          <a:xfrm>
            <a:off x="2553187" y="3561439"/>
            <a:ext cx="218173" cy="-748073"/>
          </a:xfrm>
          <a:prstGeom prst="line">
            <a:avLst/>
          </a:prstGeom>
          <a:noFill/>
          <a:ln w="12700">
            <a:solidFill>
              <a:srgbClr val="A3A3A2"/>
            </a:solidFill>
            <a:prstDash val="solid"/>
          </a:ln>
        </p:spPr>
      </p:sp>
      <p:sp>
        <p:nvSpPr>
          <p:cNvPr id="13" name="Shape 11"/>
          <p:cNvSpPr/>
          <p:nvPr/>
        </p:nvSpPr>
        <p:spPr>
          <a:xfrm>
            <a:off x="2771360" y="2813366"/>
            <a:ext cx="-510137" cy="160071"/>
          </a:xfrm>
          <a:prstGeom prst="line">
            <a:avLst/>
          </a:prstGeom>
          <a:noFill/>
          <a:ln w="12700">
            <a:solidFill>
              <a:srgbClr val="A3A3A2"/>
            </a:solidFill>
            <a:prstDash val="solid"/>
          </a:ln>
        </p:spPr>
      </p:sp>
      <p:sp>
        <p:nvSpPr>
          <p:cNvPr id="14" name="Shape 12"/>
          <p:cNvSpPr/>
          <p:nvPr/>
        </p:nvSpPr>
        <p:spPr>
          <a:xfrm>
            <a:off x="2639495" y="4063023"/>
            <a:ext cx="1126551" cy="121115"/>
          </a:xfrm>
          <a:prstGeom prst="line">
            <a:avLst/>
          </a:prstGeom>
          <a:noFill/>
          <a:ln w="12700">
            <a:solidFill>
              <a:srgbClr val="A3A3A2"/>
            </a:solidFill>
            <a:prstDash val="solid"/>
          </a:ln>
        </p:spPr>
      </p:sp>
      <p:sp>
        <p:nvSpPr>
          <p:cNvPr id="15" name="Shape 13"/>
          <p:cNvSpPr/>
          <p:nvPr/>
        </p:nvSpPr>
        <p:spPr>
          <a:xfrm>
            <a:off x="2553187" y="3561439"/>
            <a:ext cx="-585452" cy="185647"/>
          </a:xfrm>
          <a:prstGeom prst="line">
            <a:avLst/>
          </a:prstGeom>
          <a:noFill/>
          <a:ln w="12700">
            <a:solidFill>
              <a:srgbClr val="A3A3A2"/>
            </a:solidFill>
            <a:prstDash val="solid"/>
          </a:ln>
        </p:spPr>
      </p:sp>
      <p:sp>
        <p:nvSpPr>
          <p:cNvPr id="16" name="Shape 14"/>
          <p:cNvSpPr/>
          <p:nvPr/>
        </p:nvSpPr>
        <p:spPr>
          <a:xfrm>
            <a:off x="2771360" y="2813366"/>
            <a:ext cx="311679" cy="455952"/>
          </a:xfrm>
          <a:prstGeom prst="line">
            <a:avLst/>
          </a:prstGeom>
          <a:noFill/>
          <a:ln w="12700">
            <a:solidFill>
              <a:srgbClr val="A3A3A2"/>
            </a:solidFill>
            <a:prstDash val="solid"/>
          </a:ln>
        </p:spPr>
      </p:sp>
      <p:sp>
        <p:nvSpPr>
          <p:cNvPr id="17" name="Shape 15"/>
          <p:cNvSpPr/>
          <p:nvPr/>
        </p:nvSpPr>
        <p:spPr>
          <a:xfrm>
            <a:off x="2771360" y="2813366"/>
            <a:ext cx="610430" cy="-470927"/>
          </a:xfrm>
          <a:prstGeom prst="line">
            <a:avLst/>
          </a:prstGeom>
          <a:noFill/>
          <a:ln w="12700">
            <a:solidFill>
              <a:srgbClr val="A3A3A2"/>
            </a:solidFill>
            <a:prstDash val="solid"/>
          </a:ln>
        </p:spPr>
      </p:sp>
      <p:sp>
        <p:nvSpPr>
          <p:cNvPr id="18" name="Shape 16"/>
          <p:cNvSpPr/>
          <p:nvPr/>
        </p:nvSpPr>
        <p:spPr>
          <a:xfrm>
            <a:off x="2261223" y="2973437"/>
            <a:ext cx="27198" cy="-484056"/>
          </a:xfrm>
          <a:prstGeom prst="line">
            <a:avLst/>
          </a:prstGeom>
          <a:noFill/>
          <a:ln w="12700">
            <a:solidFill>
              <a:srgbClr val="A3A3A2"/>
            </a:solidFill>
            <a:prstDash val="solid"/>
          </a:ln>
        </p:spPr>
      </p:sp>
      <p:sp>
        <p:nvSpPr>
          <p:cNvPr id="19" name="Shape 17"/>
          <p:cNvSpPr/>
          <p:nvPr/>
        </p:nvSpPr>
        <p:spPr>
          <a:xfrm>
            <a:off x="1967735" y="3747086"/>
            <a:ext cx="309178" cy="164709"/>
          </a:xfrm>
          <a:prstGeom prst="line">
            <a:avLst/>
          </a:prstGeom>
          <a:noFill/>
          <a:ln w="12700">
            <a:solidFill>
              <a:srgbClr val="A3A3A2"/>
            </a:solidFill>
            <a:prstDash val="solid"/>
          </a:ln>
        </p:spPr>
      </p:sp>
      <p:sp>
        <p:nvSpPr>
          <p:cNvPr id="20" name="Shape 18"/>
          <p:cNvSpPr/>
          <p:nvPr/>
        </p:nvSpPr>
        <p:spPr>
          <a:xfrm>
            <a:off x="2276913" y="3911794"/>
            <a:ext cx="-171717" cy="283790"/>
          </a:xfrm>
          <a:prstGeom prst="line">
            <a:avLst/>
          </a:prstGeom>
          <a:noFill/>
          <a:ln w="12700">
            <a:solidFill>
              <a:srgbClr val="A3A3A2"/>
            </a:solidFill>
            <a:prstDash val="solid"/>
          </a:ln>
        </p:spPr>
      </p:sp>
      <p:sp>
        <p:nvSpPr>
          <p:cNvPr id="21" name="Shape 19"/>
          <p:cNvSpPr/>
          <p:nvPr/>
        </p:nvSpPr>
        <p:spPr>
          <a:xfrm>
            <a:off x="2105195" y="4195584"/>
            <a:ext cx="-358194" cy="104533"/>
          </a:xfrm>
          <a:prstGeom prst="line">
            <a:avLst/>
          </a:prstGeom>
          <a:noFill/>
          <a:ln w="12700">
            <a:solidFill>
              <a:srgbClr val="A3A3A2"/>
            </a:solidFill>
            <a:prstDash val="solid"/>
          </a:ln>
        </p:spPr>
      </p:sp>
      <p:sp>
        <p:nvSpPr>
          <p:cNvPr id="22" name="Shape 20"/>
          <p:cNvSpPr/>
          <p:nvPr/>
        </p:nvSpPr>
        <p:spPr>
          <a:xfrm>
            <a:off x="2293571" y="3348276"/>
            <a:ext cx="259617" cy="213163"/>
          </a:xfrm>
          <a:prstGeom prst="line">
            <a:avLst/>
          </a:prstGeom>
          <a:noFill/>
          <a:ln w="12700">
            <a:solidFill>
              <a:srgbClr val="A3A3A2"/>
            </a:solidFill>
            <a:prstDash val="solid"/>
          </a:ln>
        </p:spPr>
      </p:sp>
      <p:sp>
        <p:nvSpPr>
          <p:cNvPr id="23" name="Shape 21"/>
          <p:cNvSpPr/>
          <p:nvPr/>
        </p:nvSpPr>
        <p:spPr>
          <a:xfrm>
            <a:off x="1644877" y="3039832"/>
            <a:ext cx="163897" cy="-326447"/>
          </a:xfrm>
          <a:prstGeom prst="line">
            <a:avLst/>
          </a:prstGeom>
          <a:noFill/>
          <a:ln w="12700">
            <a:solidFill>
              <a:srgbClr val="A3A3A2"/>
            </a:solidFill>
            <a:prstDash val="solid"/>
          </a:ln>
        </p:spPr>
      </p:sp>
      <p:sp>
        <p:nvSpPr>
          <p:cNvPr id="24" name="Shape 22"/>
          <p:cNvSpPr/>
          <p:nvPr/>
        </p:nvSpPr>
        <p:spPr>
          <a:xfrm>
            <a:off x="3083040" y="3269318"/>
            <a:ext cx="207012" cy="-371026"/>
          </a:xfrm>
          <a:prstGeom prst="line">
            <a:avLst/>
          </a:prstGeom>
          <a:noFill/>
          <a:ln w="12700">
            <a:solidFill>
              <a:srgbClr val="A3A3A2"/>
            </a:solidFill>
            <a:prstDash val="solid"/>
          </a:ln>
        </p:spPr>
      </p:sp>
      <p:sp>
        <p:nvSpPr>
          <p:cNvPr id="25" name="Shape 23"/>
          <p:cNvSpPr/>
          <p:nvPr/>
        </p:nvSpPr>
        <p:spPr>
          <a:xfrm>
            <a:off x="6412338" y="1745766"/>
            <a:ext cx="951108" cy="583373"/>
          </a:xfrm>
          <a:prstGeom prst="line">
            <a:avLst/>
          </a:prstGeom>
          <a:noFill/>
          <a:ln w="12700">
            <a:solidFill>
              <a:srgbClr val="A3A3A2"/>
            </a:solidFill>
            <a:prstDash val="solid"/>
          </a:ln>
        </p:spPr>
      </p:sp>
      <p:sp>
        <p:nvSpPr>
          <p:cNvPr id="26" name="Shape 24"/>
          <p:cNvSpPr/>
          <p:nvPr/>
        </p:nvSpPr>
        <p:spPr>
          <a:xfrm>
            <a:off x="5717452" y="1450449"/>
            <a:ext cx="694886" cy="295316"/>
          </a:xfrm>
          <a:prstGeom prst="line">
            <a:avLst/>
          </a:prstGeom>
          <a:noFill/>
          <a:ln w="12700">
            <a:solidFill>
              <a:srgbClr val="A3A3A2"/>
            </a:solidFill>
            <a:prstDash val="solid"/>
          </a:ln>
        </p:spPr>
      </p:sp>
      <p:sp>
        <p:nvSpPr>
          <p:cNvPr id="27" name="Shape 25"/>
          <p:cNvSpPr/>
          <p:nvPr/>
        </p:nvSpPr>
        <p:spPr>
          <a:xfrm>
            <a:off x="5717452" y="1450449"/>
            <a:ext cx="195391" cy="283718"/>
          </a:xfrm>
          <a:prstGeom prst="line">
            <a:avLst/>
          </a:prstGeom>
          <a:noFill/>
          <a:ln w="12700">
            <a:solidFill>
              <a:srgbClr val="A3A3A2"/>
            </a:solidFill>
            <a:prstDash val="solid"/>
          </a:ln>
        </p:spPr>
      </p:sp>
      <p:sp>
        <p:nvSpPr>
          <p:cNvPr id="28" name="Shape 26"/>
          <p:cNvSpPr/>
          <p:nvPr/>
        </p:nvSpPr>
        <p:spPr>
          <a:xfrm>
            <a:off x="5912843" y="1734167"/>
            <a:ext cx="-185832" cy="291519"/>
          </a:xfrm>
          <a:prstGeom prst="line">
            <a:avLst/>
          </a:prstGeom>
          <a:noFill/>
          <a:ln w="12700">
            <a:solidFill>
              <a:srgbClr val="A3A3A2"/>
            </a:solidFill>
            <a:prstDash val="solid"/>
          </a:ln>
        </p:spPr>
      </p:sp>
      <p:sp>
        <p:nvSpPr>
          <p:cNvPr id="29" name="Shape 27"/>
          <p:cNvSpPr/>
          <p:nvPr/>
        </p:nvSpPr>
        <p:spPr>
          <a:xfrm>
            <a:off x="5727011" y="2025686"/>
            <a:ext cx="305221" cy="126086"/>
          </a:xfrm>
          <a:prstGeom prst="line">
            <a:avLst/>
          </a:prstGeom>
          <a:noFill/>
          <a:ln w="12700">
            <a:solidFill>
              <a:srgbClr val="A3A3A2"/>
            </a:solidFill>
            <a:prstDash val="solid"/>
          </a:ln>
        </p:spPr>
      </p:sp>
      <p:sp>
        <p:nvSpPr>
          <p:cNvPr id="30" name="Shape 28"/>
          <p:cNvSpPr/>
          <p:nvPr/>
        </p:nvSpPr>
        <p:spPr>
          <a:xfrm>
            <a:off x="6412338" y="1745766"/>
            <a:ext cx="359546" cy="-220625"/>
          </a:xfrm>
          <a:prstGeom prst="line">
            <a:avLst/>
          </a:prstGeom>
          <a:noFill/>
          <a:ln w="12700">
            <a:solidFill>
              <a:srgbClr val="A3A3A2"/>
            </a:solidFill>
            <a:prstDash val="solid"/>
          </a:ln>
        </p:spPr>
      </p:sp>
      <p:sp>
        <p:nvSpPr>
          <p:cNvPr id="31" name="Shape 29"/>
          <p:cNvSpPr/>
          <p:nvPr/>
        </p:nvSpPr>
        <p:spPr>
          <a:xfrm>
            <a:off x="6771884" y="1525141"/>
            <a:ext cx="304568" cy="352801"/>
          </a:xfrm>
          <a:prstGeom prst="line">
            <a:avLst/>
          </a:prstGeom>
          <a:noFill/>
          <a:ln w="12700">
            <a:solidFill>
              <a:srgbClr val="A3A3A2"/>
            </a:solidFill>
            <a:prstDash val="solid"/>
          </a:ln>
        </p:spPr>
      </p:sp>
      <p:sp>
        <p:nvSpPr>
          <p:cNvPr id="32" name="Shape 30"/>
          <p:cNvSpPr/>
          <p:nvPr/>
        </p:nvSpPr>
        <p:spPr>
          <a:xfrm>
            <a:off x="5727011" y="2025686"/>
            <a:ext cx="-137309" cy="426818"/>
          </a:xfrm>
          <a:prstGeom prst="line">
            <a:avLst/>
          </a:prstGeom>
          <a:noFill/>
          <a:ln w="12700">
            <a:solidFill>
              <a:srgbClr val="A3A3A2"/>
            </a:solidFill>
            <a:prstDash val="solid"/>
          </a:ln>
        </p:spPr>
      </p:sp>
      <p:sp>
        <p:nvSpPr>
          <p:cNvPr id="33" name="Shape 31"/>
          <p:cNvSpPr/>
          <p:nvPr/>
        </p:nvSpPr>
        <p:spPr>
          <a:xfrm>
            <a:off x="7076451" y="1877942"/>
            <a:ext cx="-330872" cy="522532"/>
          </a:xfrm>
          <a:prstGeom prst="line">
            <a:avLst/>
          </a:prstGeom>
          <a:noFill/>
          <a:ln w="12700">
            <a:solidFill>
              <a:srgbClr val="A3A3A2"/>
            </a:solidFill>
            <a:prstDash val="solid"/>
          </a:ln>
        </p:spPr>
      </p:sp>
      <p:sp>
        <p:nvSpPr>
          <p:cNvPr id="34" name="Shape 32"/>
          <p:cNvSpPr/>
          <p:nvPr/>
        </p:nvSpPr>
        <p:spPr>
          <a:xfrm>
            <a:off x="5717452" y="1450449"/>
            <a:ext cx="347130" cy="-114625"/>
          </a:xfrm>
          <a:prstGeom prst="line">
            <a:avLst/>
          </a:prstGeom>
          <a:noFill/>
          <a:ln w="12700">
            <a:solidFill>
              <a:srgbClr val="A3A3A2"/>
            </a:solidFill>
            <a:prstDash val="solid"/>
          </a:ln>
        </p:spPr>
      </p:sp>
      <p:sp>
        <p:nvSpPr>
          <p:cNvPr id="35" name="Shape 33"/>
          <p:cNvSpPr/>
          <p:nvPr/>
        </p:nvSpPr>
        <p:spPr>
          <a:xfrm>
            <a:off x="7076451" y="1877942"/>
            <a:ext cx="295953" cy="-500815"/>
          </a:xfrm>
          <a:prstGeom prst="line">
            <a:avLst/>
          </a:prstGeom>
          <a:noFill/>
          <a:ln w="12700">
            <a:solidFill>
              <a:srgbClr val="A3A3A2"/>
            </a:solidFill>
            <a:prstDash val="solid"/>
          </a:ln>
        </p:spPr>
      </p:sp>
      <p:sp>
        <p:nvSpPr>
          <p:cNvPr id="36" name="Shape 34"/>
          <p:cNvSpPr/>
          <p:nvPr/>
        </p:nvSpPr>
        <p:spPr>
          <a:xfrm>
            <a:off x="5938438" y="5152295"/>
            <a:ext cx="1513603" cy="-116671"/>
          </a:xfrm>
          <a:prstGeom prst="line">
            <a:avLst/>
          </a:prstGeom>
          <a:noFill/>
          <a:ln w="12700">
            <a:solidFill>
              <a:srgbClr val="A3A3A2"/>
            </a:solidFill>
            <a:prstDash val="solid"/>
          </a:ln>
        </p:spPr>
      </p:sp>
      <p:sp>
        <p:nvSpPr>
          <p:cNvPr id="37" name="Shape 35"/>
          <p:cNvSpPr/>
          <p:nvPr/>
        </p:nvSpPr>
        <p:spPr>
          <a:xfrm>
            <a:off x="5938438" y="5152295"/>
            <a:ext cx="548332" cy="-104828"/>
          </a:xfrm>
          <a:prstGeom prst="line">
            <a:avLst/>
          </a:prstGeom>
          <a:noFill/>
          <a:ln w="12700">
            <a:solidFill>
              <a:srgbClr val="A3A3A2"/>
            </a:solidFill>
            <a:prstDash val="solid"/>
          </a:ln>
        </p:spPr>
      </p:sp>
      <p:sp>
        <p:nvSpPr>
          <p:cNvPr id="38" name="Shape 36"/>
          <p:cNvSpPr/>
          <p:nvPr/>
        </p:nvSpPr>
        <p:spPr>
          <a:xfrm>
            <a:off x="6486769" y="5047467"/>
            <a:ext cx="385225" cy="15092"/>
          </a:xfrm>
          <a:prstGeom prst="line">
            <a:avLst/>
          </a:prstGeom>
          <a:noFill/>
          <a:ln w="12700">
            <a:solidFill>
              <a:srgbClr val="A3A3A2"/>
            </a:solidFill>
            <a:prstDash val="solid"/>
          </a:ln>
        </p:spPr>
      </p:sp>
      <p:sp>
        <p:nvSpPr>
          <p:cNvPr id="39" name="Shape 37"/>
          <p:cNvSpPr/>
          <p:nvPr/>
        </p:nvSpPr>
        <p:spPr>
          <a:xfrm>
            <a:off x="7452041" y="5035624"/>
            <a:ext cx="-1775" cy="419356"/>
          </a:xfrm>
          <a:prstGeom prst="line">
            <a:avLst/>
          </a:prstGeom>
          <a:noFill/>
          <a:ln w="12700">
            <a:solidFill>
              <a:srgbClr val="A3A3A2"/>
            </a:solidFill>
            <a:prstDash val="solid"/>
          </a:ln>
        </p:spPr>
      </p:sp>
      <p:sp>
        <p:nvSpPr>
          <p:cNvPr id="40" name="Shape 38"/>
          <p:cNvSpPr/>
          <p:nvPr/>
        </p:nvSpPr>
        <p:spPr>
          <a:xfrm>
            <a:off x="5851051" y="4472956"/>
            <a:ext cx="87387" cy="679339"/>
          </a:xfrm>
          <a:prstGeom prst="line">
            <a:avLst/>
          </a:prstGeom>
          <a:noFill/>
          <a:ln w="12700">
            <a:solidFill>
              <a:srgbClr val="A3A3A2"/>
            </a:solidFill>
            <a:prstDash val="solid"/>
          </a:ln>
        </p:spPr>
      </p:sp>
      <p:sp>
        <p:nvSpPr>
          <p:cNvPr id="41" name="Shape 39"/>
          <p:cNvSpPr/>
          <p:nvPr/>
        </p:nvSpPr>
        <p:spPr>
          <a:xfrm>
            <a:off x="6486769" y="5047467"/>
            <a:ext cx="153973" cy="-347974"/>
          </a:xfrm>
          <a:prstGeom prst="line">
            <a:avLst/>
          </a:prstGeom>
          <a:noFill/>
          <a:ln w="12700">
            <a:solidFill>
              <a:srgbClr val="A3A3A2"/>
            </a:solidFill>
            <a:prstDash val="solid"/>
          </a:ln>
        </p:spPr>
      </p:sp>
      <p:sp>
        <p:nvSpPr>
          <p:cNvPr id="42" name="Shape 40"/>
          <p:cNvSpPr/>
          <p:nvPr/>
        </p:nvSpPr>
        <p:spPr>
          <a:xfrm>
            <a:off x="7452041" y="5035624"/>
            <a:ext cx="59275" cy="-507266"/>
          </a:xfrm>
          <a:prstGeom prst="line">
            <a:avLst/>
          </a:prstGeom>
          <a:noFill/>
          <a:ln w="12700">
            <a:solidFill>
              <a:srgbClr val="A3A3A2"/>
            </a:solidFill>
            <a:prstDash val="solid"/>
          </a:ln>
        </p:spPr>
      </p:sp>
      <p:sp>
        <p:nvSpPr>
          <p:cNvPr id="43" name="Shape 41"/>
          <p:cNvSpPr/>
          <p:nvPr/>
        </p:nvSpPr>
        <p:spPr>
          <a:xfrm>
            <a:off x="6871995" y="5062560"/>
            <a:ext cx="-120171" cy="440081"/>
          </a:xfrm>
          <a:prstGeom prst="line">
            <a:avLst/>
          </a:prstGeom>
          <a:noFill/>
          <a:ln w="12700">
            <a:solidFill>
              <a:srgbClr val="A3A3A2"/>
            </a:solidFill>
            <a:prstDash val="solid"/>
          </a:ln>
        </p:spPr>
      </p:sp>
      <p:sp>
        <p:nvSpPr>
          <p:cNvPr id="44" name="Shape 42"/>
          <p:cNvSpPr/>
          <p:nvPr/>
        </p:nvSpPr>
        <p:spPr>
          <a:xfrm>
            <a:off x="6486769" y="5047467"/>
            <a:ext cx="-159740" cy="335698"/>
          </a:xfrm>
          <a:prstGeom prst="line">
            <a:avLst/>
          </a:prstGeom>
          <a:noFill/>
          <a:ln w="12700">
            <a:solidFill>
              <a:srgbClr val="A3A3A2"/>
            </a:solidFill>
            <a:prstDash val="solid"/>
          </a:ln>
        </p:spPr>
      </p:sp>
      <p:sp>
        <p:nvSpPr>
          <p:cNvPr id="45" name="Shape 43"/>
          <p:cNvSpPr/>
          <p:nvPr/>
        </p:nvSpPr>
        <p:spPr>
          <a:xfrm>
            <a:off x="7178755" y="4813813"/>
            <a:ext cx="273286" cy="221812"/>
          </a:xfrm>
          <a:prstGeom prst="line">
            <a:avLst/>
          </a:prstGeom>
          <a:noFill/>
          <a:ln w="12700">
            <a:solidFill>
              <a:srgbClr val="A3A3A2"/>
            </a:solidFill>
            <a:prstDash val="solid"/>
          </a:ln>
        </p:spPr>
      </p:sp>
      <p:sp>
        <p:nvSpPr>
          <p:cNvPr id="46" name="Shape 44"/>
          <p:cNvSpPr/>
          <p:nvPr/>
        </p:nvSpPr>
        <p:spPr>
          <a:xfrm>
            <a:off x="10225598" y="2920625"/>
            <a:ext cx="-527861" cy="408129"/>
          </a:xfrm>
          <a:prstGeom prst="line">
            <a:avLst/>
          </a:prstGeom>
          <a:noFill/>
          <a:ln w="12700">
            <a:solidFill>
              <a:srgbClr val="A3A3A2"/>
            </a:solidFill>
            <a:prstDash val="solid"/>
          </a:ln>
        </p:spPr>
      </p:sp>
      <p:sp>
        <p:nvSpPr>
          <p:cNvPr id="47" name="Shape 45"/>
          <p:cNvSpPr/>
          <p:nvPr/>
        </p:nvSpPr>
        <p:spPr>
          <a:xfrm>
            <a:off x="9697737" y="3328754"/>
            <a:ext cx="312268" cy="767486"/>
          </a:xfrm>
          <a:prstGeom prst="line">
            <a:avLst/>
          </a:prstGeom>
          <a:noFill/>
          <a:ln w="12700">
            <a:solidFill>
              <a:srgbClr val="A3A3A2"/>
            </a:solidFill>
            <a:prstDash val="solid"/>
          </a:ln>
        </p:spPr>
      </p:sp>
      <p:sp>
        <p:nvSpPr>
          <p:cNvPr id="48" name="Shape 46"/>
          <p:cNvSpPr/>
          <p:nvPr/>
        </p:nvSpPr>
        <p:spPr>
          <a:xfrm>
            <a:off x="10225598" y="2920625"/>
            <a:ext cx="86489" cy="527841"/>
          </a:xfrm>
          <a:prstGeom prst="line">
            <a:avLst/>
          </a:prstGeom>
          <a:noFill/>
          <a:ln w="12700">
            <a:solidFill>
              <a:srgbClr val="A3A3A2"/>
            </a:solidFill>
            <a:prstDash val="solid"/>
          </a:ln>
        </p:spPr>
      </p:sp>
      <p:sp>
        <p:nvSpPr>
          <p:cNvPr id="49" name="Shape 47"/>
          <p:cNvSpPr/>
          <p:nvPr/>
        </p:nvSpPr>
        <p:spPr>
          <a:xfrm>
            <a:off x="10312087" y="3448465"/>
            <a:ext cx="575025" cy="216796"/>
          </a:xfrm>
          <a:prstGeom prst="line">
            <a:avLst/>
          </a:prstGeom>
          <a:noFill/>
          <a:ln w="12700">
            <a:solidFill>
              <a:srgbClr val="A3A3A2"/>
            </a:solidFill>
            <a:prstDash val="solid"/>
          </a:ln>
        </p:spPr>
      </p:sp>
      <p:sp>
        <p:nvSpPr>
          <p:cNvPr id="50" name="Shape 48"/>
          <p:cNvSpPr/>
          <p:nvPr/>
        </p:nvSpPr>
        <p:spPr>
          <a:xfrm>
            <a:off x="9697737" y="3328754"/>
            <a:ext cx="-52562" cy="342527"/>
          </a:xfrm>
          <a:prstGeom prst="line">
            <a:avLst/>
          </a:prstGeom>
          <a:noFill/>
          <a:ln w="12700">
            <a:solidFill>
              <a:srgbClr val="A3A3A2"/>
            </a:solidFill>
            <a:prstDash val="solid"/>
          </a:ln>
        </p:spPr>
      </p:sp>
      <p:sp>
        <p:nvSpPr>
          <p:cNvPr id="51" name="Shape 49"/>
          <p:cNvSpPr/>
          <p:nvPr/>
        </p:nvSpPr>
        <p:spPr>
          <a:xfrm>
            <a:off x="10312087" y="3448465"/>
            <a:ext cx="393078" cy="-247721"/>
          </a:xfrm>
          <a:prstGeom prst="line">
            <a:avLst/>
          </a:prstGeom>
          <a:noFill/>
          <a:ln w="12700">
            <a:solidFill>
              <a:srgbClr val="A3A3A2"/>
            </a:solidFill>
            <a:prstDash val="solid"/>
          </a:ln>
        </p:spPr>
      </p:sp>
      <p:sp>
        <p:nvSpPr>
          <p:cNvPr id="52" name="Shape 50"/>
          <p:cNvSpPr/>
          <p:nvPr/>
        </p:nvSpPr>
        <p:spPr>
          <a:xfrm>
            <a:off x="10887113" y="3665261"/>
            <a:ext cx="335545" cy="161242"/>
          </a:xfrm>
          <a:prstGeom prst="line">
            <a:avLst/>
          </a:prstGeom>
          <a:noFill/>
          <a:ln w="12700">
            <a:solidFill>
              <a:srgbClr val="A3A3A2"/>
            </a:solidFill>
            <a:prstDash val="solid"/>
          </a:ln>
        </p:spPr>
      </p:sp>
      <p:sp>
        <p:nvSpPr>
          <p:cNvPr id="53" name="Shape 51"/>
          <p:cNvSpPr/>
          <p:nvPr/>
        </p:nvSpPr>
        <p:spPr>
          <a:xfrm>
            <a:off x="10010005" y="4096240"/>
            <a:ext cx="499128" cy="-55274"/>
          </a:xfrm>
          <a:prstGeom prst="line">
            <a:avLst/>
          </a:prstGeom>
          <a:noFill/>
          <a:ln w="12700">
            <a:solidFill>
              <a:srgbClr val="A3A3A2"/>
            </a:solidFill>
            <a:prstDash val="solid"/>
          </a:ln>
        </p:spPr>
      </p:sp>
      <p:sp>
        <p:nvSpPr>
          <p:cNvPr id="54" name="Shape 52"/>
          <p:cNvSpPr/>
          <p:nvPr/>
        </p:nvSpPr>
        <p:spPr>
          <a:xfrm>
            <a:off x="10705165" y="3200744"/>
            <a:ext cx="185359" cy="-782810"/>
          </a:xfrm>
          <a:prstGeom prst="line">
            <a:avLst/>
          </a:prstGeom>
          <a:noFill/>
          <a:ln w="12700">
            <a:solidFill>
              <a:srgbClr val="A3A3A2"/>
            </a:solidFill>
            <a:prstDash val="solid"/>
          </a:ln>
        </p:spPr>
      </p:sp>
      <p:sp>
        <p:nvSpPr>
          <p:cNvPr id="55" name="Shape 53"/>
          <p:cNvSpPr/>
          <p:nvPr/>
        </p:nvSpPr>
        <p:spPr>
          <a:xfrm>
            <a:off x="10700100" y="2845835"/>
            <a:ext cx="5065" cy="354910"/>
          </a:xfrm>
          <a:prstGeom prst="line">
            <a:avLst/>
          </a:prstGeom>
          <a:noFill/>
          <a:ln w="12700">
            <a:solidFill>
              <a:srgbClr val="A3A3A2"/>
            </a:solidFill>
            <a:prstDash val="solid"/>
          </a:ln>
        </p:spPr>
      </p:sp>
      <p:sp>
        <p:nvSpPr>
          <p:cNvPr id="56" name="Shape 54"/>
          <p:cNvSpPr/>
          <p:nvPr/>
        </p:nvSpPr>
        <p:spPr>
          <a:xfrm>
            <a:off x="9899275" y="2486802"/>
            <a:ext cx="326323" cy="433822"/>
          </a:xfrm>
          <a:prstGeom prst="line">
            <a:avLst/>
          </a:prstGeom>
          <a:noFill/>
          <a:ln w="12700">
            <a:solidFill>
              <a:srgbClr val="A3A3A2"/>
            </a:solidFill>
            <a:prstDash val="solid"/>
          </a:ln>
        </p:spPr>
      </p:sp>
      <p:sp>
        <p:nvSpPr>
          <p:cNvPr id="57" name="Shape 55"/>
          <p:cNvSpPr/>
          <p:nvPr/>
        </p:nvSpPr>
        <p:spPr>
          <a:xfrm>
            <a:off x="2575997" y="3999525"/>
            <a:ext cx="126997" cy="126997"/>
          </a:xfrm>
          <a:prstGeom prst="ellipse">
            <a:avLst/>
          </a:prstGeom>
          <a:solidFill>
            <a:srgbClr val="FFFFFF"/>
          </a:solidFill>
          <a:ln w="15875">
            <a:solidFill>
              <a:srgbClr val="1A1A16"/>
            </a:solidFill>
            <a:prstDash val="solid"/>
          </a:ln>
        </p:spPr>
      </p:sp>
      <p:sp>
        <p:nvSpPr>
          <p:cNvPr id="58" name="Shape 56"/>
          <p:cNvSpPr/>
          <p:nvPr/>
        </p:nvSpPr>
        <p:spPr>
          <a:xfrm>
            <a:off x="2489689" y="3497941"/>
            <a:ext cx="126997" cy="126997"/>
          </a:xfrm>
          <a:prstGeom prst="ellipse">
            <a:avLst/>
          </a:prstGeom>
          <a:solidFill>
            <a:srgbClr val="FFFFFF"/>
          </a:solidFill>
          <a:ln w="15875">
            <a:solidFill>
              <a:srgbClr val="1A1A16"/>
            </a:solidFill>
            <a:prstDash val="solid"/>
          </a:ln>
        </p:spPr>
      </p:sp>
      <p:sp>
        <p:nvSpPr>
          <p:cNvPr id="59" name="Shape 57"/>
          <p:cNvSpPr/>
          <p:nvPr/>
        </p:nvSpPr>
        <p:spPr>
          <a:xfrm>
            <a:off x="1581379" y="2976333"/>
            <a:ext cx="126997" cy="126997"/>
          </a:xfrm>
          <a:prstGeom prst="ellipse">
            <a:avLst/>
          </a:prstGeom>
          <a:solidFill>
            <a:srgbClr val="FFFFFF"/>
          </a:solidFill>
          <a:ln w="15875">
            <a:solidFill>
              <a:srgbClr val="1A1A16"/>
            </a:solidFill>
            <a:prstDash val="solid"/>
          </a:ln>
        </p:spPr>
      </p:sp>
      <p:sp>
        <p:nvSpPr>
          <p:cNvPr id="60" name="Shape 58"/>
          <p:cNvSpPr/>
          <p:nvPr/>
        </p:nvSpPr>
        <p:spPr>
          <a:xfrm>
            <a:off x="2707862" y="2749868"/>
            <a:ext cx="126997" cy="126997"/>
          </a:xfrm>
          <a:prstGeom prst="ellipse">
            <a:avLst/>
          </a:prstGeom>
          <a:solidFill>
            <a:srgbClr val="FFFFFF"/>
          </a:solidFill>
          <a:ln w="15875">
            <a:solidFill>
              <a:srgbClr val="1A1A16"/>
            </a:solidFill>
            <a:prstDash val="solid"/>
          </a:ln>
        </p:spPr>
      </p:sp>
      <p:sp>
        <p:nvSpPr>
          <p:cNvPr id="61" name="Shape 59"/>
          <p:cNvSpPr/>
          <p:nvPr/>
        </p:nvSpPr>
        <p:spPr>
          <a:xfrm>
            <a:off x="2197725" y="2909938"/>
            <a:ext cx="126997" cy="126997"/>
          </a:xfrm>
          <a:prstGeom prst="ellipse">
            <a:avLst/>
          </a:prstGeom>
          <a:solidFill>
            <a:srgbClr val="FFFFFF"/>
          </a:solidFill>
          <a:ln w="15875">
            <a:solidFill>
              <a:srgbClr val="1A1A16"/>
            </a:solidFill>
            <a:prstDash val="solid"/>
          </a:ln>
        </p:spPr>
      </p:sp>
      <p:sp>
        <p:nvSpPr>
          <p:cNvPr id="62" name="Shape 60"/>
          <p:cNvSpPr/>
          <p:nvPr/>
        </p:nvSpPr>
        <p:spPr>
          <a:xfrm>
            <a:off x="3702548" y="4120639"/>
            <a:ext cx="126997" cy="126997"/>
          </a:xfrm>
          <a:prstGeom prst="ellipse">
            <a:avLst/>
          </a:prstGeom>
          <a:solidFill>
            <a:srgbClr val="FFFFFF"/>
          </a:solidFill>
          <a:ln w="15875">
            <a:solidFill>
              <a:srgbClr val="1A1A16"/>
            </a:solidFill>
            <a:prstDash val="solid"/>
          </a:ln>
        </p:spPr>
      </p:sp>
      <p:sp>
        <p:nvSpPr>
          <p:cNvPr id="63" name="Shape 61"/>
          <p:cNvSpPr/>
          <p:nvPr/>
        </p:nvSpPr>
        <p:spPr>
          <a:xfrm>
            <a:off x="1904236" y="3683587"/>
            <a:ext cx="126997" cy="126997"/>
          </a:xfrm>
          <a:prstGeom prst="ellipse">
            <a:avLst/>
          </a:prstGeom>
          <a:solidFill>
            <a:srgbClr val="FFFFFF"/>
          </a:solidFill>
          <a:ln w="15875">
            <a:solidFill>
              <a:srgbClr val="1A1A16"/>
            </a:solidFill>
            <a:prstDash val="solid"/>
          </a:ln>
        </p:spPr>
      </p:sp>
      <p:sp>
        <p:nvSpPr>
          <p:cNvPr id="64" name="Shape 62"/>
          <p:cNvSpPr/>
          <p:nvPr/>
        </p:nvSpPr>
        <p:spPr>
          <a:xfrm>
            <a:off x="3019541" y="3205820"/>
            <a:ext cx="126997" cy="126997"/>
          </a:xfrm>
          <a:prstGeom prst="ellipse">
            <a:avLst/>
          </a:prstGeom>
          <a:solidFill>
            <a:srgbClr val="FFFFFF"/>
          </a:solidFill>
          <a:ln w="15875">
            <a:solidFill>
              <a:srgbClr val="1A1A16"/>
            </a:solidFill>
            <a:prstDash val="solid"/>
          </a:ln>
        </p:spPr>
      </p:sp>
      <p:sp>
        <p:nvSpPr>
          <p:cNvPr id="65" name="Shape 63"/>
          <p:cNvSpPr/>
          <p:nvPr/>
        </p:nvSpPr>
        <p:spPr>
          <a:xfrm>
            <a:off x="3318292" y="2278941"/>
            <a:ext cx="126997" cy="126997"/>
          </a:xfrm>
          <a:prstGeom prst="ellipse">
            <a:avLst/>
          </a:prstGeom>
          <a:solidFill>
            <a:srgbClr val="FFFFFF"/>
          </a:solidFill>
          <a:ln w="15875">
            <a:solidFill>
              <a:srgbClr val="1A1A16"/>
            </a:solidFill>
            <a:prstDash val="solid"/>
          </a:ln>
        </p:spPr>
      </p:sp>
      <p:sp>
        <p:nvSpPr>
          <p:cNvPr id="66" name="Shape 64"/>
          <p:cNvSpPr/>
          <p:nvPr/>
        </p:nvSpPr>
        <p:spPr>
          <a:xfrm>
            <a:off x="2224923" y="2425882"/>
            <a:ext cx="126997" cy="126997"/>
          </a:xfrm>
          <a:prstGeom prst="ellipse">
            <a:avLst/>
          </a:prstGeom>
          <a:solidFill>
            <a:srgbClr val="FFFFFF"/>
          </a:solidFill>
          <a:ln w="15875">
            <a:solidFill>
              <a:srgbClr val="1A1A16"/>
            </a:solidFill>
            <a:prstDash val="solid"/>
          </a:ln>
        </p:spPr>
      </p:sp>
      <p:sp>
        <p:nvSpPr>
          <p:cNvPr id="67" name="Shape 65"/>
          <p:cNvSpPr/>
          <p:nvPr/>
        </p:nvSpPr>
        <p:spPr>
          <a:xfrm>
            <a:off x="2213414" y="3848296"/>
            <a:ext cx="126997" cy="126997"/>
          </a:xfrm>
          <a:prstGeom prst="ellipse">
            <a:avLst/>
          </a:prstGeom>
          <a:solidFill>
            <a:srgbClr val="FFFFFF"/>
          </a:solidFill>
          <a:ln w="15875">
            <a:solidFill>
              <a:srgbClr val="1A1A16"/>
            </a:solidFill>
            <a:prstDash val="solid"/>
          </a:ln>
        </p:spPr>
      </p:sp>
      <p:sp>
        <p:nvSpPr>
          <p:cNvPr id="68" name="Shape 66"/>
          <p:cNvSpPr/>
          <p:nvPr/>
        </p:nvSpPr>
        <p:spPr>
          <a:xfrm>
            <a:off x="2041697" y="4132086"/>
            <a:ext cx="126997" cy="126997"/>
          </a:xfrm>
          <a:prstGeom prst="ellipse">
            <a:avLst/>
          </a:prstGeom>
          <a:solidFill>
            <a:srgbClr val="FFFFFF"/>
          </a:solidFill>
          <a:ln w="15875">
            <a:solidFill>
              <a:srgbClr val="1A1A16"/>
            </a:solidFill>
            <a:prstDash val="solid"/>
          </a:ln>
        </p:spPr>
      </p:sp>
      <p:sp>
        <p:nvSpPr>
          <p:cNvPr id="69" name="Shape 67"/>
          <p:cNvSpPr/>
          <p:nvPr/>
        </p:nvSpPr>
        <p:spPr>
          <a:xfrm>
            <a:off x="1683502" y="4236619"/>
            <a:ext cx="126997" cy="126997"/>
          </a:xfrm>
          <a:prstGeom prst="ellipse">
            <a:avLst/>
          </a:prstGeom>
          <a:solidFill>
            <a:srgbClr val="FFFFFF"/>
          </a:solidFill>
          <a:ln w="15875">
            <a:solidFill>
              <a:srgbClr val="1A1A16"/>
            </a:solidFill>
            <a:prstDash val="solid"/>
          </a:ln>
        </p:spPr>
      </p:sp>
      <p:sp>
        <p:nvSpPr>
          <p:cNvPr id="70" name="Shape 68"/>
          <p:cNvSpPr/>
          <p:nvPr/>
        </p:nvSpPr>
        <p:spPr>
          <a:xfrm>
            <a:off x="2230072" y="3284778"/>
            <a:ext cx="126997" cy="126997"/>
          </a:xfrm>
          <a:prstGeom prst="ellipse">
            <a:avLst/>
          </a:prstGeom>
          <a:solidFill>
            <a:srgbClr val="FFFFFF"/>
          </a:solidFill>
          <a:ln w="15875">
            <a:solidFill>
              <a:srgbClr val="1A1A16"/>
            </a:solidFill>
            <a:prstDash val="solid"/>
          </a:ln>
        </p:spPr>
      </p:sp>
      <p:sp>
        <p:nvSpPr>
          <p:cNvPr id="71" name="Shape 69"/>
          <p:cNvSpPr/>
          <p:nvPr/>
        </p:nvSpPr>
        <p:spPr>
          <a:xfrm>
            <a:off x="1745276" y="2649886"/>
            <a:ext cx="126997" cy="126997"/>
          </a:xfrm>
          <a:prstGeom prst="ellipse">
            <a:avLst/>
          </a:prstGeom>
          <a:solidFill>
            <a:srgbClr val="FFFFFF"/>
          </a:solidFill>
          <a:ln w="15875">
            <a:solidFill>
              <a:srgbClr val="1A1A16"/>
            </a:solidFill>
            <a:prstDash val="solid"/>
          </a:ln>
        </p:spPr>
      </p:sp>
      <p:sp>
        <p:nvSpPr>
          <p:cNvPr id="72" name="Shape 70"/>
          <p:cNvSpPr/>
          <p:nvPr/>
        </p:nvSpPr>
        <p:spPr>
          <a:xfrm>
            <a:off x="3226554" y="2834794"/>
            <a:ext cx="126997" cy="126997"/>
          </a:xfrm>
          <a:prstGeom prst="ellipse">
            <a:avLst/>
          </a:prstGeom>
          <a:solidFill>
            <a:srgbClr val="FFFFFF"/>
          </a:solidFill>
          <a:ln w="15875">
            <a:solidFill>
              <a:srgbClr val="1A1A16"/>
            </a:solidFill>
            <a:prstDash val="solid"/>
          </a:ln>
        </p:spPr>
      </p:sp>
      <p:sp>
        <p:nvSpPr>
          <p:cNvPr id="73" name="Shape 71"/>
          <p:cNvSpPr/>
          <p:nvPr/>
        </p:nvSpPr>
        <p:spPr>
          <a:xfrm>
            <a:off x="7299948" y="2265640"/>
            <a:ext cx="126997" cy="126997"/>
          </a:xfrm>
          <a:prstGeom prst="ellipse">
            <a:avLst/>
          </a:prstGeom>
          <a:solidFill>
            <a:srgbClr val="FFFFFF"/>
          </a:solidFill>
          <a:ln w="15875">
            <a:solidFill>
              <a:srgbClr val="1A1A16"/>
            </a:solidFill>
            <a:prstDash val="solid"/>
          </a:ln>
        </p:spPr>
      </p:sp>
      <p:sp>
        <p:nvSpPr>
          <p:cNvPr id="74" name="Shape 72"/>
          <p:cNvSpPr/>
          <p:nvPr/>
        </p:nvSpPr>
        <p:spPr>
          <a:xfrm>
            <a:off x="6348839" y="1682267"/>
            <a:ext cx="126997" cy="126997"/>
          </a:xfrm>
          <a:prstGeom prst="ellipse">
            <a:avLst/>
          </a:prstGeom>
          <a:solidFill>
            <a:srgbClr val="FFFFFF"/>
          </a:solidFill>
          <a:ln w="15875">
            <a:solidFill>
              <a:srgbClr val="1A1A16"/>
            </a:solidFill>
            <a:prstDash val="solid"/>
          </a:ln>
        </p:spPr>
      </p:sp>
      <p:sp>
        <p:nvSpPr>
          <p:cNvPr id="75" name="Shape 73"/>
          <p:cNvSpPr/>
          <p:nvPr/>
        </p:nvSpPr>
        <p:spPr>
          <a:xfrm>
            <a:off x="5653953" y="1386951"/>
            <a:ext cx="126997" cy="126997"/>
          </a:xfrm>
          <a:prstGeom prst="ellipse">
            <a:avLst/>
          </a:prstGeom>
          <a:solidFill>
            <a:srgbClr val="FFFFFF"/>
          </a:solidFill>
          <a:ln w="15875">
            <a:solidFill>
              <a:srgbClr val="1A1A16"/>
            </a:solidFill>
            <a:prstDash val="solid"/>
          </a:ln>
        </p:spPr>
      </p:sp>
      <p:sp>
        <p:nvSpPr>
          <p:cNvPr id="76" name="Shape 74"/>
          <p:cNvSpPr/>
          <p:nvPr/>
        </p:nvSpPr>
        <p:spPr>
          <a:xfrm>
            <a:off x="5849345" y="1670669"/>
            <a:ext cx="126997" cy="126997"/>
          </a:xfrm>
          <a:prstGeom prst="ellipse">
            <a:avLst/>
          </a:prstGeom>
          <a:solidFill>
            <a:srgbClr val="FFFFFF"/>
          </a:solidFill>
          <a:ln w="15875">
            <a:solidFill>
              <a:srgbClr val="1A1A16"/>
            </a:solidFill>
            <a:prstDash val="solid"/>
          </a:ln>
        </p:spPr>
      </p:sp>
      <p:sp>
        <p:nvSpPr>
          <p:cNvPr id="77" name="Shape 75"/>
          <p:cNvSpPr/>
          <p:nvPr/>
        </p:nvSpPr>
        <p:spPr>
          <a:xfrm>
            <a:off x="5663513" y="1962187"/>
            <a:ext cx="126997" cy="126997"/>
          </a:xfrm>
          <a:prstGeom prst="ellipse">
            <a:avLst/>
          </a:prstGeom>
          <a:solidFill>
            <a:srgbClr val="FFFFFF"/>
          </a:solidFill>
          <a:ln w="15875">
            <a:solidFill>
              <a:srgbClr val="1A1A16"/>
            </a:solidFill>
            <a:prstDash val="solid"/>
          </a:ln>
        </p:spPr>
      </p:sp>
      <p:sp>
        <p:nvSpPr>
          <p:cNvPr id="78" name="Shape 76"/>
          <p:cNvSpPr/>
          <p:nvPr/>
        </p:nvSpPr>
        <p:spPr>
          <a:xfrm>
            <a:off x="5968734" y="2088273"/>
            <a:ext cx="126997" cy="126997"/>
          </a:xfrm>
          <a:prstGeom prst="ellipse">
            <a:avLst/>
          </a:prstGeom>
          <a:solidFill>
            <a:srgbClr val="FFFFFF"/>
          </a:solidFill>
          <a:ln w="15875">
            <a:solidFill>
              <a:srgbClr val="1A1A16"/>
            </a:solidFill>
            <a:prstDash val="solid"/>
          </a:ln>
        </p:spPr>
      </p:sp>
      <p:sp>
        <p:nvSpPr>
          <p:cNvPr id="79" name="Shape 77"/>
          <p:cNvSpPr/>
          <p:nvPr/>
        </p:nvSpPr>
        <p:spPr>
          <a:xfrm>
            <a:off x="6708385" y="1461642"/>
            <a:ext cx="126997" cy="126997"/>
          </a:xfrm>
          <a:prstGeom prst="ellipse">
            <a:avLst/>
          </a:prstGeom>
          <a:solidFill>
            <a:srgbClr val="FFFFFF"/>
          </a:solidFill>
          <a:ln w="15875">
            <a:solidFill>
              <a:srgbClr val="1A1A16"/>
            </a:solidFill>
            <a:prstDash val="solid"/>
          </a:ln>
        </p:spPr>
      </p:sp>
      <p:sp>
        <p:nvSpPr>
          <p:cNvPr id="80" name="Shape 78"/>
          <p:cNvSpPr/>
          <p:nvPr/>
        </p:nvSpPr>
        <p:spPr>
          <a:xfrm>
            <a:off x="7012953" y="1814443"/>
            <a:ext cx="126997" cy="126997"/>
          </a:xfrm>
          <a:prstGeom prst="ellipse">
            <a:avLst/>
          </a:prstGeom>
          <a:solidFill>
            <a:srgbClr val="FFFFFF"/>
          </a:solidFill>
          <a:ln w="15875">
            <a:solidFill>
              <a:srgbClr val="1A1A16"/>
            </a:solidFill>
            <a:prstDash val="solid"/>
          </a:ln>
        </p:spPr>
      </p:sp>
      <p:sp>
        <p:nvSpPr>
          <p:cNvPr id="81" name="Shape 79"/>
          <p:cNvSpPr/>
          <p:nvPr/>
        </p:nvSpPr>
        <p:spPr>
          <a:xfrm>
            <a:off x="5526204" y="2389006"/>
            <a:ext cx="126997" cy="126997"/>
          </a:xfrm>
          <a:prstGeom prst="ellipse">
            <a:avLst/>
          </a:prstGeom>
          <a:solidFill>
            <a:srgbClr val="FFFFFF"/>
          </a:solidFill>
          <a:ln w="15875">
            <a:solidFill>
              <a:srgbClr val="1A1A16"/>
            </a:solidFill>
            <a:prstDash val="solid"/>
          </a:ln>
        </p:spPr>
      </p:sp>
      <p:sp>
        <p:nvSpPr>
          <p:cNvPr id="82" name="Shape 80"/>
          <p:cNvSpPr/>
          <p:nvPr/>
        </p:nvSpPr>
        <p:spPr>
          <a:xfrm>
            <a:off x="6682081" y="2336975"/>
            <a:ext cx="126997" cy="126997"/>
          </a:xfrm>
          <a:prstGeom prst="ellipse">
            <a:avLst/>
          </a:prstGeom>
          <a:solidFill>
            <a:srgbClr val="FFFFFF"/>
          </a:solidFill>
          <a:ln w="15875">
            <a:solidFill>
              <a:srgbClr val="1A1A16"/>
            </a:solidFill>
            <a:prstDash val="solid"/>
          </a:ln>
        </p:spPr>
      </p:sp>
      <p:sp>
        <p:nvSpPr>
          <p:cNvPr id="83" name="Shape 81"/>
          <p:cNvSpPr/>
          <p:nvPr/>
        </p:nvSpPr>
        <p:spPr>
          <a:xfrm>
            <a:off x="6001084" y="1272326"/>
            <a:ext cx="126997" cy="126997"/>
          </a:xfrm>
          <a:prstGeom prst="ellipse">
            <a:avLst/>
          </a:prstGeom>
          <a:solidFill>
            <a:srgbClr val="FFFFFF"/>
          </a:solidFill>
          <a:ln w="15875">
            <a:solidFill>
              <a:srgbClr val="1A1A16"/>
            </a:solidFill>
            <a:prstDash val="solid"/>
          </a:ln>
        </p:spPr>
      </p:sp>
      <p:sp>
        <p:nvSpPr>
          <p:cNvPr id="84" name="Shape 82"/>
          <p:cNvSpPr/>
          <p:nvPr/>
        </p:nvSpPr>
        <p:spPr>
          <a:xfrm>
            <a:off x="7308906" y="1313628"/>
            <a:ext cx="126997" cy="126997"/>
          </a:xfrm>
          <a:prstGeom prst="ellipse">
            <a:avLst/>
          </a:prstGeom>
          <a:solidFill>
            <a:srgbClr val="FFFFFF"/>
          </a:solidFill>
          <a:ln w="15875">
            <a:solidFill>
              <a:srgbClr val="1A1A16"/>
            </a:solidFill>
            <a:prstDash val="solid"/>
          </a:ln>
        </p:spPr>
      </p:sp>
      <p:sp>
        <p:nvSpPr>
          <p:cNvPr id="85" name="Shape 83"/>
          <p:cNvSpPr/>
          <p:nvPr/>
        </p:nvSpPr>
        <p:spPr>
          <a:xfrm>
            <a:off x="5874939" y="5088797"/>
            <a:ext cx="126997" cy="126997"/>
          </a:xfrm>
          <a:prstGeom prst="ellipse">
            <a:avLst/>
          </a:prstGeom>
          <a:solidFill>
            <a:srgbClr val="FFFFFF"/>
          </a:solidFill>
          <a:ln w="15875">
            <a:solidFill>
              <a:srgbClr val="1A1A16"/>
            </a:solidFill>
            <a:prstDash val="solid"/>
          </a:ln>
        </p:spPr>
      </p:sp>
      <p:sp>
        <p:nvSpPr>
          <p:cNvPr id="86" name="Shape 84"/>
          <p:cNvSpPr/>
          <p:nvPr/>
        </p:nvSpPr>
        <p:spPr>
          <a:xfrm>
            <a:off x="7388543" y="4972126"/>
            <a:ext cx="126997" cy="126997"/>
          </a:xfrm>
          <a:prstGeom prst="ellipse">
            <a:avLst/>
          </a:prstGeom>
          <a:solidFill>
            <a:srgbClr val="FFFFFF"/>
          </a:solidFill>
          <a:ln w="15875">
            <a:solidFill>
              <a:srgbClr val="1A1A16"/>
            </a:solidFill>
            <a:prstDash val="solid"/>
          </a:ln>
        </p:spPr>
      </p:sp>
      <p:sp>
        <p:nvSpPr>
          <p:cNvPr id="87" name="Shape 85"/>
          <p:cNvSpPr/>
          <p:nvPr/>
        </p:nvSpPr>
        <p:spPr>
          <a:xfrm>
            <a:off x="6423271" y="4983969"/>
            <a:ext cx="126997" cy="126997"/>
          </a:xfrm>
          <a:prstGeom prst="ellipse">
            <a:avLst/>
          </a:prstGeom>
          <a:solidFill>
            <a:srgbClr val="FFFFFF"/>
          </a:solidFill>
          <a:ln w="15875">
            <a:solidFill>
              <a:srgbClr val="1A1A16"/>
            </a:solidFill>
            <a:prstDash val="solid"/>
          </a:ln>
        </p:spPr>
      </p:sp>
      <p:sp>
        <p:nvSpPr>
          <p:cNvPr id="88" name="Shape 86"/>
          <p:cNvSpPr/>
          <p:nvPr/>
        </p:nvSpPr>
        <p:spPr>
          <a:xfrm>
            <a:off x="6808496" y="4999061"/>
            <a:ext cx="126997" cy="126997"/>
          </a:xfrm>
          <a:prstGeom prst="ellipse">
            <a:avLst/>
          </a:prstGeom>
          <a:solidFill>
            <a:srgbClr val="FFFFFF"/>
          </a:solidFill>
          <a:ln w="15875">
            <a:solidFill>
              <a:srgbClr val="1A1A16"/>
            </a:solidFill>
            <a:prstDash val="solid"/>
          </a:ln>
        </p:spPr>
      </p:sp>
      <p:sp>
        <p:nvSpPr>
          <p:cNvPr id="89" name="Shape 87"/>
          <p:cNvSpPr/>
          <p:nvPr/>
        </p:nvSpPr>
        <p:spPr>
          <a:xfrm>
            <a:off x="7386768" y="5391482"/>
            <a:ext cx="126997" cy="126997"/>
          </a:xfrm>
          <a:prstGeom prst="ellipse">
            <a:avLst/>
          </a:prstGeom>
          <a:solidFill>
            <a:srgbClr val="FFFFFF"/>
          </a:solidFill>
          <a:ln w="15875">
            <a:solidFill>
              <a:srgbClr val="1A1A16"/>
            </a:solidFill>
            <a:prstDash val="solid"/>
          </a:ln>
        </p:spPr>
      </p:sp>
      <p:sp>
        <p:nvSpPr>
          <p:cNvPr id="90" name="Shape 88"/>
          <p:cNvSpPr/>
          <p:nvPr/>
        </p:nvSpPr>
        <p:spPr>
          <a:xfrm>
            <a:off x="5787552" y="4409458"/>
            <a:ext cx="126997" cy="126997"/>
          </a:xfrm>
          <a:prstGeom prst="ellipse">
            <a:avLst/>
          </a:prstGeom>
          <a:solidFill>
            <a:srgbClr val="FFFFFF"/>
          </a:solidFill>
          <a:ln w="15875">
            <a:solidFill>
              <a:srgbClr val="1A1A16"/>
            </a:solidFill>
            <a:prstDash val="solid"/>
          </a:ln>
        </p:spPr>
      </p:sp>
      <p:sp>
        <p:nvSpPr>
          <p:cNvPr id="91" name="Shape 89"/>
          <p:cNvSpPr/>
          <p:nvPr/>
        </p:nvSpPr>
        <p:spPr>
          <a:xfrm>
            <a:off x="6577244" y="4635995"/>
            <a:ext cx="126997" cy="126997"/>
          </a:xfrm>
          <a:prstGeom prst="ellipse">
            <a:avLst/>
          </a:prstGeom>
          <a:solidFill>
            <a:srgbClr val="FFFFFF"/>
          </a:solidFill>
          <a:ln w="15875">
            <a:solidFill>
              <a:srgbClr val="1A1A16"/>
            </a:solidFill>
            <a:prstDash val="solid"/>
          </a:ln>
        </p:spPr>
      </p:sp>
      <p:sp>
        <p:nvSpPr>
          <p:cNvPr id="92" name="Shape 90"/>
          <p:cNvSpPr/>
          <p:nvPr/>
        </p:nvSpPr>
        <p:spPr>
          <a:xfrm>
            <a:off x="7447818" y="4464860"/>
            <a:ext cx="126997" cy="126997"/>
          </a:xfrm>
          <a:prstGeom prst="ellipse">
            <a:avLst/>
          </a:prstGeom>
          <a:solidFill>
            <a:srgbClr val="FFFFFF"/>
          </a:solidFill>
          <a:ln w="15875">
            <a:solidFill>
              <a:srgbClr val="1A1A16"/>
            </a:solidFill>
            <a:prstDash val="solid"/>
          </a:ln>
        </p:spPr>
      </p:sp>
      <p:sp>
        <p:nvSpPr>
          <p:cNvPr id="93" name="Shape 91"/>
          <p:cNvSpPr/>
          <p:nvPr/>
        </p:nvSpPr>
        <p:spPr>
          <a:xfrm>
            <a:off x="6688325" y="5439142"/>
            <a:ext cx="126997" cy="126997"/>
          </a:xfrm>
          <a:prstGeom prst="ellipse">
            <a:avLst/>
          </a:prstGeom>
          <a:solidFill>
            <a:srgbClr val="FFFFFF"/>
          </a:solidFill>
          <a:ln w="15875">
            <a:solidFill>
              <a:srgbClr val="1A1A16"/>
            </a:solidFill>
            <a:prstDash val="solid"/>
          </a:ln>
        </p:spPr>
      </p:sp>
      <p:sp>
        <p:nvSpPr>
          <p:cNvPr id="94" name="Shape 92"/>
          <p:cNvSpPr/>
          <p:nvPr/>
        </p:nvSpPr>
        <p:spPr>
          <a:xfrm>
            <a:off x="6263531" y="5319667"/>
            <a:ext cx="126997" cy="126997"/>
          </a:xfrm>
          <a:prstGeom prst="ellipse">
            <a:avLst/>
          </a:prstGeom>
          <a:solidFill>
            <a:srgbClr val="FFFFFF"/>
          </a:solidFill>
          <a:ln w="15875">
            <a:solidFill>
              <a:srgbClr val="1A1A16"/>
            </a:solidFill>
            <a:prstDash val="solid"/>
          </a:ln>
        </p:spPr>
      </p:sp>
      <p:sp>
        <p:nvSpPr>
          <p:cNvPr id="95" name="Shape 93"/>
          <p:cNvSpPr/>
          <p:nvPr/>
        </p:nvSpPr>
        <p:spPr>
          <a:xfrm>
            <a:off x="7115257" y="4750314"/>
            <a:ext cx="126997" cy="126997"/>
          </a:xfrm>
          <a:prstGeom prst="ellipse">
            <a:avLst/>
          </a:prstGeom>
          <a:solidFill>
            <a:srgbClr val="FFFFFF"/>
          </a:solidFill>
          <a:ln w="15875">
            <a:solidFill>
              <a:srgbClr val="1A1A16"/>
            </a:solidFill>
            <a:prstDash val="solid"/>
          </a:ln>
        </p:spPr>
      </p:sp>
      <p:sp>
        <p:nvSpPr>
          <p:cNvPr id="96" name="Shape 94"/>
          <p:cNvSpPr/>
          <p:nvPr/>
        </p:nvSpPr>
        <p:spPr>
          <a:xfrm>
            <a:off x="10162099" y="2857126"/>
            <a:ext cx="126997" cy="126997"/>
          </a:xfrm>
          <a:prstGeom prst="ellipse">
            <a:avLst/>
          </a:prstGeom>
          <a:solidFill>
            <a:srgbClr val="FFFFFF"/>
          </a:solidFill>
          <a:ln w="15875">
            <a:solidFill>
              <a:srgbClr val="1A1A16"/>
            </a:solidFill>
            <a:prstDash val="solid"/>
          </a:ln>
        </p:spPr>
      </p:sp>
      <p:sp>
        <p:nvSpPr>
          <p:cNvPr id="97" name="Shape 95"/>
          <p:cNvSpPr/>
          <p:nvPr/>
        </p:nvSpPr>
        <p:spPr>
          <a:xfrm>
            <a:off x="9634238" y="3265255"/>
            <a:ext cx="126997" cy="126997"/>
          </a:xfrm>
          <a:prstGeom prst="ellipse">
            <a:avLst/>
          </a:prstGeom>
          <a:solidFill>
            <a:srgbClr val="FFFFFF"/>
          </a:solidFill>
          <a:ln w="15875">
            <a:solidFill>
              <a:srgbClr val="1A1A16"/>
            </a:solidFill>
            <a:prstDash val="solid"/>
          </a:ln>
        </p:spPr>
      </p:sp>
      <p:sp>
        <p:nvSpPr>
          <p:cNvPr id="98" name="Shape 96"/>
          <p:cNvSpPr/>
          <p:nvPr/>
        </p:nvSpPr>
        <p:spPr>
          <a:xfrm>
            <a:off x="9946506" y="4032742"/>
            <a:ext cx="126997" cy="126997"/>
          </a:xfrm>
          <a:prstGeom prst="ellipse">
            <a:avLst/>
          </a:prstGeom>
          <a:solidFill>
            <a:srgbClr val="FFFFFF"/>
          </a:solidFill>
          <a:ln w="15875">
            <a:solidFill>
              <a:srgbClr val="1A1A16"/>
            </a:solidFill>
            <a:prstDash val="solid"/>
          </a:ln>
        </p:spPr>
      </p:sp>
      <p:sp>
        <p:nvSpPr>
          <p:cNvPr id="99" name="Shape 97"/>
          <p:cNvSpPr/>
          <p:nvPr/>
        </p:nvSpPr>
        <p:spPr>
          <a:xfrm>
            <a:off x="10248589" y="3384967"/>
            <a:ext cx="126997" cy="126997"/>
          </a:xfrm>
          <a:prstGeom prst="ellipse">
            <a:avLst/>
          </a:prstGeom>
          <a:solidFill>
            <a:srgbClr val="FFFFFF"/>
          </a:solidFill>
          <a:ln w="15875">
            <a:solidFill>
              <a:srgbClr val="1A1A16"/>
            </a:solidFill>
            <a:prstDash val="solid"/>
          </a:ln>
        </p:spPr>
      </p:sp>
      <p:sp>
        <p:nvSpPr>
          <p:cNvPr id="100" name="Shape 98"/>
          <p:cNvSpPr/>
          <p:nvPr/>
        </p:nvSpPr>
        <p:spPr>
          <a:xfrm>
            <a:off x="10823614" y="3601763"/>
            <a:ext cx="126997" cy="126997"/>
          </a:xfrm>
          <a:prstGeom prst="ellipse">
            <a:avLst/>
          </a:prstGeom>
          <a:solidFill>
            <a:srgbClr val="FFFFFF"/>
          </a:solidFill>
          <a:ln w="15875">
            <a:solidFill>
              <a:srgbClr val="1A1A16"/>
            </a:solidFill>
            <a:prstDash val="solid"/>
          </a:ln>
        </p:spPr>
      </p:sp>
      <p:sp>
        <p:nvSpPr>
          <p:cNvPr id="101" name="Shape 99"/>
          <p:cNvSpPr/>
          <p:nvPr/>
        </p:nvSpPr>
        <p:spPr>
          <a:xfrm>
            <a:off x="9581677" y="3607782"/>
            <a:ext cx="126997" cy="126997"/>
          </a:xfrm>
          <a:prstGeom prst="ellipse">
            <a:avLst/>
          </a:prstGeom>
          <a:solidFill>
            <a:srgbClr val="FFFFFF"/>
          </a:solidFill>
          <a:ln w="15875">
            <a:solidFill>
              <a:srgbClr val="1A1A16"/>
            </a:solidFill>
            <a:prstDash val="solid"/>
          </a:ln>
        </p:spPr>
      </p:sp>
      <p:sp>
        <p:nvSpPr>
          <p:cNvPr id="102" name="Shape 100"/>
          <p:cNvSpPr/>
          <p:nvPr/>
        </p:nvSpPr>
        <p:spPr>
          <a:xfrm>
            <a:off x="10641667" y="3137246"/>
            <a:ext cx="126997" cy="126997"/>
          </a:xfrm>
          <a:prstGeom prst="ellipse">
            <a:avLst/>
          </a:prstGeom>
          <a:solidFill>
            <a:srgbClr val="FFFFFF"/>
          </a:solidFill>
          <a:ln w="15875">
            <a:solidFill>
              <a:srgbClr val="1A1A16"/>
            </a:solidFill>
            <a:prstDash val="solid"/>
          </a:ln>
        </p:spPr>
      </p:sp>
      <p:sp>
        <p:nvSpPr>
          <p:cNvPr id="103" name="Shape 101"/>
          <p:cNvSpPr/>
          <p:nvPr/>
        </p:nvSpPr>
        <p:spPr>
          <a:xfrm>
            <a:off x="11159159" y="3763004"/>
            <a:ext cx="126997" cy="126997"/>
          </a:xfrm>
          <a:prstGeom prst="ellipse">
            <a:avLst/>
          </a:prstGeom>
          <a:solidFill>
            <a:srgbClr val="FFFFFF"/>
          </a:solidFill>
          <a:ln w="15875">
            <a:solidFill>
              <a:srgbClr val="1A1A16"/>
            </a:solidFill>
            <a:prstDash val="solid"/>
          </a:ln>
        </p:spPr>
      </p:sp>
      <p:sp>
        <p:nvSpPr>
          <p:cNvPr id="104" name="Shape 102"/>
          <p:cNvSpPr/>
          <p:nvPr/>
        </p:nvSpPr>
        <p:spPr>
          <a:xfrm>
            <a:off x="10445634" y="3977467"/>
            <a:ext cx="126997" cy="126997"/>
          </a:xfrm>
          <a:prstGeom prst="ellipse">
            <a:avLst/>
          </a:prstGeom>
          <a:solidFill>
            <a:srgbClr val="FFFFFF"/>
          </a:solidFill>
          <a:ln w="15875">
            <a:solidFill>
              <a:srgbClr val="1A1A16"/>
            </a:solidFill>
            <a:prstDash val="solid"/>
          </a:ln>
        </p:spPr>
      </p:sp>
      <p:sp>
        <p:nvSpPr>
          <p:cNvPr id="105" name="Shape 103"/>
          <p:cNvSpPr/>
          <p:nvPr/>
        </p:nvSpPr>
        <p:spPr>
          <a:xfrm>
            <a:off x="10827025" y="2354435"/>
            <a:ext cx="126997" cy="126997"/>
          </a:xfrm>
          <a:prstGeom prst="ellipse">
            <a:avLst/>
          </a:prstGeom>
          <a:solidFill>
            <a:srgbClr val="FFFFFF"/>
          </a:solidFill>
          <a:ln w="15875">
            <a:solidFill>
              <a:srgbClr val="1A1A16"/>
            </a:solidFill>
            <a:prstDash val="solid"/>
          </a:ln>
        </p:spPr>
      </p:sp>
      <p:sp>
        <p:nvSpPr>
          <p:cNvPr id="106" name="Shape 104"/>
          <p:cNvSpPr/>
          <p:nvPr/>
        </p:nvSpPr>
        <p:spPr>
          <a:xfrm>
            <a:off x="10636602" y="2782336"/>
            <a:ext cx="126997" cy="126997"/>
          </a:xfrm>
          <a:prstGeom prst="ellipse">
            <a:avLst/>
          </a:prstGeom>
          <a:solidFill>
            <a:srgbClr val="FFFFFF"/>
          </a:solidFill>
          <a:ln w="15875">
            <a:solidFill>
              <a:srgbClr val="1A1A16"/>
            </a:solidFill>
            <a:prstDash val="solid"/>
          </a:ln>
        </p:spPr>
      </p:sp>
      <p:sp>
        <p:nvSpPr>
          <p:cNvPr id="107" name="Shape 105"/>
          <p:cNvSpPr/>
          <p:nvPr/>
        </p:nvSpPr>
        <p:spPr>
          <a:xfrm>
            <a:off x="9835776" y="2423304"/>
            <a:ext cx="126997" cy="126997"/>
          </a:xfrm>
          <a:prstGeom prst="ellipse">
            <a:avLst/>
          </a:prstGeom>
          <a:solidFill>
            <a:srgbClr val="FFFFFF"/>
          </a:solidFill>
          <a:ln w="15875">
            <a:solidFill>
              <a:srgbClr val="1A1A16"/>
            </a:solidFill>
            <a:prstDash val="solid"/>
          </a:ln>
        </p:spPr>
      </p:sp>
      <p:sp>
        <p:nvSpPr>
          <p:cNvPr id="108" name="Text 106"/>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9" name="Shape 107"/>
          <p:cNvSpPr/>
          <p:nvPr/>
        </p:nvSpPr>
        <p:spPr>
          <a:xfrm>
            <a:off x="3381791" y="2342439"/>
            <a:ext cx="1126597" cy="197497"/>
          </a:xfrm>
          <a:prstGeom prst="line">
            <a:avLst/>
          </a:prstGeom>
          <a:noFill/>
          <a:ln w="13970">
            <a:solidFill>
              <a:srgbClr val="71716F"/>
            </a:solidFill>
            <a:prstDash val="solid"/>
          </a:ln>
        </p:spPr>
      </p:sp>
      <p:sp>
        <p:nvSpPr>
          <p:cNvPr id="110" name="Shape 108"/>
          <p:cNvSpPr/>
          <p:nvPr/>
        </p:nvSpPr>
        <p:spPr>
          <a:xfrm>
            <a:off x="3290052" y="2898292"/>
            <a:ext cx="1218335" cy="-358356"/>
          </a:xfrm>
          <a:prstGeom prst="line">
            <a:avLst/>
          </a:prstGeom>
          <a:noFill/>
          <a:ln w="13970">
            <a:solidFill>
              <a:srgbClr val="71716F"/>
            </a:solidFill>
            <a:prstDash val="solid"/>
          </a:ln>
        </p:spPr>
      </p:sp>
      <p:sp>
        <p:nvSpPr>
          <p:cNvPr id="111" name="Shape 109"/>
          <p:cNvSpPr/>
          <p:nvPr/>
        </p:nvSpPr>
        <p:spPr>
          <a:xfrm>
            <a:off x="5589702" y="2452504"/>
            <a:ext cx="-1081315" cy="87432"/>
          </a:xfrm>
          <a:prstGeom prst="line">
            <a:avLst/>
          </a:prstGeom>
          <a:noFill/>
          <a:ln w="13970">
            <a:solidFill>
              <a:srgbClr val="71716F"/>
            </a:solidFill>
            <a:prstDash val="solid"/>
          </a:ln>
        </p:spPr>
      </p:sp>
      <p:sp>
        <p:nvSpPr>
          <p:cNvPr id="112" name="Shape 110"/>
          <p:cNvSpPr/>
          <p:nvPr/>
        </p:nvSpPr>
        <p:spPr>
          <a:xfrm>
            <a:off x="5727011" y="2025686"/>
            <a:ext cx="-1218624" cy="514251"/>
          </a:xfrm>
          <a:prstGeom prst="line">
            <a:avLst/>
          </a:prstGeom>
          <a:noFill/>
          <a:ln w="13970">
            <a:solidFill>
              <a:srgbClr val="71716F"/>
            </a:solidFill>
            <a:prstDash val="solid"/>
          </a:ln>
        </p:spPr>
      </p:sp>
      <p:sp>
        <p:nvSpPr>
          <p:cNvPr id="113" name="Shape 111"/>
          <p:cNvSpPr/>
          <p:nvPr/>
        </p:nvSpPr>
        <p:spPr>
          <a:xfrm>
            <a:off x="4317892" y="2349441"/>
            <a:ext cx="380990" cy="380990"/>
          </a:xfrm>
          <a:prstGeom prst="ellipse">
            <a:avLst/>
          </a:prstGeom>
          <a:solidFill>
            <a:srgbClr val="FFFFFF"/>
          </a:solidFill>
          <a:ln w="10160">
            <a:solidFill>
              <a:srgbClr val="BABAB9"/>
            </a:solidFill>
            <a:prstDash val="solid"/>
          </a:ln>
        </p:spPr>
      </p:sp>
      <p:sp>
        <p:nvSpPr>
          <p:cNvPr id="114" name="Shape 112"/>
          <p:cNvSpPr/>
          <p:nvPr/>
        </p:nvSpPr>
        <p:spPr>
          <a:xfrm>
            <a:off x="4394090" y="2425639"/>
            <a:ext cx="228594" cy="228594"/>
          </a:xfrm>
          <a:prstGeom prst="ellipse">
            <a:avLst/>
          </a:prstGeom>
          <a:solidFill>
            <a:srgbClr val="FFFFFF"/>
          </a:solidFill>
          <a:ln w="25399">
            <a:solidFill>
              <a:srgbClr val="1A1A16"/>
            </a:solidFill>
            <a:prstDash val="solid"/>
          </a:ln>
        </p:spPr>
      </p:sp>
      <p:sp>
        <p:nvSpPr>
          <p:cNvPr id="115" name="Shape 113"/>
          <p:cNvSpPr/>
          <p:nvPr/>
        </p:nvSpPr>
        <p:spPr>
          <a:xfrm>
            <a:off x="3766047" y="4184138"/>
            <a:ext cx="869337" cy="654441"/>
          </a:xfrm>
          <a:prstGeom prst="line">
            <a:avLst/>
          </a:prstGeom>
          <a:noFill/>
          <a:ln w="13970">
            <a:solidFill>
              <a:srgbClr val="71716F"/>
            </a:solidFill>
            <a:prstDash val="solid"/>
          </a:ln>
        </p:spPr>
      </p:sp>
      <p:sp>
        <p:nvSpPr>
          <p:cNvPr id="116" name="Shape 114"/>
          <p:cNvSpPr/>
          <p:nvPr/>
        </p:nvSpPr>
        <p:spPr>
          <a:xfrm>
            <a:off x="2639495" y="4063023"/>
            <a:ext cx="1995889" cy="775556"/>
          </a:xfrm>
          <a:prstGeom prst="line">
            <a:avLst/>
          </a:prstGeom>
          <a:noFill/>
          <a:ln w="13970">
            <a:solidFill>
              <a:srgbClr val="71716F"/>
            </a:solidFill>
            <a:prstDash val="solid"/>
          </a:ln>
        </p:spPr>
      </p:sp>
      <p:sp>
        <p:nvSpPr>
          <p:cNvPr id="117" name="Shape 115"/>
          <p:cNvSpPr/>
          <p:nvPr/>
        </p:nvSpPr>
        <p:spPr>
          <a:xfrm>
            <a:off x="5851051" y="4472956"/>
            <a:ext cx="-1215666" cy="365623"/>
          </a:xfrm>
          <a:prstGeom prst="line">
            <a:avLst/>
          </a:prstGeom>
          <a:noFill/>
          <a:ln w="13970">
            <a:solidFill>
              <a:srgbClr val="71716F"/>
            </a:solidFill>
            <a:prstDash val="solid"/>
          </a:ln>
        </p:spPr>
      </p:sp>
      <p:sp>
        <p:nvSpPr>
          <p:cNvPr id="118" name="Shape 116"/>
          <p:cNvSpPr/>
          <p:nvPr/>
        </p:nvSpPr>
        <p:spPr>
          <a:xfrm>
            <a:off x="4635384" y="4838579"/>
            <a:ext cx="1303054" cy="313716"/>
          </a:xfrm>
          <a:prstGeom prst="line">
            <a:avLst/>
          </a:prstGeom>
          <a:noFill/>
          <a:ln w="13970">
            <a:solidFill>
              <a:srgbClr val="71716F"/>
            </a:solidFill>
            <a:prstDash val="solid"/>
          </a:ln>
        </p:spPr>
      </p:sp>
      <p:sp>
        <p:nvSpPr>
          <p:cNvPr id="119" name="Shape 117"/>
          <p:cNvSpPr/>
          <p:nvPr/>
        </p:nvSpPr>
        <p:spPr>
          <a:xfrm>
            <a:off x="4444889" y="4648084"/>
            <a:ext cx="380990" cy="380990"/>
          </a:xfrm>
          <a:prstGeom prst="ellipse">
            <a:avLst/>
          </a:prstGeom>
          <a:solidFill>
            <a:srgbClr val="FFFFFF"/>
          </a:solidFill>
          <a:ln w="10160">
            <a:solidFill>
              <a:srgbClr val="BABAB9"/>
            </a:solidFill>
            <a:prstDash val="solid"/>
          </a:ln>
        </p:spPr>
      </p:sp>
      <p:sp>
        <p:nvSpPr>
          <p:cNvPr id="120" name="Shape 118"/>
          <p:cNvSpPr/>
          <p:nvPr/>
        </p:nvSpPr>
        <p:spPr>
          <a:xfrm>
            <a:off x="4521087" y="4724282"/>
            <a:ext cx="228594" cy="228594"/>
          </a:xfrm>
          <a:prstGeom prst="ellipse">
            <a:avLst/>
          </a:prstGeom>
          <a:solidFill>
            <a:srgbClr val="FFFFFF"/>
          </a:solidFill>
          <a:ln w="25399">
            <a:solidFill>
              <a:srgbClr val="1A1A16"/>
            </a:solidFill>
            <a:prstDash val="solid"/>
          </a:ln>
        </p:spPr>
      </p:sp>
      <p:sp>
        <p:nvSpPr>
          <p:cNvPr id="121" name="Shape 119"/>
          <p:cNvSpPr/>
          <p:nvPr/>
        </p:nvSpPr>
        <p:spPr>
          <a:xfrm>
            <a:off x="7363446" y="2329139"/>
            <a:ext cx="954846" cy="147300"/>
          </a:xfrm>
          <a:prstGeom prst="line">
            <a:avLst/>
          </a:prstGeom>
          <a:noFill/>
          <a:ln w="13970">
            <a:solidFill>
              <a:srgbClr val="71716F"/>
            </a:solidFill>
            <a:prstDash val="solid"/>
          </a:ln>
        </p:spPr>
      </p:sp>
      <p:sp>
        <p:nvSpPr>
          <p:cNvPr id="122" name="Shape 120"/>
          <p:cNvSpPr/>
          <p:nvPr/>
        </p:nvSpPr>
        <p:spPr>
          <a:xfrm>
            <a:off x="7076451" y="1877942"/>
            <a:ext cx="1241841" cy="598496"/>
          </a:xfrm>
          <a:prstGeom prst="line">
            <a:avLst/>
          </a:prstGeom>
          <a:noFill/>
          <a:ln w="13970">
            <a:solidFill>
              <a:srgbClr val="71716F"/>
            </a:solidFill>
            <a:prstDash val="solid"/>
          </a:ln>
        </p:spPr>
      </p:sp>
      <p:sp>
        <p:nvSpPr>
          <p:cNvPr id="123" name="Shape 121"/>
          <p:cNvSpPr/>
          <p:nvPr/>
        </p:nvSpPr>
        <p:spPr>
          <a:xfrm>
            <a:off x="8318292" y="2476438"/>
            <a:ext cx="1580983" cy="10364"/>
          </a:xfrm>
          <a:prstGeom prst="line">
            <a:avLst/>
          </a:prstGeom>
          <a:noFill/>
          <a:ln w="13970">
            <a:solidFill>
              <a:srgbClr val="71716F"/>
            </a:solidFill>
            <a:prstDash val="solid"/>
          </a:ln>
        </p:spPr>
      </p:sp>
      <p:sp>
        <p:nvSpPr>
          <p:cNvPr id="124" name="Shape 122"/>
          <p:cNvSpPr/>
          <p:nvPr/>
        </p:nvSpPr>
        <p:spPr>
          <a:xfrm>
            <a:off x="8318292" y="2476438"/>
            <a:ext cx="1379445" cy="852316"/>
          </a:xfrm>
          <a:prstGeom prst="line">
            <a:avLst/>
          </a:prstGeom>
          <a:noFill/>
          <a:ln w="13970">
            <a:solidFill>
              <a:srgbClr val="71716F"/>
            </a:solidFill>
            <a:prstDash val="solid"/>
          </a:ln>
        </p:spPr>
      </p:sp>
      <p:sp>
        <p:nvSpPr>
          <p:cNvPr id="125" name="Shape 123"/>
          <p:cNvSpPr/>
          <p:nvPr/>
        </p:nvSpPr>
        <p:spPr>
          <a:xfrm>
            <a:off x="8127797" y="2285943"/>
            <a:ext cx="380990" cy="380990"/>
          </a:xfrm>
          <a:prstGeom prst="ellipse">
            <a:avLst/>
          </a:prstGeom>
          <a:solidFill>
            <a:srgbClr val="FFFFFF"/>
          </a:solidFill>
          <a:ln w="10160">
            <a:solidFill>
              <a:srgbClr val="BABAB9"/>
            </a:solidFill>
            <a:prstDash val="solid"/>
          </a:ln>
        </p:spPr>
      </p:sp>
      <p:sp>
        <p:nvSpPr>
          <p:cNvPr id="126" name="Shape 124"/>
          <p:cNvSpPr/>
          <p:nvPr/>
        </p:nvSpPr>
        <p:spPr>
          <a:xfrm>
            <a:off x="8203995" y="2362141"/>
            <a:ext cx="228594" cy="228594"/>
          </a:xfrm>
          <a:prstGeom prst="ellipse">
            <a:avLst/>
          </a:prstGeom>
          <a:solidFill>
            <a:srgbClr val="FFFFFF"/>
          </a:solidFill>
          <a:ln w="25399">
            <a:solidFill>
              <a:srgbClr val="1A1A16"/>
            </a:solidFill>
            <a:prstDash val="solid"/>
          </a:ln>
        </p:spPr>
      </p:sp>
      <p:sp>
        <p:nvSpPr>
          <p:cNvPr id="127" name="Shape 125"/>
          <p:cNvSpPr/>
          <p:nvPr/>
        </p:nvSpPr>
        <p:spPr>
          <a:xfrm>
            <a:off x="7511316" y="4528358"/>
            <a:ext cx="997471" cy="-337463"/>
          </a:xfrm>
          <a:prstGeom prst="line">
            <a:avLst/>
          </a:prstGeom>
          <a:noFill/>
          <a:ln w="13970">
            <a:solidFill>
              <a:srgbClr val="71716F"/>
            </a:solidFill>
            <a:prstDash val="solid"/>
          </a:ln>
        </p:spPr>
      </p:sp>
      <p:sp>
        <p:nvSpPr>
          <p:cNvPr id="128" name="Shape 126"/>
          <p:cNvSpPr/>
          <p:nvPr/>
        </p:nvSpPr>
        <p:spPr>
          <a:xfrm>
            <a:off x="7452041" y="5035624"/>
            <a:ext cx="1056746" cy="-844729"/>
          </a:xfrm>
          <a:prstGeom prst="line">
            <a:avLst/>
          </a:prstGeom>
          <a:noFill/>
          <a:ln w="13970">
            <a:solidFill>
              <a:srgbClr val="71716F"/>
            </a:solidFill>
            <a:prstDash val="solid"/>
          </a:ln>
        </p:spPr>
      </p:sp>
      <p:sp>
        <p:nvSpPr>
          <p:cNvPr id="129" name="Shape 127"/>
          <p:cNvSpPr/>
          <p:nvPr/>
        </p:nvSpPr>
        <p:spPr>
          <a:xfrm>
            <a:off x="9645175" y="3671281"/>
            <a:ext cx="-1136388" cy="519614"/>
          </a:xfrm>
          <a:prstGeom prst="line">
            <a:avLst/>
          </a:prstGeom>
          <a:noFill/>
          <a:ln w="13970">
            <a:solidFill>
              <a:srgbClr val="71716F"/>
            </a:solidFill>
            <a:prstDash val="solid"/>
          </a:ln>
        </p:spPr>
      </p:sp>
      <p:sp>
        <p:nvSpPr>
          <p:cNvPr id="130" name="Shape 128"/>
          <p:cNvSpPr/>
          <p:nvPr/>
        </p:nvSpPr>
        <p:spPr>
          <a:xfrm>
            <a:off x="9697737" y="3328754"/>
            <a:ext cx="-1188950" cy="862142"/>
          </a:xfrm>
          <a:prstGeom prst="line">
            <a:avLst/>
          </a:prstGeom>
          <a:noFill/>
          <a:ln w="13970">
            <a:solidFill>
              <a:srgbClr val="71716F"/>
            </a:solidFill>
            <a:prstDash val="solid"/>
          </a:ln>
        </p:spPr>
      </p:sp>
      <p:sp>
        <p:nvSpPr>
          <p:cNvPr id="131" name="Shape 129"/>
          <p:cNvSpPr/>
          <p:nvPr/>
        </p:nvSpPr>
        <p:spPr>
          <a:xfrm>
            <a:off x="8318292" y="4000400"/>
            <a:ext cx="380990" cy="380990"/>
          </a:xfrm>
          <a:prstGeom prst="ellipse">
            <a:avLst/>
          </a:prstGeom>
          <a:solidFill>
            <a:srgbClr val="FFFFFF"/>
          </a:solidFill>
          <a:ln w="10160">
            <a:solidFill>
              <a:srgbClr val="BABAB9"/>
            </a:solidFill>
            <a:prstDash val="solid"/>
          </a:ln>
        </p:spPr>
      </p:sp>
      <p:sp>
        <p:nvSpPr>
          <p:cNvPr id="132" name="Shape 130"/>
          <p:cNvSpPr/>
          <p:nvPr/>
        </p:nvSpPr>
        <p:spPr>
          <a:xfrm>
            <a:off x="8394490" y="4076598"/>
            <a:ext cx="228594" cy="228594"/>
          </a:xfrm>
          <a:prstGeom prst="ellipse">
            <a:avLst/>
          </a:prstGeom>
          <a:solidFill>
            <a:srgbClr val="FFFFFF"/>
          </a:solidFill>
          <a:ln w="25399">
            <a:solidFill>
              <a:srgbClr val="1A1A16"/>
            </a:solidFill>
            <a:prstDash val="solid"/>
          </a:ln>
        </p:spPr>
      </p:sp>
      <p:sp>
        <p:nvSpPr>
          <p:cNvPr id="133" name="Shape 131"/>
          <p:cNvSpPr/>
          <p:nvPr/>
        </p:nvSpPr>
        <p:spPr>
          <a:xfrm>
            <a:off x="1015975" y="4952876"/>
            <a:ext cx="330192" cy="330192"/>
          </a:xfrm>
          <a:prstGeom prst="ellipse">
            <a:avLst/>
          </a:prstGeom>
          <a:solidFill>
            <a:srgbClr val="FFFFFF"/>
          </a:solidFill>
          <a:ln w="10160">
            <a:solidFill>
              <a:srgbClr val="BABAB9"/>
            </a:solidFill>
            <a:prstDash val="solid"/>
          </a:ln>
        </p:spPr>
      </p:sp>
      <p:sp>
        <p:nvSpPr>
          <p:cNvPr id="134" name="Shape 132"/>
          <p:cNvSpPr/>
          <p:nvPr/>
        </p:nvSpPr>
        <p:spPr>
          <a:xfrm>
            <a:off x="1085823" y="5022724"/>
            <a:ext cx="190495" cy="190495"/>
          </a:xfrm>
          <a:prstGeom prst="ellipse">
            <a:avLst/>
          </a:prstGeom>
          <a:solidFill>
            <a:srgbClr val="FFFFFF"/>
          </a:solidFill>
          <a:ln w="21589">
            <a:solidFill>
              <a:srgbClr val="1A1A16"/>
            </a:solidFill>
            <a:prstDash val="solid"/>
          </a:ln>
        </p:spPr>
      </p:sp>
      <p:sp>
        <p:nvSpPr>
          <p:cNvPr id="135" name="Text 133"/>
          <p:cNvSpPr txBox="1"/>
          <p:nvPr/>
        </p:nvSpPr>
        <p:spPr>
          <a:xfrm>
            <a:off x="1523962" y="4965576"/>
            <a:ext cx="349241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a claim both papers lean on</a:t>
            </a:r>
            <a:endParaRPr lang="en-US" sz="1300" dirty="0"/>
          </a:p>
        </p:txBody>
      </p:sp>
      <p:sp>
        <p:nvSpPr>
          <p:cNvPr id="136" name="Text 134"/>
          <p:cNvSpPr txBox="1"/>
          <p:nvPr/>
        </p:nvSpPr>
        <p:spPr>
          <a:xfrm>
            <a:off x="1523962" y="5283068"/>
            <a:ext cx="349241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one node, not two — check it once and</a:t>
            </a:r>
            <a:endParaRPr lang="en-US" sz="1050" dirty="0"/>
          </a:p>
        </p:txBody>
      </p:sp>
      <p:sp>
        <p:nvSpPr>
          <p:cNvPr id="137" name="Text 135"/>
          <p:cNvSpPr txBox="1"/>
          <p:nvPr/>
        </p:nvSpPr>
        <p:spPr>
          <a:xfrm>
            <a:off x="1523962" y="5486263"/>
            <a:ext cx="349241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everything above it inherits the check</a:t>
            </a:r>
            <a:endParaRPr lang="en-US" sz="1050" dirty="0"/>
          </a:p>
        </p:txBody>
      </p:sp>
      <p:sp>
        <p:nvSpPr>
          <p:cNvPr id="138" name="Text 136"/>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one</a:t>
            </a:r>
            <a:endParaRPr lang="en-US" sz="1500" dirty="0"/>
          </a:p>
        </p:txBody>
      </p:sp>
      <p:sp>
        <p:nvSpPr>
          <p:cNvPr id="139" name="Text 137"/>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Papers stop being separate piles</a:t>
            </a:r>
            <a:endParaRPr lang="en-US" sz="1500" dirty="0"/>
          </a:p>
        </p:txBody>
      </p:sp>
      <p:sp>
        <p:nvSpPr>
          <p:cNvPr id="140" name="Text 138"/>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because they land on the same claims</a:t>
            </a:r>
            <a:endParaRPr lang="en-US" sz="1000" dirty="0"/>
          </a:p>
        </p:txBody>
      </p:sp>
      <p:sp>
        <p:nvSpPr>
          <p:cNvPr id="141" name="Text 13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57</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sp>
      <p:sp>
        <p:nvSpPr>
          <p:cNvPr id="48" name="Shape 46"/>
          <p:cNvSpPr/>
          <p:nvPr/>
        </p:nvSpPr>
        <p:spPr>
          <a:xfrm>
            <a:off x="5457625" y="3690552"/>
            <a:ext cx="109725" cy="109725"/>
          </a:xfrm>
          <a:prstGeom prst="ellipse">
            <a:avLst/>
          </a:prstGeom>
          <a:solidFill>
            <a:srgbClr val="FFFFFF"/>
          </a:solidFill>
          <a:ln w="16510">
            <a:solidFill>
              <a:srgbClr val="9A9A98"/>
            </a:solidFill>
            <a:prstDash val="solid"/>
          </a:ln>
        </p:spPr>
      </p:sp>
      <p:sp>
        <p:nvSpPr>
          <p:cNvPr id="49" name="Shape 47"/>
          <p:cNvSpPr/>
          <p:nvPr/>
        </p:nvSpPr>
        <p:spPr>
          <a:xfrm>
            <a:off x="2805328" y="4137382"/>
            <a:ext cx="109725" cy="109725"/>
          </a:xfrm>
          <a:prstGeom prst="ellipse">
            <a:avLst/>
          </a:prstGeom>
          <a:solidFill>
            <a:srgbClr val="FFFFFF"/>
          </a:solidFill>
          <a:ln w="16510">
            <a:solidFill>
              <a:srgbClr val="9A9A98"/>
            </a:solidFill>
            <a:prstDash val="solid"/>
          </a:ln>
        </p:spPr>
      </p:sp>
      <p:sp>
        <p:nvSpPr>
          <p:cNvPr id="50" name="Shape 48"/>
          <p:cNvSpPr/>
          <p:nvPr/>
        </p:nvSpPr>
        <p:spPr>
          <a:xfrm>
            <a:off x="5464038" y="3249849"/>
            <a:ext cx="97153" cy="97153"/>
          </a:xfrm>
          <a:prstGeom prst="rect">
            <a:avLst/>
          </a:prstGeom>
          <a:solidFill>
            <a:srgbClr val="FFFFFF"/>
          </a:solidFill>
          <a:ln w="16510">
            <a:solidFill>
              <a:srgbClr val="9A9A98"/>
            </a:solidFill>
            <a:prstDash val="solid"/>
          </a:ln>
        </p:spPr>
      </p:sp>
      <p:sp>
        <p:nvSpPr>
          <p:cNvPr id="51" name="Shape 49"/>
          <p:cNvSpPr/>
          <p:nvPr/>
        </p:nvSpPr>
        <p:spPr>
          <a:xfrm>
            <a:off x="5321802" y="1767161"/>
            <a:ext cx="381625" cy="381625"/>
          </a:xfrm>
          <a:prstGeom prst="diamond">
            <a:avLst/>
          </a:prstGeom>
          <a:solidFill>
            <a:srgbClr val="FFFFFF"/>
          </a:solidFill>
          <a:ln w="21589">
            <a:solidFill>
              <a:srgbClr val="1A1A16"/>
            </a:solidFill>
            <a:prstDash val="solid"/>
          </a:ln>
        </p:spPr>
      </p:sp>
      <p:sp>
        <p:nvSpPr>
          <p:cNvPr id="52" name="Shape 50"/>
          <p:cNvSpPr/>
          <p:nvPr/>
        </p:nvSpPr>
        <p:spPr>
          <a:xfrm>
            <a:off x="2382365" y="4129254"/>
            <a:ext cx="125981" cy="125981"/>
          </a:xfrm>
          <a:prstGeom prst="ellipse">
            <a:avLst/>
          </a:prstGeom>
          <a:solidFill>
            <a:srgbClr val="FFFFFF"/>
          </a:solidFill>
          <a:ln w="16510">
            <a:solidFill>
              <a:srgbClr val="8F8F8D"/>
            </a:solidFill>
            <a:prstDash val="solid"/>
          </a:ln>
        </p:spPr>
      </p:sp>
      <p:sp>
        <p:nvSpPr>
          <p:cNvPr id="53" name="Shape 51"/>
          <p:cNvSpPr/>
          <p:nvPr/>
        </p:nvSpPr>
        <p:spPr>
          <a:xfrm>
            <a:off x="2393255" y="5025264"/>
            <a:ext cx="104137" cy="121282"/>
          </a:xfrm>
          <a:prstGeom prst="hexagon">
            <a:avLst/>
          </a:prstGeom>
          <a:solidFill>
            <a:srgbClr val="FFFFFF"/>
          </a:solidFill>
          <a:ln w="16510">
            <a:solidFill>
              <a:srgbClr val="9A9A98"/>
            </a:solidFill>
            <a:prstDash val="solid"/>
          </a:ln>
        </p:spPr>
      </p:sp>
      <p:sp>
        <p:nvSpPr>
          <p:cNvPr id="54" name="Shape 52"/>
          <p:cNvSpPr/>
          <p:nvPr/>
        </p:nvSpPr>
        <p:spPr>
          <a:xfrm>
            <a:off x="455919" y="5025264"/>
            <a:ext cx="104137" cy="121282"/>
          </a:xfrm>
          <a:prstGeom prst="hexagon">
            <a:avLst/>
          </a:prstGeom>
          <a:solidFill>
            <a:srgbClr val="FFFFFF"/>
          </a:solidFill>
          <a:ln w="16510">
            <a:solidFill>
              <a:srgbClr val="9A9A98"/>
            </a:solidFill>
            <a:prstDash val="solid"/>
          </a:ln>
        </p:spPr>
      </p:sp>
      <p:sp>
        <p:nvSpPr>
          <p:cNvPr id="55" name="Shape 53"/>
          <p:cNvSpPr/>
          <p:nvPr/>
        </p:nvSpPr>
        <p:spPr>
          <a:xfrm>
            <a:off x="5256399" y="2802820"/>
            <a:ext cx="97153" cy="97788"/>
          </a:xfrm>
          <a:prstGeom prst="rect">
            <a:avLst/>
          </a:prstGeom>
          <a:solidFill>
            <a:srgbClr val="FFFFFF"/>
          </a:solidFill>
          <a:ln w="16510">
            <a:solidFill>
              <a:srgbClr val="9A9A98"/>
            </a:solidFill>
            <a:prstDash val="solid"/>
          </a:ln>
        </p:spPr>
      </p:sp>
      <p:sp>
        <p:nvSpPr>
          <p:cNvPr id="56" name="Shape 54"/>
          <p:cNvSpPr/>
          <p:nvPr/>
        </p:nvSpPr>
        <p:spPr>
          <a:xfrm>
            <a:off x="1071313" y="4580148"/>
            <a:ext cx="117853" cy="117853"/>
          </a:xfrm>
          <a:prstGeom prst="ellipse">
            <a:avLst/>
          </a:prstGeom>
          <a:solidFill>
            <a:srgbClr val="FFFFFF"/>
          </a:solidFill>
          <a:ln w="16510">
            <a:solidFill>
              <a:srgbClr val="949492"/>
            </a:solidFill>
            <a:prstDash val="solid"/>
          </a:ln>
        </p:spPr>
      </p:sp>
      <p:sp>
        <p:nvSpPr>
          <p:cNvPr id="57" name="Shape 55"/>
          <p:cNvSpPr/>
          <p:nvPr/>
        </p:nvSpPr>
        <p:spPr>
          <a:xfrm>
            <a:off x="7026734" y="5025264"/>
            <a:ext cx="104772" cy="121282"/>
          </a:xfrm>
          <a:prstGeom prst="hexagon">
            <a:avLst/>
          </a:prstGeom>
          <a:solidFill>
            <a:srgbClr val="FFFFFF"/>
          </a:solidFill>
          <a:ln w="16510">
            <a:solidFill>
              <a:srgbClr val="9A9A98"/>
            </a:solidFill>
            <a:prstDash val="solid"/>
          </a:ln>
        </p:spPr>
      </p:sp>
      <p:sp>
        <p:nvSpPr>
          <p:cNvPr id="58" name="Shape 56"/>
          <p:cNvSpPr/>
          <p:nvPr/>
        </p:nvSpPr>
        <p:spPr>
          <a:xfrm>
            <a:off x="3899438" y="2336107"/>
            <a:ext cx="137157" cy="137792"/>
          </a:xfrm>
          <a:prstGeom prst="diamond">
            <a:avLst/>
          </a:prstGeom>
          <a:solidFill>
            <a:srgbClr val="FFFFFF"/>
          </a:solidFill>
          <a:ln w="16510">
            <a:solidFill>
              <a:srgbClr val="9A9A98"/>
            </a:solidFill>
            <a:prstDash val="solid"/>
          </a:ln>
        </p:spPr>
      </p:sp>
      <p:sp>
        <p:nvSpPr>
          <p:cNvPr id="59" name="Shape 57"/>
          <p:cNvSpPr/>
          <p:nvPr/>
        </p:nvSpPr>
        <p:spPr>
          <a:xfrm>
            <a:off x="4120444" y="3690552"/>
            <a:ext cx="109725" cy="109725"/>
          </a:xfrm>
          <a:prstGeom prst="ellipse">
            <a:avLst/>
          </a:prstGeom>
          <a:solidFill>
            <a:srgbClr val="FFFFFF"/>
          </a:solidFill>
          <a:ln w="16510">
            <a:solidFill>
              <a:srgbClr val="9A9A98"/>
            </a:solidFill>
            <a:prstDash val="solid"/>
          </a:ln>
        </p:spPr>
      </p:sp>
      <p:sp>
        <p:nvSpPr>
          <p:cNvPr id="60" name="Shape 58"/>
          <p:cNvSpPr/>
          <p:nvPr/>
        </p:nvSpPr>
        <p:spPr>
          <a:xfrm>
            <a:off x="2390493" y="4584212"/>
            <a:ext cx="109725" cy="109725"/>
          </a:xfrm>
          <a:prstGeom prst="ellipse">
            <a:avLst/>
          </a:prstGeom>
          <a:solidFill>
            <a:srgbClr val="FFFFFF"/>
          </a:solidFill>
          <a:ln w="16510">
            <a:solidFill>
              <a:srgbClr val="9A9A98"/>
            </a:solidFill>
            <a:prstDash val="solid"/>
          </a:ln>
        </p:spPr>
      </p:sp>
      <p:sp>
        <p:nvSpPr>
          <p:cNvPr id="61" name="Shape 59"/>
          <p:cNvSpPr/>
          <p:nvPr/>
        </p:nvSpPr>
        <p:spPr>
          <a:xfrm>
            <a:off x="870563" y="5025264"/>
            <a:ext cx="104772" cy="121282"/>
          </a:xfrm>
          <a:prstGeom prst="hexagon">
            <a:avLst/>
          </a:prstGeom>
          <a:solidFill>
            <a:srgbClr val="FFFFFF"/>
          </a:solidFill>
          <a:ln w="16510">
            <a:solidFill>
              <a:srgbClr val="9A9A98"/>
            </a:solidFill>
            <a:prstDash val="solid"/>
          </a:ln>
        </p:spPr>
      </p:sp>
      <p:sp>
        <p:nvSpPr>
          <p:cNvPr id="62" name="Shape 60"/>
          <p:cNvSpPr/>
          <p:nvPr/>
        </p:nvSpPr>
        <p:spPr>
          <a:xfrm>
            <a:off x="3913026" y="3243721"/>
            <a:ext cx="109725" cy="109725"/>
          </a:xfrm>
          <a:prstGeom prst="ellipse">
            <a:avLst/>
          </a:prstGeom>
          <a:solidFill>
            <a:srgbClr val="FFFFFF"/>
          </a:solidFill>
          <a:ln w="16510">
            <a:solidFill>
              <a:srgbClr val="9A9A98"/>
            </a:solidFill>
            <a:prstDash val="solid"/>
          </a:ln>
        </p:spPr>
      </p:sp>
      <p:sp>
        <p:nvSpPr>
          <p:cNvPr id="63" name="Shape 61"/>
          <p:cNvSpPr/>
          <p:nvPr/>
        </p:nvSpPr>
        <p:spPr>
          <a:xfrm>
            <a:off x="2791390" y="3676558"/>
            <a:ext cx="137792" cy="137792"/>
          </a:xfrm>
          <a:prstGeom prst="diamond">
            <a:avLst/>
          </a:prstGeom>
          <a:solidFill>
            <a:srgbClr val="FFFFFF"/>
          </a:solidFill>
          <a:ln w="16510">
            <a:solidFill>
              <a:srgbClr val="9A9A98"/>
            </a:solidFill>
            <a:prstDash val="solid"/>
          </a:ln>
        </p:spPr>
      </p:sp>
      <p:sp>
        <p:nvSpPr>
          <p:cNvPr id="64" name="Shape 62"/>
          <p:cNvSpPr/>
          <p:nvPr/>
        </p:nvSpPr>
        <p:spPr>
          <a:xfrm>
            <a:off x="7024290" y="3690552"/>
            <a:ext cx="109725" cy="109725"/>
          </a:xfrm>
          <a:prstGeom prst="ellipse">
            <a:avLst/>
          </a:prstGeom>
          <a:solidFill>
            <a:srgbClr val="FFFFFF"/>
          </a:solidFill>
          <a:ln w="16510">
            <a:solidFill>
              <a:srgbClr val="9A9A98"/>
            </a:solidFill>
            <a:prstDash val="solid"/>
          </a:ln>
        </p:spPr>
      </p:sp>
      <p:sp>
        <p:nvSpPr>
          <p:cNvPr id="65" name="Shape 63"/>
          <p:cNvSpPr/>
          <p:nvPr/>
        </p:nvSpPr>
        <p:spPr>
          <a:xfrm>
            <a:off x="7026734" y="2799645"/>
            <a:ext cx="104772" cy="104137"/>
          </a:xfrm>
          <a:prstGeom prst="rect">
            <a:avLst/>
          </a:prstGeom>
          <a:solidFill>
            <a:srgbClr val="FFFFFF"/>
          </a:solidFill>
          <a:ln w="16510">
            <a:solidFill>
              <a:srgbClr val="949492"/>
            </a:solidFill>
            <a:prstDash val="solid"/>
          </a:ln>
        </p:spPr>
      </p:sp>
      <p:sp>
        <p:nvSpPr>
          <p:cNvPr id="66" name="Shape 64"/>
          <p:cNvSpPr/>
          <p:nvPr/>
        </p:nvSpPr>
        <p:spPr>
          <a:xfrm>
            <a:off x="5384030" y="2256099"/>
            <a:ext cx="257169" cy="222879"/>
          </a:xfrm>
          <a:prstGeom prst="triangle">
            <a:avLst/>
          </a:prstGeom>
          <a:solidFill>
            <a:srgbClr val="FFFFFF"/>
          </a:solidFill>
          <a:ln w="16510">
            <a:solidFill>
              <a:srgbClr val="646462"/>
            </a:solidFill>
            <a:prstDash val="solid"/>
          </a:ln>
        </p:spPr>
      </p:sp>
      <p:sp>
        <p:nvSpPr>
          <p:cNvPr id="67" name="Shape 65"/>
          <p:cNvSpPr/>
          <p:nvPr/>
        </p:nvSpPr>
        <p:spPr>
          <a:xfrm>
            <a:off x="2393255" y="3693068"/>
            <a:ext cx="104137" cy="104772"/>
          </a:xfrm>
          <a:prstGeom prst="rect">
            <a:avLst/>
          </a:prstGeom>
          <a:solidFill>
            <a:srgbClr val="FFFFFF"/>
          </a:solidFill>
          <a:ln w="16510">
            <a:solidFill>
              <a:srgbClr val="949492"/>
            </a:solidFill>
            <a:prstDash val="solid"/>
          </a:ln>
        </p:spPr>
      </p:sp>
      <p:sp>
        <p:nvSpPr>
          <p:cNvPr id="68" name="Shape 66"/>
          <p:cNvSpPr/>
          <p:nvPr/>
        </p:nvSpPr>
        <p:spPr>
          <a:xfrm>
            <a:off x="3904517" y="1447764"/>
            <a:ext cx="126997" cy="126997"/>
          </a:xfrm>
          <a:prstGeom prst="diamond">
            <a:avLst/>
          </a:prstGeom>
          <a:solidFill>
            <a:srgbClr val="FFFFFF"/>
          </a:solidFill>
          <a:ln w="16510">
            <a:solidFill>
              <a:srgbClr val="9F9F9D"/>
            </a:solidFill>
            <a:prstDash val="solid"/>
          </a:ln>
        </p:spPr>
      </p:sp>
      <p:sp>
        <p:nvSpPr>
          <p:cNvPr id="69" name="Shape 67"/>
          <p:cNvSpPr/>
          <p:nvPr/>
        </p:nvSpPr>
        <p:spPr>
          <a:xfrm>
            <a:off x="1981785" y="3696878"/>
            <a:ext cx="97153" cy="97153"/>
          </a:xfrm>
          <a:prstGeom prst="rect">
            <a:avLst/>
          </a:prstGeom>
          <a:solidFill>
            <a:srgbClr val="FFFFFF"/>
          </a:solidFill>
          <a:ln w="16510">
            <a:solidFill>
              <a:srgbClr val="9A9A98"/>
            </a:solidFill>
            <a:prstDash val="solid"/>
          </a:ln>
        </p:spPr>
      </p:sp>
      <p:sp>
        <p:nvSpPr>
          <p:cNvPr id="70" name="Shape 68"/>
          <p:cNvSpPr/>
          <p:nvPr/>
        </p:nvSpPr>
        <p:spPr>
          <a:xfrm>
            <a:off x="5613260" y="2728527"/>
            <a:ext cx="213355" cy="184780"/>
          </a:xfrm>
          <a:prstGeom prst="triangle">
            <a:avLst/>
          </a:prstGeom>
          <a:solidFill>
            <a:srgbClr val="FFFFFF"/>
          </a:solidFill>
          <a:ln w="16510">
            <a:solidFill>
              <a:srgbClr val="7A7A77"/>
            </a:solidFill>
            <a:prstDash val="solid"/>
          </a:ln>
        </p:spPr>
      </p:sp>
      <p:sp>
        <p:nvSpPr>
          <p:cNvPr id="71" name="Shape 69"/>
          <p:cNvSpPr/>
          <p:nvPr/>
        </p:nvSpPr>
        <p:spPr>
          <a:xfrm>
            <a:off x="3693417" y="3678360"/>
            <a:ext cx="134109" cy="134109"/>
          </a:xfrm>
          <a:prstGeom prst="ellipse">
            <a:avLst/>
          </a:prstGeom>
          <a:solidFill>
            <a:srgbClr val="FFFFFF"/>
          </a:solidFill>
          <a:ln w="16510">
            <a:solidFill>
              <a:srgbClr val="8A8A88"/>
            </a:solidFill>
            <a:prstDash val="solid"/>
          </a:ln>
        </p:spPr>
      </p:sp>
      <p:sp>
        <p:nvSpPr>
          <p:cNvPr id="72" name="Shape 70"/>
          <p:cNvSpPr/>
          <p:nvPr/>
        </p:nvSpPr>
        <p:spPr>
          <a:xfrm>
            <a:off x="3908327" y="2792025"/>
            <a:ext cx="118742" cy="119377"/>
          </a:xfrm>
          <a:prstGeom prst="rect">
            <a:avLst/>
          </a:prstGeom>
          <a:solidFill>
            <a:srgbClr val="FFFFFF"/>
          </a:solidFill>
          <a:ln w="16510">
            <a:solidFill>
              <a:srgbClr val="8A8A88"/>
            </a:solidFill>
            <a:prstDash val="solid"/>
          </a:ln>
        </p:spPr>
      </p:sp>
      <p:sp>
        <p:nvSpPr>
          <p:cNvPr id="73" name="Shape 71"/>
          <p:cNvSpPr/>
          <p:nvPr/>
        </p:nvSpPr>
        <p:spPr>
          <a:xfrm>
            <a:off x="1285208" y="5025264"/>
            <a:ext cx="104772" cy="121282"/>
          </a:xfrm>
          <a:prstGeom prst="hexagon">
            <a:avLst/>
          </a:prstGeom>
          <a:solidFill>
            <a:srgbClr val="FFFFFF"/>
          </a:solidFill>
          <a:ln w="16510">
            <a:solidFill>
              <a:srgbClr val="9A9A98"/>
            </a:solidFill>
            <a:prstDash val="solid"/>
          </a:ln>
        </p:spPr>
      </p:sp>
      <p:sp>
        <p:nvSpPr>
          <p:cNvPr id="74" name="Shape 72"/>
          <p:cNvSpPr/>
          <p:nvPr/>
        </p:nvSpPr>
        <p:spPr>
          <a:xfrm>
            <a:off x="1975658" y="4137382"/>
            <a:ext cx="109725" cy="109725"/>
          </a:xfrm>
          <a:prstGeom prst="ellipse">
            <a:avLst/>
          </a:prstGeom>
          <a:solidFill>
            <a:srgbClr val="FFFFFF"/>
          </a:solidFill>
          <a:ln w="16510">
            <a:solidFill>
              <a:srgbClr val="9A9A98"/>
            </a:solidFill>
            <a:prstDash val="solid"/>
          </a:ln>
        </p:spPr>
      </p:sp>
      <p:sp>
        <p:nvSpPr>
          <p:cNvPr id="75" name="Shape 73"/>
          <p:cNvSpPr/>
          <p:nvPr/>
        </p:nvSpPr>
        <p:spPr>
          <a:xfrm>
            <a:off x="5460228" y="5025264"/>
            <a:ext cx="104772" cy="121282"/>
          </a:xfrm>
          <a:prstGeom prst="hexagon">
            <a:avLst/>
          </a:prstGeom>
          <a:solidFill>
            <a:srgbClr val="FFFFFF"/>
          </a:solidFill>
          <a:ln w="16510">
            <a:solidFill>
              <a:srgbClr val="9A9A98"/>
            </a:solidFill>
            <a:prstDash val="solid"/>
          </a:ln>
        </p:spPr>
      </p:sp>
      <p:sp>
        <p:nvSpPr>
          <p:cNvPr id="76" name="Shape 74"/>
          <p:cNvSpPr/>
          <p:nvPr/>
        </p:nvSpPr>
        <p:spPr>
          <a:xfrm>
            <a:off x="656478" y="4580148"/>
            <a:ext cx="117853" cy="117853"/>
          </a:xfrm>
          <a:prstGeom prst="ellipse">
            <a:avLst/>
          </a:prstGeom>
          <a:solidFill>
            <a:srgbClr val="FFFFFF"/>
          </a:solidFill>
          <a:ln w="16510">
            <a:solidFill>
              <a:srgbClr val="949492"/>
            </a:solidFill>
            <a:prstDash val="solid"/>
          </a:ln>
        </p:spPr>
      </p:sp>
      <p:sp>
        <p:nvSpPr>
          <p:cNvPr id="77" name="Text 75"/>
          <p:cNvSpPr txBox="1"/>
          <p:nvPr/>
        </p:nvSpPr>
        <p:spPr>
          <a:xfrm>
            <a:off x="5855379" y="188189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graph program  —  25</a:t>
            </a:r>
            <a:endParaRPr lang="en-US" sz="1100" dirty="0"/>
          </a:p>
        </p:txBody>
      </p:sp>
      <p:sp>
        <p:nvSpPr>
          <p:cNvPr id="78" name="Text 76"/>
          <p:cNvSpPr txBox="1"/>
          <p:nvPr/>
        </p:nvSpPr>
        <p:spPr>
          <a:xfrm>
            <a:off x="5798485" y="232872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MWIS dual  —  11</a:t>
            </a:r>
            <a:endParaRPr lang="en-US" sz="1100" dirty="0"/>
          </a:p>
        </p:txBody>
      </p:sp>
      <p:sp>
        <p:nvSpPr>
          <p:cNvPr id="79" name="Text 77"/>
          <p:cNvSpPr txBox="1"/>
          <p:nvPr/>
        </p:nvSpPr>
        <p:spPr>
          <a:xfrm>
            <a:off x="5989647" y="277555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LP dual  —  7</a:t>
            </a:r>
            <a:endParaRPr lang="en-US" sz="1100" dirty="0"/>
          </a:p>
        </p:txBody>
      </p:sp>
      <p:sp>
        <p:nvSpPr>
          <p:cNvPr id="80" name="Text 78"/>
          <p:cNvSpPr txBox="1"/>
          <p:nvPr/>
        </p:nvSpPr>
        <p:spPr>
          <a:xfrm>
            <a:off x="4225438" y="2991450"/>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no active free signs  —  4</a:t>
            </a:r>
            <a:endParaRPr lang="en-US" sz="1100" dirty="0"/>
          </a:p>
        </p:txBody>
      </p:sp>
      <p:sp>
        <p:nvSpPr>
          <p:cNvPr id="81" name="Text 79"/>
          <p:cNvSpPr txBox="1"/>
          <p:nvPr/>
        </p:nvSpPr>
        <p:spPr>
          <a:xfrm>
            <a:off x="8191295" y="1498563"/>
            <a:ext cx="355591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claims lost if this one is removed</a:t>
            </a:r>
            <a:endParaRPr lang="en-US" sz="1100" dirty="0"/>
          </a:p>
        </p:txBody>
      </p:sp>
      <p:sp>
        <p:nvSpPr>
          <p:cNvPr id="82" name="Shape 80"/>
          <p:cNvSpPr/>
          <p:nvPr/>
        </p:nvSpPr>
        <p:spPr>
          <a:xfrm>
            <a:off x="8326928" y="1977087"/>
            <a:ext cx="109725" cy="109725"/>
          </a:xfrm>
          <a:prstGeom prst="ellipse">
            <a:avLst/>
          </a:prstGeom>
          <a:solidFill>
            <a:srgbClr val="FFFFFF"/>
          </a:solidFill>
          <a:ln w="12700">
            <a:solidFill>
              <a:srgbClr val="9A9A98"/>
            </a:solidFill>
            <a:prstDash val="solid"/>
          </a:ln>
        </p:spPr>
      </p:sp>
      <p:sp>
        <p:nvSpPr>
          <p:cNvPr id="83" name="Text 81"/>
          <p:cNvSpPr txBox="1"/>
          <p:nvPr/>
        </p:nvSpPr>
        <p:spPr>
          <a:xfrm>
            <a:off x="8191295"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a:t>
            </a:r>
            <a:endParaRPr lang="en-US" sz="1000" dirty="0"/>
          </a:p>
        </p:txBody>
      </p:sp>
      <p:sp>
        <p:nvSpPr>
          <p:cNvPr id="84" name="Shape 82"/>
          <p:cNvSpPr/>
          <p:nvPr/>
        </p:nvSpPr>
        <p:spPr>
          <a:xfrm>
            <a:off x="9021854" y="1960831"/>
            <a:ext cx="142236" cy="142236"/>
          </a:xfrm>
          <a:prstGeom prst="ellipse">
            <a:avLst/>
          </a:prstGeom>
          <a:solidFill>
            <a:srgbClr val="FFFFFF"/>
          </a:solidFill>
          <a:ln w="12700">
            <a:solidFill>
              <a:srgbClr val="848482"/>
            </a:solidFill>
            <a:prstDash val="solid"/>
          </a:ln>
        </p:spPr>
      </p:sp>
      <p:sp>
        <p:nvSpPr>
          <p:cNvPr id="85" name="Text 83"/>
          <p:cNvSpPr txBox="1"/>
          <p:nvPr/>
        </p:nvSpPr>
        <p:spPr>
          <a:xfrm>
            <a:off x="8902477"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5</a:t>
            </a:r>
            <a:endParaRPr lang="en-US" sz="1000" dirty="0"/>
          </a:p>
        </p:txBody>
      </p:sp>
      <p:sp>
        <p:nvSpPr>
          <p:cNvPr id="86" name="Shape 84"/>
          <p:cNvSpPr/>
          <p:nvPr/>
        </p:nvSpPr>
        <p:spPr>
          <a:xfrm>
            <a:off x="9712717" y="1940511"/>
            <a:ext cx="182875" cy="182875"/>
          </a:xfrm>
          <a:prstGeom prst="ellipse">
            <a:avLst/>
          </a:prstGeom>
          <a:solidFill>
            <a:srgbClr val="FFFFFF"/>
          </a:solidFill>
          <a:ln w="12700">
            <a:solidFill>
              <a:srgbClr val="6A6A67"/>
            </a:solidFill>
            <a:prstDash val="solid"/>
          </a:ln>
        </p:spPr>
      </p:sp>
      <p:sp>
        <p:nvSpPr>
          <p:cNvPr id="87" name="Text 85"/>
          <p:cNvSpPr txBox="1"/>
          <p:nvPr/>
        </p:nvSpPr>
        <p:spPr>
          <a:xfrm>
            <a:off x="9613660"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10</a:t>
            </a:r>
            <a:endParaRPr lang="en-US" sz="1000" dirty="0"/>
          </a:p>
        </p:txBody>
      </p:sp>
      <p:sp>
        <p:nvSpPr>
          <p:cNvPr id="88" name="Shape 86"/>
          <p:cNvSpPr/>
          <p:nvPr/>
        </p:nvSpPr>
        <p:spPr>
          <a:xfrm>
            <a:off x="10403580" y="1920192"/>
            <a:ext cx="223514" cy="223514"/>
          </a:xfrm>
          <a:prstGeom prst="ellipse">
            <a:avLst/>
          </a:prstGeom>
          <a:solidFill>
            <a:srgbClr val="FFFFFF"/>
          </a:solidFill>
          <a:ln w="12700">
            <a:solidFill>
              <a:srgbClr val="4F4F4C"/>
            </a:solidFill>
            <a:prstDash val="solid"/>
          </a:ln>
        </p:spPr>
      </p:sp>
      <p:sp>
        <p:nvSpPr>
          <p:cNvPr id="89" name="Text 87"/>
          <p:cNvSpPr txBox="1"/>
          <p:nvPr/>
        </p:nvSpPr>
        <p:spPr>
          <a:xfrm>
            <a:off x="10324842"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15</a:t>
            </a:r>
            <a:endParaRPr lang="en-US" sz="1000" dirty="0"/>
          </a:p>
        </p:txBody>
      </p:sp>
      <p:sp>
        <p:nvSpPr>
          <p:cNvPr id="90" name="Shape 88"/>
          <p:cNvSpPr/>
          <p:nvPr/>
        </p:nvSpPr>
        <p:spPr>
          <a:xfrm>
            <a:off x="11094443" y="1899873"/>
            <a:ext cx="264153" cy="264153"/>
          </a:xfrm>
          <a:prstGeom prst="ellipse">
            <a:avLst/>
          </a:prstGeom>
          <a:solidFill>
            <a:srgbClr val="FFFFFF"/>
          </a:solidFill>
          <a:ln w="12700">
            <a:solidFill>
              <a:srgbClr val="353531"/>
            </a:solidFill>
            <a:prstDash val="solid"/>
          </a:ln>
        </p:spPr>
      </p:sp>
      <p:sp>
        <p:nvSpPr>
          <p:cNvPr id="91" name="Text 89"/>
          <p:cNvSpPr txBox="1"/>
          <p:nvPr/>
        </p:nvSpPr>
        <p:spPr>
          <a:xfrm>
            <a:off x="11036024"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20</a:t>
            </a:r>
            <a:endParaRPr lang="en-US" sz="1000" dirty="0"/>
          </a:p>
        </p:txBody>
      </p:sp>
      <p:sp>
        <p:nvSpPr>
          <p:cNvPr id="92" name="Text 90"/>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Which claims actually carry the load</a:t>
            </a:r>
            <a:endParaRPr lang="en-US" sz="1700" dirty="0"/>
          </a:p>
        </p:txBody>
      </p:sp>
      <p:sp>
        <p:nvSpPr>
          <p:cNvPr id="93" name="Text 91"/>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remove one claim, recompute the closure, count what leaves — size is what is lost</a:t>
            </a:r>
            <a:endParaRPr lang="en-US" sz="1100" dirty="0"/>
          </a:p>
        </p:txBody>
      </p:sp>
      <p:sp>
        <p:nvSpPr>
          <p:cNvPr id="94" name="Text 92"/>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58</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41909">
            <a:solidFill>
              <a:srgbClr val="1A1A16"/>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24129">
            <a:solidFill>
              <a:srgbClr val="7B7B79"/>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9050">
            <a:solidFill>
              <a:srgbClr val="979795"/>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5240">
            <a:solidFill>
              <a:srgbClr val="ACACAB"/>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3970">
            <a:solidFill>
              <a:srgbClr val="B3B3B2"/>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700">
            <a:solidFill>
              <a:srgbClr val="BABAB9"/>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700">
            <a:solidFill>
              <a:srgbClr val="BABAB9"/>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1430">
            <a:solidFill>
              <a:srgbClr val="C1C1C0"/>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1430">
            <a:solidFill>
              <a:srgbClr val="C1C1C0"/>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1430">
            <a:solidFill>
              <a:srgbClr val="C1C1C0"/>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1430">
            <a:solidFill>
              <a:srgbClr val="C1C1C0"/>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1430">
            <a:solidFill>
              <a:srgbClr val="C1C1C0"/>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1430">
            <a:solidFill>
              <a:srgbClr val="C1C1C0"/>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0160">
            <a:solidFill>
              <a:srgbClr val="C8C8C7"/>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0160">
            <a:solidFill>
              <a:srgbClr val="C8C8C7"/>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0160">
            <a:solidFill>
              <a:srgbClr val="C8C8C7"/>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0160">
            <a:solidFill>
              <a:srgbClr val="C8C8C7"/>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0160">
            <a:solidFill>
              <a:srgbClr val="C8C8C7"/>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0160">
            <a:solidFill>
              <a:srgbClr val="C8C8C7"/>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0160">
            <a:solidFill>
              <a:srgbClr val="C8C8C7"/>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0160">
            <a:solidFill>
              <a:srgbClr val="C8C8C7"/>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0160">
            <a:solidFill>
              <a:srgbClr val="C8C8C7"/>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0160">
            <a:solidFill>
              <a:srgbClr val="C8C8C7"/>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0160">
            <a:solidFill>
              <a:srgbClr val="C8C8C7"/>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0160">
            <a:solidFill>
              <a:srgbClr val="C8C8C7"/>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0160">
            <a:solidFill>
              <a:srgbClr val="C8C8C7"/>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0160">
            <a:solidFill>
              <a:srgbClr val="C8C8C7"/>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0160">
            <a:solidFill>
              <a:srgbClr val="C8C8C7"/>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0160">
            <a:solidFill>
              <a:srgbClr val="C8C8C7"/>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0160">
            <a:solidFill>
              <a:srgbClr val="C8C8C7"/>
            </a:solidFill>
            <a:prstDash val="solid"/>
          </a:ln>
        </p:spPr>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sp>
      <p:sp>
        <p:nvSpPr>
          <p:cNvPr id="123" name="Shape 121"/>
          <p:cNvSpPr/>
          <p:nvPr/>
        </p:nvSpPr>
        <p:spPr>
          <a:xfrm>
            <a:off x="8153196" y="5117972"/>
            <a:ext cx="3378116" cy="0"/>
          </a:xfrm>
          <a:prstGeom prst="line">
            <a:avLst/>
          </a:prstGeom>
          <a:noFill/>
          <a:ln w="8890">
            <a:solidFill>
              <a:srgbClr val="8A8A80"/>
            </a:solidFill>
            <a:prstDash val="solid"/>
          </a:ln>
        </p:spPr>
      </p:sp>
      <p:sp>
        <p:nvSpPr>
          <p:cNvPr id="124" name="Text 122"/>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Text 123"/>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same question, asked of every dependency</a:t>
            </a:r>
            <a:endParaRPr lang="en-US" sz="1700" dirty="0"/>
          </a:p>
        </p:txBody>
      </p:sp>
      <p:sp>
        <p:nvSpPr>
          <p:cNvPr id="126" name="Text 124"/>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46 links, each weighted by what removing it costs</a:t>
            </a:r>
            <a:endParaRPr lang="en-US" sz="1100" dirty="0"/>
          </a:p>
        </p:txBody>
      </p:sp>
      <p:sp>
        <p:nvSpPr>
          <p:cNvPr id="127" name="Text 12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59</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7620">
            <a:solidFill>
              <a:srgbClr val="DADADA"/>
            </a:solidFill>
            <a:prstDash val="solid"/>
          </a:ln>
        </p:spPr>
      </p:sp>
      <p:sp>
        <p:nvSpPr>
          <p:cNvPr id="3" name="Shape 1"/>
          <p:cNvSpPr/>
          <p:nvPr/>
        </p:nvSpPr>
        <p:spPr>
          <a:xfrm>
            <a:off x="5512488" y="1958093"/>
            <a:ext cx="0" cy="446830"/>
          </a:xfrm>
          <a:prstGeom prst="line">
            <a:avLst/>
          </a:prstGeom>
          <a:noFill/>
          <a:ln w="7620">
            <a:solidFill>
              <a:srgbClr val="DADADA"/>
            </a:solidFill>
            <a:prstDash val="solid"/>
          </a:ln>
        </p:spPr>
      </p:sp>
      <p:sp>
        <p:nvSpPr>
          <p:cNvPr id="4" name="Shape 2"/>
          <p:cNvSpPr/>
          <p:nvPr/>
        </p:nvSpPr>
        <p:spPr>
          <a:xfrm>
            <a:off x="5512488" y="2404923"/>
            <a:ext cx="207418" cy="446830"/>
          </a:xfrm>
          <a:prstGeom prst="line">
            <a:avLst/>
          </a:prstGeom>
          <a:noFill/>
          <a:ln w="7620">
            <a:solidFill>
              <a:srgbClr val="DADADA"/>
            </a:solidFill>
            <a:prstDash val="solid"/>
          </a:ln>
        </p:spPr>
      </p:sp>
      <p:sp>
        <p:nvSpPr>
          <p:cNvPr id="5" name="Shape 3"/>
          <p:cNvSpPr/>
          <p:nvPr/>
        </p:nvSpPr>
        <p:spPr>
          <a:xfrm>
            <a:off x="5719905" y="2851753"/>
            <a:ext cx="-1959434" cy="893661"/>
          </a:xfrm>
          <a:prstGeom prst="line">
            <a:avLst/>
          </a:prstGeom>
          <a:noFill/>
          <a:ln w="7620">
            <a:solidFill>
              <a:srgbClr val="DADADA"/>
            </a:solidFill>
            <a:prstDash val="solid"/>
          </a:ln>
        </p:spPr>
      </p:sp>
      <p:sp>
        <p:nvSpPr>
          <p:cNvPr id="6" name="Shape 4"/>
          <p:cNvSpPr/>
          <p:nvPr/>
        </p:nvSpPr>
        <p:spPr>
          <a:xfrm>
            <a:off x="3760471" y="3745414"/>
            <a:ext cx="-1315116" cy="446830"/>
          </a:xfrm>
          <a:prstGeom prst="line">
            <a:avLst/>
          </a:prstGeom>
          <a:noFill/>
          <a:ln w="7620">
            <a:solidFill>
              <a:srgbClr val="DADADA"/>
            </a:solidFill>
            <a:prstDash val="solid"/>
          </a:ln>
        </p:spPr>
      </p:sp>
      <p:sp>
        <p:nvSpPr>
          <p:cNvPr id="7" name="Shape 5"/>
          <p:cNvSpPr/>
          <p:nvPr/>
        </p:nvSpPr>
        <p:spPr>
          <a:xfrm>
            <a:off x="3967889" y="1511262"/>
            <a:ext cx="3111263" cy="1340491"/>
          </a:xfrm>
          <a:prstGeom prst="line">
            <a:avLst/>
          </a:prstGeom>
          <a:noFill/>
          <a:ln w="7620">
            <a:solidFill>
              <a:srgbClr val="DADADA"/>
            </a:solidFill>
            <a:prstDash val="solid"/>
          </a:ln>
        </p:spPr>
      </p:sp>
      <p:sp>
        <p:nvSpPr>
          <p:cNvPr id="8" name="Shape 6"/>
          <p:cNvSpPr/>
          <p:nvPr/>
        </p:nvSpPr>
        <p:spPr>
          <a:xfrm>
            <a:off x="2445356" y="4192245"/>
            <a:ext cx="-1315116" cy="446830"/>
          </a:xfrm>
          <a:prstGeom prst="line">
            <a:avLst/>
          </a:prstGeom>
          <a:noFill/>
          <a:ln w="7620">
            <a:solidFill>
              <a:srgbClr val="DADADA"/>
            </a:solidFill>
            <a:prstDash val="solid"/>
          </a:ln>
        </p:spPr>
      </p:sp>
      <p:sp>
        <p:nvSpPr>
          <p:cNvPr id="9" name="Shape 7"/>
          <p:cNvSpPr/>
          <p:nvPr/>
        </p:nvSpPr>
        <p:spPr>
          <a:xfrm>
            <a:off x="2030520" y="3745414"/>
            <a:ext cx="414835" cy="0"/>
          </a:xfrm>
          <a:prstGeom prst="line">
            <a:avLst/>
          </a:prstGeom>
          <a:noFill/>
          <a:ln w="7620">
            <a:solidFill>
              <a:srgbClr val="DADADA"/>
            </a:solidFill>
            <a:prstDash val="solid"/>
          </a:ln>
        </p:spPr>
      </p:sp>
      <p:sp>
        <p:nvSpPr>
          <p:cNvPr id="10" name="Shape 8"/>
          <p:cNvSpPr/>
          <p:nvPr/>
        </p:nvSpPr>
        <p:spPr>
          <a:xfrm>
            <a:off x="5512488" y="1958093"/>
            <a:ext cx="-1544599" cy="446830"/>
          </a:xfrm>
          <a:prstGeom prst="line">
            <a:avLst/>
          </a:prstGeom>
          <a:noFill/>
          <a:ln w="7620">
            <a:solidFill>
              <a:srgbClr val="DADADA"/>
            </a:solidFill>
            <a:prstDash val="solid"/>
          </a:ln>
        </p:spPr>
      </p:sp>
      <p:sp>
        <p:nvSpPr>
          <p:cNvPr id="11" name="Shape 9"/>
          <p:cNvSpPr/>
          <p:nvPr/>
        </p:nvSpPr>
        <p:spPr>
          <a:xfrm>
            <a:off x="1130240" y="4639075"/>
            <a:ext cx="-207418" cy="446830"/>
          </a:xfrm>
          <a:prstGeom prst="line">
            <a:avLst/>
          </a:prstGeom>
          <a:noFill/>
          <a:ln w="7620">
            <a:solidFill>
              <a:srgbClr val="DADADA"/>
            </a:solidFill>
            <a:prstDash val="solid"/>
          </a:ln>
        </p:spPr>
      </p:sp>
      <p:sp>
        <p:nvSpPr>
          <p:cNvPr id="12" name="Shape 10"/>
          <p:cNvSpPr/>
          <p:nvPr/>
        </p:nvSpPr>
        <p:spPr>
          <a:xfrm>
            <a:off x="715405" y="4639075"/>
            <a:ext cx="-207418" cy="446830"/>
          </a:xfrm>
          <a:prstGeom prst="line">
            <a:avLst/>
          </a:prstGeom>
          <a:noFill/>
          <a:ln w="7620">
            <a:solidFill>
              <a:srgbClr val="DADADA"/>
            </a:solidFill>
            <a:prstDash val="solid"/>
          </a:ln>
        </p:spPr>
      </p:sp>
      <p:sp>
        <p:nvSpPr>
          <p:cNvPr id="13" name="Shape 11"/>
          <p:cNvSpPr/>
          <p:nvPr/>
        </p:nvSpPr>
        <p:spPr>
          <a:xfrm>
            <a:off x="3967889" y="2851753"/>
            <a:ext cx="0" cy="446830"/>
          </a:xfrm>
          <a:prstGeom prst="line">
            <a:avLst/>
          </a:prstGeom>
          <a:noFill/>
          <a:ln w="7620">
            <a:solidFill>
              <a:srgbClr val="DADADA"/>
            </a:solidFill>
            <a:prstDash val="solid"/>
          </a:ln>
        </p:spPr>
      </p:sp>
      <p:sp>
        <p:nvSpPr>
          <p:cNvPr id="14" name="Shape 12"/>
          <p:cNvSpPr/>
          <p:nvPr/>
        </p:nvSpPr>
        <p:spPr>
          <a:xfrm>
            <a:off x="7079152" y="2851753"/>
            <a:ext cx="0" cy="2234152"/>
          </a:xfrm>
          <a:prstGeom prst="line">
            <a:avLst/>
          </a:prstGeom>
          <a:noFill/>
          <a:ln w="7620">
            <a:solidFill>
              <a:srgbClr val="DADADA"/>
            </a:solidFill>
            <a:prstDash val="solid"/>
          </a:ln>
        </p:spPr>
      </p:sp>
      <p:sp>
        <p:nvSpPr>
          <p:cNvPr id="15" name="Shape 13"/>
          <p:cNvSpPr/>
          <p:nvPr/>
        </p:nvSpPr>
        <p:spPr>
          <a:xfrm>
            <a:off x="5719905" y="2851753"/>
            <a:ext cx="-207418" cy="446830"/>
          </a:xfrm>
          <a:prstGeom prst="line">
            <a:avLst/>
          </a:prstGeom>
          <a:noFill/>
          <a:ln w="7620">
            <a:solidFill>
              <a:srgbClr val="DADADA"/>
            </a:solidFill>
            <a:prstDash val="solid"/>
          </a:ln>
        </p:spPr>
      </p:sp>
      <p:sp>
        <p:nvSpPr>
          <p:cNvPr id="16" name="Shape 14"/>
          <p:cNvSpPr/>
          <p:nvPr/>
        </p:nvSpPr>
        <p:spPr>
          <a:xfrm>
            <a:off x="5719905" y="2851753"/>
            <a:ext cx="-207418" cy="2234152"/>
          </a:xfrm>
          <a:prstGeom prst="line">
            <a:avLst/>
          </a:prstGeom>
          <a:noFill/>
          <a:ln w="7620">
            <a:solidFill>
              <a:srgbClr val="DADADA"/>
            </a:solidFill>
            <a:prstDash val="solid"/>
          </a:ln>
        </p:spPr>
      </p:sp>
      <p:sp>
        <p:nvSpPr>
          <p:cNvPr id="17" name="Shape 15"/>
          <p:cNvSpPr/>
          <p:nvPr/>
        </p:nvSpPr>
        <p:spPr>
          <a:xfrm>
            <a:off x="5512488" y="2404923"/>
            <a:ext cx="0" cy="1340491"/>
          </a:xfrm>
          <a:prstGeom prst="line">
            <a:avLst/>
          </a:prstGeom>
          <a:noFill/>
          <a:ln w="7620">
            <a:solidFill>
              <a:srgbClr val="DADADA"/>
            </a:solidFill>
            <a:prstDash val="solid"/>
          </a:ln>
        </p:spPr>
      </p:sp>
      <p:sp>
        <p:nvSpPr>
          <p:cNvPr id="18" name="Shape 16"/>
          <p:cNvSpPr/>
          <p:nvPr/>
        </p:nvSpPr>
        <p:spPr>
          <a:xfrm>
            <a:off x="5512488" y="2404923"/>
            <a:ext cx="-207418" cy="446830"/>
          </a:xfrm>
          <a:prstGeom prst="line">
            <a:avLst/>
          </a:prstGeom>
          <a:noFill/>
          <a:ln w="7620">
            <a:solidFill>
              <a:srgbClr val="DADADA"/>
            </a:solidFill>
            <a:prstDash val="solid"/>
          </a:ln>
        </p:spPr>
      </p:sp>
      <p:sp>
        <p:nvSpPr>
          <p:cNvPr id="19" name="Shape 17"/>
          <p:cNvSpPr/>
          <p:nvPr/>
        </p:nvSpPr>
        <p:spPr>
          <a:xfrm>
            <a:off x="3967889" y="1511262"/>
            <a:ext cx="3111263" cy="2234152"/>
          </a:xfrm>
          <a:prstGeom prst="line">
            <a:avLst/>
          </a:prstGeom>
          <a:noFill/>
          <a:ln w="22859">
            <a:solidFill>
              <a:srgbClr val="353532"/>
            </a:solidFill>
            <a:prstDash val="solid"/>
          </a:ln>
        </p:spPr>
      </p:sp>
      <p:sp>
        <p:nvSpPr>
          <p:cNvPr id="20" name="Shape 18"/>
          <p:cNvSpPr/>
          <p:nvPr/>
        </p:nvSpPr>
        <p:spPr>
          <a:xfrm>
            <a:off x="2445356" y="3745414"/>
            <a:ext cx="414835" cy="446830"/>
          </a:xfrm>
          <a:prstGeom prst="line">
            <a:avLst/>
          </a:prstGeom>
          <a:noFill/>
          <a:ln w="22859">
            <a:solidFill>
              <a:srgbClr val="353532"/>
            </a:solidFill>
            <a:prstDash val="solid"/>
          </a:ln>
        </p:spPr>
      </p:sp>
      <p:sp>
        <p:nvSpPr>
          <p:cNvPr id="21" name="Shape 19"/>
          <p:cNvSpPr/>
          <p:nvPr/>
        </p:nvSpPr>
        <p:spPr>
          <a:xfrm>
            <a:off x="2445356" y="3745414"/>
            <a:ext cx="-1107698" cy="1340491"/>
          </a:xfrm>
          <a:prstGeom prst="line">
            <a:avLst/>
          </a:prstGeom>
          <a:noFill/>
          <a:ln w="22859">
            <a:solidFill>
              <a:srgbClr val="353532"/>
            </a:solidFill>
            <a:prstDash val="solid"/>
          </a:ln>
        </p:spPr>
      </p:sp>
      <p:sp>
        <p:nvSpPr>
          <p:cNvPr id="22" name="Shape 20"/>
          <p:cNvSpPr/>
          <p:nvPr/>
        </p:nvSpPr>
        <p:spPr>
          <a:xfrm>
            <a:off x="2860191" y="3745414"/>
            <a:ext cx="0" cy="446830"/>
          </a:xfrm>
          <a:prstGeom prst="line">
            <a:avLst/>
          </a:prstGeom>
          <a:noFill/>
          <a:ln w="22859">
            <a:solidFill>
              <a:srgbClr val="353532"/>
            </a:solidFill>
            <a:prstDash val="solid"/>
          </a:ln>
        </p:spPr>
      </p:sp>
      <p:sp>
        <p:nvSpPr>
          <p:cNvPr id="23" name="Shape 21"/>
          <p:cNvSpPr/>
          <p:nvPr/>
        </p:nvSpPr>
        <p:spPr>
          <a:xfrm>
            <a:off x="2860191" y="3745414"/>
            <a:ext cx="-829670" cy="446830"/>
          </a:xfrm>
          <a:prstGeom prst="line">
            <a:avLst/>
          </a:prstGeom>
          <a:noFill/>
          <a:ln w="22859">
            <a:solidFill>
              <a:srgbClr val="353532"/>
            </a:solidFill>
            <a:prstDash val="solid"/>
          </a:ln>
        </p:spPr>
      </p:sp>
      <p:sp>
        <p:nvSpPr>
          <p:cNvPr id="24" name="Shape 22"/>
          <p:cNvSpPr/>
          <p:nvPr/>
        </p:nvSpPr>
        <p:spPr>
          <a:xfrm>
            <a:off x="2860191" y="3745414"/>
            <a:ext cx="-414835" cy="1340491"/>
          </a:xfrm>
          <a:prstGeom prst="line">
            <a:avLst/>
          </a:prstGeom>
          <a:noFill/>
          <a:ln w="22859">
            <a:solidFill>
              <a:srgbClr val="353532"/>
            </a:solidFill>
            <a:prstDash val="solid"/>
          </a:ln>
        </p:spPr>
      </p:sp>
      <p:sp>
        <p:nvSpPr>
          <p:cNvPr id="25" name="Shape 23"/>
          <p:cNvSpPr/>
          <p:nvPr/>
        </p:nvSpPr>
        <p:spPr>
          <a:xfrm>
            <a:off x="2860191" y="4192245"/>
            <a:ext cx="-414835" cy="446830"/>
          </a:xfrm>
          <a:prstGeom prst="line">
            <a:avLst/>
          </a:prstGeom>
          <a:noFill/>
          <a:ln w="22859">
            <a:solidFill>
              <a:srgbClr val="353532"/>
            </a:solidFill>
            <a:prstDash val="solid"/>
          </a:ln>
        </p:spPr>
      </p:sp>
      <p:sp>
        <p:nvSpPr>
          <p:cNvPr id="26" name="Shape 24"/>
          <p:cNvSpPr/>
          <p:nvPr/>
        </p:nvSpPr>
        <p:spPr>
          <a:xfrm>
            <a:off x="2860191" y="4192245"/>
            <a:ext cx="-1522533" cy="893661"/>
          </a:xfrm>
          <a:prstGeom prst="line">
            <a:avLst/>
          </a:prstGeom>
          <a:noFill/>
          <a:ln w="22859">
            <a:solidFill>
              <a:srgbClr val="353532"/>
            </a:solidFill>
            <a:prstDash val="solid"/>
          </a:ln>
        </p:spPr>
      </p:sp>
      <p:sp>
        <p:nvSpPr>
          <p:cNvPr id="27" name="Shape 25"/>
          <p:cNvSpPr/>
          <p:nvPr/>
        </p:nvSpPr>
        <p:spPr>
          <a:xfrm>
            <a:off x="715405" y="4639075"/>
            <a:ext cx="414835" cy="0"/>
          </a:xfrm>
          <a:prstGeom prst="line">
            <a:avLst/>
          </a:prstGeom>
          <a:noFill/>
          <a:ln w="22859">
            <a:solidFill>
              <a:srgbClr val="353532"/>
            </a:solidFill>
            <a:prstDash val="solid"/>
          </a:ln>
        </p:spPr>
      </p:sp>
      <p:sp>
        <p:nvSpPr>
          <p:cNvPr id="28" name="Shape 26"/>
          <p:cNvSpPr/>
          <p:nvPr/>
        </p:nvSpPr>
        <p:spPr>
          <a:xfrm>
            <a:off x="715405" y="4639075"/>
            <a:ext cx="622253" cy="446830"/>
          </a:xfrm>
          <a:prstGeom prst="line">
            <a:avLst/>
          </a:prstGeom>
          <a:noFill/>
          <a:ln w="22859">
            <a:solidFill>
              <a:srgbClr val="353532"/>
            </a:solidFill>
            <a:prstDash val="solid"/>
          </a:ln>
        </p:spPr>
      </p:sp>
      <p:sp>
        <p:nvSpPr>
          <p:cNvPr id="29" name="Shape 27"/>
          <p:cNvSpPr/>
          <p:nvPr/>
        </p:nvSpPr>
        <p:spPr>
          <a:xfrm>
            <a:off x="3967889" y="2851753"/>
            <a:ext cx="-1522533" cy="893661"/>
          </a:xfrm>
          <a:prstGeom prst="line">
            <a:avLst/>
          </a:prstGeom>
          <a:noFill/>
          <a:ln w="22859">
            <a:solidFill>
              <a:srgbClr val="353532"/>
            </a:solidFill>
            <a:prstDash val="solid"/>
          </a:ln>
        </p:spPr>
      </p:sp>
      <p:sp>
        <p:nvSpPr>
          <p:cNvPr id="30" name="Shape 28"/>
          <p:cNvSpPr/>
          <p:nvPr/>
        </p:nvSpPr>
        <p:spPr>
          <a:xfrm>
            <a:off x="3967889" y="3298584"/>
            <a:ext cx="-1522533" cy="446830"/>
          </a:xfrm>
          <a:prstGeom prst="line">
            <a:avLst/>
          </a:prstGeom>
          <a:noFill/>
          <a:ln w="22859">
            <a:solidFill>
              <a:srgbClr val="353532"/>
            </a:solidFill>
            <a:prstDash val="solid"/>
          </a:ln>
        </p:spPr>
      </p:sp>
      <p:sp>
        <p:nvSpPr>
          <p:cNvPr id="31" name="Shape 29"/>
          <p:cNvSpPr/>
          <p:nvPr/>
        </p:nvSpPr>
        <p:spPr>
          <a:xfrm>
            <a:off x="7079152" y="2851753"/>
            <a:ext cx="0" cy="893661"/>
          </a:xfrm>
          <a:prstGeom prst="line">
            <a:avLst/>
          </a:prstGeom>
          <a:noFill/>
          <a:ln w="22859">
            <a:solidFill>
              <a:srgbClr val="353532"/>
            </a:solidFill>
            <a:prstDash val="solid"/>
          </a:ln>
        </p:spPr>
      </p:sp>
      <p:sp>
        <p:nvSpPr>
          <p:cNvPr id="32" name="Shape 30"/>
          <p:cNvSpPr/>
          <p:nvPr/>
        </p:nvSpPr>
        <p:spPr>
          <a:xfrm>
            <a:off x="2030520" y="4192245"/>
            <a:ext cx="414835" cy="0"/>
          </a:xfrm>
          <a:prstGeom prst="line">
            <a:avLst/>
          </a:prstGeom>
          <a:noFill/>
          <a:ln w="22859">
            <a:solidFill>
              <a:srgbClr val="353532"/>
            </a:solidFill>
            <a:prstDash val="solid"/>
          </a:ln>
        </p:spPr>
      </p:sp>
      <p:sp>
        <p:nvSpPr>
          <p:cNvPr id="33" name="Shape 31"/>
          <p:cNvSpPr/>
          <p:nvPr/>
        </p:nvSpPr>
        <p:spPr>
          <a:xfrm>
            <a:off x="2445356" y="4192245"/>
            <a:ext cx="0" cy="893661"/>
          </a:xfrm>
          <a:prstGeom prst="line">
            <a:avLst/>
          </a:prstGeom>
          <a:noFill/>
          <a:ln w="22859">
            <a:solidFill>
              <a:srgbClr val="353532"/>
            </a:solidFill>
            <a:prstDash val="solid"/>
          </a:ln>
        </p:spPr>
      </p:sp>
      <p:sp>
        <p:nvSpPr>
          <p:cNvPr id="34" name="Shape 32"/>
          <p:cNvSpPr/>
          <p:nvPr/>
        </p:nvSpPr>
        <p:spPr>
          <a:xfrm>
            <a:off x="2030520" y="4192245"/>
            <a:ext cx="-1315116" cy="446830"/>
          </a:xfrm>
          <a:prstGeom prst="line">
            <a:avLst/>
          </a:prstGeom>
          <a:noFill/>
          <a:ln w="22859">
            <a:solidFill>
              <a:srgbClr val="353532"/>
            </a:solidFill>
            <a:prstDash val="solid"/>
          </a:ln>
        </p:spPr>
      </p:sp>
      <p:sp>
        <p:nvSpPr>
          <p:cNvPr id="35" name="Shape 33"/>
          <p:cNvSpPr/>
          <p:nvPr/>
        </p:nvSpPr>
        <p:spPr>
          <a:xfrm>
            <a:off x="2030520" y="4192245"/>
            <a:ext cx="414835" cy="446830"/>
          </a:xfrm>
          <a:prstGeom prst="line">
            <a:avLst/>
          </a:prstGeom>
          <a:noFill/>
          <a:ln w="22859">
            <a:solidFill>
              <a:srgbClr val="353532"/>
            </a:solidFill>
            <a:prstDash val="solid"/>
          </a:ln>
        </p:spPr>
      </p:sp>
      <p:sp>
        <p:nvSpPr>
          <p:cNvPr id="36" name="Shape 34"/>
          <p:cNvSpPr/>
          <p:nvPr/>
        </p:nvSpPr>
        <p:spPr>
          <a:xfrm>
            <a:off x="2030520" y="4192245"/>
            <a:ext cx="414835" cy="893661"/>
          </a:xfrm>
          <a:prstGeom prst="line">
            <a:avLst/>
          </a:prstGeom>
          <a:noFill/>
          <a:ln w="22859">
            <a:solidFill>
              <a:srgbClr val="353532"/>
            </a:solidFill>
            <a:prstDash val="solid"/>
          </a:ln>
        </p:spPr>
      </p:sp>
      <p:sp>
        <p:nvSpPr>
          <p:cNvPr id="37" name="Shape 35"/>
          <p:cNvSpPr/>
          <p:nvPr/>
        </p:nvSpPr>
        <p:spPr>
          <a:xfrm>
            <a:off x="3967889" y="2404923"/>
            <a:ext cx="-1107698" cy="1340491"/>
          </a:xfrm>
          <a:prstGeom prst="line">
            <a:avLst/>
          </a:prstGeom>
          <a:noFill/>
          <a:ln w="22859">
            <a:solidFill>
              <a:srgbClr val="353532"/>
            </a:solidFill>
            <a:prstDash val="solid"/>
          </a:ln>
        </p:spPr>
      </p:sp>
      <p:sp>
        <p:nvSpPr>
          <p:cNvPr id="38" name="Shape 36"/>
          <p:cNvSpPr/>
          <p:nvPr/>
        </p:nvSpPr>
        <p:spPr>
          <a:xfrm>
            <a:off x="3967889" y="2404923"/>
            <a:ext cx="0" cy="446830"/>
          </a:xfrm>
          <a:prstGeom prst="line">
            <a:avLst/>
          </a:prstGeom>
          <a:noFill/>
          <a:ln w="22859">
            <a:solidFill>
              <a:srgbClr val="353532"/>
            </a:solidFill>
            <a:prstDash val="solid"/>
          </a:ln>
        </p:spPr>
      </p:sp>
      <p:sp>
        <p:nvSpPr>
          <p:cNvPr id="39" name="Shape 37"/>
          <p:cNvSpPr/>
          <p:nvPr/>
        </p:nvSpPr>
        <p:spPr>
          <a:xfrm>
            <a:off x="5512488" y="3298584"/>
            <a:ext cx="-1337181" cy="446830"/>
          </a:xfrm>
          <a:prstGeom prst="line">
            <a:avLst/>
          </a:prstGeom>
          <a:noFill/>
          <a:ln w="22859">
            <a:solidFill>
              <a:srgbClr val="353532"/>
            </a:solidFill>
            <a:prstDash val="solid"/>
          </a:ln>
        </p:spPr>
      </p:sp>
      <p:sp>
        <p:nvSpPr>
          <p:cNvPr id="40" name="Shape 38"/>
          <p:cNvSpPr/>
          <p:nvPr/>
        </p:nvSpPr>
        <p:spPr>
          <a:xfrm>
            <a:off x="5719905" y="2851753"/>
            <a:ext cx="-1544599" cy="893661"/>
          </a:xfrm>
          <a:prstGeom prst="line">
            <a:avLst/>
          </a:prstGeom>
          <a:noFill/>
          <a:ln w="22859">
            <a:solidFill>
              <a:srgbClr val="353532"/>
            </a:solidFill>
            <a:prstDash val="solid"/>
          </a:ln>
        </p:spPr>
      </p:sp>
      <p:sp>
        <p:nvSpPr>
          <p:cNvPr id="41" name="Shape 39"/>
          <p:cNvSpPr/>
          <p:nvPr/>
        </p:nvSpPr>
        <p:spPr>
          <a:xfrm>
            <a:off x="5512488" y="2404923"/>
            <a:ext cx="-2652297" cy="1787322"/>
          </a:xfrm>
          <a:prstGeom prst="line">
            <a:avLst/>
          </a:prstGeom>
          <a:noFill/>
          <a:ln w="22859">
            <a:solidFill>
              <a:srgbClr val="353532"/>
            </a:solidFill>
            <a:prstDash val="solid"/>
          </a:ln>
        </p:spPr>
      </p:sp>
      <p:sp>
        <p:nvSpPr>
          <p:cNvPr id="42" name="Shape 40"/>
          <p:cNvSpPr/>
          <p:nvPr/>
        </p:nvSpPr>
        <p:spPr>
          <a:xfrm>
            <a:off x="3760471" y="3745414"/>
            <a:ext cx="414835" cy="0"/>
          </a:xfrm>
          <a:prstGeom prst="line">
            <a:avLst/>
          </a:prstGeom>
          <a:noFill/>
          <a:ln w="22859">
            <a:solidFill>
              <a:srgbClr val="353532"/>
            </a:solidFill>
            <a:prstDash val="solid"/>
          </a:ln>
        </p:spPr>
      </p:sp>
      <p:sp>
        <p:nvSpPr>
          <p:cNvPr id="43" name="Shape 41"/>
          <p:cNvSpPr/>
          <p:nvPr/>
        </p:nvSpPr>
        <p:spPr>
          <a:xfrm>
            <a:off x="3967889" y="2851753"/>
            <a:ext cx="1337181" cy="0"/>
          </a:xfrm>
          <a:prstGeom prst="line">
            <a:avLst/>
          </a:prstGeom>
          <a:noFill/>
          <a:ln w="22859">
            <a:solidFill>
              <a:srgbClr val="353532"/>
            </a:solidFill>
            <a:prstDash val="solid"/>
          </a:ln>
        </p:spPr>
      </p:sp>
      <p:sp>
        <p:nvSpPr>
          <p:cNvPr id="44" name="Shape 42"/>
          <p:cNvSpPr/>
          <p:nvPr/>
        </p:nvSpPr>
        <p:spPr>
          <a:xfrm>
            <a:off x="5305070" y="2851753"/>
            <a:ext cx="-1129764" cy="893661"/>
          </a:xfrm>
          <a:prstGeom prst="line">
            <a:avLst/>
          </a:prstGeom>
          <a:noFill/>
          <a:ln w="22859">
            <a:solidFill>
              <a:srgbClr val="353532"/>
            </a:solidFill>
            <a:prstDash val="solid"/>
          </a:ln>
        </p:spPr>
      </p:sp>
      <p:sp>
        <p:nvSpPr>
          <p:cNvPr id="45" name="Shape 43"/>
          <p:cNvSpPr/>
          <p:nvPr/>
        </p:nvSpPr>
        <p:spPr>
          <a:xfrm>
            <a:off x="2860191" y="3745414"/>
            <a:ext cx="1315116" cy="0"/>
          </a:xfrm>
          <a:prstGeom prst="line">
            <a:avLst/>
          </a:prstGeom>
          <a:noFill/>
          <a:ln w="22859">
            <a:solidFill>
              <a:srgbClr val="353532"/>
            </a:solidFill>
            <a:prstDash val="solid"/>
          </a:ln>
        </p:spPr>
      </p:sp>
      <p:sp>
        <p:nvSpPr>
          <p:cNvPr id="46" name="Shape 44"/>
          <p:cNvSpPr/>
          <p:nvPr/>
        </p:nvSpPr>
        <p:spPr>
          <a:xfrm>
            <a:off x="2030520" y="3745414"/>
            <a:ext cx="829670" cy="446830"/>
          </a:xfrm>
          <a:prstGeom prst="line">
            <a:avLst/>
          </a:prstGeom>
          <a:noFill/>
          <a:ln w="22859">
            <a:solidFill>
              <a:srgbClr val="353532"/>
            </a:solidFill>
            <a:prstDash val="solid"/>
          </a:ln>
        </p:spPr>
      </p:sp>
      <p:sp>
        <p:nvSpPr>
          <p:cNvPr id="47" name="Shape 45"/>
          <p:cNvSpPr/>
          <p:nvPr/>
        </p:nvSpPr>
        <p:spPr>
          <a:xfrm>
            <a:off x="2030520" y="3745414"/>
            <a:ext cx="-692863" cy="1340491"/>
          </a:xfrm>
          <a:prstGeom prst="line">
            <a:avLst/>
          </a:prstGeom>
          <a:noFill/>
          <a:ln w="22859">
            <a:solidFill>
              <a:srgbClr val="353532"/>
            </a:solidFill>
            <a:prstDash val="solid"/>
          </a:ln>
        </p:spPr>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2700">
            <a:solidFill>
              <a:srgbClr val="DADADA"/>
            </a:solidFill>
            <a:prstDash val="solid"/>
          </a:ln>
        </p:spPr>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2700">
            <a:solidFill>
              <a:srgbClr val="DADADA"/>
            </a:solidFill>
            <a:prstDash val="solid"/>
          </a:ln>
        </p:spPr>
      </p:sp>
      <p:sp>
        <p:nvSpPr>
          <p:cNvPr id="54" name="Shape 52"/>
          <p:cNvSpPr/>
          <p:nvPr/>
        </p:nvSpPr>
        <p:spPr>
          <a:xfrm>
            <a:off x="453379" y="5023359"/>
            <a:ext cx="109217" cy="125092"/>
          </a:xfrm>
          <a:prstGeom prst="hexagon">
            <a:avLst/>
          </a:prstGeom>
          <a:solidFill>
            <a:srgbClr val="FFFFFF"/>
          </a:solidFill>
          <a:ln w="12700">
            <a:solidFill>
              <a:srgbClr val="DADADA"/>
            </a:solidFill>
            <a:prstDash val="solid"/>
          </a:ln>
        </p:spPr>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2700">
            <a:solidFill>
              <a:srgbClr val="DADADA"/>
            </a:solidFill>
            <a:prstDash val="solid"/>
          </a:ln>
        </p:spPr>
      </p:sp>
      <p:sp>
        <p:nvSpPr>
          <p:cNvPr id="60" name="Shape 58"/>
          <p:cNvSpPr/>
          <p:nvPr/>
        </p:nvSpPr>
        <p:spPr>
          <a:xfrm>
            <a:off x="2388207" y="4581926"/>
            <a:ext cx="114297" cy="114297"/>
          </a:xfrm>
          <a:prstGeom prst="ellipse">
            <a:avLst/>
          </a:prstGeom>
          <a:solidFill>
            <a:srgbClr val="FFFFFF"/>
          </a:solidFill>
          <a:ln w="12700">
            <a:solidFill>
              <a:srgbClr val="DADADA"/>
            </a:solidFill>
            <a:prstDash val="solid"/>
          </a:ln>
        </p:spPr>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2700">
            <a:solidFill>
              <a:srgbClr val="DADADA"/>
            </a:solidFill>
            <a:prstDash val="solid"/>
          </a:ln>
        </p:spPr>
      </p:sp>
      <p:sp>
        <p:nvSpPr>
          <p:cNvPr id="63" name="Shape 61"/>
          <p:cNvSpPr/>
          <p:nvPr/>
        </p:nvSpPr>
        <p:spPr>
          <a:xfrm>
            <a:off x="2788850" y="3674018"/>
            <a:ext cx="142871" cy="142871"/>
          </a:xfrm>
          <a:prstGeom prst="diamond">
            <a:avLst/>
          </a:prstGeom>
          <a:solidFill>
            <a:srgbClr val="FFFFFF"/>
          </a:solidFill>
          <a:ln w="12700">
            <a:solidFill>
              <a:srgbClr val="DADADA"/>
            </a:solidFill>
            <a:prstDash val="solid"/>
          </a:ln>
        </p:spPr>
      </p:sp>
      <p:sp>
        <p:nvSpPr>
          <p:cNvPr id="64" name="Shape 62"/>
          <p:cNvSpPr/>
          <p:nvPr/>
        </p:nvSpPr>
        <p:spPr>
          <a:xfrm>
            <a:off x="7022004" y="3688266"/>
            <a:ext cx="114297" cy="114297"/>
          </a:xfrm>
          <a:prstGeom prst="ellipse">
            <a:avLst/>
          </a:prstGeom>
          <a:solidFill>
            <a:srgbClr val="FFFFFF"/>
          </a:solidFill>
          <a:ln w="12700">
            <a:solidFill>
              <a:srgbClr val="DADADA"/>
            </a:solidFill>
            <a:prstDash val="solid"/>
          </a:ln>
        </p:spPr>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2700">
            <a:solidFill>
              <a:srgbClr val="DADADA"/>
            </a:solidFill>
            <a:prstDash val="solid"/>
          </a:ln>
        </p:spPr>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2700">
            <a:solidFill>
              <a:srgbClr val="DADADA"/>
            </a:solidFill>
            <a:prstDash val="solid"/>
          </a:ln>
        </p:spPr>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2700">
            <a:solidFill>
              <a:srgbClr val="DADADA"/>
            </a:solidFill>
            <a:prstDash val="solid"/>
          </a:ln>
        </p:spPr>
      </p:sp>
      <p:sp>
        <p:nvSpPr>
          <p:cNvPr id="73" name="Shape 71"/>
          <p:cNvSpPr/>
          <p:nvPr/>
        </p:nvSpPr>
        <p:spPr>
          <a:xfrm>
            <a:off x="1283303" y="5023359"/>
            <a:ext cx="108582" cy="125092"/>
          </a:xfrm>
          <a:prstGeom prst="hexagon">
            <a:avLst/>
          </a:prstGeom>
          <a:solidFill>
            <a:srgbClr val="FFFFFF"/>
          </a:solidFill>
          <a:ln w="12700">
            <a:solidFill>
              <a:srgbClr val="DADADA"/>
            </a:solidFill>
            <a:prstDash val="solid"/>
          </a:ln>
        </p:spPr>
      </p:sp>
      <p:sp>
        <p:nvSpPr>
          <p:cNvPr id="74" name="Shape 72"/>
          <p:cNvSpPr/>
          <p:nvPr/>
        </p:nvSpPr>
        <p:spPr>
          <a:xfrm>
            <a:off x="1973372" y="4135096"/>
            <a:ext cx="114297" cy="114297"/>
          </a:xfrm>
          <a:prstGeom prst="ellipse">
            <a:avLst/>
          </a:prstGeom>
          <a:solidFill>
            <a:srgbClr val="FFFFFF"/>
          </a:solidFill>
          <a:ln w="12700">
            <a:solidFill>
              <a:srgbClr val="DADADA"/>
            </a:solidFill>
            <a:prstDash val="solid"/>
          </a:ln>
        </p:spPr>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2700">
            <a:solidFill>
              <a:srgbClr val="DADADA"/>
            </a:solidFill>
            <a:prstDash val="solid"/>
          </a:ln>
        </p:spPr>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sp>
      <p:sp>
        <p:nvSpPr>
          <p:cNvPr id="123" name="Shape 121"/>
          <p:cNvSpPr/>
          <p:nvPr/>
        </p:nvSpPr>
        <p:spPr>
          <a:xfrm>
            <a:off x="8153196" y="5117972"/>
            <a:ext cx="3378116" cy="0"/>
          </a:xfrm>
          <a:prstGeom prst="line">
            <a:avLst/>
          </a:prstGeom>
          <a:noFill/>
          <a:ln w="8890">
            <a:solidFill>
              <a:srgbClr val="8A8A80"/>
            </a:solidFill>
            <a:prstDash val="solid"/>
          </a:ln>
        </p:spPr>
      </p:sp>
      <p:sp>
        <p:nvSpPr>
          <p:cNvPr id="124" name="Text 122"/>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Shape 123"/>
          <p:cNvSpPr/>
          <p:nvPr/>
        </p:nvSpPr>
        <p:spPr>
          <a:xfrm>
            <a:off x="9416109" y="3860703"/>
            <a:ext cx="0" cy="1308067"/>
          </a:xfrm>
          <a:prstGeom prst="line">
            <a:avLst/>
          </a:prstGeom>
          <a:noFill/>
          <a:ln w="10160">
            <a:solidFill>
              <a:srgbClr val="1A1A16"/>
            </a:solidFill>
            <a:prstDash val="solid"/>
          </a:ln>
        </p:spPr>
      </p:sp>
      <p:sp>
        <p:nvSpPr>
          <p:cNvPr id="126" name="Text 124"/>
          <p:cNvSpPr txBox="1"/>
          <p:nvPr/>
        </p:nvSpPr>
        <p:spPr>
          <a:xfrm>
            <a:off x="9492307" y="3860703"/>
            <a:ext cx="2666933" cy="215895"/>
          </a:xfrm>
          <a:prstGeom prst="rect">
            <a:avLst/>
          </a:prstGeom>
          <a:noFill/>
          <a:ln/>
        </p:spPr>
        <p:txBody>
          <a:bodyPr wrap="square" lIns="0" tIns="0" rIns="0" bIns="0" rtlCol="0" anchor="t"/>
          <a:lstStyle/>
          <a:p>
            <a:pPr algn="l" indent="0" marL="0">
              <a:buNone/>
            </a:pPr>
            <a:r>
              <a:rPr lang="en-US" sz="1000" dirty="0">
                <a:solidFill>
                  <a:srgbClr val="1A1A16"/>
                </a:solidFill>
                <a:latin typeface="Calibri" pitchFamily="34" charset="0"/>
                <a:ea typeface="Calibri" pitchFamily="34" charset="-122"/>
                <a:cs typeface="Calibri" pitchFamily="34" charset="-120"/>
              </a:rPr>
              <a:t>29 cost nothing alone</a:t>
            </a:r>
            <a:endParaRPr lang="en-US" sz="1000" dirty="0"/>
          </a:p>
        </p:txBody>
      </p:sp>
      <p:sp>
        <p:nvSpPr>
          <p:cNvPr id="127" name="Text 125"/>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Alone every one of these 29 is free</a:t>
            </a:r>
            <a:endParaRPr lang="en-US" sz="1700" dirty="0"/>
          </a:p>
        </p:txBody>
      </p:sp>
      <p:sp>
        <p:nvSpPr>
          <p:cNvPr id="128" name="Text 126"/>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take them away together and 14 of the 29 claims leave the closure</a:t>
            </a:r>
            <a:endParaRPr lang="en-US" sz="1100" dirty="0"/>
          </a:p>
        </p:txBody>
      </p:sp>
      <p:sp>
        <p:nvSpPr>
          <p:cNvPr id="129" name="Text 12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60</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41274">
            <a:solidFill>
              <a:srgbClr val="1A1A16"/>
            </a:solidFill>
            <a:prstDash val="solid"/>
          </a:ln>
        </p:spPr>
      </p:sp>
      <p:sp>
        <p:nvSpPr>
          <p:cNvPr id="3" name="Shape 1"/>
          <p:cNvSpPr/>
          <p:nvPr/>
        </p:nvSpPr>
        <p:spPr>
          <a:xfrm>
            <a:off x="5512488" y="1958093"/>
            <a:ext cx="0" cy="446830"/>
          </a:xfrm>
          <a:prstGeom prst="line">
            <a:avLst/>
          </a:prstGeom>
          <a:noFill/>
          <a:ln w="24917">
            <a:solidFill>
              <a:srgbClr val="747471"/>
            </a:solidFill>
            <a:prstDash val="solid"/>
          </a:ln>
        </p:spPr>
      </p:sp>
      <p:sp>
        <p:nvSpPr>
          <p:cNvPr id="4" name="Shape 2"/>
          <p:cNvSpPr/>
          <p:nvPr/>
        </p:nvSpPr>
        <p:spPr>
          <a:xfrm>
            <a:off x="5512488" y="2404923"/>
            <a:ext cx="207418" cy="446830"/>
          </a:xfrm>
          <a:prstGeom prst="line">
            <a:avLst/>
          </a:prstGeom>
          <a:noFill/>
          <a:ln w="20243">
            <a:solidFill>
              <a:srgbClr val="8D8D8B"/>
            </a:solidFill>
            <a:prstDash val="solid"/>
          </a:ln>
        </p:spPr>
      </p:sp>
      <p:sp>
        <p:nvSpPr>
          <p:cNvPr id="5" name="Shape 3"/>
          <p:cNvSpPr/>
          <p:nvPr/>
        </p:nvSpPr>
        <p:spPr>
          <a:xfrm>
            <a:off x="5719905" y="2851753"/>
            <a:ext cx="-1959434" cy="893661"/>
          </a:xfrm>
          <a:prstGeom prst="line">
            <a:avLst/>
          </a:prstGeom>
          <a:noFill/>
          <a:ln w="16738">
            <a:solidFill>
              <a:srgbClr val="A1A19F"/>
            </a:solidFill>
            <a:prstDash val="solid"/>
          </a:ln>
        </p:spPr>
      </p:sp>
      <p:sp>
        <p:nvSpPr>
          <p:cNvPr id="6" name="Shape 4"/>
          <p:cNvSpPr/>
          <p:nvPr/>
        </p:nvSpPr>
        <p:spPr>
          <a:xfrm>
            <a:off x="3760471" y="3745414"/>
            <a:ext cx="-1315116" cy="446830"/>
          </a:xfrm>
          <a:prstGeom prst="line">
            <a:avLst/>
          </a:prstGeom>
          <a:noFill/>
          <a:ln w="15570">
            <a:solidFill>
              <a:srgbClr val="A7A7A6"/>
            </a:solidFill>
            <a:prstDash val="solid"/>
          </a:ln>
        </p:spPr>
      </p:sp>
      <p:sp>
        <p:nvSpPr>
          <p:cNvPr id="7" name="Shape 5"/>
          <p:cNvSpPr/>
          <p:nvPr/>
        </p:nvSpPr>
        <p:spPr>
          <a:xfrm>
            <a:off x="3967889" y="1511262"/>
            <a:ext cx="3111263" cy="1340491"/>
          </a:xfrm>
          <a:prstGeom prst="line">
            <a:avLst/>
          </a:prstGeom>
          <a:noFill/>
          <a:ln w="14401">
            <a:solidFill>
              <a:srgbClr val="ADADAC"/>
            </a:solidFill>
            <a:prstDash val="solid"/>
          </a:ln>
        </p:spPr>
      </p:sp>
      <p:sp>
        <p:nvSpPr>
          <p:cNvPr id="8" name="Shape 6"/>
          <p:cNvSpPr/>
          <p:nvPr/>
        </p:nvSpPr>
        <p:spPr>
          <a:xfrm>
            <a:off x="2445356" y="4192245"/>
            <a:ext cx="-1315116" cy="446830"/>
          </a:xfrm>
          <a:prstGeom prst="line">
            <a:avLst/>
          </a:prstGeom>
          <a:noFill/>
          <a:ln w="14401">
            <a:solidFill>
              <a:srgbClr val="ADADAC"/>
            </a:solidFill>
            <a:prstDash val="solid"/>
          </a:ln>
        </p:spPr>
      </p:sp>
      <p:sp>
        <p:nvSpPr>
          <p:cNvPr id="9" name="Shape 7"/>
          <p:cNvSpPr/>
          <p:nvPr/>
        </p:nvSpPr>
        <p:spPr>
          <a:xfrm>
            <a:off x="2030520" y="3745414"/>
            <a:ext cx="414835" cy="0"/>
          </a:xfrm>
          <a:prstGeom prst="line">
            <a:avLst/>
          </a:prstGeom>
          <a:noFill/>
          <a:ln w="13233">
            <a:solidFill>
              <a:srgbClr val="B4B4B3"/>
            </a:solidFill>
            <a:prstDash val="solid"/>
          </a:ln>
        </p:spPr>
      </p:sp>
      <p:sp>
        <p:nvSpPr>
          <p:cNvPr id="10" name="Shape 8"/>
          <p:cNvSpPr/>
          <p:nvPr/>
        </p:nvSpPr>
        <p:spPr>
          <a:xfrm>
            <a:off x="5512488" y="1958093"/>
            <a:ext cx="-1544599" cy="446830"/>
          </a:xfrm>
          <a:prstGeom prst="line">
            <a:avLst/>
          </a:prstGeom>
          <a:noFill/>
          <a:ln w="13233">
            <a:solidFill>
              <a:srgbClr val="B4B4B3"/>
            </a:solidFill>
            <a:prstDash val="solid"/>
          </a:ln>
        </p:spPr>
      </p:sp>
      <p:sp>
        <p:nvSpPr>
          <p:cNvPr id="11" name="Shape 9"/>
          <p:cNvSpPr/>
          <p:nvPr/>
        </p:nvSpPr>
        <p:spPr>
          <a:xfrm>
            <a:off x="1130240" y="4639075"/>
            <a:ext cx="-207418" cy="446830"/>
          </a:xfrm>
          <a:prstGeom prst="line">
            <a:avLst/>
          </a:prstGeom>
          <a:noFill/>
          <a:ln w="13233">
            <a:solidFill>
              <a:srgbClr val="B4B4B3"/>
            </a:solidFill>
            <a:prstDash val="solid"/>
          </a:ln>
        </p:spPr>
      </p:sp>
      <p:sp>
        <p:nvSpPr>
          <p:cNvPr id="12" name="Shape 10"/>
          <p:cNvSpPr/>
          <p:nvPr/>
        </p:nvSpPr>
        <p:spPr>
          <a:xfrm>
            <a:off x="715405" y="4639075"/>
            <a:ext cx="-207418" cy="446830"/>
          </a:xfrm>
          <a:prstGeom prst="line">
            <a:avLst/>
          </a:prstGeom>
          <a:noFill/>
          <a:ln w="13233">
            <a:solidFill>
              <a:srgbClr val="B4B4B3"/>
            </a:solidFill>
            <a:prstDash val="solid"/>
          </a:ln>
        </p:spPr>
      </p:sp>
      <p:sp>
        <p:nvSpPr>
          <p:cNvPr id="13" name="Shape 11"/>
          <p:cNvSpPr/>
          <p:nvPr/>
        </p:nvSpPr>
        <p:spPr>
          <a:xfrm>
            <a:off x="3967889" y="2851753"/>
            <a:ext cx="0" cy="446830"/>
          </a:xfrm>
          <a:prstGeom prst="line">
            <a:avLst/>
          </a:prstGeom>
          <a:noFill/>
          <a:ln w="13233">
            <a:solidFill>
              <a:srgbClr val="B4B4B3"/>
            </a:solidFill>
            <a:prstDash val="solid"/>
          </a:ln>
        </p:spPr>
      </p:sp>
      <p:sp>
        <p:nvSpPr>
          <p:cNvPr id="14" name="Shape 12"/>
          <p:cNvSpPr/>
          <p:nvPr/>
        </p:nvSpPr>
        <p:spPr>
          <a:xfrm>
            <a:off x="7079152" y="2851753"/>
            <a:ext cx="0" cy="2234152"/>
          </a:xfrm>
          <a:prstGeom prst="line">
            <a:avLst/>
          </a:prstGeom>
          <a:noFill/>
          <a:ln w="13233">
            <a:solidFill>
              <a:srgbClr val="B4B4B3"/>
            </a:solidFill>
            <a:prstDash val="solid"/>
          </a:ln>
        </p:spPr>
      </p:sp>
      <p:sp>
        <p:nvSpPr>
          <p:cNvPr id="15" name="Shape 13"/>
          <p:cNvSpPr/>
          <p:nvPr/>
        </p:nvSpPr>
        <p:spPr>
          <a:xfrm>
            <a:off x="5719905" y="2851753"/>
            <a:ext cx="-207418" cy="446830"/>
          </a:xfrm>
          <a:prstGeom prst="line">
            <a:avLst/>
          </a:prstGeom>
          <a:noFill/>
          <a:ln w="13233">
            <a:solidFill>
              <a:srgbClr val="B4B4B3"/>
            </a:solidFill>
            <a:prstDash val="solid"/>
          </a:ln>
        </p:spPr>
      </p:sp>
      <p:sp>
        <p:nvSpPr>
          <p:cNvPr id="16" name="Shape 14"/>
          <p:cNvSpPr/>
          <p:nvPr/>
        </p:nvSpPr>
        <p:spPr>
          <a:xfrm>
            <a:off x="5719905" y="2851753"/>
            <a:ext cx="-207418" cy="2234152"/>
          </a:xfrm>
          <a:prstGeom prst="line">
            <a:avLst/>
          </a:prstGeom>
          <a:noFill/>
          <a:ln w="13233">
            <a:solidFill>
              <a:srgbClr val="B4B4B3"/>
            </a:solidFill>
            <a:prstDash val="solid"/>
          </a:ln>
        </p:spPr>
      </p:sp>
      <p:sp>
        <p:nvSpPr>
          <p:cNvPr id="17" name="Shape 15"/>
          <p:cNvSpPr/>
          <p:nvPr/>
        </p:nvSpPr>
        <p:spPr>
          <a:xfrm>
            <a:off x="5512488" y="2404923"/>
            <a:ext cx="0" cy="1340491"/>
          </a:xfrm>
          <a:prstGeom prst="line">
            <a:avLst/>
          </a:prstGeom>
          <a:noFill/>
          <a:ln w="13233">
            <a:solidFill>
              <a:srgbClr val="B4B4B3"/>
            </a:solidFill>
            <a:prstDash val="solid"/>
          </a:ln>
        </p:spPr>
      </p:sp>
      <p:sp>
        <p:nvSpPr>
          <p:cNvPr id="18" name="Shape 16"/>
          <p:cNvSpPr/>
          <p:nvPr/>
        </p:nvSpPr>
        <p:spPr>
          <a:xfrm>
            <a:off x="5512488" y="2404923"/>
            <a:ext cx="-207418" cy="446830"/>
          </a:xfrm>
          <a:prstGeom prst="line">
            <a:avLst/>
          </a:prstGeom>
          <a:noFill/>
          <a:ln w="13233">
            <a:solidFill>
              <a:srgbClr val="B4B4B3"/>
            </a:solidFill>
            <a:prstDash val="solid"/>
          </a:ln>
        </p:spPr>
      </p:sp>
      <p:sp>
        <p:nvSpPr>
          <p:cNvPr id="19" name="Shape 17"/>
          <p:cNvSpPr/>
          <p:nvPr/>
        </p:nvSpPr>
        <p:spPr>
          <a:xfrm>
            <a:off x="3967889" y="3298584"/>
            <a:ext cx="-1522533" cy="446830"/>
          </a:xfrm>
          <a:prstGeom prst="line">
            <a:avLst/>
          </a:prstGeom>
          <a:noFill/>
          <a:ln w="12065">
            <a:solidFill>
              <a:srgbClr val="BABAB9"/>
            </a:solidFill>
            <a:prstDash val="solid"/>
          </a:ln>
        </p:spPr>
      </p:sp>
      <p:sp>
        <p:nvSpPr>
          <p:cNvPr id="20" name="Shape 18"/>
          <p:cNvSpPr/>
          <p:nvPr/>
        </p:nvSpPr>
        <p:spPr>
          <a:xfrm>
            <a:off x="7079152" y="2851753"/>
            <a:ext cx="0" cy="893661"/>
          </a:xfrm>
          <a:prstGeom prst="line">
            <a:avLst/>
          </a:prstGeom>
          <a:noFill/>
          <a:ln w="12065">
            <a:solidFill>
              <a:srgbClr val="BABAB9"/>
            </a:solidFill>
            <a:prstDash val="solid"/>
          </a:ln>
        </p:spPr>
      </p:sp>
      <p:sp>
        <p:nvSpPr>
          <p:cNvPr id="21" name="Shape 19"/>
          <p:cNvSpPr/>
          <p:nvPr/>
        </p:nvSpPr>
        <p:spPr>
          <a:xfrm>
            <a:off x="2030520" y="4192245"/>
            <a:ext cx="414835" cy="0"/>
          </a:xfrm>
          <a:prstGeom prst="line">
            <a:avLst/>
          </a:prstGeom>
          <a:noFill/>
          <a:ln w="12065">
            <a:solidFill>
              <a:srgbClr val="BABAB9"/>
            </a:solidFill>
            <a:prstDash val="solid"/>
          </a:ln>
        </p:spPr>
      </p:sp>
      <p:sp>
        <p:nvSpPr>
          <p:cNvPr id="22" name="Shape 20"/>
          <p:cNvSpPr/>
          <p:nvPr/>
        </p:nvSpPr>
        <p:spPr>
          <a:xfrm>
            <a:off x="2030520" y="4192245"/>
            <a:ext cx="-1315116" cy="446830"/>
          </a:xfrm>
          <a:prstGeom prst="line">
            <a:avLst/>
          </a:prstGeom>
          <a:noFill/>
          <a:ln w="12065">
            <a:solidFill>
              <a:srgbClr val="BABAB9"/>
            </a:solidFill>
            <a:prstDash val="solid"/>
          </a:ln>
        </p:spPr>
      </p:sp>
      <p:sp>
        <p:nvSpPr>
          <p:cNvPr id="23" name="Shape 21"/>
          <p:cNvSpPr/>
          <p:nvPr/>
        </p:nvSpPr>
        <p:spPr>
          <a:xfrm>
            <a:off x="2030520" y="4192245"/>
            <a:ext cx="414835" cy="446830"/>
          </a:xfrm>
          <a:prstGeom prst="line">
            <a:avLst/>
          </a:prstGeom>
          <a:noFill/>
          <a:ln w="12065">
            <a:solidFill>
              <a:srgbClr val="BABAB9"/>
            </a:solidFill>
            <a:prstDash val="solid"/>
          </a:ln>
        </p:spPr>
      </p:sp>
      <p:sp>
        <p:nvSpPr>
          <p:cNvPr id="24" name="Shape 22"/>
          <p:cNvSpPr/>
          <p:nvPr/>
        </p:nvSpPr>
        <p:spPr>
          <a:xfrm>
            <a:off x="2030520" y="4192245"/>
            <a:ext cx="414835" cy="893661"/>
          </a:xfrm>
          <a:prstGeom prst="line">
            <a:avLst/>
          </a:prstGeom>
          <a:noFill/>
          <a:ln w="12065">
            <a:solidFill>
              <a:srgbClr val="BABAB9"/>
            </a:solidFill>
            <a:prstDash val="solid"/>
          </a:ln>
        </p:spPr>
      </p:sp>
      <p:sp>
        <p:nvSpPr>
          <p:cNvPr id="25" name="Shape 23"/>
          <p:cNvSpPr/>
          <p:nvPr/>
        </p:nvSpPr>
        <p:spPr>
          <a:xfrm>
            <a:off x="3967889" y="2851753"/>
            <a:ext cx="1337181" cy="0"/>
          </a:xfrm>
          <a:prstGeom prst="line">
            <a:avLst/>
          </a:prstGeom>
          <a:noFill/>
          <a:ln w="12065">
            <a:solidFill>
              <a:srgbClr val="BABAB9"/>
            </a:solidFill>
            <a:prstDash val="solid"/>
          </a:ln>
        </p:spPr>
      </p:sp>
      <p:sp>
        <p:nvSpPr>
          <p:cNvPr id="26" name="Shape 24"/>
          <p:cNvSpPr/>
          <p:nvPr/>
        </p:nvSpPr>
        <p:spPr>
          <a:xfrm>
            <a:off x="5305070" y="2851753"/>
            <a:ext cx="-1129764" cy="893661"/>
          </a:xfrm>
          <a:prstGeom prst="line">
            <a:avLst/>
          </a:prstGeom>
          <a:noFill/>
          <a:ln w="12065">
            <a:solidFill>
              <a:srgbClr val="BABAB9"/>
            </a:solidFill>
            <a:prstDash val="solid"/>
          </a:ln>
        </p:spPr>
      </p:sp>
      <p:sp>
        <p:nvSpPr>
          <p:cNvPr id="27" name="Shape 25"/>
          <p:cNvSpPr/>
          <p:nvPr/>
        </p:nvSpPr>
        <p:spPr>
          <a:xfrm>
            <a:off x="2860191" y="3745414"/>
            <a:ext cx="1315116" cy="0"/>
          </a:xfrm>
          <a:prstGeom prst="line">
            <a:avLst/>
          </a:prstGeom>
          <a:noFill/>
          <a:ln w="12065">
            <a:solidFill>
              <a:srgbClr val="BABAB9"/>
            </a:solidFill>
            <a:prstDash val="solid"/>
          </a:ln>
        </p:spPr>
      </p:sp>
      <p:sp>
        <p:nvSpPr>
          <p:cNvPr id="28" name="Shape 26"/>
          <p:cNvSpPr/>
          <p:nvPr/>
        </p:nvSpPr>
        <p:spPr>
          <a:xfrm>
            <a:off x="2030520" y="3745414"/>
            <a:ext cx="829670" cy="446830"/>
          </a:xfrm>
          <a:prstGeom prst="line">
            <a:avLst/>
          </a:prstGeom>
          <a:noFill/>
          <a:ln w="12065">
            <a:solidFill>
              <a:srgbClr val="BABAB9"/>
            </a:solidFill>
            <a:prstDash val="solid"/>
          </a:ln>
        </p:spPr>
      </p:sp>
      <p:sp>
        <p:nvSpPr>
          <p:cNvPr id="29" name="Shape 27"/>
          <p:cNvSpPr/>
          <p:nvPr/>
        </p:nvSpPr>
        <p:spPr>
          <a:xfrm>
            <a:off x="2030520" y="3745414"/>
            <a:ext cx="-692863" cy="1340491"/>
          </a:xfrm>
          <a:prstGeom prst="line">
            <a:avLst/>
          </a:prstGeom>
          <a:noFill/>
          <a:ln w="12065">
            <a:solidFill>
              <a:srgbClr val="BABAB9"/>
            </a:solidFill>
            <a:prstDash val="solid"/>
          </a:ln>
        </p:spPr>
      </p:sp>
      <p:sp>
        <p:nvSpPr>
          <p:cNvPr id="30" name="Shape 28"/>
          <p:cNvSpPr/>
          <p:nvPr/>
        </p:nvSpPr>
        <p:spPr>
          <a:xfrm>
            <a:off x="5455339" y="3688266"/>
            <a:ext cx="114297" cy="114297"/>
          </a:xfrm>
          <a:prstGeom prst="ellipse">
            <a:avLst/>
          </a:prstGeom>
          <a:solidFill>
            <a:srgbClr val="FFFFFF"/>
          </a:solidFill>
          <a:ln w="16510">
            <a:solidFill>
              <a:srgbClr val="1A1A16"/>
            </a:solidFill>
            <a:prstDash val="solid"/>
          </a:ln>
        </p:spPr>
      </p:sp>
      <p:sp>
        <p:nvSpPr>
          <p:cNvPr id="31" name="Shape 29"/>
          <p:cNvSpPr/>
          <p:nvPr/>
        </p:nvSpPr>
        <p:spPr>
          <a:xfrm>
            <a:off x="2803042" y="4135096"/>
            <a:ext cx="114297" cy="114297"/>
          </a:xfrm>
          <a:prstGeom prst="ellipse">
            <a:avLst/>
          </a:prstGeom>
          <a:solidFill>
            <a:srgbClr val="FFFFFF"/>
          </a:solidFill>
          <a:ln w="16510">
            <a:solidFill>
              <a:srgbClr val="1A1A16"/>
            </a:solidFill>
            <a:prstDash val="solid"/>
          </a:ln>
        </p:spPr>
      </p:sp>
      <p:sp>
        <p:nvSpPr>
          <p:cNvPr id="32" name="Shape 30"/>
          <p:cNvSpPr/>
          <p:nvPr/>
        </p:nvSpPr>
        <p:spPr>
          <a:xfrm>
            <a:off x="5462133" y="3247944"/>
            <a:ext cx="100962" cy="101597"/>
          </a:xfrm>
          <a:prstGeom prst="rect">
            <a:avLst/>
          </a:prstGeom>
          <a:solidFill>
            <a:srgbClr val="FFFFFF"/>
          </a:solidFill>
          <a:ln w="16510">
            <a:solidFill>
              <a:srgbClr val="1A1A16"/>
            </a:solidFill>
            <a:prstDash val="solid"/>
          </a:ln>
        </p:spPr>
      </p:sp>
      <p:sp>
        <p:nvSpPr>
          <p:cNvPr id="33" name="Shape 31"/>
          <p:cNvSpPr/>
          <p:nvPr/>
        </p:nvSpPr>
        <p:spPr>
          <a:xfrm>
            <a:off x="5441179" y="1886538"/>
            <a:ext cx="142871" cy="142871"/>
          </a:xfrm>
          <a:prstGeom prst="diamond">
            <a:avLst/>
          </a:prstGeom>
          <a:solidFill>
            <a:srgbClr val="FFFFFF"/>
          </a:solidFill>
          <a:ln w="16510">
            <a:solidFill>
              <a:srgbClr val="1A1A16"/>
            </a:solidFill>
            <a:prstDash val="solid"/>
          </a:ln>
        </p:spPr>
      </p:sp>
      <p:sp>
        <p:nvSpPr>
          <p:cNvPr id="34" name="Shape 32"/>
          <p:cNvSpPr/>
          <p:nvPr/>
        </p:nvSpPr>
        <p:spPr>
          <a:xfrm>
            <a:off x="2388207" y="4135096"/>
            <a:ext cx="114297" cy="114297"/>
          </a:xfrm>
          <a:prstGeom prst="ellipse">
            <a:avLst/>
          </a:prstGeom>
          <a:solidFill>
            <a:srgbClr val="FFFFFF"/>
          </a:solidFill>
          <a:ln w="16510">
            <a:solidFill>
              <a:srgbClr val="1A1A16"/>
            </a:solidFill>
            <a:prstDash val="solid"/>
          </a:ln>
        </p:spPr>
      </p:sp>
      <p:sp>
        <p:nvSpPr>
          <p:cNvPr id="35" name="Shape 33"/>
          <p:cNvSpPr/>
          <p:nvPr/>
        </p:nvSpPr>
        <p:spPr>
          <a:xfrm>
            <a:off x="2390715" y="5023359"/>
            <a:ext cx="109217" cy="125092"/>
          </a:xfrm>
          <a:prstGeom prst="hexagon">
            <a:avLst/>
          </a:prstGeom>
          <a:solidFill>
            <a:srgbClr val="FFFFFF"/>
          </a:solidFill>
          <a:ln w="16510">
            <a:solidFill>
              <a:srgbClr val="1A1A16"/>
            </a:solidFill>
            <a:prstDash val="solid"/>
          </a:ln>
        </p:spPr>
      </p:sp>
      <p:sp>
        <p:nvSpPr>
          <p:cNvPr id="36" name="Shape 34"/>
          <p:cNvSpPr/>
          <p:nvPr/>
        </p:nvSpPr>
        <p:spPr>
          <a:xfrm>
            <a:off x="453379" y="5023359"/>
            <a:ext cx="109217" cy="125092"/>
          </a:xfrm>
          <a:prstGeom prst="hexagon">
            <a:avLst/>
          </a:prstGeom>
          <a:solidFill>
            <a:srgbClr val="FFFFFF"/>
          </a:solidFill>
          <a:ln w="16510">
            <a:solidFill>
              <a:srgbClr val="1A1A16"/>
            </a:solidFill>
            <a:prstDash val="solid"/>
          </a:ln>
        </p:spPr>
      </p:sp>
      <p:sp>
        <p:nvSpPr>
          <p:cNvPr id="37" name="Shape 35"/>
          <p:cNvSpPr/>
          <p:nvPr/>
        </p:nvSpPr>
        <p:spPr>
          <a:xfrm>
            <a:off x="5254494" y="2800915"/>
            <a:ext cx="100962" cy="101597"/>
          </a:xfrm>
          <a:prstGeom prst="rect">
            <a:avLst/>
          </a:prstGeom>
          <a:solidFill>
            <a:srgbClr val="FFFFFF"/>
          </a:solidFill>
          <a:ln w="16510">
            <a:solidFill>
              <a:srgbClr val="1A1A16"/>
            </a:solidFill>
            <a:prstDash val="solid"/>
          </a:ln>
        </p:spPr>
      </p:sp>
      <p:sp>
        <p:nvSpPr>
          <p:cNvPr id="38" name="Shape 36"/>
          <p:cNvSpPr/>
          <p:nvPr/>
        </p:nvSpPr>
        <p:spPr>
          <a:xfrm>
            <a:off x="1073091" y="4581926"/>
            <a:ext cx="114297" cy="114297"/>
          </a:xfrm>
          <a:prstGeom prst="ellipse">
            <a:avLst/>
          </a:prstGeom>
          <a:solidFill>
            <a:srgbClr val="FFFFFF"/>
          </a:solidFill>
          <a:ln w="16510">
            <a:solidFill>
              <a:srgbClr val="1A1A16"/>
            </a:solidFill>
            <a:prstDash val="solid"/>
          </a:ln>
        </p:spPr>
      </p:sp>
      <p:sp>
        <p:nvSpPr>
          <p:cNvPr id="39" name="Shape 37"/>
          <p:cNvSpPr/>
          <p:nvPr/>
        </p:nvSpPr>
        <p:spPr>
          <a:xfrm>
            <a:off x="7024829" y="5023359"/>
            <a:ext cx="108582" cy="125092"/>
          </a:xfrm>
          <a:prstGeom prst="hexagon">
            <a:avLst/>
          </a:prstGeom>
          <a:solidFill>
            <a:srgbClr val="FFFFFF"/>
          </a:solidFill>
          <a:ln w="16510">
            <a:solidFill>
              <a:srgbClr val="1A1A16"/>
            </a:solidFill>
            <a:prstDash val="solid"/>
          </a:ln>
        </p:spPr>
      </p:sp>
      <p:sp>
        <p:nvSpPr>
          <p:cNvPr id="40" name="Shape 38"/>
          <p:cNvSpPr/>
          <p:nvPr/>
        </p:nvSpPr>
        <p:spPr>
          <a:xfrm>
            <a:off x="3896263" y="2333567"/>
            <a:ext cx="143506" cy="142871"/>
          </a:xfrm>
          <a:prstGeom prst="diamond">
            <a:avLst/>
          </a:prstGeom>
          <a:solidFill>
            <a:srgbClr val="FFFFFF"/>
          </a:solidFill>
          <a:ln w="16510">
            <a:solidFill>
              <a:srgbClr val="1A1A16"/>
            </a:solidFill>
            <a:prstDash val="solid"/>
          </a:ln>
        </p:spPr>
      </p:sp>
      <p:sp>
        <p:nvSpPr>
          <p:cNvPr id="41" name="Shape 39"/>
          <p:cNvSpPr/>
          <p:nvPr/>
        </p:nvSpPr>
        <p:spPr>
          <a:xfrm>
            <a:off x="4118158" y="3688266"/>
            <a:ext cx="114297" cy="114297"/>
          </a:xfrm>
          <a:prstGeom prst="ellipse">
            <a:avLst/>
          </a:prstGeom>
          <a:solidFill>
            <a:srgbClr val="FFFFFF"/>
          </a:solidFill>
          <a:ln w="16510">
            <a:solidFill>
              <a:srgbClr val="1A1A16"/>
            </a:solidFill>
            <a:prstDash val="solid"/>
          </a:ln>
        </p:spPr>
      </p:sp>
      <p:sp>
        <p:nvSpPr>
          <p:cNvPr id="42" name="Shape 40"/>
          <p:cNvSpPr/>
          <p:nvPr/>
        </p:nvSpPr>
        <p:spPr>
          <a:xfrm>
            <a:off x="2388207" y="4581926"/>
            <a:ext cx="114297" cy="114297"/>
          </a:xfrm>
          <a:prstGeom prst="ellipse">
            <a:avLst/>
          </a:prstGeom>
          <a:solidFill>
            <a:srgbClr val="FFFFFF"/>
          </a:solidFill>
          <a:ln w="16510">
            <a:solidFill>
              <a:srgbClr val="1A1A16"/>
            </a:solidFill>
            <a:prstDash val="solid"/>
          </a:ln>
        </p:spPr>
      </p:sp>
      <p:sp>
        <p:nvSpPr>
          <p:cNvPr id="43" name="Shape 41"/>
          <p:cNvSpPr/>
          <p:nvPr/>
        </p:nvSpPr>
        <p:spPr>
          <a:xfrm>
            <a:off x="868658" y="5023359"/>
            <a:ext cx="108582" cy="125092"/>
          </a:xfrm>
          <a:prstGeom prst="hexagon">
            <a:avLst/>
          </a:prstGeom>
          <a:solidFill>
            <a:srgbClr val="FFFFFF"/>
          </a:solidFill>
          <a:ln w="16510">
            <a:solidFill>
              <a:srgbClr val="1A1A16"/>
            </a:solidFill>
            <a:prstDash val="solid"/>
          </a:ln>
        </p:spPr>
      </p:sp>
      <p:sp>
        <p:nvSpPr>
          <p:cNvPr id="44" name="Shape 42"/>
          <p:cNvSpPr/>
          <p:nvPr/>
        </p:nvSpPr>
        <p:spPr>
          <a:xfrm>
            <a:off x="3910740" y="3241435"/>
            <a:ext cx="114297" cy="114297"/>
          </a:xfrm>
          <a:prstGeom prst="ellipse">
            <a:avLst/>
          </a:prstGeom>
          <a:solidFill>
            <a:srgbClr val="FFFFFF"/>
          </a:solidFill>
          <a:ln w="16510">
            <a:solidFill>
              <a:srgbClr val="1A1A16"/>
            </a:solidFill>
            <a:prstDash val="solid"/>
          </a:ln>
        </p:spPr>
      </p:sp>
      <p:sp>
        <p:nvSpPr>
          <p:cNvPr id="45" name="Shape 43"/>
          <p:cNvSpPr/>
          <p:nvPr/>
        </p:nvSpPr>
        <p:spPr>
          <a:xfrm>
            <a:off x="2788850" y="3674018"/>
            <a:ext cx="142871" cy="142871"/>
          </a:xfrm>
          <a:prstGeom prst="diamond">
            <a:avLst/>
          </a:prstGeom>
          <a:solidFill>
            <a:srgbClr val="FFFFFF"/>
          </a:solidFill>
          <a:ln w="16510">
            <a:solidFill>
              <a:srgbClr val="1A1A16"/>
            </a:solidFill>
            <a:prstDash val="solid"/>
          </a:ln>
        </p:spPr>
      </p:sp>
      <p:sp>
        <p:nvSpPr>
          <p:cNvPr id="46" name="Shape 44"/>
          <p:cNvSpPr/>
          <p:nvPr/>
        </p:nvSpPr>
        <p:spPr>
          <a:xfrm>
            <a:off x="7022004" y="3688266"/>
            <a:ext cx="114297" cy="114297"/>
          </a:xfrm>
          <a:prstGeom prst="ellipse">
            <a:avLst/>
          </a:prstGeom>
          <a:solidFill>
            <a:srgbClr val="FFFFFF"/>
          </a:solidFill>
          <a:ln w="16510">
            <a:solidFill>
              <a:srgbClr val="1A1A16"/>
            </a:solidFill>
            <a:prstDash val="solid"/>
          </a:ln>
        </p:spPr>
      </p:sp>
      <p:sp>
        <p:nvSpPr>
          <p:cNvPr id="47" name="Shape 45"/>
          <p:cNvSpPr/>
          <p:nvPr/>
        </p:nvSpPr>
        <p:spPr>
          <a:xfrm>
            <a:off x="7028639" y="2800915"/>
            <a:ext cx="100962" cy="101597"/>
          </a:xfrm>
          <a:prstGeom prst="rect">
            <a:avLst/>
          </a:prstGeom>
          <a:solidFill>
            <a:srgbClr val="FFFFFF"/>
          </a:solidFill>
          <a:ln w="16510">
            <a:solidFill>
              <a:srgbClr val="1A1A16"/>
            </a:solidFill>
            <a:prstDash val="solid"/>
          </a:ln>
        </p:spPr>
      </p:sp>
      <p:sp>
        <p:nvSpPr>
          <p:cNvPr id="48" name="Shape 46"/>
          <p:cNvSpPr/>
          <p:nvPr/>
        </p:nvSpPr>
        <p:spPr>
          <a:xfrm>
            <a:off x="5435464" y="2315787"/>
            <a:ext cx="154301" cy="133347"/>
          </a:xfrm>
          <a:prstGeom prst="triangle">
            <a:avLst/>
          </a:prstGeom>
          <a:solidFill>
            <a:srgbClr val="FFFFFF"/>
          </a:solidFill>
          <a:ln w="16510">
            <a:solidFill>
              <a:srgbClr val="1A1A16"/>
            </a:solidFill>
            <a:prstDash val="solid"/>
          </a:ln>
        </p:spPr>
      </p:sp>
      <p:sp>
        <p:nvSpPr>
          <p:cNvPr id="49" name="Shape 47"/>
          <p:cNvSpPr/>
          <p:nvPr/>
        </p:nvSpPr>
        <p:spPr>
          <a:xfrm>
            <a:off x="2394525" y="3694973"/>
            <a:ext cx="101597" cy="100962"/>
          </a:xfrm>
          <a:prstGeom prst="rect">
            <a:avLst/>
          </a:prstGeom>
          <a:solidFill>
            <a:srgbClr val="FFFFFF"/>
          </a:solidFill>
          <a:ln w="16510">
            <a:solidFill>
              <a:srgbClr val="1A1A16"/>
            </a:solidFill>
            <a:prstDash val="solid"/>
          </a:ln>
        </p:spPr>
      </p:sp>
      <p:sp>
        <p:nvSpPr>
          <p:cNvPr id="50" name="Shape 48"/>
          <p:cNvSpPr/>
          <p:nvPr/>
        </p:nvSpPr>
        <p:spPr>
          <a:xfrm>
            <a:off x="3896263" y="1439509"/>
            <a:ext cx="143506" cy="143506"/>
          </a:xfrm>
          <a:prstGeom prst="diamond">
            <a:avLst/>
          </a:prstGeom>
          <a:solidFill>
            <a:srgbClr val="FFFFFF"/>
          </a:solidFill>
          <a:ln w="16510">
            <a:solidFill>
              <a:srgbClr val="1A1A16"/>
            </a:solidFill>
            <a:prstDash val="solid"/>
          </a:ln>
        </p:spPr>
      </p:sp>
      <p:sp>
        <p:nvSpPr>
          <p:cNvPr id="51" name="Shape 49"/>
          <p:cNvSpPr/>
          <p:nvPr/>
        </p:nvSpPr>
        <p:spPr>
          <a:xfrm>
            <a:off x="1979881" y="3694973"/>
            <a:ext cx="101597" cy="100962"/>
          </a:xfrm>
          <a:prstGeom prst="rect">
            <a:avLst/>
          </a:prstGeom>
          <a:solidFill>
            <a:srgbClr val="FFFFFF"/>
          </a:solidFill>
          <a:ln w="16510">
            <a:solidFill>
              <a:srgbClr val="1A1A16"/>
            </a:solidFill>
            <a:prstDash val="solid"/>
          </a:ln>
        </p:spPr>
      </p:sp>
      <p:sp>
        <p:nvSpPr>
          <p:cNvPr id="52" name="Shape 50"/>
          <p:cNvSpPr/>
          <p:nvPr/>
        </p:nvSpPr>
        <p:spPr>
          <a:xfrm>
            <a:off x="5643104" y="2762816"/>
            <a:ext cx="153666" cy="133347"/>
          </a:xfrm>
          <a:prstGeom prst="triangle">
            <a:avLst/>
          </a:prstGeom>
          <a:solidFill>
            <a:srgbClr val="FFFFFF"/>
          </a:solidFill>
          <a:ln w="16510">
            <a:solidFill>
              <a:srgbClr val="1A1A16"/>
            </a:solidFill>
            <a:prstDash val="solid"/>
          </a:ln>
        </p:spPr>
      </p:sp>
      <p:sp>
        <p:nvSpPr>
          <p:cNvPr id="53" name="Shape 51"/>
          <p:cNvSpPr/>
          <p:nvPr/>
        </p:nvSpPr>
        <p:spPr>
          <a:xfrm>
            <a:off x="3703323" y="3688266"/>
            <a:ext cx="114297" cy="114297"/>
          </a:xfrm>
          <a:prstGeom prst="ellipse">
            <a:avLst/>
          </a:prstGeom>
          <a:solidFill>
            <a:srgbClr val="FFFFFF"/>
          </a:solidFill>
          <a:ln w="16510">
            <a:solidFill>
              <a:srgbClr val="1A1A16"/>
            </a:solidFill>
            <a:prstDash val="solid"/>
          </a:ln>
        </p:spPr>
      </p:sp>
      <p:sp>
        <p:nvSpPr>
          <p:cNvPr id="54" name="Shape 52"/>
          <p:cNvSpPr/>
          <p:nvPr/>
        </p:nvSpPr>
        <p:spPr>
          <a:xfrm>
            <a:off x="3917217" y="2800915"/>
            <a:ext cx="101597" cy="101597"/>
          </a:xfrm>
          <a:prstGeom prst="rect">
            <a:avLst/>
          </a:prstGeom>
          <a:solidFill>
            <a:srgbClr val="FFFFFF"/>
          </a:solidFill>
          <a:ln w="16510">
            <a:solidFill>
              <a:srgbClr val="1A1A16"/>
            </a:solidFill>
            <a:prstDash val="solid"/>
          </a:ln>
        </p:spPr>
      </p:sp>
      <p:sp>
        <p:nvSpPr>
          <p:cNvPr id="55" name="Shape 53"/>
          <p:cNvSpPr/>
          <p:nvPr/>
        </p:nvSpPr>
        <p:spPr>
          <a:xfrm>
            <a:off x="1283303" y="5023359"/>
            <a:ext cx="108582" cy="125092"/>
          </a:xfrm>
          <a:prstGeom prst="hexagon">
            <a:avLst/>
          </a:prstGeom>
          <a:solidFill>
            <a:srgbClr val="FFFFFF"/>
          </a:solidFill>
          <a:ln w="16510">
            <a:solidFill>
              <a:srgbClr val="1A1A16"/>
            </a:solidFill>
            <a:prstDash val="solid"/>
          </a:ln>
        </p:spPr>
      </p:sp>
      <p:sp>
        <p:nvSpPr>
          <p:cNvPr id="56" name="Shape 54"/>
          <p:cNvSpPr/>
          <p:nvPr/>
        </p:nvSpPr>
        <p:spPr>
          <a:xfrm>
            <a:off x="1973372" y="4135096"/>
            <a:ext cx="114297" cy="114297"/>
          </a:xfrm>
          <a:prstGeom prst="ellipse">
            <a:avLst/>
          </a:prstGeom>
          <a:solidFill>
            <a:srgbClr val="FFFFFF"/>
          </a:solidFill>
          <a:ln w="16510">
            <a:solidFill>
              <a:srgbClr val="1A1A16"/>
            </a:solidFill>
            <a:prstDash val="solid"/>
          </a:ln>
        </p:spPr>
      </p:sp>
      <p:sp>
        <p:nvSpPr>
          <p:cNvPr id="57" name="Shape 55"/>
          <p:cNvSpPr/>
          <p:nvPr/>
        </p:nvSpPr>
        <p:spPr>
          <a:xfrm>
            <a:off x="5458324"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658256" y="4581926"/>
            <a:ext cx="114297" cy="114297"/>
          </a:xfrm>
          <a:prstGeom prst="ellipse">
            <a:avLst/>
          </a:prstGeom>
          <a:solidFill>
            <a:srgbClr val="FFFFFF"/>
          </a:solidFill>
          <a:ln w="16510">
            <a:solidFill>
              <a:srgbClr val="1A1A16"/>
            </a:solidFill>
            <a:prstDash val="solid"/>
          </a:ln>
        </p:spPr>
      </p:sp>
      <p:sp>
        <p:nvSpPr>
          <p:cNvPr id="59" name="Text 57"/>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skeleton</a:t>
            </a:r>
            <a:endParaRPr lang="en-US" sz="1700" dirty="0"/>
          </a:p>
        </p:txBody>
      </p:sp>
      <p:sp>
        <p:nvSpPr>
          <p:cNvPr id="60" name="Text 58"/>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28 dependencies, and every claim still reachable</a:t>
            </a:r>
            <a:endParaRPr lang="en-US" sz="1100" dirty="0"/>
          </a:p>
        </p:txBody>
      </p:sp>
      <p:sp>
        <p:nvSpPr>
          <p:cNvPr id="61" name="Text 5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61</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E1E1E1"/>
            </a:solidFill>
            <a:prstDash val="dash"/>
          </a:ln>
        </p:spPr>
      </p:sp>
      <p:sp>
        <p:nvSpPr>
          <p:cNvPr id="3" name="Text 1"/>
          <p:cNvSpPr txBox="1"/>
          <p:nvPr/>
        </p:nvSpPr>
        <p:spPr>
          <a:xfrm>
            <a:off x="1111222" y="1930352"/>
            <a:ext cx="285742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E1E1E1"/>
            </a:solidFill>
            <a:prstDash val="dash"/>
          </a:ln>
        </p:spPr>
      </p:sp>
      <p:sp>
        <p:nvSpPr>
          <p:cNvPr id="5" name="Text 3"/>
          <p:cNvSpPr txBox="1"/>
          <p:nvPr/>
        </p:nvSpPr>
        <p:spPr>
          <a:xfrm>
            <a:off x="5048124" y="723882"/>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E1E1E1"/>
            </a:solidFill>
            <a:prstDash val="dash"/>
          </a:ln>
        </p:spPr>
      </p:sp>
      <p:sp>
        <p:nvSpPr>
          <p:cNvPr id="7" name="Text 5"/>
          <p:cNvSpPr txBox="1"/>
          <p:nvPr/>
        </p:nvSpPr>
        <p:spPr>
          <a:xfrm>
            <a:off x="5429114" y="6045049"/>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E1E1E1"/>
            </a:solidFill>
            <a:prstDash val="dash"/>
          </a:ln>
        </p:spPr>
      </p:sp>
      <p:sp>
        <p:nvSpPr>
          <p:cNvPr id="9" name="Text 7"/>
          <p:cNvSpPr txBox="1"/>
          <p:nvPr/>
        </p:nvSpPr>
        <p:spPr>
          <a:xfrm>
            <a:off x="9016775" y="1962101"/>
            <a:ext cx="2412940"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A3A3A2"/>
            </a:solidFill>
            <a:prstDash val="solid"/>
          </a:ln>
        </p:spPr>
      </p:sp>
      <p:sp>
        <p:nvSpPr>
          <p:cNvPr id="11" name="Shape 9"/>
          <p:cNvSpPr/>
          <p:nvPr/>
        </p:nvSpPr>
        <p:spPr>
          <a:xfrm>
            <a:off x="1644877" y="3039832"/>
            <a:ext cx="908310" cy="521607"/>
          </a:xfrm>
          <a:prstGeom prst="line">
            <a:avLst/>
          </a:prstGeom>
          <a:noFill/>
          <a:ln w="12700">
            <a:solidFill>
              <a:srgbClr val="A3A3A2"/>
            </a:solidFill>
            <a:prstDash val="solid"/>
          </a:ln>
        </p:spPr>
      </p:sp>
      <p:sp>
        <p:nvSpPr>
          <p:cNvPr id="12" name="Shape 10"/>
          <p:cNvSpPr/>
          <p:nvPr/>
        </p:nvSpPr>
        <p:spPr>
          <a:xfrm>
            <a:off x="2553187" y="3561439"/>
            <a:ext cx="218173" cy="-748073"/>
          </a:xfrm>
          <a:prstGeom prst="line">
            <a:avLst/>
          </a:prstGeom>
          <a:noFill/>
          <a:ln w="12700">
            <a:solidFill>
              <a:srgbClr val="A3A3A2"/>
            </a:solidFill>
            <a:prstDash val="solid"/>
          </a:ln>
        </p:spPr>
      </p:sp>
      <p:sp>
        <p:nvSpPr>
          <p:cNvPr id="13" name="Shape 11"/>
          <p:cNvSpPr/>
          <p:nvPr/>
        </p:nvSpPr>
        <p:spPr>
          <a:xfrm>
            <a:off x="2771360" y="2813366"/>
            <a:ext cx="-510137" cy="160071"/>
          </a:xfrm>
          <a:prstGeom prst="line">
            <a:avLst/>
          </a:prstGeom>
          <a:noFill/>
          <a:ln w="12700">
            <a:solidFill>
              <a:srgbClr val="A3A3A2"/>
            </a:solidFill>
            <a:prstDash val="solid"/>
          </a:ln>
        </p:spPr>
      </p:sp>
      <p:sp>
        <p:nvSpPr>
          <p:cNvPr id="14" name="Shape 12"/>
          <p:cNvSpPr/>
          <p:nvPr/>
        </p:nvSpPr>
        <p:spPr>
          <a:xfrm>
            <a:off x="2639495" y="4063023"/>
            <a:ext cx="1126551" cy="121115"/>
          </a:xfrm>
          <a:prstGeom prst="line">
            <a:avLst/>
          </a:prstGeom>
          <a:noFill/>
          <a:ln w="12700">
            <a:solidFill>
              <a:srgbClr val="A3A3A2"/>
            </a:solidFill>
            <a:prstDash val="solid"/>
          </a:ln>
        </p:spPr>
      </p:sp>
      <p:sp>
        <p:nvSpPr>
          <p:cNvPr id="15" name="Shape 13"/>
          <p:cNvSpPr/>
          <p:nvPr/>
        </p:nvSpPr>
        <p:spPr>
          <a:xfrm>
            <a:off x="2553187" y="3561439"/>
            <a:ext cx="-585452" cy="185647"/>
          </a:xfrm>
          <a:prstGeom prst="line">
            <a:avLst/>
          </a:prstGeom>
          <a:noFill/>
          <a:ln w="12700">
            <a:solidFill>
              <a:srgbClr val="A3A3A2"/>
            </a:solidFill>
            <a:prstDash val="solid"/>
          </a:ln>
        </p:spPr>
      </p:sp>
      <p:sp>
        <p:nvSpPr>
          <p:cNvPr id="16" name="Shape 14"/>
          <p:cNvSpPr/>
          <p:nvPr/>
        </p:nvSpPr>
        <p:spPr>
          <a:xfrm>
            <a:off x="2771360" y="2813366"/>
            <a:ext cx="311679" cy="455952"/>
          </a:xfrm>
          <a:prstGeom prst="line">
            <a:avLst/>
          </a:prstGeom>
          <a:noFill/>
          <a:ln w="12700">
            <a:solidFill>
              <a:srgbClr val="A3A3A2"/>
            </a:solidFill>
            <a:prstDash val="solid"/>
          </a:ln>
        </p:spPr>
      </p:sp>
      <p:sp>
        <p:nvSpPr>
          <p:cNvPr id="17" name="Shape 15"/>
          <p:cNvSpPr/>
          <p:nvPr/>
        </p:nvSpPr>
        <p:spPr>
          <a:xfrm>
            <a:off x="2771360" y="2813366"/>
            <a:ext cx="610430" cy="-470927"/>
          </a:xfrm>
          <a:prstGeom prst="line">
            <a:avLst/>
          </a:prstGeom>
          <a:noFill/>
          <a:ln w="12700">
            <a:solidFill>
              <a:srgbClr val="A3A3A2"/>
            </a:solidFill>
            <a:prstDash val="solid"/>
          </a:ln>
        </p:spPr>
      </p:sp>
      <p:sp>
        <p:nvSpPr>
          <p:cNvPr id="18" name="Shape 16"/>
          <p:cNvSpPr/>
          <p:nvPr/>
        </p:nvSpPr>
        <p:spPr>
          <a:xfrm>
            <a:off x="2261223" y="2973437"/>
            <a:ext cx="27198" cy="-484056"/>
          </a:xfrm>
          <a:prstGeom prst="line">
            <a:avLst/>
          </a:prstGeom>
          <a:noFill/>
          <a:ln w="12700">
            <a:solidFill>
              <a:srgbClr val="A3A3A2"/>
            </a:solidFill>
            <a:prstDash val="solid"/>
          </a:ln>
        </p:spPr>
      </p:sp>
      <p:sp>
        <p:nvSpPr>
          <p:cNvPr id="19" name="Shape 17"/>
          <p:cNvSpPr/>
          <p:nvPr/>
        </p:nvSpPr>
        <p:spPr>
          <a:xfrm>
            <a:off x="1967735" y="3747086"/>
            <a:ext cx="309178" cy="164709"/>
          </a:xfrm>
          <a:prstGeom prst="line">
            <a:avLst/>
          </a:prstGeom>
          <a:noFill/>
          <a:ln w="12700">
            <a:solidFill>
              <a:srgbClr val="A3A3A2"/>
            </a:solidFill>
            <a:prstDash val="solid"/>
          </a:ln>
        </p:spPr>
      </p:sp>
      <p:sp>
        <p:nvSpPr>
          <p:cNvPr id="20" name="Shape 18"/>
          <p:cNvSpPr/>
          <p:nvPr/>
        </p:nvSpPr>
        <p:spPr>
          <a:xfrm>
            <a:off x="2276913" y="3911794"/>
            <a:ext cx="-171717" cy="283790"/>
          </a:xfrm>
          <a:prstGeom prst="line">
            <a:avLst/>
          </a:prstGeom>
          <a:noFill/>
          <a:ln w="12700">
            <a:solidFill>
              <a:srgbClr val="A3A3A2"/>
            </a:solidFill>
            <a:prstDash val="solid"/>
          </a:ln>
        </p:spPr>
      </p:sp>
      <p:sp>
        <p:nvSpPr>
          <p:cNvPr id="21" name="Shape 19"/>
          <p:cNvSpPr/>
          <p:nvPr/>
        </p:nvSpPr>
        <p:spPr>
          <a:xfrm>
            <a:off x="2105195" y="4195584"/>
            <a:ext cx="-358194" cy="104533"/>
          </a:xfrm>
          <a:prstGeom prst="line">
            <a:avLst/>
          </a:prstGeom>
          <a:noFill/>
          <a:ln w="12700">
            <a:solidFill>
              <a:srgbClr val="A3A3A2"/>
            </a:solidFill>
            <a:prstDash val="solid"/>
          </a:ln>
        </p:spPr>
      </p:sp>
      <p:sp>
        <p:nvSpPr>
          <p:cNvPr id="22" name="Shape 20"/>
          <p:cNvSpPr/>
          <p:nvPr/>
        </p:nvSpPr>
        <p:spPr>
          <a:xfrm>
            <a:off x="2293571" y="3348276"/>
            <a:ext cx="259617" cy="213163"/>
          </a:xfrm>
          <a:prstGeom prst="line">
            <a:avLst/>
          </a:prstGeom>
          <a:noFill/>
          <a:ln w="12700">
            <a:solidFill>
              <a:srgbClr val="A3A3A2"/>
            </a:solidFill>
            <a:prstDash val="solid"/>
          </a:ln>
        </p:spPr>
      </p:sp>
      <p:sp>
        <p:nvSpPr>
          <p:cNvPr id="23" name="Shape 21"/>
          <p:cNvSpPr/>
          <p:nvPr/>
        </p:nvSpPr>
        <p:spPr>
          <a:xfrm>
            <a:off x="1644877" y="3039832"/>
            <a:ext cx="163897" cy="-326447"/>
          </a:xfrm>
          <a:prstGeom prst="line">
            <a:avLst/>
          </a:prstGeom>
          <a:noFill/>
          <a:ln w="12700">
            <a:solidFill>
              <a:srgbClr val="A3A3A2"/>
            </a:solidFill>
            <a:prstDash val="solid"/>
          </a:ln>
        </p:spPr>
      </p:sp>
      <p:sp>
        <p:nvSpPr>
          <p:cNvPr id="24" name="Shape 22"/>
          <p:cNvSpPr/>
          <p:nvPr/>
        </p:nvSpPr>
        <p:spPr>
          <a:xfrm>
            <a:off x="3083040" y="3269318"/>
            <a:ext cx="207012" cy="-371026"/>
          </a:xfrm>
          <a:prstGeom prst="line">
            <a:avLst/>
          </a:prstGeom>
          <a:noFill/>
          <a:ln w="12700">
            <a:solidFill>
              <a:srgbClr val="A3A3A2"/>
            </a:solidFill>
            <a:prstDash val="solid"/>
          </a:ln>
        </p:spPr>
      </p:sp>
      <p:sp>
        <p:nvSpPr>
          <p:cNvPr id="25" name="Shape 23"/>
          <p:cNvSpPr/>
          <p:nvPr/>
        </p:nvSpPr>
        <p:spPr>
          <a:xfrm>
            <a:off x="6412338" y="1745766"/>
            <a:ext cx="951108" cy="583373"/>
          </a:xfrm>
          <a:prstGeom prst="line">
            <a:avLst/>
          </a:prstGeom>
          <a:noFill/>
          <a:ln w="12700">
            <a:solidFill>
              <a:srgbClr val="A3A3A2"/>
            </a:solidFill>
            <a:prstDash val="solid"/>
          </a:ln>
        </p:spPr>
      </p:sp>
      <p:sp>
        <p:nvSpPr>
          <p:cNvPr id="26" name="Shape 24"/>
          <p:cNvSpPr/>
          <p:nvPr/>
        </p:nvSpPr>
        <p:spPr>
          <a:xfrm>
            <a:off x="5717452" y="1450449"/>
            <a:ext cx="694886" cy="295316"/>
          </a:xfrm>
          <a:prstGeom prst="line">
            <a:avLst/>
          </a:prstGeom>
          <a:noFill/>
          <a:ln w="12700">
            <a:solidFill>
              <a:srgbClr val="A3A3A2"/>
            </a:solidFill>
            <a:prstDash val="solid"/>
          </a:ln>
        </p:spPr>
      </p:sp>
      <p:sp>
        <p:nvSpPr>
          <p:cNvPr id="27" name="Shape 25"/>
          <p:cNvSpPr/>
          <p:nvPr/>
        </p:nvSpPr>
        <p:spPr>
          <a:xfrm>
            <a:off x="5717452" y="1450449"/>
            <a:ext cx="195391" cy="283718"/>
          </a:xfrm>
          <a:prstGeom prst="line">
            <a:avLst/>
          </a:prstGeom>
          <a:noFill/>
          <a:ln w="12700">
            <a:solidFill>
              <a:srgbClr val="A3A3A2"/>
            </a:solidFill>
            <a:prstDash val="solid"/>
          </a:ln>
        </p:spPr>
      </p:sp>
      <p:sp>
        <p:nvSpPr>
          <p:cNvPr id="28" name="Shape 26"/>
          <p:cNvSpPr/>
          <p:nvPr/>
        </p:nvSpPr>
        <p:spPr>
          <a:xfrm>
            <a:off x="5912843" y="1734167"/>
            <a:ext cx="-185832" cy="291519"/>
          </a:xfrm>
          <a:prstGeom prst="line">
            <a:avLst/>
          </a:prstGeom>
          <a:noFill/>
          <a:ln w="12700">
            <a:solidFill>
              <a:srgbClr val="A3A3A2"/>
            </a:solidFill>
            <a:prstDash val="solid"/>
          </a:ln>
        </p:spPr>
      </p:sp>
      <p:sp>
        <p:nvSpPr>
          <p:cNvPr id="29" name="Shape 27"/>
          <p:cNvSpPr/>
          <p:nvPr/>
        </p:nvSpPr>
        <p:spPr>
          <a:xfrm>
            <a:off x="5727011" y="2025686"/>
            <a:ext cx="305221" cy="126086"/>
          </a:xfrm>
          <a:prstGeom prst="line">
            <a:avLst/>
          </a:prstGeom>
          <a:noFill/>
          <a:ln w="12700">
            <a:solidFill>
              <a:srgbClr val="A3A3A2"/>
            </a:solidFill>
            <a:prstDash val="solid"/>
          </a:ln>
        </p:spPr>
      </p:sp>
      <p:sp>
        <p:nvSpPr>
          <p:cNvPr id="30" name="Shape 28"/>
          <p:cNvSpPr/>
          <p:nvPr/>
        </p:nvSpPr>
        <p:spPr>
          <a:xfrm>
            <a:off x="6412338" y="1745766"/>
            <a:ext cx="359546" cy="-220625"/>
          </a:xfrm>
          <a:prstGeom prst="line">
            <a:avLst/>
          </a:prstGeom>
          <a:noFill/>
          <a:ln w="12700">
            <a:solidFill>
              <a:srgbClr val="A3A3A2"/>
            </a:solidFill>
            <a:prstDash val="solid"/>
          </a:ln>
        </p:spPr>
      </p:sp>
      <p:sp>
        <p:nvSpPr>
          <p:cNvPr id="31" name="Shape 29"/>
          <p:cNvSpPr/>
          <p:nvPr/>
        </p:nvSpPr>
        <p:spPr>
          <a:xfrm>
            <a:off x="6771884" y="1525141"/>
            <a:ext cx="304568" cy="352801"/>
          </a:xfrm>
          <a:prstGeom prst="line">
            <a:avLst/>
          </a:prstGeom>
          <a:noFill/>
          <a:ln w="12700">
            <a:solidFill>
              <a:srgbClr val="A3A3A2"/>
            </a:solidFill>
            <a:prstDash val="solid"/>
          </a:ln>
        </p:spPr>
      </p:sp>
      <p:sp>
        <p:nvSpPr>
          <p:cNvPr id="32" name="Shape 30"/>
          <p:cNvSpPr/>
          <p:nvPr/>
        </p:nvSpPr>
        <p:spPr>
          <a:xfrm>
            <a:off x="5727011" y="2025686"/>
            <a:ext cx="-137309" cy="426818"/>
          </a:xfrm>
          <a:prstGeom prst="line">
            <a:avLst/>
          </a:prstGeom>
          <a:noFill/>
          <a:ln w="12700">
            <a:solidFill>
              <a:srgbClr val="A3A3A2"/>
            </a:solidFill>
            <a:prstDash val="solid"/>
          </a:ln>
        </p:spPr>
      </p:sp>
      <p:sp>
        <p:nvSpPr>
          <p:cNvPr id="33" name="Shape 31"/>
          <p:cNvSpPr/>
          <p:nvPr/>
        </p:nvSpPr>
        <p:spPr>
          <a:xfrm>
            <a:off x="7076451" y="1877942"/>
            <a:ext cx="-330872" cy="522532"/>
          </a:xfrm>
          <a:prstGeom prst="line">
            <a:avLst/>
          </a:prstGeom>
          <a:noFill/>
          <a:ln w="12700">
            <a:solidFill>
              <a:srgbClr val="A3A3A2"/>
            </a:solidFill>
            <a:prstDash val="solid"/>
          </a:ln>
        </p:spPr>
      </p:sp>
      <p:sp>
        <p:nvSpPr>
          <p:cNvPr id="34" name="Shape 32"/>
          <p:cNvSpPr/>
          <p:nvPr/>
        </p:nvSpPr>
        <p:spPr>
          <a:xfrm>
            <a:off x="5717452" y="1450449"/>
            <a:ext cx="347130" cy="-114625"/>
          </a:xfrm>
          <a:prstGeom prst="line">
            <a:avLst/>
          </a:prstGeom>
          <a:noFill/>
          <a:ln w="12700">
            <a:solidFill>
              <a:srgbClr val="A3A3A2"/>
            </a:solidFill>
            <a:prstDash val="solid"/>
          </a:ln>
        </p:spPr>
      </p:sp>
      <p:sp>
        <p:nvSpPr>
          <p:cNvPr id="35" name="Shape 33"/>
          <p:cNvSpPr/>
          <p:nvPr/>
        </p:nvSpPr>
        <p:spPr>
          <a:xfrm>
            <a:off x="7076451" y="1877942"/>
            <a:ext cx="295953" cy="-500815"/>
          </a:xfrm>
          <a:prstGeom prst="line">
            <a:avLst/>
          </a:prstGeom>
          <a:noFill/>
          <a:ln w="12700">
            <a:solidFill>
              <a:srgbClr val="A3A3A2"/>
            </a:solidFill>
            <a:prstDash val="solid"/>
          </a:ln>
        </p:spPr>
      </p:sp>
      <p:sp>
        <p:nvSpPr>
          <p:cNvPr id="36" name="Shape 34"/>
          <p:cNvSpPr/>
          <p:nvPr/>
        </p:nvSpPr>
        <p:spPr>
          <a:xfrm>
            <a:off x="5938438" y="5152295"/>
            <a:ext cx="1513603" cy="-116671"/>
          </a:xfrm>
          <a:prstGeom prst="line">
            <a:avLst/>
          </a:prstGeom>
          <a:noFill/>
          <a:ln w="12700">
            <a:solidFill>
              <a:srgbClr val="A3A3A2"/>
            </a:solidFill>
            <a:prstDash val="solid"/>
          </a:ln>
        </p:spPr>
      </p:sp>
      <p:sp>
        <p:nvSpPr>
          <p:cNvPr id="37" name="Shape 35"/>
          <p:cNvSpPr/>
          <p:nvPr/>
        </p:nvSpPr>
        <p:spPr>
          <a:xfrm>
            <a:off x="5938438" y="5152295"/>
            <a:ext cx="548332" cy="-104828"/>
          </a:xfrm>
          <a:prstGeom prst="line">
            <a:avLst/>
          </a:prstGeom>
          <a:noFill/>
          <a:ln w="12700">
            <a:solidFill>
              <a:srgbClr val="A3A3A2"/>
            </a:solidFill>
            <a:prstDash val="solid"/>
          </a:ln>
        </p:spPr>
      </p:sp>
      <p:sp>
        <p:nvSpPr>
          <p:cNvPr id="38" name="Shape 36"/>
          <p:cNvSpPr/>
          <p:nvPr/>
        </p:nvSpPr>
        <p:spPr>
          <a:xfrm>
            <a:off x="6486769" y="5047467"/>
            <a:ext cx="385225" cy="15092"/>
          </a:xfrm>
          <a:prstGeom prst="line">
            <a:avLst/>
          </a:prstGeom>
          <a:noFill/>
          <a:ln w="12700">
            <a:solidFill>
              <a:srgbClr val="A3A3A2"/>
            </a:solidFill>
            <a:prstDash val="solid"/>
          </a:ln>
        </p:spPr>
      </p:sp>
      <p:sp>
        <p:nvSpPr>
          <p:cNvPr id="39" name="Shape 37"/>
          <p:cNvSpPr/>
          <p:nvPr/>
        </p:nvSpPr>
        <p:spPr>
          <a:xfrm>
            <a:off x="7452041" y="5035624"/>
            <a:ext cx="-1775" cy="419356"/>
          </a:xfrm>
          <a:prstGeom prst="line">
            <a:avLst/>
          </a:prstGeom>
          <a:noFill/>
          <a:ln w="12700">
            <a:solidFill>
              <a:srgbClr val="A3A3A2"/>
            </a:solidFill>
            <a:prstDash val="solid"/>
          </a:ln>
        </p:spPr>
      </p:sp>
      <p:sp>
        <p:nvSpPr>
          <p:cNvPr id="40" name="Shape 38"/>
          <p:cNvSpPr/>
          <p:nvPr/>
        </p:nvSpPr>
        <p:spPr>
          <a:xfrm>
            <a:off x="5851051" y="4472956"/>
            <a:ext cx="87387" cy="679339"/>
          </a:xfrm>
          <a:prstGeom prst="line">
            <a:avLst/>
          </a:prstGeom>
          <a:noFill/>
          <a:ln w="12700">
            <a:solidFill>
              <a:srgbClr val="A3A3A2"/>
            </a:solidFill>
            <a:prstDash val="solid"/>
          </a:ln>
        </p:spPr>
      </p:sp>
      <p:sp>
        <p:nvSpPr>
          <p:cNvPr id="41" name="Shape 39"/>
          <p:cNvSpPr/>
          <p:nvPr/>
        </p:nvSpPr>
        <p:spPr>
          <a:xfrm>
            <a:off x="6486769" y="5047467"/>
            <a:ext cx="153973" cy="-347974"/>
          </a:xfrm>
          <a:prstGeom prst="line">
            <a:avLst/>
          </a:prstGeom>
          <a:noFill/>
          <a:ln w="12700">
            <a:solidFill>
              <a:srgbClr val="A3A3A2"/>
            </a:solidFill>
            <a:prstDash val="solid"/>
          </a:ln>
        </p:spPr>
      </p:sp>
      <p:sp>
        <p:nvSpPr>
          <p:cNvPr id="42" name="Shape 40"/>
          <p:cNvSpPr/>
          <p:nvPr/>
        </p:nvSpPr>
        <p:spPr>
          <a:xfrm>
            <a:off x="7452041" y="5035624"/>
            <a:ext cx="59275" cy="-507266"/>
          </a:xfrm>
          <a:prstGeom prst="line">
            <a:avLst/>
          </a:prstGeom>
          <a:noFill/>
          <a:ln w="12700">
            <a:solidFill>
              <a:srgbClr val="A3A3A2"/>
            </a:solidFill>
            <a:prstDash val="solid"/>
          </a:ln>
        </p:spPr>
      </p:sp>
      <p:sp>
        <p:nvSpPr>
          <p:cNvPr id="43" name="Shape 41"/>
          <p:cNvSpPr/>
          <p:nvPr/>
        </p:nvSpPr>
        <p:spPr>
          <a:xfrm>
            <a:off x="6871995" y="5062560"/>
            <a:ext cx="-120171" cy="440081"/>
          </a:xfrm>
          <a:prstGeom prst="line">
            <a:avLst/>
          </a:prstGeom>
          <a:noFill/>
          <a:ln w="12700">
            <a:solidFill>
              <a:srgbClr val="A3A3A2"/>
            </a:solidFill>
            <a:prstDash val="solid"/>
          </a:ln>
        </p:spPr>
      </p:sp>
      <p:sp>
        <p:nvSpPr>
          <p:cNvPr id="44" name="Shape 42"/>
          <p:cNvSpPr/>
          <p:nvPr/>
        </p:nvSpPr>
        <p:spPr>
          <a:xfrm>
            <a:off x="6486769" y="5047467"/>
            <a:ext cx="-159740" cy="335698"/>
          </a:xfrm>
          <a:prstGeom prst="line">
            <a:avLst/>
          </a:prstGeom>
          <a:noFill/>
          <a:ln w="12700">
            <a:solidFill>
              <a:srgbClr val="A3A3A2"/>
            </a:solidFill>
            <a:prstDash val="solid"/>
          </a:ln>
        </p:spPr>
      </p:sp>
      <p:sp>
        <p:nvSpPr>
          <p:cNvPr id="45" name="Shape 43"/>
          <p:cNvSpPr/>
          <p:nvPr/>
        </p:nvSpPr>
        <p:spPr>
          <a:xfrm>
            <a:off x="7178755" y="4813813"/>
            <a:ext cx="273286" cy="221812"/>
          </a:xfrm>
          <a:prstGeom prst="line">
            <a:avLst/>
          </a:prstGeom>
          <a:noFill/>
          <a:ln w="12700">
            <a:solidFill>
              <a:srgbClr val="A3A3A2"/>
            </a:solidFill>
            <a:prstDash val="solid"/>
          </a:ln>
        </p:spPr>
      </p:sp>
      <p:sp>
        <p:nvSpPr>
          <p:cNvPr id="46" name="Shape 44"/>
          <p:cNvSpPr/>
          <p:nvPr/>
        </p:nvSpPr>
        <p:spPr>
          <a:xfrm>
            <a:off x="10225598" y="2920625"/>
            <a:ext cx="-527861" cy="408129"/>
          </a:xfrm>
          <a:prstGeom prst="line">
            <a:avLst/>
          </a:prstGeom>
          <a:noFill/>
          <a:ln w="12700">
            <a:solidFill>
              <a:srgbClr val="A3A3A2"/>
            </a:solidFill>
            <a:prstDash val="solid"/>
          </a:ln>
        </p:spPr>
      </p:sp>
      <p:sp>
        <p:nvSpPr>
          <p:cNvPr id="47" name="Shape 45"/>
          <p:cNvSpPr/>
          <p:nvPr/>
        </p:nvSpPr>
        <p:spPr>
          <a:xfrm>
            <a:off x="9697737" y="3328754"/>
            <a:ext cx="312268" cy="767486"/>
          </a:xfrm>
          <a:prstGeom prst="line">
            <a:avLst/>
          </a:prstGeom>
          <a:noFill/>
          <a:ln w="12700">
            <a:solidFill>
              <a:srgbClr val="A3A3A2"/>
            </a:solidFill>
            <a:prstDash val="solid"/>
          </a:ln>
        </p:spPr>
      </p:sp>
      <p:sp>
        <p:nvSpPr>
          <p:cNvPr id="48" name="Shape 46"/>
          <p:cNvSpPr/>
          <p:nvPr/>
        </p:nvSpPr>
        <p:spPr>
          <a:xfrm>
            <a:off x="10225598" y="2920625"/>
            <a:ext cx="86489" cy="527841"/>
          </a:xfrm>
          <a:prstGeom prst="line">
            <a:avLst/>
          </a:prstGeom>
          <a:noFill/>
          <a:ln w="12700">
            <a:solidFill>
              <a:srgbClr val="A3A3A2"/>
            </a:solidFill>
            <a:prstDash val="solid"/>
          </a:ln>
        </p:spPr>
      </p:sp>
      <p:sp>
        <p:nvSpPr>
          <p:cNvPr id="49" name="Shape 47"/>
          <p:cNvSpPr/>
          <p:nvPr/>
        </p:nvSpPr>
        <p:spPr>
          <a:xfrm>
            <a:off x="10312087" y="3448465"/>
            <a:ext cx="575025" cy="216796"/>
          </a:xfrm>
          <a:prstGeom prst="line">
            <a:avLst/>
          </a:prstGeom>
          <a:noFill/>
          <a:ln w="12700">
            <a:solidFill>
              <a:srgbClr val="A3A3A2"/>
            </a:solidFill>
            <a:prstDash val="solid"/>
          </a:ln>
        </p:spPr>
      </p:sp>
      <p:sp>
        <p:nvSpPr>
          <p:cNvPr id="50" name="Shape 48"/>
          <p:cNvSpPr/>
          <p:nvPr/>
        </p:nvSpPr>
        <p:spPr>
          <a:xfrm>
            <a:off x="9697737" y="3328754"/>
            <a:ext cx="-52562" cy="342527"/>
          </a:xfrm>
          <a:prstGeom prst="line">
            <a:avLst/>
          </a:prstGeom>
          <a:noFill/>
          <a:ln w="12700">
            <a:solidFill>
              <a:srgbClr val="A3A3A2"/>
            </a:solidFill>
            <a:prstDash val="solid"/>
          </a:ln>
        </p:spPr>
      </p:sp>
      <p:sp>
        <p:nvSpPr>
          <p:cNvPr id="51" name="Shape 49"/>
          <p:cNvSpPr/>
          <p:nvPr/>
        </p:nvSpPr>
        <p:spPr>
          <a:xfrm>
            <a:off x="10312087" y="3448465"/>
            <a:ext cx="393078" cy="-247721"/>
          </a:xfrm>
          <a:prstGeom prst="line">
            <a:avLst/>
          </a:prstGeom>
          <a:noFill/>
          <a:ln w="12700">
            <a:solidFill>
              <a:srgbClr val="A3A3A2"/>
            </a:solidFill>
            <a:prstDash val="solid"/>
          </a:ln>
        </p:spPr>
      </p:sp>
      <p:sp>
        <p:nvSpPr>
          <p:cNvPr id="52" name="Shape 50"/>
          <p:cNvSpPr/>
          <p:nvPr/>
        </p:nvSpPr>
        <p:spPr>
          <a:xfrm>
            <a:off x="10887113" y="3665261"/>
            <a:ext cx="335545" cy="161242"/>
          </a:xfrm>
          <a:prstGeom prst="line">
            <a:avLst/>
          </a:prstGeom>
          <a:noFill/>
          <a:ln w="12700">
            <a:solidFill>
              <a:srgbClr val="A3A3A2"/>
            </a:solidFill>
            <a:prstDash val="solid"/>
          </a:ln>
        </p:spPr>
      </p:sp>
      <p:sp>
        <p:nvSpPr>
          <p:cNvPr id="53" name="Shape 51"/>
          <p:cNvSpPr/>
          <p:nvPr/>
        </p:nvSpPr>
        <p:spPr>
          <a:xfrm>
            <a:off x="10010005" y="4096240"/>
            <a:ext cx="499128" cy="-55274"/>
          </a:xfrm>
          <a:prstGeom prst="line">
            <a:avLst/>
          </a:prstGeom>
          <a:noFill/>
          <a:ln w="12700">
            <a:solidFill>
              <a:srgbClr val="A3A3A2"/>
            </a:solidFill>
            <a:prstDash val="solid"/>
          </a:ln>
        </p:spPr>
      </p:sp>
      <p:sp>
        <p:nvSpPr>
          <p:cNvPr id="54" name="Shape 52"/>
          <p:cNvSpPr/>
          <p:nvPr/>
        </p:nvSpPr>
        <p:spPr>
          <a:xfrm>
            <a:off x="10705165" y="3200744"/>
            <a:ext cx="185359" cy="-782810"/>
          </a:xfrm>
          <a:prstGeom prst="line">
            <a:avLst/>
          </a:prstGeom>
          <a:noFill/>
          <a:ln w="12700">
            <a:solidFill>
              <a:srgbClr val="A3A3A2"/>
            </a:solidFill>
            <a:prstDash val="solid"/>
          </a:ln>
        </p:spPr>
      </p:sp>
      <p:sp>
        <p:nvSpPr>
          <p:cNvPr id="55" name="Shape 53"/>
          <p:cNvSpPr/>
          <p:nvPr/>
        </p:nvSpPr>
        <p:spPr>
          <a:xfrm>
            <a:off x="10700100" y="2845835"/>
            <a:ext cx="5065" cy="354910"/>
          </a:xfrm>
          <a:prstGeom prst="line">
            <a:avLst/>
          </a:prstGeom>
          <a:noFill/>
          <a:ln w="12700">
            <a:solidFill>
              <a:srgbClr val="A3A3A2"/>
            </a:solidFill>
            <a:prstDash val="solid"/>
          </a:ln>
        </p:spPr>
      </p:sp>
      <p:sp>
        <p:nvSpPr>
          <p:cNvPr id="56" name="Shape 54"/>
          <p:cNvSpPr/>
          <p:nvPr/>
        </p:nvSpPr>
        <p:spPr>
          <a:xfrm>
            <a:off x="9899275" y="2486802"/>
            <a:ext cx="326323" cy="433822"/>
          </a:xfrm>
          <a:prstGeom prst="line">
            <a:avLst/>
          </a:prstGeom>
          <a:noFill/>
          <a:ln w="12700">
            <a:solidFill>
              <a:srgbClr val="A3A3A2"/>
            </a:solidFill>
            <a:prstDash val="solid"/>
          </a:ln>
        </p:spPr>
      </p:sp>
      <p:sp>
        <p:nvSpPr>
          <p:cNvPr id="57" name="Shape 55"/>
          <p:cNvSpPr/>
          <p:nvPr/>
        </p:nvSpPr>
        <p:spPr>
          <a:xfrm>
            <a:off x="2544248" y="3967776"/>
            <a:ext cx="190495" cy="190495"/>
          </a:xfrm>
          <a:prstGeom prst="ellipse">
            <a:avLst/>
          </a:prstGeom>
          <a:solidFill>
            <a:srgbClr val="FFFFFF"/>
          </a:solidFill>
          <a:ln w="26669">
            <a:solidFill>
              <a:srgbClr val="1A1A16"/>
            </a:solidFill>
            <a:prstDash val="solid"/>
          </a:ln>
        </p:spPr>
      </p:sp>
      <p:sp>
        <p:nvSpPr>
          <p:cNvPr id="58" name="Shape 56"/>
          <p:cNvSpPr/>
          <p:nvPr/>
        </p:nvSpPr>
        <p:spPr>
          <a:xfrm>
            <a:off x="2489689" y="3497941"/>
            <a:ext cx="126997" cy="126997"/>
          </a:xfrm>
          <a:prstGeom prst="ellipse">
            <a:avLst/>
          </a:prstGeom>
          <a:solidFill>
            <a:srgbClr val="FFFFFF"/>
          </a:solidFill>
          <a:ln w="15875">
            <a:solidFill>
              <a:srgbClr val="1A1A16"/>
            </a:solidFill>
            <a:prstDash val="solid"/>
          </a:ln>
        </p:spPr>
      </p:sp>
      <p:sp>
        <p:nvSpPr>
          <p:cNvPr id="59" name="Shape 57"/>
          <p:cNvSpPr/>
          <p:nvPr/>
        </p:nvSpPr>
        <p:spPr>
          <a:xfrm>
            <a:off x="1581379" y="2976333"/>
            <a:ext cx="126997" cy="126997"/>
          </a:xfrm>
          <a:prstGeom prst="ellipse">
            <a:avLst/>
          </a:prstGeom>
          <a:solidFill>
            <a:srgbClr val="FFFFFF"/>
          </a:solidFill>
          <a:ln w="15875">
            <a:solidFill>
              <a:srgbClr val="1A1A16"/>
            </a:solidFill>
            <a:prstDash val="solid"/>
          </a:ln>
        </p:spPr>
      </p:sp>
      <p:sp>
        <p:nvSpPr>
          <p:cNvPr id="60" name="Shape 58"/>
          <p:cNvSpPr/>
          <p:nvPr/>
        </p:nvSpPr>
        <p:spPr>
          <a:xfrm>
            <a:off x="2707862" y="2749868"/>
            <a:ext cx="126997" cy="126997"/>
          </a:xfrm>
          <a:prstGeom prst="ellipse">
            <a:avLst/>
          </a:prstGeom>
          <a:solidFill>
            <a:srgbClr val="FFFFFF"/>
          </a:solidFill>
          <a:ln w="15875">
            <a:solidFill>
              <a:srgbClr val="1A1A16"/>
            </a:solidFill>
            <a:prstDash val="solid"/>
          </a:ln>
        </p:spPr>
      </p:sp>
      <p:sp>
        <p:nvSpPr>
          <p:cNvPr id="61" name="Shape 59"/>
          <p:cNvSpPr/>
          <p:nvPr/>
        </p:nvSpPr>
        <p:spPr>
          <a:xfrm>
            <a:off x="2197725" y="2909938"/>
            <a:ext cx="126997" cy="126997"/>
          </a:xfrm>
          <a:prstGeom prst="ellipse">
            <a:avLst/>
          </a:prstGeom>
          <a:solidFill>
            <a:srgbClr val="FFFFFF"/>
          </a:solidFill>
          <a:ln w="15875">
            <a:solidFill>
              <a:srgbClr val="1A1A16"/>
            </a:solidFill>
            <a:prstDash val="solid"/>
          </a:ln>
        </p:spPr>
      </p:sp>
      <p:sp>
        <p:nvSpPr>
          <p:cNvPr id="62" name="Shape 60"/>
          <p:cNvSpPr/>
          <p:nvPr/>
        </p:nvSpPr>
        <p:spPr>
          <a:xfrm>
            <a:off x="3702548" y="4120639"/>
            <a:ext cx="126997" cy="126997"/>
          </a:xfrm>
          <a:prstGeom prst="ellipse">
            <a:avLst/>
          </a:prstGeom>
          <a:solidFill>
            <a:srgbClr val="FFFFFF"/>
          </a:solidFill>
          <a:ln w="15875">
            <a:solidFill>
              <a:srgbClr val="1A1A16"/>
            </a:solidFill>
            <a:prstDash val="solid"/>
          </a:ln>
        </p:spPr>
      </p:sp>
      <p:sp>
        <p:nvSpPr>
          <p:cNvPr id="63" name="Shape 61"/>
          <p:cNvSpPr/>
          <p:nvPr/>
        </p:nvSpPr>
        <p:spPr>
          <a:xfrm>
            <a:off x="1904236" y="3683587"/>
            <a:ext cx="126997" cy="126997"/>
          </a:xfrm>
          <a:prstGeom prst="ellipse">
            <a:avLst/>
          </a:prstGeom>
          <a:solidFill>
            <a:srgbClr val="FFFFFF"/>
          </a:solidFill>
          <a:ln w="15875">
            <a:solidFill>
              <a:srgbClr val="1A1A16"/>
            </a:solidFill>
            <a:prstDash val="solid"/>
          </a:ln>
        </p:spPr>
      </p:sp>
      <p:sp>
        <p:nvSpPr>
          <p:cNvPr id="64" name="Shape 62"/>
          <p:cNvSpPr/>
          <p:nvPr/>
        </p:nvSpPr>
        <p:spPr>
          <a:xfrm>
            <a:off x="3019541" y="3205820"/>
            <a:ext cx="126997" cy="126997"/>
          </a:xfrm>
          <a:prstGeom prst="ellipse">
            <a:avLst/>
          </a:prstGeom>
          <a:solidFill>
            <a:srgbClr val="FFFFFF"/>
          </a:solidFill>
          <a:ln w="15875">
            <a:solidFill>
              <a:srgbClr val="1A1A16"/>
            </a:solidFill>
            <a:prstDash val="solid"/>
          </a:ln>
        </p:spPr>
      </p:sp>
      <p:sp>
        <p:nvSpPr>
          <p:cNvPr id="65" name="Shape 63"/>
          <p:cNvSpPr/>
          <p:nvPr/>
        </p:nvSpPr>
        <p:spPr>
          <a:xfrm>
            <a:off x="3318292" y="2278941"/>
            <a:ext cx="126997" cy="126997"/>
          </a:xfrm>
          <a:prstGeom prst="ellipse">
            <a:avLst/>
          </a:prstGeom>
          <a:solidFill>
            <a:srgbClr val="FFFFFF"/>
          </a:solidFill>
          <a:ln w="15875">
            <a:solidFill>
              <a:srgbClr val="1A1A16"/>
            </a:solidFill>
            <a:prstDash val="solid"/>
          </a:ln>
        </p:spPr>
      </p:sp>
      <p:sp>
        <p:nvSpPr>
          <p:cNvPr id="66" name="Shape 64"/>
          <p:cNvSpPr/>
          <p:nvPr/>
        </p:nvSpPr>
        <p:spPr>
          <a:xfrm>
            <a:off x="2224923" y="2425882"/>
            <a:ext cx="126997" cy="126997"/>
          </a:xfrm>
          <a:prstGeom prst="ellipse">
            <a:avLst/>
          </a:prstGeom>
          <a:solidFill>
            <a:srgbClr val="FFFFFF"/>
          </a:solidFill>
          <a:ln w="15875">
            <a:solidFill>
              <a:srgbClr val="1A1A16"/>
            </a:solidFill>
            <a:prstDash val="solid"/>
          </a:ln>
        </p:spPr>
      </p:sp>
      <p:sp>
        <p:nvSpPr>
          <p:cNvPr id="67" name="Shape 65"/>
          <p:cNvSpPr/>
          <p:nvPr/>
        </p:nvSpPr>
        <p:spPr>
          <a:xfrm>
            <a:off x="2213414" y="3848296"/>
            <a:ext cx="126997" cy="126997"/>
          </a:xfrm>
          <a:prstGeom prst="ellipse">
            <a:avLst/>
          </a:prstGeom>
          <a:solidFill>
            <a:srgbClr val="FFFFFF"/>
          </a:solidFill>
          <a:ln w="15875">
            <a:solidFill>
              <a:srgbClr val="1A1A16"/>
            </a:solidFill>
            <a:prstDash val="solid"/>
          </a:ln>
        </p:spPr>
      </p:sp>
      <p:sp>
        <p:nvSpPr>
          <p:cNvPr id="68" name="Shape 66"/>
          <p:cNvSpPr/>
          <p:nvPr/>
        </p:nvSpPr>
        <p:spPr>
          <a:xfrm>
            <a:off x="2041697" y="4132086"/>
            <a:ext cx="126997" cy="126997"/>
          </a:xfrm>
          <a:prstGeom prst="ellipse">
            <a:avLst/>
          </a:prstGeom>
          <a:solidFill>
            <a:srgbClr val="FFFFFF"/>
          </a:solidFill>
          <a:ln w="15875">
            <a:solidFill>
              <a:srgbClr val="1A1A16"/>
            </a:solidFill>
            <a:prstDash val="solid"/>
          </a:ln>
        </p:spPr>
      </p:sp>
      <p:sp>
        <p:nvSpPr>
          <p:cNvPr id="69" name="Shape 67"/>
          <p:cNvSpPr/>
          <p:nvPr/>
        </p:nvSpPr>
        <p:spPr>
          <a:xfrm>
            <a:off x="1683502" y="4236619"/>
            <a:ext cx="126997" cy="126997"/>
          </a:xfrm>
          <a:prstGeom prst="ellipse">
            <a:avLst/>
          </a:prstGeom>
          <a:solidFill>
            <a:srgbClr val="FFFFFF"/>
          </a:solidFill>
          <a:ln w="15875">
            <a:solidFill>
              <a:srgbClr val="1A1A16"/>
            </a:solidFill>
            <a:prstDash val="solid"/>
          </a:ln>
        </p:spPr>
      </p:sp>
      <p:sp>
        <p:nvSpPr>
          <p:cNvPr id="70" name="Shape 68"/>
          <p:cNvSpPr/>
          <p:nvPr/>
        </p:nvSpPr>
        <p:spPr>
          <a:xfrm>
            <a:off x="2230072" y="3284778"/>
            <a:ext cx="126997" cy="126997"/>
          </a:xfrm>
          <a:prstGeom prst="ellipse">
            <a:avLst/>
          </a:prstGeom>
          <a:solidFill>
            <a:srgbClr val="FFFFFF"/>
          </a:solidFill>
          <a:ln w="15875">
            <a:solidFill>
              <a:srgbClr val="1A1A16"/>
            </a:solidFill>
            <a:prstDash val="solid"/>
          </a:ln>
        </p:spPr>
      </p:sp>
      <p:sp>
        <p:nvSpPr>
          <p:cNvPr id="71" name="Shape 69"/>
          <p:cNvSpPr/>
          <p:nvPr/>
        </p:nvSpPr>
        <p:spPr>
          <a:xfrm>
            <a:off x="1745276" y="2649886"/>
            <a:ext cx="126997" cy="126997"/>
          </a:xfrm>
          <a:prstGeom prst="ellipse">
            <a:avLst/>
          </a:prstGeom>
          <a:solidFill>
            <a:srgbClr val="FFFFFF"/>
          </a:solidFill>
          <a:ln w="15875">
            <a:solidFill>
              <a:srgbClr val="1A1A16"/>
            </a:solidFill>
            <a:prstDash val="solid"/>
          </a:ln>
        </p:spPr>
      </p:sp>
      <p:sp>
        <p:nvSpPr>
          <p:cNvPr id="72" name="Shape 70"/>
          <p:cNvSpPr/>
          <p:nvPr/>
        </p:nvSpPr>
        <p:spPr>
          <a:xfrm>
            <a:off x="3226554" y="2834794"/>
            <a:ext cx="126997" cy="126997"/>
          </a:xfrm>
          <a:prstGeom prst="ellipse">
            <a:avLst/>
          </a:prstGeom>
          <a:solidFill>
            <a:srgbClr val="FFFFFF"/>
          </a:solidFill>
          <a:ln w="15875">
            <a:solidFill>
              <a:srgbClr val="1A1A16"/>
            </a:solidFill>
            <a:prstDash val="solid"/>
          </a:ln>
        </p:spPr>
      </p:sp>
      <p:sp>
        <p:nvSpPr>
          <p:cNvPr id="73" name="Shape 71"/>
          <p:cNvSpPr/>
          <p:nvPr/>
        </p:nvSpPr>
        <p:spPr>
          <a:xfrm>
            <a:off x="7268198" y="2233891"/>
            <a:ext cx="190495" cy="190495"/>
          </a:xfrm>
          <a:prstGeom prst="ellipse">
            <a:avLst/>
          </a:prstGeom>
          <a:solidFill>
            <a:srgbClr val="FFFFFF"/>
          </a:solidFill>
          <a:ln w="26669">
            <a:solidFill>
              <a:srgbClr val="1A1A16"/>
            </a:solidFill>
            <a:prstDash val="solid"/>
          </a:ln>
        </p:spPr>
      </p:sp>
      <p:sp>
        <p:nvSpPr>
          <p:cNvPr id="74" name="Shape 72"/>
          <p:cNvSpPr/>
          <p:nvPr/>
        </p:nvSpPr>
        <p:spPr>
          <a:xfrm>
            <a:off x="6348839" y="1682267"/>
            <a:ext cx="126997" cy="126997"/>
          </a:xfrm>
          <a:prstGeom prst="ellipse">
            <a:avLst/>
          </a:prstGeom>
          <a:solidFill>
            <a:srgbClr val="FFFFFF"/>
          </a:solidFill>
          <a:ln w="15875">
            <a:solidFill>
              <a:srgbClr val="1A1A16"/>
            </a:solidFill>
            <a:prstDash val="solid"/>
          </a:ln>
        </p:spPr>
      </p:sp>
      <p:sp>
        <p:nvSpPr>
          <p:cNvPr id="75" name="Shape 73"/>
          <p:cNvSpPr/>
          <p:nvPr/>
        </p:nvSpPr>
        <p:spPr>
          <a:xfrm>
            <a:off x="5653953" y="1386951"/>
            <a:ext cx="126997" cy="126997"/>
          </a:xfrm>
          <a:prstGeom prst="ellipse">
            <a:avLst/>
          </a:prstGeom>
          <a:solidFill>
            <a:srgbClr val="FFFFFF"/>
          </a:solidFill>
          <a:ln w="15875">
            <a:solidFill>
              <a:srgbClr val="1A1A16"/>
            </a:solidFill>
            <a:prstDash val="solid"/>
          </a:ln>
        </p:spPr>
      </p:sp>
      <p:sp>
        <p:nvSpPr>
          <p:cNvPr id="76" name="Shape 74"/>
          <p:cNvSpPr/>
          <p:nvPr/>
        </p:nvSpPr>
        <p:spPr>
          <a:xfrm>
            <a:off x="5849345" y="1670669"/>
            <a:ext cx="126997" cy="126997"/>
          </a:xfrm>
          <a:prstGeom prst="ellipse">
            <a:avLst/>
          </a:prstGeom>
          <a:solidFill>
            <a:srgbClr val="FFFFFF"/>
          </a:solidFill>
          <a:ln w="15875">
            <a:solidFill>
              <a:srgbClr val="1A1A16"/>
            </a:solidFill>
            <a:prstDash val="solid"/>
          </a:ln>
        </p:spPr>
      </p:sp>
      <p:sp>
        <p:nvSpPr>
          <p:cNvPr id="77" name="Shape 75"/>
          <p:cNvSpPr/>
          <p:nvPr/>
        </p:nvSpPr>
        <p:spPr>
          <a:xfrm>
            <a:off x="5663513" y="1962187"/>
            <a:ext cx="126997" cy="126997"/>
          </a:xfrm>
          <a:prstGeom prst="ellipse">
            <a:avLst/>
          </a:prstGeom>
          <a:solidFill>
            <a:srgbClr val="FFFFFF"/>
          </a:solidFill>
          <a:ln w="15875">
            <a:solidFill>
              <a:srgbClr val="1A1A16"/>
            </a:solidFill>
            <a:prstDash val="solid"/>
          </a:ln>
        </p:spPr>
      </p:sp>
      <p:sp>
        <p:nvSpPr>
          <p:cNvPr id="78" name="Shape 76"/>
          <p:cNvSpPr/>
          <p:nvPr/>
        </p:nvSpPr>
        <p:spPr>
          <a:xfrm>
            <a:off x="5968734" y="2088273"/>
            <a:ext cx="126997" cy="126997"/>
          </a:xfrm>
          <a:prstGeom prst="ellipse">
            <a:avLst/>
          </a:prstGeom>
          <a:solidFill>
            <a:srgbClr val="FFFFFF"/>
          </a:solidFill>
          <a:ln w="15875">
            <a:solidFill>
              <a:srgbClr val="1A1A16"/>
            </a:solidFill>
            <a:prstDash val="solid"/>
          </a:ln>
        </p:spPr>
      </p:sp>
      <p:sp>
        <p:nvSpPr>
          <p:cNvPr id="79" name="Shape 77"/>
          <p:cNvSpPr/>
          <p:nvPr/>
        </p:nvSpPr>
        <p:spPr>
          <a:xfrm>
            <a:off x="6708385" y="1461642"/>
            <a:ext cx="126997" cy="126997"/>
          </a:xfrm>
          <a:prstGeom prst="ellipse">
            <a:avLst/>
          </a:prstGeom>
          <a:solidFill>
            <a:srgbClr val="FFFFFF"/>
          </a:solidFill>
          <a:ln w="15875">
            <a:solidFill>
              <a:srgbClr val="1A1A16"/>
            </a:solidFill>
            <a:prstDash val="solid"/>
          </a:ln>
        </p:spPr>
      </p:sp>
      <p:sp>
        <p:nvSpPr>
          <p:cNvPr id="80" name="Shape 78"/>
          <p:cNvSpPr/>
          <p:nvPr/>
        </p:nvSpPr>
        <p:spPr>
          <a:xfrm>
            <a:off x="7012953" y="1814443"/>
            <a:ext cx="126997" cy="126997"/>
          </a:xfrm>
          <a:prstGeom prst="ellipse">
            <a:avLst/>
          </a:prstGeom>
          <a:solidFill>
            <a:srgbClr val="FFFFFF"/>
          </a:solidFill>
          <a:ln w="15875">
            <a:solidFill>
              <a:srgbClr val="1A1A16"/>
            </a:solidFill>
            <a:prstDash val="solid"/>
          </a:ln>
        </p:spPr>
      </p:sp>
      <p:sp>
        <p:nvSpPr>
          <p:cNvPr id="81" name="Shape 79"/>
          <p:cNvSpPr/>
          <p:nvPr/>
        </p:nvSpPr>
        <p:spPr>
          <a:xfrm>
            <a:off x="5526204" y="2389006"/>
            <a:ext cx="126997" cy="126997"/>
          </a:xfrm>
          <a:prstGeom prst="ellipse">
            <a:avLst/>
          </a:prstGeom>
          <a:solidFill>
            <a:srgbClr val="FFFFFF"/>
          </a:solidFill>
          <a:ln w="15875">
            <a:solidFill>
              <a:srgbClr val="1A1A16"/>
            </a:solidFill>
            <a:prstDash val="solid"/>
          </a:ln>
        </p:spPr>
      </p:sp>
      <p:sp>
        <p:nvSpPr>
          <p:cNvPr id="82" name="Shape 80"/>
          <p:cNvSpPr/>
          <p:nvPr/>
        </p:nvSpPr>
        <p:spPr>
          <a:xfrm>
            <a:off x="6682081" y="2336975"/>
            <a:ext cx="126997" cy="126997"/>
          </a:xfrm>
          <a:prstGeom prst="ellipse">
            <a:avLst/>
          </a:prstGeom>
          <a:solidFill>
            <a:srgbClr val="FFFFFF"/>
          </a:solidFill>
          <a:ln w="15875">
            <a:solidFill>
              <a:srgbClr val="1A1A16"/>
            </a:solidFill>
            <a:prstDash val="solid"/>
          </a:ln>
        </p:spPr>
      </p:sp>
      <p:sp>
        <p:nvSpPr>
          <p:cNvPr id="83" name="Shape 81"/>
          <p:cNvSpPr/>
          <p:nvPr/>
        </p:nvSpPr>
        <p:spPr>
          <a:xfrm>
            <a:off x="6001084" y="1272326"/>
            <a:ext cx="126997" cy="126997"/>
          </a:xfrm>
          <a:prstGeom prst="ellipse">
            <a:avLst/>
          </a:prstGeom>
          <a:solidFill>
            <a:srgbClr val="FFFFFF"/>
          </a:solidFill>
          <a:ln w="15875">
            <a:solidFill>
              <a:srgbClr val="1A1A16"/>
            </a:solidFill>
            <a:prstDash val="solid"/>
          </a:ln>
        </p:spPr>
      </p:sp>
      <p:sp>
        <p:nvSpPr>
          <p:cNvPr id="84" name="Shape 82"/>
          <p:cNvSpPr/>
          <p:nvPr/>
        </p:nvSpPr>
        <p:spPr>
          <a:xfrm>
            <a:off x="7308906" y="1313628"/>
            <a:ext cx="126997" cy="126997"/>
          </a:xfrm>
          <a:prstGeom prst="ellipse">
            <a:avLst/>
          </a:prstGeom>
          <a:solidFill>
            <a:srgbClr val="FFFFFF"/>
          </a:solidFill>
          <a:ln w="15875">
            <a:solidFill>
              <a:srgbClr val="1A1A16"/>
            </a:solidFill>
            <a:prstDash val="solid"/>
          </a:ln>
        </p:spPr>
      </p:sp>
      <p:sp>
        <p:nvSpPr>
          <p:cNvPr id="85" name="Shape 83"/>
          <p:cNvSpPr/>
          <p:nvPr/>
        </p:nvSpPr>
        <p:spPr>
          <a:xfrm>
            <a:off x="5843190" y="5057047"/>
            <a:ext cx="190495" cy="190495"/>
          </a:xfrm>
          <a:prstGeom prst="ellipse">
            <a:avLst/>
          </a:prstGeom>
          <a:solidFill>
            <a:srgbClr val="FFFFFF"/>
          </a:solidFill>
          <a:ln w="26669">
            <a:solidFill>
              <a:srgbClr val="1A1A16"/>
            </a:solidFill>
            <a:prstDash val="solid"/>
          </a:ln>
        </p:spPr>
      </p:sp>
      <p:sp>
        <p:nvSpPr>
          <p:cNvPr id="86" name="Shape 84"/>
          <p:cNvSpPr/>
          <p:nvPr/>
        </p:nvSpPr>
        <p:spPr>
          <a:xfrm>
            <a:off x="7388543" y="4972126"/>
            <a:ext cx="126997" cy="126997"/>
          </a:xfrm>
          <a:prstGeom prst="ellipse">
            <a:avLst/>
          </a:prstGeom>
          <a:solidFill>
            <a:srgbClr val="FFFFFF"/>
          </a:solidFill>
          <a:ln w="15875">
            <a:solidFill>
              <a:srgbClr val="1A1A16"/>
            </a:solidFill>
            <a:prstDash val="solid"/>
          </a:ln>
        </p:spPr>
      </p:sp>
      <p:sp>
        <p:nvSpPr>
          <p:cNvPr id="87" name="Shape 85"/>
          <p:cNvSpPr/>
          <p:nvPr/>
        </p:nvSpPr>
        <p:spPr>
          <a:xfrm>
            <a:off x="6423271" y="4983969"/>
            <a:ext cx="126997" cy="126997"/>
          </a:xfrm>
          <a:prstGeom prst="ellipse">
            <a:avLst/>
          </a:prstGeom>
          <a:solidFill>
            <a:srgbClr val="FFFFFF"/>
          </a:solidFill>
          <a:ln w="15875">
            <a:solidFill>
              <a:srgbClr val="1A1A16"/>
            </a:solidFill>
            <a:prstDash val="solid"/>
          </a:ln>
        </p:spPr>
      </p:sp>
      <p:sp>
        <p:nvSpPr>
          <p:cNvPr id="88" name="Shape 86"/>
          <p:cNvSpPr/>
          <p:nvPr/>
        </p:nvSpPr>
        <p:spPr>
          <a:xfrm>
            <a:off x="6808496" y="4999061"/>
            <a:ext cx="126997" cy="126997"/>
          </a:xfrm>
          <a:prstGeom prst="ellipse">
            <a:avLst/>
          </a:prstGeom>
          <a:solidFill>
            <a:srgbClr val="FFFFFF"/>
          </a:solidFill>
          <a:ln w="15875">
            <a:solidFill>
              <a:srgbClr val="1A1A16"/>
            </a:solidFill>
            <a:prstDash val="solid"/>
          </a:ln>
        </p:spPr>
      </p:sp>
      <p:sp>
        <p:nvSpPr>
          <p:cNvPr id="89" name="Shape 87"/>
          <p:cNvSpPr/>
          <p:nvPr/>
        </p:nvSpPr>
        <p:spPr>
          <a:xfrm>
            <a:off x="7386768" y="5391482"/>
            <a:ext cx="126997" cy="126997"/>
          </a:xfrm>
          <a:prstGeom prst="ellipse">
            <a:avLst/>
          </a:prstGeom>
          <a:solidFill>
            <a:srgbClr val="FFFFFF"/>
          </a:solidFill>
          <a:ln w="15875">
            <a:solidFill>
              <a:srgbClr val="1A1A16"/>
            </a:solidFill>
            <a:prstDash val="solid"/>
          </a:ln>
        </p:spPr>
      </p:sp>
      <p:sp>
        <p:nvSpPr>
          <p:cNvPr id="90" name="Shape 88"/>
          <p:cNvSpPr/>
          <p:nvPr/>
        </p:nvSpPr>
        <p:spPr>
          <a:xfrm>
            <a:off x="5787552" y="4409458"/>
            <a:ext cx="126997" cy="126997"/>
          </a:xfrm>
          <a:prstGeom prst="ellipse">
            <a:avLst/>
          </a:prstGeom>
          <a:solidFill>
            <a:srgbClr val="FFFFFF"/>
          </a:solidFill>
          <a:ln w="15875">
            <a:solidFill>
              <a:srgbClr val="1A1A16"/>
            </a:solidFill>
            <a:prstDash val="solid"/>
          </a:ln>
        </p:spPr>
      </p:sp>
      <p:sp>
        <p:nvSpPr>
          <p:cNvPr id="91" name="Shape 89"/>
          <p:cNvSpPr/>
          <p:nvPr/>
        </p:nvSpPr>
        <p:spPr>
          <a:xfrm>
            <a:off x="6577244" y="4635995"/>
            <a:ext cx="126997" cy="126997"/>
          </a:xfrm>
          <a:prstGeom prst="ellipse">
            <a:avLst/>
          </a:prstGeom>
          <a:solidFill>
            <a:srgbClr val="FFFFFF"/>
          </a:solidFill>
          <a:ln w="15875">
            <a:solidFill>
              <a:srgbClr val="1A1A16"/>
            </a:solidFill>
            <a:prstDash val="solid"/>
          </a:ln>
        </p:spPr>
      </p:sp>
      <p:sp>
        <p:nvSpPr>
          <p:cNvPr id="92" name="Shape 90"/>
          <p:cNvSpPr/>
          <p:nvPr/>
        </p:nvSpPr>
        <p:spPr>
          <a:xfrm>
            <a:off x="7447818" y="4464860"/>
            <a:ext cx="126997" cy="126997"/>
          </a:xfrm>
          <a:prstGeom prst="ellipse">
            <a:avLst/>
          </a:prstGeom>
          <a:solidFill>
            <a:srgbClr val="FFFFFF"/>
          </a:solidFill>
          <a:ln w="15875">
            <a:solidFill>
              <a:srgbClr val="1A1A16"/>
            </a:solidFill>
            <a:prstDash val="solid"/>
          </a:ln>
        </p:spPr>
      </p:sp>
      <p:sp>
        <p:nvSpPr>
          <p:cNvPr id="93" name="Shape 91"/>
          <p:cNvSpPr/>
          <p:nvPr/>
        </p:nvSpPr>
        <p:spPr>
          <a:xfrm>
            <a:off x="6688325" y="5439142"/>
            <a:ext cx="126997" cy="126997"/>
          </a:xfrm>
          <a:prstGeom prst="ellipse">
            <a:avLst/>
          </a:prstGeom>
          <a:solidFill>
            <a:srgbClr val="FFFFFF"/>
          </a:solidFill>
          <a:ln w="15875">
            <a:solidFill>
              <a:srgbClr val="1A1A16"/>
            </a:solidFill>
            <a:prstDash val="solid"/>
          </a:ln>
        </p:spPr>
      </p:sp>
      <p:sp>
        <p:nvSpPr>
          <p:cNvPr id="94" name="Shape 92"/>
          <p:cNvSpPr/>
          <p:nvPr/>
        </p:nvSpPr>
        <p:spPr>
          <a:xfrm>
            <a:off x="6263531" y="5319667"/>
            <a:ext cx="126997" cy="126997"/>
          </a:xfrm>
          <a:prstGeom prst="ellipse">
            <a:avLst/>
          </a:prstGeom>
          <a:solidFill>
            <a:srgbClr val="FFFFFF"/>
          </a:solidFill>
          <a:ln w="15875">
            <a:solidFill>
              <a:srgbClr val="1A1A16"/>
            </a:solidFill>
            <a:prstDash val="solid"/>
          </a:ln>
        </p:spPr>
      </p:sp>
      <p:sp>
        <p:nvSpPr>
          <p:cNvPr id="95" name="Shape 93"/>
          <p:cNvSpPr/>
          <p:nvPr/>
        </p:nvSpPr>
        <p:spPr>
          <a:xfrm>
            <a:off x="7115257" y="4750314"/>
            <a:ext cx="126997" cy="126997"/>
          </a:xfrm>
          <a:prstGeom prst="ellipse">
            <a:avLst/>
          </a:prstGeom>
          <a:solidFill>
            <a:srgbClr val="FFFFFF"/>
          </a:solidFill>
          <a:ln w="15875">
            <a:solidFill>
              <a:srgbClr val="1A1A16"/>
            </a:solidFill>
            <a:prstDash val="solid"/>
          </a:ln>
        </p:spPr>
      </p:sp>
      <p:sp>
        <p:nvSpPr>
          <p:cNvPr id="96" name="Shape 94"/>
          <p:cNvSpPr/>
          <p:nvPr/>
        </p:nvSpPr>
        <p:spPr>
          <a:xfrm>
            <a:off x="10130350" y="2825377"/>
            <a:ext cx="190495" cy="190495"/>
          </a:xfrm>
          <a:prstGeom prst="ellipse">
            <a:avLst/>
          </a:prstGeom>
          <a:solidFill>
            <a:srgbClr val="FFFFFF"/>
          </a:solidFill>
          <a:ln w="26669">
            <a:solidFill>
              <a:srgbClr val="1A1A16"/>
            </a:solidFill>
            <a:prstDash val="solid"/>
          </a:ln>
        </p:spPr>
      </p:sp>
      <p:sp>
        <p:nvSpPr>
          <p:cNvPr id="97" name="Shape 95"/>
          <p:cNvSpPr/>
          <p:nvPr/>
        </p:nvSpPr>
        <p:spPr>
          <a:xfrm>
            <a:off x="9634238" y="3265255"/>
            <a:ext cx="126997" cy="126997"/>
          </a:xfrm>
          <a:prstGeom prst="ellipse">
            <a:avLst/>
          </a:prstGeom>
          <a:solidFill>
            <a:srgbClr val="FFFFFF"/>
          </a:solidFill>
          <a:ln w="15875">
            <a:solidFill>
              <a:srgbClr val="1A1A16"/>
            </a:solidFill>
            <a:prstDash val="solid"/>
          </a:ln>
        </p:spPr>
      </p:sp>
      <p:sp>
        <p:nvSpPr>
          <p:cNvPr id="98" name="Shape 96"/>
          <p:cNvSpPr/>
          <p:nvPr/>
        </p:nvSpPr>
        <p:spPr>
          <a:xfrm>
            <a:off x="9946506" y="4032742"/>
            <a:ext cx="126997" cy="126997"/>
          </a:xfrm>
          <a:prstGeom prst="ellipse">
            <a:avLst/>
          </a:prstGeom>
          <a:solidFill>
            <a:srgbClr val="FFFFFF"/>
          </a:solidFill>
          <a:ln w="15875">
            <a:solidFill>
              <a:srgbClr val="1A1A16"/>
            </a:solidFill>
            <a:prstDash val="solid"/>
          </a:ln>
        </p:spPr>
      </p:sp>
      <p:sp>
        <p:nvSpPr>
          <p:cNvPr id="99" name="Shape 97"/>
          <p:cNvSpPr/>
          <p:nvPr/>
        </p:nvSpPr>
        <p:spPr>
          <a:xfrm>
            <a:off x="10248589" y="3384967"/>
            <a:ext cx="126997" cy="126997"/>
          </a:xfrm>
          <a:prstGeom prst="ellipse">
            <a:avLst/>
          </a:prstGeom>
          <a:solidFill>
            <a:srgbClr val="FFFFFF"/>
          </a:solidFill>
          <a:ln w="15875">
            <a:solidFill>
              <a:srgbClr val="1A1A16"/>
            </a:solidFill>
            <a:prstDash val="solid"/>
          </a:ln>
        </p:spPr>
      </p:sp>
      <p:sp>
        <p:nvSpPr>
          <p:cNvPr id="100" name="Shape 98"/>
          <p:cNvSpPr/>
          <p:nvPr/>
        </p:nvSpPr>
        <p:spPr>
          <a:xfrm>
            <a:off x="10823614" y="3601763"/>
            <a:ext cx="126997" cy="126997"/>
          </a:xfrm>
          <a:prstGeom prst="ellipse">
            <a:avLst/>
          </a:prstGeom>
          <a:solidFill>
            <a:srgbClr val="FFFFFF"/>
          </a:solidFill>
          <a:ln w="15875">
            <a:solidFill>
              <a:srgbClr val="1A1A16"/>
            </a:solidFill>
            <a:prstDash val="solid"/>
          </a:ln>
        </p:spPr>
      </p:sp>
      <p:sp>
        <p:nvSpPr>
          <p:cNvPr id="101" name="Shape 99"/>
          <p:cNvSpPr/>
          <p:nvPr/>
        </p:nvSpPr>
        <p:spPr>
          <a:xfrm>
            <a:off x="9581677" y="3607782"/>
            <a:ext cx="126997" cy="126997"/>
          </a:xfrm>
          <a:prstGeom prst="ellipse">
            <a:avLst/>
          </a:prstGeom>
          <a:solidFill>
            <a:srgbClr val="FFFFFF"/>
          </a:solidFill>
          <a:ln w="15875">
            <a:solidFill>
              <a:srgbClr val="1A1A16"/>
            </a:solidFill>
            <a:prstDash val="solid"/>
          </a:ln>
        </p:spPr>
      </p:sp>
      <p:sp>
        <p:nvSpPr>
          <p:cNvPr id="102" name="Shape 100"/>
          <p:cNvSpPr/>
          <p:nvPr/>
        </p:nvSpPr>
        <p:spPr>
          <a:xfrm>
            <a:off x="10641667" y="3137246"/>
            <a:ext cx="126997" cy="126997"/>
          </a:xfrm>
          <a:prstGeom prst="ellipse">
            <a:avLst/>
          </a:prstGeom>
          <a:solidFill>
            <a:srgbClr val="FFFFFF"/>
          </a:solidFill>
          <a:ln w="15875">
            <a:solidFill>
              <a:srgbClr val="1A1A16"/>
            </a:solidFill>
            <a:prstDash val="solid"/>
          </a:ln>
        </p:spPr>
      </p:sp>
      <p:sp>
        <p:nvSpPr>
          <p:cNvPr id="103" name="Shape 101"/>
          <p:cNvSpPr/>
          <p:nvPr/>
        </p:nvSpPr>
        <p:spPr>
          <a:xfrm>
            <a:off x="11159159" y="3763004"/>
            <a:ext cx="126997" cy="126997"/>
          </a:xfrm>
          <a:prstGeom prst="ellipse">
            <a:avLst/>
          </a:prstGeom>
          <a:solidFill>
            <a:srgbClr val="FFFFFF"/>
          </a:solidFill>
          <a:ln w="15875">
            <a:solidFill>
              <a:srgbClr val="1A1A16"/>
            </a:solidFill>
            <a:prstDash val="solid"/>
          </a:ln>
        </p:spPr>
      </p:sp>
      <p:sp>
        <p:nvSpPr>
          <p:cNvPr id="104" name="Shape 102"/>
          <p:cNvSpPr/>
          <p:nvPr/>
        </p:nvSpPr>
        <p:spPr>
          <a:xfrm>
            <a:off x="10445634" y="3977467"/>
            <a:ext cx="126997" cy="126997"/>
          </a:xfrm>
          <a:prstGeom prst="ellipse">
            <a:avLst/>
          </a:prstGeom>
          <a:solidFill>
            <a:srgbClr val="FFFFFF"/>
          </a:solidFill>
          <a:ln w="15875">
            <a:solidFill>
              <a:srgbClr val="1A1A16"/>
            </a:solidFill>
            <a:prstDash val="solid"/>
          </a:ln>
        </p:spPr>
      </p:sp>
      <p:sp>
        <p:nvSpPr>
          <p:cNvPr id="105" name="Shape 103"/>
          <p:cNvSpPr/>
          <p:nvPr/>
        </p:nvSpPr>
        <p:spPr>
          <a:xfrm>
            <a:off x="10827025" y="2354435"/>
            <a:ext cx="126997" cy="126997"/>
          </a:xfrm>
          <a:prstGeom prst="ellipse">
            <a:avLst/>
          </a:prstGeom>
          <a:solidFill>
            <a:srgbClr val="FFFFFF"/>
          </a:solidFill>
          <a:ln w="15875">
            <a:solidFill>
              <a:srgbClr val="1A1A16"/>
            </a:solidFill>
            <a:prstDash val="solid"/>
          </a:ln>
        </p:spPr>
      </p:sp>
      <p:sp>
        <p:nvSpPr>
          <p:cNvPr id="106" name="Shape 104"/>
          <p:cNvSpPr/>
          <p:nvPr/>
        </p:nvSpPr>
        <p:spPr>
          <a:xfrm>
            <a:off x="10636602" y="2782336"/>
            <a:ext cx="126997" cy="126997"/>
          </a:xfrm>
          <a:prstGeom prst="ellipse">
            <a:avLst/>
          </a:prstGeom>
          <a:solidFill>
            <a:srgbClr val="FFFFFF"/>
          </a:solidFill>
          <a:ln w="15875">
            <a:solidFill>
              <a:srgbClr val="1A1A16"/>
            </a:solidFill>
            <a:prstDash val="solid"/>
          </a:ln>
        </p:spPr>
      </p:sp>
      <p:sp>
        <p:nvSpPr>
          <p:cNvPr id="107" name="Shape 105"/>
          <p:cNvSpPr/>
          <p:nvPr/>
        </p:nvSpPr>
        <p:spPr>
          <a:xfrm>
            <a:off x="9835776" y="2423304"/>
            <a:ext cx="126997" cy="126997"/>
          </a:xfrm>
          <a:prstGeom prst="ellipse">
            <a:avLst/>
          </a:prstGeom>
          <a:solidFill>
            <a:srgbClr val="FFFFFF"/>
          </a:solidFill>
          <a:ln w="15875">
            <a:solidFill>
              <a:srgbClr val="1A1A16"/>
            </a:solidFill>
            <a:prstDash val="solid"/>
          </a:ln>
        </p:spPr>
      </p:sp>
      <p:sp>
        <p:nvSpPr>
          <p:cNvPr id="108" name="Text 106"/>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9" name="Shape 107"/>
          <p:cNvSpPr/>
          <p:nvPr/>
        </p:nvSpPr>
        <p:spPr>
          <a:xfrm>
            <a:off x="3381791" y="2342439"/>
            <a:ext cx="1126597" cy="197497"/>
          </a:xfrm>
          <a:prstGeom prst="line">
            <a:avLst/>
          </a:prstGeom>
          <a:noFill/>
          <a:ln w="11430">
            <a:solidFill>
              <a:srgbClr val="BABAB9"/>
            </a:solidFill>
            <a:prstDash val="solid"/>
          </a:ln>
        </p:spPr>
      </p:sp>
      <p:sp>
        <p:nvSpPr>
          <p:cNvPr id="110" name="Shape 108"/>
          <p:cNvSpPr/>
          <p:nvPr/>
        </p:nvSpPr>
        <p:spPr>
          <a:xfrm>
            <a:off x="3290052" y="2898292"/>
            <a:ext cx="1218335" cy="-358356"/>
          </a:xfrm>
          <a:prstGeom prst="line">
            <a:avLst/>
          </a:prstGeom>
          <a:noFill/>
          <a:ln w="11430">
            <a:solidFill>
              <a:srgbClr val="BABAB9"/>
            </a:solidFill>
            <a:prstDash val="solid"/>
          </a:ln>
        </p:spPr>
      </p:sp>
      <p:sp>
        <p:nvSpPr>
          <p:cNvPr id="111" name="Shape 109"/>
          <p:cNvSpPr/>
          <p:nvPr/>
        </p:nvSpPr>
        <p:spPr>
          <a:xfrm>
            <a:off x="5589702" y="2452504"/>
            <a:ext cx="-1081315" cy="87432"/>
          </a:xfrm>
          <a:prstGeom prst="line">
            <a:avLst/>
          </a:prstGeom>
          <a:noFill/>
          <a:ln w="11430">
            <a:solidFill>
              <a:srgbClr val="BABAB9"/>
            </a:solidFill>
            <a:prstDash val="solid"/>
          </a:ln>
        </p:spPr>
      </p:sp>
      <p:sp>
        <p:nvSpPr>
          <p:cNvPr id="112" name="Shape 110"/>
          <p:cNvSpPr/>
          <p:nvPr/>
        </p:nvSpPr>
        <p:spPr>
          <a:xfrm>
            <a:off x="5727011" y="2025686"/>
            <a:ext cx="-1218624" cy="514251"/>
          </a:xfrm>
          <a:prstGeom prst="line">
            <a:avLst/>
          </a:prstGeom>
          <a:noFill/>
          <a:ln w="11430">
            <a:solidFill>
              <a:srgbClr val="BABAB9"/>
            </a:solidFill>
            <a:prstDash val="solid"/>
          </a:ln>
        </p:spPr>
      </p:sp>
      <p:sp>
        <p:nvSpPr>
          <p:cNvPr id="113" name="Shape 111"/>
          <p:cNvSpPr/>
          <p:nvPr/>
        </p:nvSpPr>
        <p:spPr>
          <a:xfrm>
            <a:off x="4317892" y="2349441"/>
            <a:ext cx="380990" cy="380990"/>
          </a:xfrm>
          <a:prstGeom prst="ellipse">
            <a:avLst/>
          </a:prstGeom>
          <a:solidFill>
            <a:srgbClr val="FFFFFF"/>
          </a:solidFill>
          <a:ln w="10160">
            <a:solidFill>
              <a:srgbClr val="DADADA"/>
            </a:solidFill>
            <a:prstDash val="solid"/>
          </a:ln>
        </p:spPr>
      </p:sp>
      <p:sp>
        <p:nvSpPr>
          <p:cNvPr id="114" name="Shape 112"/>
          <p:cNvSpPr/>
          <p:nvPr/>
        </p:nvSpPr>
        <p:spPr>
          <a:xfrm>
            <a:off x="4394090" y="2425639"/>
            <a:ext cx="228594" cy="228594"/>
          </a:xfrm>
          <a:prstGeom prst="ellipse">
            <a:avLst/>
          </a:prstGeom>
          <a:solidFill>
            <a:srgbClr val="FFFFFF"/>
          </a:solidFill>
          <a:ln w="16510">
            <a:solidFill>
              <a:srgbClr val="1A1A16"/>
            </a:solidFill>
            <a:prstDash val="solid"/>
          </a:ln>
        </p:spPr>
      </p:sp>
      <p:sp>
        <p:nvSpPr>
          <p:cNvPr id="115" name="Shape 113"/>
          <p:cNvSpPr/>
          <p:nvPr/>
        </p:nvSpPr>
        <p:spPr>
          <a:xfrm>
            <a:off x="3766047" y="4184138"/>
            <a:ext cx="869337" cy="654441"/>
          </a:xfrm>
          <a:prstGeom prst="line">
            <a:avLst/>
          </a:prstGeom>
          <a:noFill/>
          <a:ln w="11430">
            <a:solidFill>
              <a:srgbClr val="BABAB9"/>
            </a:solidFill>
            <a:prstDash val="solid"/>
          </a:ln>
        </p:spPr>
      </p:sp>
      <p:sp>
        <p:nvSpPr>
          <p:cNvPr id="116" name="Shape 114"/>
          <p:cNvSpPr/>
          <p:nvPr/>
        </p:nvSpPr>
        <p:spPr>
          <a:xfrm>
            <a:off x="2639495" y="4063023"/>
            <a:ext cx="1995889" cy="775556"/>
          </a:xfrm>
          <a:prstGeom prst="line">
            <a:avLst/>
          </a:prstGeom>
          <a:noFill/>
          <a:ln w="11430">
            <a:solidFill>
              <a:srgbClr val="BABAB9"/>
            </a:solidFill>
            <a:prstDash val="solid"/>
          </a:ln>
        </p:spPr>
      </p:sp>
      <p:sp>
        <p:nvSpPr>
          <p:cNvPr id="117" name="Shape 115"/>
          <p:cNvSpPr/>
          <p:nvPr/>
        </p:nvSpPr>
        <p:spPr>
          <a:xfrm>
            <a:off x="5851051" y="4472956"/>
            <a:ext cx="-1215666" cy="365623"/>
          </a:xfrm>
          <a:prstGeom prst="line">
            <a:avLst/>
          </a:prstGeom>
          <a:noFill/>
          <a:ln w="11430">
            <a:solidFill>
              <a:srgbClr val="BABAB9"/>
            </a:solidFill>
            <a:prstDash val="solid"/>
          </a:ln>
        </p:spPr>
      </p:sp>
      <p:sp>
        <p:nvSpPr>
          <p:cNvPr id="118" name="Shape 116"/>
          <p:cNvSpPr/>
          <p:nvPr/>
        </p:nvSpPr>
        <p:spPr>
          <a:xfrm>
            <a:off x="4635384" y="4838579"/>
            <a:ext cx="1303054" cy="313716"/>
          </a:xfrm>
          <a:prstGeom prst="line">
            <a:avLst/>
          </a:prstGeom>
          <a:noFill/>
          <a:ln w="11430">
            <a:solidFill>
              <a:srgbClr val="BABAB9"/>
            </a:solidFill>
            <a:prstDash val="solid"/>
          </a:ln>
        </p:spPr>
      </p:sp>
      <p:sp>
        <p:nvSpPr>
          <p:cNvPr id="119" name="Shape 117"/>
          <p:cNvSpPr/>
          <p:nvPr/>
        </p:nvSpPr>
        <p:spPr>
          <a:xfrm>
            <a:off x="4444889" y="4648084"/>
            <a:ext cx="380990" cy="380990"/>
          </a:xfrm>
          <a:prstGeom prst="ellipse">
            <a:avLst/>
          </a:prstGeom>
          <a:solidFill>
            <a:srgbClr val="FFFFFF"/>
          </a:solidFill>
          <a:ln w="10160">
            <a:solidFill>
              <a:srgbClr val="DADADA"/>
            </a:solidFill>
            <a:prstDash val="solid"/>
          </a:ln>
        </p:spPr>
      </p:sp>
      <p:sp>
        <p:nvSpPr>
          <p:cNvPr id="120" name="Shape 118"/>
          <p:cNvSpPr/>
          <p:nvPr/>
        </p:nvSpPr>
        <p:spPr>
          <a:xfrm>
            <a:off x="4521087" y="4724282"/>
            <a:ext cx="228594" cy="228594"/>
          </a:xfrm>
          <a:prstGeom prst="ellipse">
            <a:avLst/>
          </a:prstGeom>
          <a:solidFill>
            <a:srgbClr val="FFFFFF"/>
          </a:solidFill>
          <a:ln w="16510">
            <a:solidFill>
              <a:srgbClr val="1A1A16"/>
            </a:solidFill>
            <a:prstDash val="solid"/>
          </a:ln>
        </p:spPr>
      </p:sp>
      <p:sp>
        <p:nvSpPr>
          <p:cNvPr id="121" name="Shape 119"/>
          <p:cNvSpPr/>
          <p:nvPr/>
        </p:nvSpPr>
        <p:spPr>
          <a:xfrm>
            <a:off x="7363446" y="2329139"/>
            <a:ext cx="954846" cy="147300"/>
          </a:xfrm>
          <a:prstGeom prst="line">
            <a:avLst/>
          </a:prstGeom>
          <a:noFill/>
          <a:ln w="11430">
            <a:solidFill>
              <a:srgbClr val="BABAB9"/>
            </a:solidFill>
            <a:prstDash val="solid"/>
          </a:ln>
        </p:spPr>
      </p:sp>
      <p:sp>
        <p:nvSpPr>
          <p:cNvPr id="122" name="Shape 120"/>
          <p:cNvSpPr/>
          <p:nvPr/>
        </p:nvSpPr>
        <p:spPr>
          <a:xfrm>
            <a:off x="7076451" y="1877942"/>
            <a:ext cx="1241841" cy="598496"/>
          </a:xfrm>
          <a:prstGeom prst="line">
            <a:avLst/>
          </a:prstGeom>
          <a:noFill/>
          <a:ln w="11430">
            <a:solidFill>
              <a:srgbClr val="BABAB9"/>
            </a:solidFill>
            <a:prstDash val="solid"/>
          </a:ln>
        </p:spPr>
      </p:sp>
      <p:sp>
        <p:nvSpPr>
          <p:cNvPr id="123" name="Shape 121"/>
          <p:cNvSpPr/>
          <p:nvPr/>
        </p:nvSpPr>
        <p:spPr>
          <a:xfrm>
            <a:off x="8318292" y="2476438"/>
            <a:ext cx="1580983" cy="10364"/>
          </a:xfrm>
          <a:prstGeom prst="line">
            <a:avLst/>
          </a:prstGeom>
          <a:noFill/>
          <a:ln w="11430">
            <a:solidFill>
              <a:srgbClr val="BABAB9"/>
            </a:solidFill>
            <a:prstDash val="solid"/>
          </a:ln>
        </p:spPr>
      </p:sp>
      <p:sp>
        <p:nvSpPr>
          <p:cNvPr id="124" name="Shape 122"/>
          <p:cNvSpPr/>
          <p:nvPr/>
        </p:nvSpPr>
        <p:spPr>
          <a:xfrm>
            <a:off x="8318292" y="2476438"/>
            <a:ext cx="1379445" cy="852316"/>
          </a:xfrm>
          <a:prstGeom prst="line">
            <a:avLst/>
          </a:prstGeom>
          <a:noFill/>
          <a:ln w="11430">
            <a:solidFill>
              <a:srgbClr val="BABAB9"/>
            </a:solidFill>
            <a:prstDash val="solid"/>
          </a:ln>
        </p:spPr>
      </p:sp>
      <p:sp>
        <p:nvSpPr>
          <p:cNvPr id="125" name="Shape 123"/>
          <p:cNvSpPr/>
          <p:nvPr/>
        </p:nvSpPr>
        <p:spPr>
          <a:xfrm>
            <a:off x="8127797" y="2285943"/>
            <a:ext cx="380990" cy="380990"/>
          </a:xfrm>
          <a:prstGeom prst="ellipse">
            <a:avLst/>
          </a:prstGeom>
          <a:solidFill>
            <a:srgbClr val="FFFFFF"/>
          </a:solidFill>
          <a:ln w="10160">
            <a:solidFill>
              <a:srgbClr val="DADADA"/>
            </a:solidFill>
            <a:prstDash val="solid"/>
          </a:ln>
        </p:spPr>
      </p:sp>
      <p:sp>
        <p:nvSpPr>
          <p:cNvPr id="126" name="Shape 124"/>
          <p:cNvSpPr/>
          <p:nvPr/>
        </p:nvSpPr>
        <p:spPr>
          <a:xfrm>
            <a:off x="8203995" y="2362141"/>
            <a:ext cx="228594" cy="228594"/>
          </a:xfrm>
          <a:prstGeom prst="ellipse">
            <a:avLst/>
          </a:prstGeom>
          <a:solidFill>
            <a:srgbClr val="FFFFFF"/>
          </a:solidFill>
          <a:ln w="16510">
            <a:solidFill>
              <a:srgbClr val="1A1A16"/>
            </a:solidFill>
            <a:prstDash val="solid"/>
          </a:ln>
        </p:spPr>
      </p:sp>
      <p:sp>
        <p:nvSpPr>
          <p:cNvPr id="127" name="Shape 125"/>
          <p:cNvSpPr/>
          <p:nvPr/>
        </p:nvSpPr>
        <p:spPr>
          <a:xfrm>
            <a:off x="7511316" y="4528358"/>
            <a:ext cx="997471" cy="-337463"/>
          </a:xfrm>
          <a:prstGeom prst="line">
            <a:avLst/>
          </a:prstGeom>
          <a:noFill/>
          <a:ln w="11430">
            <a:solidFill>
              <a:srgbClr val="BABAB9"/>
            </a:solidFill>
            <a:prstDash val="solid"/>
          </a:ln>
        </p:spPr>
      </p:sp>
      <p:sp>
        <p:nvSpPr>
          <p:cNvPr id="128" name="Shape 126"/>
          <p:cNvSpPr/>
          <p:nvPr/>
        </p:nvSpPr>
        <p:spPr>
          <a:xfrm>
            <a:off x="7452041" y="5035624"/>
            <a:ext cx="1056746" cy="-844729"/>
          </a:xfrm>
          <a:prstGeom prst="line">
            <a:avLst/>
          </a:prstGeom>
          <a:noFill/>
          <a:ln w="11430">
            <a:solidFill>
              <a:srgbClr val="BABAB9"/>
            </a:solidFill>
            <a:prstDash val="solid"/>
          </a:ln>
        </p:spPr>
      </p:sp>
      <p:sp>
        <p:nvSpPr>
          <p:cNvPr id="129" name="Shape 127"/>
          <p:cNvSpPr/>
          <p:nvPr/>
        </p:nvSpPr>
        <p:spPr>
          <a:xfrm>
            <a:off x="9645175" y="3671281"/>
            <a:ext cx="-1136388" cy="519614"/>
          </a:xfrm>
          <a:prstGeom prst="line">
            <a:avLst/>
          </a:prstGeom>
          <a:noFill/>
          <a:ln w="11430">
            <a:solidFill>
              <a:srgbClr val="BABAB9"/>
            </a:solidFill>
            <a:prstDash val="solid"/>
          </a:ln>
        </p:spPr>
      </p:sp>
      <p:sp>
        <p:nvSpPr>
          <p:cNvPr id="130" name="Shape 128"/>
          <p:cNvSpPr/>
          <p:nvPr/>
        </p:nvSpPr>
        <p:spPr>
          <a:xfrm>
            <a:off x="9697737" y="3328754"/>
            <a:ext cx="-1188950" cy="862142"/>
          </a:xfrm>
          <a:prstGeom prst="line">
            <a:avLst/>
          </a:prstGeom>
          <a:noFill/>
          <a:ln w="11430">
            <a:solidFill>
              <a:srgbClr val="BABAB9"/>
            </a:solidFill>
            <a:prstDash val="solid"/>
          </a:ln>
        </p:spPr>
      </p:sp>
      <p:sp>
        <p:nvSpPr>
          <p:cNvPr id="131" name="Shape 129"/>
          <p:cNvSpPr/>
          <p:nvPr/>
        </p:nvSpPr>
        <p:spPr>
          <a:xfrm>
            <a:off x="8318292" y="4000400"/>
            <a:ext cx="380990" cy="380990"/>
          </a:xfrm>
          <a:prstGeom prst="ellipse">
            <a:avLst/>
          </a:prstGeom>
          <a:solidFill>
            <a:srgbClr val="FFFFFF"/>
          </a:solidFill>
          <a:ln w="10160">
            <a:solidFill>
              <a:srgbClr val="DADADA"/>
            </a:solidFill>
            <a:prstDash val="solid"/>
          </a:ln>
        </p:spPr>
      </p:sp>
      <p:sp>
        <p:nvSpPr>
          <p:cNvPr id="132" name="Shape 130"/>
          <p:cNvSpPr/>
          <p:nvPr/>
        </p:nvSpPr>
        <p:spPr>
          <a:xfrm>
            <a:off x="8394490" y="4076598"/>
            <a:ext cx="228594" cy="228594"/>
          </a:xfrm>
          <a:prstGeom prst="ellipse">
            <a:avLst/>
          </a:prstGeom>
          <a:solidFill>
            <a:srgbClr val="FFFFFF"/>
          </a:solidFill>
          <a:ln w="16510">
            <a:solidFill>
              <a:srgbClr val="1A1A16"/>
            </a:solidFill>
            <a:prstDash val="solid"/>
          </a:ln>
        </p:spPr>
      </p:sp>
      <p:sp>
        <p:nvSpPr>
          <p:cNvPr id="133" name="Shape 131"/>
          <p:cNvSpPr/>
          <p:nvPr/>
        </p:nvSpPr>
        <p:spPr>
          <a:xfrm>
            <a:off x="2639495" y="4063023"/>
            <a:ext cx="1881592" cy="108822"/>
          </a:xfrm>
          <a:prstGeom prst="line">
            <a:avLst/>
          </a:prstGeom>
          <a:noFill/>
          <a:ln w="11430">
            <a:solidFill>
              <a:srgbClr val="1F6F78"/>
            </a:solidFill>
            <a:prstDash val="solid"/>
          </a:ln>
        </p:spPr>
      </p:sp>
      <p:sp>
        <p:nvSpPr>
          <p:cNvPr id="134" name="Shape 132"/>
          <p:cNvSpPr/>
          <p:nvPr/>
        </p:nvSpPr>
        <p:spPr>
          <a:xfrm>
            <a:off x="4521087" y="4171846"/>
            <a:ext cx="2842359" cy="-1842707"/>
          </a:xfrm>
          <a:prstGeom prst="line">
            <a:avLst/>
          </a:prstGeom>
          <a:noFill/>
          <a:ln w="11430">
            <a:solidFill>
              <a:srgbClr val="1F6F78"/>
            </a:solidFill>
            <a:prstDash val="solid"/>
          </a:ln>
        </p:spPr>
      </p:sp>
      <p:sp>
        <p:nvSpPr>
          <p:cNvPr id="135" name="Shape 133"/>
          <p:cNvSpPr/>
          <p:nvPr/>
        </p:nvSpPr>
        <p:spPr>
          <a:xfrm>
            <a:off x="4521087" y="4171846"/>
            <a:ext cx="1417351" cy="980449"/>
          </a:xfrm>
          <a:prstGeom prst="line">
            <a:avLst/>
          </a:prstGeom>
          <a:noFill/>
          <a:ln w="11430">
            <a:solidFill>
              <a:srgbClr val="1F6F78"/>
            </a:solidFill>
            <a:prstDash val="solid"/>
          </a:ln>
        </p:spPr>
      </p:sp>
      <p:sp>
        <p:nvSpPr>
          <p:cNvPr id="136" name="Shape 134"/>
          <p:cNvSpPr/>
          <p:nvPr/>
        </p:nvSpPr>
        <p:spPr>
          <a:xfrm>
            <a:off x="4438539" y="4089298"/>
            <a:ext cx="165096" cy="165096"/>
          </a:xfrm>
          <a:prstGeom prst="ellipse">
            <a:avLst/>
          </a:prstGeom>
          <a:solidFill>
            <a:srgbClr val="FFFFFF"/>
          </a:solidFill>
          <a:ln w="15240">
            <a:solidFill>
              <a:srgbClr val="1F6F78"/>
            </a:solidFill>
            <a:prstDash val="solid"/>
          </a:ln>
        </p:spPr>
      </p:sp>
      <p:sp>
        <p:nvSpPr>
          <p:cNvPr id="137" name="Shape 135"/>
          <p:cNvSpPr/>
          <p:nvPr/>
        </p:nvSpPr>
        <p:spPr>
          <a:xfrm>
            <a:off x="4470288" y="4171846"/>
            <a:ext cx="101597" cy="0"/>
          </a:xfrm>
          <a:prstGeom prst="line">
            <a:avLst/>
          </a:prstGeom>
          <a:noFill/>
          <a:ln w="13970">
            <a:solidFill>
              <a:srgbClr val="1F6F78"/>
            </a:solidFill>
            <a:prstDash val="solid"/>
          </a:ln>
        </p:spPr>
      </p:sp>
      <p:sp>
        <p:nvSpPr>
          <p:cNvPr id="138" name="Shape 136"/>
          <p:cNvSpPr/>
          <p:nvPr/>
        </p:nvSpPr>
        <p:spPr>
          <a:xfrm>
            <a:off x="4521087" y="4121047"/>
            <a:ext cx="0" cy="101597"/>
          </a:xfrm>
          <a:prstGeom prst="line">
            <a:avLst/>
          </a:prstGeom>
          <a:noFill/>
          <a:ln w="13970">
            <a:solidFill>
              <a:srgbClr val="1F6F78"/>
            </a:solidFill>
            <a:prstDash val="solid"/>
          </a:ln>
        </p:spPr>
      </p:sp>
      <p:sp>
        <p:nvSpPr>
          <p:cNvPr id="139" name="Shape 137"/>
          <p:cNvSpPr/>
          <p:nvPr/>
        </p:nvSpPr>
        <p:spPr>
          <a:xfrm>
            <a:off x="4521087" y="3625759"/>
            <a:ext cx="0" cy="463538"/>
          </a:xfrm>
          <a:prstGeom prst="line">
            <a:avLst/>
          </a:prstGeom>
          <a:noFill/>
          <a:ln w="15240">
            <a:solidFill>
              <a:srgbClr val="1A1A16"/>
            </a:solidFill>
            <a:prstDash val="solid"/>
            <a:headEnd type="triangle"/>
          </a:ln>
        </p:spPr>
      </p:sp>
      <p:sp>
        <p:nvSpPr>
          <p:cNvPr id="140" name="Shape 138"/>
          <p:cNvSpPr/>
          <p:nvPr/>
        </p:nvSpPr>
        <p:spPr>
          <a:xfrm>
            <a:off x="4314082" y="3253659"/>
            <a:ext cx="414010" cy="414010"/>
          </a:xfrm>
          <a:prstGeom prst="diamond">
            <a:avLst/>
          </a:prstGeom>
          <a:solidFill>
            <a:srgbClr val="FFFFFF"/>
          </a:solidFill>
          <a:ln w="25399">
            <a:solidFill>
              <a:srgbClr val="1A1A16"/>
            </a:solidFill>
            <a:prstDash val="solid"/>
          </a:ln>
        </p:spPr>
      </p:sp>
      <p:sp>
        <p:nvSpPr>
          <p:cNvPr id="141" name="Text 139"/>
          <p:cNvSpPr txBox="1"/>
          <p:nvPr/>
        </p:nvSpPr>
        <p:spPr>
          <a:xfrm>
            <a:off x="4800480" y="3371766"/>
            <a:ext cx="3936902"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proposed</a:t>
            </a:r>
            <a:endParaRPr lang="en-US" sz="1100" dirty="0"/>
          </a:p>
        </p:txBody>
      </p:sp>
      <p:sp>
        <p:nvSpPr>
          <p:cNvPr id="142" name="Text 140"/>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two</a:t>
            </a:r>
            <a:endParaRPr lang="en-US" sz="1500" dirty="0"/>
          </a:p>
        </p:txBody>
      </p:sp>
      <p:sp>
        <p:nvSpPr>
          <p:cNvPr id="143" name="Text 141"/>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claim in a gap the structure names</a:t>
            </a:r>
            <a:endParaRPr lang="en-US" sz="1500" dirty="0"/>
          </a:p>
        </p:txBody>
      </p:sp>
      <p:sp>
        <p:nvSpPr>
          <p:cNvPr id="144" name="Text 142"/>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 claim nobody has written yet</a:t>
            </a:r>
            <a:endParaRPr lang="en-US" sz="1000" dirty="0"/>
          </a:p>
        </p:txBody>
      </p:sp>
      <p:sp>
        <p:nvSpPr>
          <p:cNvPr id="145" name="Text 14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62</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4672802"/>
            <a:ext cx="247946" cy="178915"/>
          </a:xfrm>
          <a:prstGeom prst="line">
            <a:avLst/>
          </a:prstGeom>
          <a:noFill/>
          <a:ln w="8890">
            <a:solidFill>
              <a:srgbClr val="AFAFAD"/>
            </a:solidFill>
            <a:prstDash val="solid"/>
          </a:ln>
        </p:spPr>
      </p:sp>
      <p:sp>
        <p:nvSpPr>
          <p:cNvPr id="3" name="Shape 1"/>
          <p:cNvSpPr/>
          <p:nvPr/>
        </p:nvSpPr>
        <p:spPr>
          <a:xfrm>
            <a:off x="1448369" y="4749909"/>
            <a:ext cx="-247946" cy="101808"/>
          </a:xfrm>
          <a:prstGeom prst="line">
            <a:avLst/>
          </a:prstGeom>
          <a:noFill/>
          <a:ln w="8890">
            <a:solidFill>
              <a:srgbClr val="AFAFAD"/>
            </a:solidFill>
            <a:prstDash val="solid"/>
          </a:ln>
        </p:spPr>
      </p:sp>
      <p:sp>
        <p:nvSpPr>
          <p:cNvPr id="4" name="Shape 2"/>
          <p:cNvSpPr/>
          <p:nvPr/>
        </p:nvSpPr>
        <p:spPr>
          <a:xfrm>
            <a:off x="1448369" y="4749909"/>
            <a:ext cx="247946" cy="136679"/>
          </a:xfrm>
          <a:prstGeom prst="line">
            <a:avLst/>
          </a:prstGeom>
          <a:noFill/>
          <a:ln w="8890">
            <a:solidFill>
              <a:srgbClr val="AFAFAD"/>
            </a:solidFill>
            <a:prstDash val="solid"/>
          </a:ln>
        </p:spPr>
      </p:sp>
      <p:sp>
        <p:nvSpPr>
          <p:cNvPr id="5" name="Shape 3"/>
          <p:cNvSpPr/>
          <p:nvPr/>
        </p:nvSpPr>
        <p:spPr>
          <a:xfrm>
            <a:off x="1696315" y="4886588"/>
            <a:ext cx="247946" cy="12735"/>
          </a:xfrm>
          <a:prstGeom prst="line">
            <a:avLst/>
          </a:prstGeom>
          <a:noFill/>
          <a:ln w="8890">
            <a:solidFill>
              <a:srgbClr val="AFAFAD"/>
            </a:solidFill>
            <a:prstDash val="solid"/>
          </a:ln>
        </p:spPr>
      </p:sp>
      <p:sp>
        <p:nvSpPr>
          <p:cNvPr id="6" name="Shape 4"/>
          <p:cNvSpPr/>
          <p:nvPr/>
        </p:nvSpPr>
        <p:spPr>
          <a:xfrm>
            <a:off x="2192207" y="4572068"/>
            <a:ext cx="-247946" cy="327256"/>
          </a:xfrm>
          <a:prstGeom prst="line">
            <a:avLst/>
          </a:prstGeom>
          <a:noFill/>
          <a:ln w="8890">
            <a:solidFill>
              <a:srgbClr val="AFAFAD"/>
            </a:solidFill>
            <a:prstDash val="solid"/>
          </a:ln>
        </p:spPr>
      </p:sp>
      <p:sp>
        <p:nvSpPr>
          <p:cNvPr id="7" name="Shape 5"/>
          <p:cNvSpPr/>
          <p:nvPr/>
        </p:nvSpPr>
        <p:spPr>
          <a:xfrm>
            <a:off x="2440153" y="4541479"/>
            <a:ext cx="-247946" cy="30588"/>
          </a:xfrm>
          <a:prstGeom prst="line">
            <a:avLst/>
          </a:prstGeom>
          <a:noFill/>
          <a:ln w="8890">
            <a:solidFill>
              <a:srgbClr val="AFAFAD"/>
            </a:solidFill>
            <a:prstDash val="solid"/>
          </a:ln>
        </p:spPr>
      </p:sp>
      <p:sp>
        <p:nvSpPr>
          <p:cNvPr id="8" name="Shape 6"/>
          <p:cNvSpPr/>
          <p:nvPr/>
        </p:nvSpPr>
        <p:spPr>
          <a:xfrm>
            <a:off x="2440153" y="4541479"/>
            <a:ext cx="247946" cy="481545"/>
          </a:xfrm>
          <a:prstGeom prst="line">
            <a:avLst/>
          </a:prstGeom>
          <a:noFill/>
          <a:ln w="8890">
            <a:solidFill>
              <a:srgbClr val="AFAFAD"/>
            </a:solidFill>
            <a:prstDash val="solid"/>
          </a:ln>
        </p:spPr>
      </p:sp>
      <p:sp>
        <p:nvSpPr>
          <p:cNvPr id="9" name="Shape 7"/>
          <p:cNvSpPr/>
          <p:nvPr/>
        </p:nvSpPr>
        <p:spPr>
          <a:xfrm>
            <a:off x="2936046" y="4685297"/>
            <a:ext cx="-247946" cy="337726"/>
          </a:xfrm>
          <a:prstGeom prst="line">
            <a:avLst/>
          </a:prstGeom>
          <a:noFill/>
          <a:ln w="8890">
            <a:solidFill>
              <a:srgbClr val="AFAFAD"/>
            </a:solidFill>
            <a:prstDash val="solid"/>
          </a:ln>
        </p:spPr>
      </p:sp>
      <p:sp>
        <p:nvSpPr>
          <p:cNvPr id="10" name="Shape 8"/>
          <p:cNvSpPr/>
          <p:nvPr/>
        </p:nvSpPr>
        <p:spPr>
          <a:xfrm>
            <a:off x="3183992" y="4670679"/>
            <a:ext cx="-247946" cy="14618"/>
          </a:xfrm>
          <a:prstGeom prst="line">
            <a:avLst/>
          </a:prstGeom>
          <a:noFill/>
          <a:ln w="8890">
            <a:solidFill>
              <a:srgbClr val="AFAFAD"/>
            </a:solidFill>
            <a:prstDash val="solid"/>
          </a:ln>
        </p:spPr>
      </p:sp>
      <p:sp>
        <p:nvSpPr>
          <p:cNvPr id="11" name="Shape 9"/>
          <p:cNvSpPr/>
          <p:nvPr/>
        </p:nvSpPr>
        <p:spPr>
          <a:xfrm>
            <a:off x="3183992" y="4670679"/>
            <a:ext cx="247946" cy="444748"/>
          </a:xfrm>
          <a:prstGeom prst="line">
            <a:avLst/>
          </a:prstGeom>
          <a:noFill/>
          <a:ln w="8890">
            <a:solidFill>
              <a:srgbClr val="AFAFAD"/>
            </a:solidFill>
            <a:prstDash val="solid"/>
          </a:ln>
        </p:spPr>
      </p:sp>
      <p:sp>
        <p:nvSpPr>
          <p:cNvPr id="12" name="Shape 10"/>
          <p:cNvSpPr/>
          <p:nvPr/>
        </p:nvSpPr>
        <p:spPr>
          <a:xfrm>
            <a:off x="3679884" y="4808508"/>
            <a:ext cx="-247946" cy="306920"/>
          </a:xfrm>
          <a:prstGeom prst="line">
            <a:avLst/>
          </a:prstGeom>
          <a:noFill/>
          <a:ln w="8890">
            <a:solidFill>
              <a:srgbClr val="AFAFAD"/>
            </a:solidFill>
            <a:prstDash val="solid"/>
          </a:ln>
        </p:spPr>
      </p:sp>
      <p:sp>
        <p:nvSpPr>
          <p:cNvPr id="13" name="Shape 11"/>
          <p:cNvSpPr/>
          <p:nvPr/>
        </p:nvSpPr>
        <p:spPr>
          <a:xfrm>
            <a:off x="3679884" y="4808508"/>
            <a:ext cx="247946" cy="213927"/>
          </a:xfrm>
          <a:prstGeom prst="line">
            <a:avLst/>
          </a:prstGeom>
          <a:noFill/>
          <a:ln w="8890">
            <a:solidFill>
              <a:srgbClr val="AFAFAD"/>
            </a:solidFill>
            <a:prstDash val="solid"/>
          </a:ln>
        </p:spPr>
      </p:sp>
      <p:sp>
        <p:nvSpPr>
          <p:cNvPr id="14" name="Shape 12"/>
          <p:cNvSpPr/>
          <p:nvPr/>
        </p:nvSpPr>
        <p:spPr>
          <a:xfrm>
            <a:off x="4175777" y="4812065"/>
            <a:ext cx="-247946" cy="210370"/>
          </a:xfrm>
          <a:prstGeom prst="line">
            <a:avLst/>
          </a:prstGeom>
          <a:noFill/>
          <a:ln w="8890">
            <a:solidFill>
              <a:srgbClr val="AFAFAD"/>
            </a:solidFill>
            <a:prstDash val="solid"/>
          </a:ln>
        </p:spPr>
      </p:sp>
      <p:sp>
        <p:nvSpPr>
          <p:cNvPr id="15" name="Shape 13"/>
          <p:cNvSpPr/>
          <p:nvPr/>
        </p:nvSpPr>
        <p:spPr>
          <a:xfrm>
            <a:off x="4175777" y="4812065"/>
            <a:ext cx="247946" cy="95056"/>
          </a:xfrm>
          <a:prstGeom prst="line">
            <a:avLst/>
          </a:prstGeom>
          <a:noFill/>
          <a:ln w="8890">
            <a:solidFill>
              <a:srgbClr val="AFAFAD"/>
            </a:solidFill>
            <a:prstDash val="solid"/>
          </a:ln>
        </p:spPr>
      </p:sp>
      <p:sp>
        <p:nvSpPr>
          <p:cNvPr id="16" name="Shape 14"/>
          <p:cNvSpPr/>
          <p:nvPr/>
        </p:nvSpPr>
        <p:spPr>
          <a:xfrm>
            <a:off x="4671669" y="4621775"/>
            <a:ext cx="-247946" cy="285346"/>
          </a:xfrm>
          <a:prstGeom prst="line">
            <a:avLst/>
          </a:prstGeom>
          <a:noFill/>
          <a:ln w="8890">
            <a:solidFill>
              <a:srgbClr val="AFAFAD"/>
            </a:solidFill>
            <a:prstDash val="solid"/>
          </a:ln>
        </p:spPr>
      </p:sp>
      <p:sp>
        <p:nvSpPr>
          <p:cNvPr id="17" name="Shape 15"/>
          <p:cNvSpPr/>
          <p:nvPr/>
        </p:nvSpPr>
        <p:spPr>
          <a:xfrm>
            <a:off x="4671669" y="4621775"/>
            <a:ext cx="247946" cy="282888"/>
          </a:xfrm>
          <a:prstGeom prst="line">
            <a:avLst/>
          </a:prstGeom>
          <a:noFill/>
          <a:ln w="8890">
            <a:solidFill>
              <a:srgbClr val="AFAFAD"/>
            </a:solidFill>
            <a:prstDash val="solid"/>
          </a:ln>
        </p:spPr>
      </p:sp>
      <p:sp>
        <p:nvSpPr>
          <p:cNvPr id="18" name="Shape 16"/>
          <p:cNvSpPr/>
          <p:nvPr/>
        </p:nvSpPr>
        <p:spPr>
          <a:xfrm>
            <a:off x="4919615" y="4904663"/>
            <a:ext cx="247946" cy="136223"/>
          </a:xfrm>
          <a:prstGeom prst="line">
            <a:avLst/>
          </a:prstGeom>
          <a:noFill/>
          <a:ln w="8890">
            <a:solidFill>
              <a:srgbClr val="AFAFAD"/>
            </a:solidFill>
            <a:prstDash val="solid"/>
          </a:ln>
        </p:spPr>
      </p:sp>
      <p:sp>
        <p:nvSpPr>
          <p:cNvPr id="19" name="Shape 17"/>
          <p:cNvSpPr/>
          <p:nvPr/>
        </p:nvSpPr>
        <p:spPr>
          <a:xfrm>
            <a:off x="5415507" y="4839421"/>
            <a:ext cx="-247946" cy="201465"/>
          </a:xfrm>
          <a:prstGeom prst="line">
            <a:avLst/>
          </a:prstGeom>
          <a:noFill/>
          <a:ln w="8890">
            <a:solidFill>
              <a:srgbClr val="AFAFAD"/>
            </a:solidFill>
            <a:prstDash val="solid"/>
          </a:ln>
        </p:spPr>
      </p:sp>
      <p:sp>
        <p:nvSpPr>
          <p:cNvPr id="20" name="Shape 18"/>
          <p:cNvSpPr/>
          <p:nvPr/>
        </p:nvSpPr>
        <p:spPr>
          <a:xfrm>
            <a:off x="5415507" y="4839421"/>
            <a:ext cx="247946" cy="127394"/>
          </a:xfrm>
          <a:prstGeom prst="line">
            <a:avLst/>
          </a:prstGeom>
          <a:noFill/>
          <a:ln w="8890">
            <a:solidFill>
              <a:srgbClr val="AFAFAD"/>
            </a:solidFill>
            <a:prstDash val="solid"/>
          </a:ln>
        </p:spPr>
      </p:sp>
      <p:sp>
        <p:nvSpPr>
          <p:cNvPr id="21" name="Shape 19"/>
          <p:cNvSpPr/>
          <p:nvPr/>
        </p:nvSpPr>
        <p:spPr>
          <a:xfrm>
            <a:off x="5911400" y="4926015"/>
            <a:ext cx="-247946" cy="40800"/>
          </a:xfrm>
          <a:prstGeom prst="line">
            <a:avLst/>
          </a:prstGeom>
          <a:noFill/>
          <a:ln w="8890">
            <a:solidFill>
              <a:srgbClr val="AFAFAD"/>
            </a:solidFill>
            <a:prstDash val="solid"/>
          </a:ln>
        </p:spPr>
      </p:sp>
      <p:sp>
        <p:nvSpPr>
          <p:cNvPr id="22" name="Shape 20"/>
          <p:cNvSpPr/>
          <p:nvPr/>
        </p:nvSpPr>
        <p:spPr>
          <a:xfrm>
            <a:off x="6159346" y="4571193"/>
            <a:ext cx="-247946" cy="354823"/>
          </a:xfrm>
          <a:prstGeom prst="line">
            <a:avLst/>
          </a:prstGeom>
          <a:noFill/>
          <a:ln w="8890">
            <a:solidFill>
              <a:srgbClr val="AFAFAD"/>
            </a:solidFill>
            <a:prstDash val="solid"/>
          </a:ln>
        </p:spPr>
      </p:sp>
      <p:sp>
        <p:nvSpPr>
          <p:cNvPr id="23" name="Shape 21"/>
          <p:cNvSpPr/>
          <p:nvPr/>
        </p:nvSpPr>
        <p:spPr>
          <a:xfrm>
            <a:off x="882628" y="4602954"/>
            <a:ext cx="139697" cy="139697"/>
          </a:xfrm>
          <a:prstGeom prst="ellipse">
            <a:avLst/>
          </a:prstGeom>
          <a:solidFill>
            <a:srgbClr val="1A1A16"/>
          </a:solidFill>
          <a:ln w="12700">
            <a:solidFill>
              <a:srgbClr val="1A1A16"/>
            </a:solidFill>
            <a:prstDash val="solid"/>
          </a:ln>
        </p:spPr>
      </p:sp>
      <p:sp>
        <p:nvSpPr>
          <p:cNvPr id="24" name="Shape 22"/>
          <p:cNvSpPr/>
          <p:nvPr/>
        </p:nvSpPr>
        <p:spPr>
          <a:xfrm>
            <a:off x="1130574" y="4781869"/>
            <a:ext cx="139697" cy="139697"/>
          </a:xfrm>
          <a:prstGeom prst="ellipse">
            <a:avLst/>
          </a:prstGeom>
          <a:solidFill>
            <a:srgbClr val="1A1A16"/>
          </a:solidFill>
          <a:ln w="12700">
            <a:solidFill>
              <a:srgbClr val="1A1A16"/>
            </a:solidFill>
            <a:prstDash val="solid"/>
          </a:ln>
        </p:spPr>
      </p:sp>
      <p:sp>
        <p:nvSpPr>
          <p:cNvPr id="25" name="Shape 23"/>
          <p:cNvSpPr/>
          <p:nvPr/>
        </p:nvSpPr>
        <p:spPr>
          <a:xfrm>
            <a:off x="1378520" y="4680061"/>
            <a:ext cx="139697" cy="139697"/>
          </a:xfrm>
          <a:prstGeom prst="ellipse">
            <a:avLst/>
          </a:prstGeom>
          <a:solidFill>
            <a:srgbClr val="1A1A16"/>
          </a:solidFill>
          <a:ln w="12700">
            <a:solidFill>
              <a:srgbClr val="1A1A16"/>
            </a:solidFill>
            <a:prstDash val="solid"/>
          </a:ln>
        </p:spPr>
      </p:sp>
      <p:sp>
        <p:nvSpPr>
          <p:cNvPr id="26" name="Shape 24"/>
          <p:cNvSpPr/>
          <p:nvPr/>
        </p:nvSpPr>
        <p:spPr>
          <a:xfrm>
            <a:off x="1626466" y="4816740"/>
            <a:ext cx="139697" cy="139697"/>
          </a:xfrm>
          <a:prstGeom prst="ellipse">
            <a:avLst/>
          </a:prstGeom>
          <a:solidFill>
            <a:srgbClr val="1A1A16"/>
          </a:solidFill>
          <a:ln w="12700">
            <a:solidFill>
              <a:srgbClr val="1A1A16"/>
            </a:solidFill>
            <a:prstDash val="solid"/>
          </a:ln>
        </p:spPr>
      </p:sp>
      <p:sp>
        <p:nvSpPr>
          <p:cNvPr id="27" name="Shape 25"/>
          <p:cNvSpPr/>
          <p:nvPr/>
        </p:nvSpPr>
        <p:spPr>
          <a:xfrm>
            <a:off x="1874413" y="4829475"/>
            <a:ext cx="139697" cy="139697"/>
          </a:xfrm>
          <a:prstGeom prst="ellipse">
            <a:avLst/>
          </a:prstGeom>
          <a:solidFill>
            <a:srgbClr val="1A1A16"/>
          </a:solidFill>
          <a:ln w="12700">
            <a:solidFill>
              <a:srgbClr val="1A1A16"/>
            </a:solidFill>
            <a:prstDash val="solid"/>
          </a:ln>
        </p:spPr>
      </p:sp>
      <p:sp>
        <p:nvSpPr>
          <p:cNvPr id="28" name="Shape 26"/>
          <p:cNvSpPr/>
          <p:nvPr/>
        </p:nvSpPr>
        <p:spPr>
          <a:xfrm>
            <a:off x="2122359" y="4502219"/>
            <a:ext cx="139697" cy="139697"/>
          </a:xfrm>
          <a:prstGeom prst="ellipse">
            <a:avLst/>
          </a:prstGeom>
          <a:solidFill>
            <a:srgbClr val="1A1A16"/>
          </a:solidFill>
          <a:ln w="12700">
            <a:solidFill>
              <a:srgbClr val="1A1A16"/>
            </a:solidFill>
            <a:prstDash val="solid"/>
          </a:ln>
        </p:spPr>
      </p:sp>
      <p:sp>
        <p:nvSpPr>
          <p:cNvPr id="29" name="Shape 27"/>
          <p:cNvSpPr/>
          <p:nvPr/>
        </p:nvSpPr>
        <p:spPr>
          <a:xfrm>
            <a:off x="2370305" y="4471631"/>
            <a:ext cx="139697" cy="139697"/>
          </a:xfrm>
          <a:prstGeom prst="ellipse">
            <a:avLst/>
          </a:prstGeom>
          <a:solidFill>
            <a:srgbClr val="1A1A16"/>
          </a:solidFill>
          <a:ln w="12700">
            <a:solidFill>
              <a:srgbClr val="1A1A16"/>
            </a:solidFill>
            <a:prstDash val="solid"/>
          </a:ln>
        </p:spPr>
      </p:sp>
      <p:sp>
        <p:nvSpPr>
          <p:cNvPr id="30" name="Shape 28"/>
          <p:cNvSpPr/>
          <p:nvPr/>
        </p:nvSpPr>
        <p:spPr>
          <a:xfrm>
            <a:off x="2618251" y="4953176"/>
            <a:ext cx="139697" cy="139697"/>
          </a:xfrm>
          <a:prstGeom prst="ellipse">
            <a:avLst/>
          </a:prstGeom>
          <a:solidFill>
            <a:srgbClr val="1A1A16"/>
          </a:solidFill>
          <a:ln w="12700">
            <a:solidFill>
              <a:srgbClr val="1A1A16"/>
            </a:solidFill>
            <a:prstDash val="solid"/>
          </a:ln>
        </p:spPr>
      </p:sp>
      <p:sp>
        <p:nvSpPr>
          <p:cNvPr id="31" name="Shape 29"/>
          <p:cNvSpPr/>
          <p:nvPr/>
        </p:nvSpPr>
        <p:spPr>
          <a:xfrm>
            <a:off x="2866197" y="4615449"/>
            <a:ext cx="139697" cy="139697"/>
          </a:xfrm>
          <a:prstGeom prst="ellipse">
            <a:avLst/>
          </a:prstGeom>
          <a:solidFill>
            <a:srgbClr val="1A1A16"/>
          </a:solidFill>
          <a:ln w="12700">
            <a:solidFill>
              <a:srgbClr val="1A1A16"/>
            </a:solidFill>
            <a:prstDash val="solid"/>
          </a:ln>
        </p:spPr>
      </p:sp>
      <p:sp>
        <p:nvSpPr>
          <p:cNvPr id="32" name="Shape 30"/>
          <p:cNvSpPr/>
          <p:nvPr/>
        </p:nvSpPr>
        <p:spPr>
          <a:xfrm>
            <a:off x="3114144" y="4600831"/>
            <a:ext cx="139697" cy="139697"/>
          </a:xfrm>
          <a:prstGeom prst="ellipse">
            <a:avLst/>
          </a:prstGeom>
          <a:solidFill>
            <a:srgbClr val="1A1A16"/>
          </a:solidFill>
          <a:ln w="12700">
            <a:solidFill>
              <a:srgbClr val="1A1A16"/>
            </a:solidFill>
            <a:prstDash val="solid"/>
          </a:ln>
        </p:spPr>
      </p:sp>
      <p:sp>
        <p:nvSpPr>
          <p:cNvPr id="33" name="Shape 31"/>
          <p:cNvSpPr/>
          <p:nvPr/>
        </p:nvSpPr>
        <p:spPr>
          <a:xfrm>
            <a:off x="3362090" y="5045580"/>
            <a:ext cx="139697" cy="139697"/>
          </a:xfrm>
          <a:prstGeom prst="ellipse">
            <a:avLst/>
          </a:prstGeom>
          <a:solidFill>
            <a:srgbClr val="1A1A16"/>
          </a:solidFill>
          <a:ln w="12700">
            <a:solidFill>
              <a:srgbClr val="1A1A16"/>
            </a:solidFill>
            <a:prstDash val="solid"/>
          </a:ln>
        </p:spPr>
      </p:sp>
      <p:sp>
        <p:nvSpPr>
          <p:cNvPr id="34" name="Shape 32"/>
          <p:cNvSpPr/>
          <p:nvPr/>
        </p:nvSpPr>
        <p:spPr>
          <a:xfrm>
            <a:off x="3618140" y="4746506"/>
            <a:ext cx="123822" cy="123822"/>
          </a:xfrm>
          <a:prstGeom prst="rect">
            <a:avLst/>
          </a:prstGeom>
          <a:solidFill>
            <a:srgbClr val="1A1A16"/>
          </a:solidFill>
          <a:ln w="12700">
            <a:solidFill>
              <a:srgbClr val="1A1A16"/>
            </a:solidFill>
            <a:prstDash val="solid"/>
          </a:ln>
        </p:spPr>
      </p:sp>
      <p:sp>
        <p:nvSpPr>
          <p:cNvPr id="35" name="Shape 33"/>
          <p:cNvSpPr/>
          <p:nvPr/>
        </p:nvSpPr>
        <p:spPr>
          <a:xfrm>
            <a:off x="3865783" y="4960496"/>
            <a:ext cx="123822" cy="123822"/>
          </a:xfrm>
          <a:prstGeom prst="rect">
            <a:avLst/>
          </a:prstGeom>
          <a:solidFill>
            <a:srgbClr val="1A1A16"/>
          </a:solidFill>
          <a:ln w="12700">
            <a:solidFill>
              <a:srgbClr val="1A1A16"/>
            </a:solidFill>
            <a:prstDash val="solid"/>
          </a:ln>
        </p:spPr>
      </p:sp>
      <p:sp>
        <p:nvSpPr>
          <p:cNvPr id="36" name="Shape 34"/>
          <p:cNvSpPr/>
          <p:nvPr/>
        </p:nvSpPr>
        <p:spPr>
          <a:xfrm>
            <a:off x="4114062" y="4750316"/>
            <a:ext cx="123822" cy="123822"/>
          </a:xfrm>
          <a:prstGeom prst="rect">
            <a:avLst/>
          </a:prstGeom>
          <a:solidFill>
            <a:srgbClr val="1A1A16"/>
          </a:solidFill>
          <a:ln w="12700">
            <a:solidFill>
              <a:srgbClr val="1A1A16"/>
            </a:solidFill>
            <a:prstDash val="solid"/>
          </a:ln>
        </p:spPr>
      </p:sp>
      <p:sp>
        <p:nvSpPr>
          <p:cNvPr id="37" name="Shape 35"/>
          <p:cNvSpPr/>
          <p:nvPr/>
        </p:nvSpPr>
        <p:spPr>
          <a:xfrm>
            <a:off x="4361706" y="4844929"/>
            <a:ext cx="123822" cy="123822"/>
          </a:xfrm>
          <a:prstGeom prst="rect">
            <a:avLst/>
          </a:prstGeom>
          <a:solidFill>
            <a:srgbClr val="1A1A16"/>
          </a:solidFill>
          <a:ln w="12700">
            <a:solidFill>
              <a:srgbClr val="1A1A16"/>
            </a:solidFill>
            <a:prstDash val="solid"/>
          </a:ln>
        </p:spPr>
      </p:sp>
      <p:sp>
        <p:nvSpPr>
          <p:cNvPr id="38" name="Shape 36"/>
          <p:cNvSpPr/>
          <p:nvPr/>
        </p:nvSpPr>
        <p:spPr>
          <a:xfrm>
            <a:off x="4609985" y="4559821"/>
            <a:ext cx="123822" cy="123822"/>
          </a:xfrm>
          <a:prstGeom prst="rect">
            <a:avLst/>
          </a:prstGeom>
          <a:solidFill>
            <a:srgbClr val="1A1A16"/>
          </a:solidFill>
          <a:ln w="12700">
            <a:solidFill>
              <a:srgbClr val="1A1A16"/>
            </a:solidFill>
            <a:prstDash val="solid"/>
          </a:ln>
        </p:spPr>
      </p:sp>
      <p:sp>
        <p:nvSpPr>
          <p:cNvPr id="39" name="Shape 37"/>
          <p:cNvSpPr/>
          <p:nvPr/>
        </p:nvSpPr>
        <p:spPr>
          <a:xfrm>
            <a:off x="4857629" y="4843024"/>
            <a:ext cx="123822" cy="123822"/>
          </a:xfrm>
          <a:prstGeom prst="rect">
            <a:avLst/>
          </a:prstGeom>
          <a:solidFill>
            <a:srgbClr val="1A1A16"/>
          </a:solidFill>
          <a:ln w="12700">
            <a:solidFill>
              <a:srgbClr val="1A1A16"/>
            </a:solidFill>
            <a:prstDash val="solid"/>
          </a:ln>
        </p:spPr>
      </p:sp>
      <p:sp>
        <p:nvSpPr>
          <p:cNvPr id="40" name="Shape 38"/>
          <p:cNvSpPr/>
          <p:nvPr/>
        </p:nvSpPr>
        <p:spPr>
          <a:xfrm>
            <a:off x="5100827" y="4964306"/>
            <a:ext cx="133347" cy="153666"/>
          </a:xfrm>
          <a:prstGeom prst="hexagon">
            <a:avLst/>
          </a:prstGeom>
          <a:solidFill>
            <a:srgbClr val="1A1A16"/>
          </a:solidFill>
          <a:ln w="12700">
            <a:solidFill>
              <a:srgbClr val="1A1A16"/>
            </a:solidFill>
            <a:prstDash val="solid"/>
          </a:ln>
        </p:spPr>
      </p:sp>
      <p:sp>
        <p:nvSpPr>
          <p:cNvPr id="41" name="Shape 39"/>
          <p:cNvSpPr/>
          <p:nvPr/>
        </p:nvSpPr>
        <p:spPr>
          <a:xfrm>
            <a:off x="5349106" y="4762381"/>
            <a:ext cx="132712" cy="153666"/>
          </a:xfrm>
          <a:prstGeom prst="hexagon">
            <a:avLst/>
          </a:prstGeom>
          <a:solidFill>
            <a:srgbClr val="1A1A16"/>
          </a:solidFill>
          <a:ln w="12700">
            <a:solidFill>
              <a:srgbClr val="1A1A16"/>
            </a:solidFill>
            <a:prstDash val="solid"/>
          </a:ln>
        </p:spPr>
      </p:sp>
      <p:sp>
        <p:nvSpPr>
          <p:cNvPr id="42" name="Shape 40"/>
          <p:cNvSpPr/>
          <p:nvPr/>
        </p:nvSpPr>
        <p:spPr>
          <a:xfrm>
            <a:off x="5596750" y="4890013"/>
            <a:ext cx="133347" cy="153666"/>
          </a:xfrm>
          <a:prstGeom prst="hexagon">
            <a:avLst/>
          </a:prstGeom>
          <a:solidFill>
            <a:srgbClr val="1A1A16"/>
          </a:solidFill>
          <a:ln w="12700">
            <a:solidFill>
              <a:srgbClr val="1A1A16"/>
            </a:solidFill>
            <a:prstDash val="solid"/>
          </a:ln>
        </p:spPr>
      </p:sp>
      <p:sp>
        <p:nvSpPr>
          <p:cNvPr id="43" name="Shape 41"/>
          <p:cNvSpPr/>
          <p:nvPr/>
        </p:nvSpPr>
        <p:spPr>
          <a:xfrm>
            <a:off x="5845029" y="4849374"/>
            <a:ext cx="132712" cy="153666"/>
          </a:xfrm>
          <a:prstGeom prst="hexagon">
            <a:avLst/>
          </a:prstGeom>
          <a:solidFill>
            <a:srgbClr val="1A1A16"/>
          </a:solidFill>
          <a:ln w="12700">
            <a:solidFill>
              <a:srgbClr val="1A1A16"/>
            </a:solidFill>
            <a:prstDash val="solid"/>
          </a:ln>
        </p:spPr>
      </p:sp>
      <p:sp>
        <p:nvSpPr>
          <p:cNvPr id="44" name="Shape 42"/>
          <p:cNvSpPr/>
          <p:nvPr/>
        </p:nvSpPr>
        <p:spPr>
          <a:xfrm>
            <a:off x="6092673" y="4494418"/>
            <a:ext cx="133347" cy="153666"/>
          </a:xfrm>
          <a:prstGeom prst="hexagon">
            <a:avLst/>
          </a:prstGeom>
          <a:solidFill>
            <a:srgbClr val="1A1A16"/>
          </a:solidFill>
          <a:ln w="12700">
            <a:solidFill>
              <a:srgbClr val="1A1A16"/>
            </a:solidFill>
            <a:prstDash val="solid"/>
          </a:ln>
        </p:spPr>
      </p:sp>
      <p:sp>
        <p:nvSpPr>
          <p:cNvPr id="45" name="Text 43"/>
          <p:cNvSpPr txBox="1"/>
          <p:nvPr/>
        </p:nvSpPr>
        <p:spPr>
          <a:xfrm>
            <a:off x="952476" y="5435464"/>
            <a:ext cx="482587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already checked — and it stays checked</a:t>
            </a:r>
            <a:endParaRPr lang="en-US" sz="1100" dirty="0"/>
          </a:p>
        </p:txBody>
      </p:sp>
      <p:sp>
        <p:nvSpPr>
          <p:cNvPr id="46" name="Shape 44"/>
          <p:cNvSpPr/>
          <p:nvPr/>
        </p:nvSpPr>
        <p:spPr>
          <a:xfrm>
            <a:off x="7990710" y="1755647"/>
            <a:ext cx="-565171" cy="481029"/>
          </a:xfrm>
          <a:prstGeom prst="line">
            <a:avLst/>
          </a:prstGeom>
          <a:noFill/>
          <a:ln w="8890">
            <a:solidFill>
              <a:srgbClr val="8A8A80"/>
            </a:solidFill>
            <a:prstDash val="solid"/>
          </a:ln>
        </p:spPr>
      </p:sp>
      <p:sp>
        <p:nvSpPr>
          <p:cNvPr id="47" name="Shape 45"/>
          <p:cNvSpPr/>
          <p:nvPr/>
        </p:nvSpPr>
        <p:spPr>
          <a:xfrm>
            <a:off x="7990710" y="1755647"/>
            <a:ext cx="697475" cy="-75035"/>
          </a:xfrm>
          <a:prstGeom prst="line">
            <a:avLst/>
          </a:prstGeom>
          <a:noFill/>
          <a:ln w="8890">
            <a:solidFill>
              <a:srgbClr val="8A8A80"/>
            </a:solidFill>
            <a:prstDash val="solid"/>
          </a:ln>
        </p:spPr>
      </p:sp>
      <p:sp>
        <p:nvSpPr>
          <p:cNvPr id="48" name="Shape 46"/>
          <p:cNvSpPr/>
          <p:nvPr/>
        </p:nvSpPr>
        <p:spPr>
          <a:xfrm>
            <a:off x="7425539" y="2236676"/>
            <a:ext cx="1021187" cy="686669"/>
          </a:xfrm>
          <a:prstGeom prst="line">
            <a:avLst/>
          </a:prstGeom>
          <a:noFill/>
          <a:ln w="8890">
            <a:solidFill>
              <a:srgbClr val="8A8A80"/>
            </a:solidFill>
            <a:prstDash val="solid"/>
          </a:ln>
        </p:spPr>
      </p:sp>
      <p:sp>
        <p:nvSpPr>
          <p:cNvPr id="49" name="Shape 47"/>
          <p:cNvSpPr/>
          <p:nvPr/>
        </p:nvSpPr>
        <p:spPr>
          <a:xfrm>
            <a:off x="8688185" y="1680612"/>
            <a:ext cx="-18048" cy="479344"/>
          </a:xfrm>
          <a:prstGeom prst="line">
            <a:avLst/>
          </a:prstGeom>
          <a:noFill/>
          <a:ln w="8890">
            <a:solidFill>
              <a:srgbClr val="8A8A80"/>
            </a:solidFill>
            <a:prstDash val="solid"/>
          </a:ln>
        </p:spPr>
      </p:sp>
      <p:sp>
        <p:nvSpPr>
          <p:cNvPr id="50" name="Shape 48"/>
          <p:cNvSpPr/>
          <p:nvPr/>
        </p:nvSpPr>
        <p:spPr>
          <a:xfrm>
            <a:off x="8446727" y="2923346"/>
            <a:ext cx="272469" cy="-333001"/>
          </a:xfrm>
          <a:prstGeom prst="line">
            <a:avLst/>
          </a:prstGeom>
          <a:noFill/>
          <a:ln w="8890">
            <a:solidFill>
              <a:srgbClr val="8A8A80"/>
            </a:solidFill>
            <a:prstDash val="solid"/>
          </a:ln>
        </p:spPr>
      </p:sp>
      <p:sp>
        <p:nvSpPr>
          <p:cNvPr id="51" name="Shape 49"/>
          <p:cNvSpPr/>
          <p:nvPr/>
        </p:nvSpPr>
        <p:spPr>
          <a:xfrm>
            <a:off x="8719196" y="2590345"/>
            <a:ext cx="336885" cy="383210"/>
          </a:xfrm>
          <a:prstGeom prst="line">
            <a:avLst/>
          </a:prstGeom>
          <a:noFill/>
          <a:ln w="8890">
            <a:solidFill>
              <a:srgbClr val="8A8A80"/>
            </a:solidFill>
            <a:prstDash val="solid"/>
          </a:ln>
        </p:spPr>
      </p:sp>
      <p:sp>
        <p:nvSpPr>
          <p:cNvPr id="52" name="Shape 50"/>
          <p:cNvSpPr/>
          <p:nvPr/>
        </p:nvSpPr>
        <p:spPr>
          <a:xfrm>
            <a:off x="8719196" y="2590345"/>
            <a:ext cx="265373" cy="-225045"/>
          </a:xfrm>
          <a:prstGeom prst="line">
            <a:avLst/>
          </a:prstGeom>
          <a:noFill/>
          <a:ln w="8890">
            <a:solidFill>
              <a:srgbClr val="8A8A80"/>
            </a:solidFill>
            <a:prstDash val="solid"/>
          </a:ln>
        </p:spPr>
      </p:sp>
      <p:sp>
        <p:nvSpPr>
          <p:cNvPr id="53" name="Shape 51"/>
          <p:cNvSpPr/>
          <p:nvPr/>
        </p:nvSpPr>
        <p:spPr>
          <a:xfrm>
            <a:off x="9056080" y="2973555"/>
            <a:ext cx="660537" cy="-160648"/>
          </a:xfrm>
          <a:prstGeom prst="line">
            <a:avLst/>
          </a:prstGeom>
          <a:noFill/>
          <a:ln w="8890">
            <a:solidFill>
              <a:srgbClr val="8A8A80"/>
            </a:solidFill>
            <a:prstDash val="solid"/>
          </a:ln>
        </p:spPr>
      </p:sp>
      <p:sp>
        <p:nvSpPr>
          <p:cNvPr id="54" name="Shape 52"/>
          <p:cNvSpPr/>
          <p:nvPr/>
        </p:nvSpPr>
        <p:spPr>
          <a:xfrm>
            <a:off x="8688185" y="1680612"/>
            <a:ext cx="566972" cy="-53507"/>
          </a:xfrm>
          <a:prstGeom prst="line">
            <a:avLst/>
          </a:prstGeom>
          <a:noFill/>
          <a:ln w="8890">
            <a:solidFill>
              <a:srgbClr val="8A8A80"/>
            </a:solidFill>
            <a:prstDash val="solid"/>
          </a:ln>
        </p:spPr>
      </p:sp>
      <p:sp>
        <p:nvSpPr>
          <p:cNvPr id="55" name="Shape 53"/>
          <p:cNvSpPr/>
          <p:nvPr/>
        </p:nvSpPr>
        <p:spPr>
          <a:xfrm>
            <a:off x="7425539" y="2236676"/>
            <a:ext cx="-90356" cy="1153428"/>
          </a:xfrm>
          <a:prstGeom prst="line">
            <a:avLst/>
          </a:prstGeom>
          <a:noFill/>
          <a:ln w="8890">
            <a:solidFill>
              <a:srgbClr val="8A8A80"/>
            </a:solidFill>
            <a:prstDash val="solid"/>
          </a:ln>
        </p:spPr>
      </p:sp>
      <p:sp>
        <p:nvSpPr>
          <p:cNvPr id="56" name="Shape 54"/>
          <p:cNvSpPr/>
          <p:nvPr/>
        </p:nvSpPr>
        <p:spPr>
          <a:xfrm>
            <a:off x="8968483" y="1320239"/>
            <a:ext cx="286675" cy="306866"/>
          </a:xfrm>
          <a:prstGeom prst="line">
            <a:avLst/>
          </a:prstGeom>
          <a:noFill/>
          <a:ln w="8890">
            <a:solidFill>
              <a:srgbClr val="8A8A80"/>
            </a:solidFill>
            <a:prstDash val="solid"/>
          </a:ln>
        </p:spPr>
      </p:sp>
      <p:sp>
        <p:nvSpPr>
          <p:cNvPr id="57" name="Shape 55"/>
          <p:cNvSpPr/>
          <p:nvPr/>
        </p:nvSpPr>
        <p:spPr>
          <a:xfrm>
            <a:off x="7920862" y="1685799"/>
            <a:ext cx="139697" cy="139697"/>
          </a:xfrm>
          <a:prstGeom prst="ellipse">
            <a:avLst/>
          </a:prstGeom>
          <a:solidFill>
            <a:srgbClr val="FFFFFF"/>
          </a:solidFill>
          <a:ln w="12700">
            <a:solidFill>
              <a:srgbClr val="1A1A16"/>
            </a:solidFill>
            <a:prstDash val="solid"/>
          </a:ln>
        </p:spPr>
      </p:sp>
      <p:sp>
        <p:nvSpPr>
          <p:cNvPr id="58" name="Shape 56"/>
          <p:cNvSpPr/>
          <p:nvPr/>
        </p:nvSpPr>
        <p:spPr>
          <a:xfrm>
            <a:off x="7355691" y="2166828"/>
            <a:ext cx="139697" cy="139697"/>
          </a:xfrm>
          <a:prstGeom prst="ellipse">
            <a:avLst/>
          </a:prstGeom>
          <a:solidFill>
            <a:srgbClr val="FFFFFF"/>
          </a:solidFill>
          <a:ln w="12700">
            <a:solidFill>
              <a:srgbClr val="1A1A16"/>
            </a:solidFill>
            <a:prstDash val="solid"/>
          </a:ln>
        </p:spPr>
      </p:sp>
      <p:sp>
        <p:nvSpPr>
          <p:cNvPr id="59" name="Shape 57"/>
          <p:cNvSpPr/>
          <p:nvPr/>
        </p:nvSpPr>
        <p:spPr>
          <a:xfrm>
            <a:off x="8618337" y="1610764"/>
            <a:ext cx="139697" cy="139697"/>
          </a:xfrm>
          <a:prstGeom prst="ellipse">
            <a:avLst/>
          </a:prstGeom>
          <a:solidFill>
            <a:srgbClr val="FFFFFF"/>
          </a:solidFill>
          <a:ln w="12700">
            <a:solidFill>
              <a:srgbClr val="1A1A16"/>
            </a:solidFill>
            <a:prstDash val="solid"/>
          </a:ln>
        </p:spPr>
      </p:sp>
      <p:sp>
        <p:nvSpPr>
          <p:cNvPr id="60" name="Shape 58"/>
          <p:cNvSpPr/>
          <p:nvPr/>
        </p:nvSpPr>
        <p:spPr>
          <a:xfrm>
            <a:off x="8384965" y="2861238"/>
            <a:ext cx="123822" cy="123822"/>
          </a:xfrm>
          <a:prstGeom prst="rect">
            <a:avLst/>
          </a:prstGeom>
          <a:solidFill>
            <a:srgbClr val="FFFFFF"/>
          </a:solidFill>
          <a:ln w="12700">
            <a:solidFill>
              <a:srgbClr val="1A1A16"/>
            </a:solidFill>
            <a:prstDash val="solid"/>
          </a:ln>
        </p:spPr>
      </p:sp>
      <p:sp>
        <p:nvSpPr>
          <p:cNvPr id="61" name="Shape 59"/>
          <p:cNvSpPr/>
          <p:nvPr/>
        </p:nvSpPr>
        <p:spPr>
          <a:xfrm>
            <a:off x="8603400" y="2083383"/>
            <a:ext cx="133347" cy="153666"/>
          </a:xfrm>
          <a:prstGeom prst="hexagon">
            <a:avLst/>
          </a:prstGeom>
          <a:solidFill>
            <a:srgbClr val="FFFFFF"/>
          </a:solidFill>
          <a:ln w="12700">
            <a:solidFill>
              <a:srgbClr val="1A1A16"/>
            </a:solidFill>
            <a:prstDash val="solid"/>
          </a:ln>
        </p:spPr>
      </p:sp>
      <p:sp>
        <p:nvSpPr>
          <p:cNvPr id="62" name="Shape 60"/>
          <p:cNvSpPr/>
          <p:nvPr/>
        </p:nvSpPr>
        <p:spPr>
          <a:xfrm>
            <a:off x="8631339" y="2503107"/>
            <a:ext cx="175256" cy="174621"/>
          </a:xfrm>
          <a:prstGeom prst="diamond">
            <a:avLst/>
          </a:prstGeom>
          <a:solidFill>
            <a:srgbClr val="FFFFFF"/>
          </a:solidFill>
          <a:ln w="12700">
            <a:solidFill>
              <a:srgbClr val="1A1A16"/>
            </a:solidFill>
            <a:prstDash val="solid"/>
          </a:ln>
        </p:spPr>
      </p:sp>
      <p:sp>
        <p:nvSpPr>
          <p:cNvPr id="63" name="Shape 61"/>
          <p:cNvSpPr/>
          <p:nvPr/>
        </p:nvSpPr>
        <p:spPr>
          <a:xfrm>
            <a:off x="8986232" y="2903707"/>
            <a:ext cx="139697" cy="139697"/>
          </a:xfrm>
          <a:prstGeom prst="ellipse">
            <a:avLst/>
          </a:prstGeom>
          <a:solidFill>
            <a:srgbClr val="FFFFFF"/>
          </a:solidFill>
          <a:ln w="12700">
            <a:solidFill>
              <a:srgbClr val="1A1A16"/>
            </a:solidFill>
            <a:prstDash val="solid"/>
          </a:ln>
        </p:spPr>
      </p:sp>
      <p:sp>
        <p:nvSpPr>
          <p:cNvPr id="64" name="Shape 62"/>
          <p:cNvSpPr/>
          <p:nvPr/>
        </p:nvSpPr>
        <p:spPr>
          <a:xfrm>
            <a:off x="8914721" y="2295451"/>
            <a:ext cx="139697" cy="139697"/>
          </a:xfrm>
          <a:prstGeom prst="ellipse">
            <a:avLst/>
          </a:prstGeom>
          <a:solidFill>
            <a:srgbClr val="FFFFFF"/>
          </a:solidFill>
          <a:ln w="12700">
            <a:solidFill>
              <a:srgbClr val="1A1A16"/>
            </a:solidFill>
            <a:prstDash val="solid"/>
          </a:ln>
        </p:spPr>
      </p:sp>
      <p:sp>
        <p:nvSpPr>
          <p:cNvPr id="65" name="Shape 63"/>
          <p:cNvSpPr/>
          <p:nvPr/>
        </p:nvSpPr>
        <p:spPr>
          <a:xfrm>
            <a:off x="9654934" y="2750751"/>
            <a:ext cx="123822" cy="123822"/>
          </a:xfrm>
          <a:prstGeom prst="rect">
            <a:avLst/>
          </a:prstGeom>
          <a:solidFill>
            <a:srgbClr val="FFFFFF"/>
          </a:solidFill>
          <a:ln w="12700">
            <a:solidFill>
              <a:srgbClr val="1A1A16"/>
            </a:solidFill>
            <a:prstDash val="solid"/>
          </a:ln>
        </p:spPr>
      </p:sp>
      <p:sp>
        <p:nvSpPr>
          <p:cNvPr id="66" name="Shape 64"/>
          <p:cNvSpPr/>
          <p:nvPr/>
        </p:nvSpPr>
        <p:spPr>
          <a:xfrm>
            <a:off x="9193300" y="1565236"/>
            <a:ext cx="123822" cy="123822"/>
          </a:xfrm>
          <a:prstGeom prst="rect">
            <a:avLst/>
          </a:prstGeom>
          <a:solidFill>
            <a:srgbClr val="FFFFFF"/>
          </a:solidFill>
          <a:ln w="12700">
            <a:solidFill>
              <a:srgbClr val="1A1A16"/>
            </a:solidFill>
            <a:prstDash val="solid"/>
          </a:ln>
        </p:spPr>
      </p:sp>
      <p:sp>
        <p:nvSpPr>
          <p:cNvPr id="67" name="Shape 65"/>
          <p:cNvSpPr/>
          <p:nvPr/>
        </p:nvSpPr>
        <p:spPr>
          <a:xfrm>
            <a:off x="7268663" y="3313347"/>
            <a:ext cx="133347" cy="153666"/>
          </a:xfrm>
          <a:prstGeom prst="hexagon">
            <a:avLst/>
          </a:prstGeom>
          <a:solidFill>
            <a:srgbClr val="FFFFFF"/>
          </a:solidFill>
          <a:ln w="12700">
            <a:solidFill>
              <a:srgbClr val="1A1A16"/>
            </a:solidFill>
            <a:prstDash val="solid"/>
          </a:ln>
        </p:spPr>
      </p:sp>
      <p:sp>
        <p:nvSpPr>
          <p:cNvPr id="68" name="Shape 66"/>
          <p:cNvSpPr/>
          <p:nvPr/>
        </p:nvSpPr>
        <p:spPr>
          <a:xfrm>
            <a:off x="8874538" y="1211550"/>
            <a:ext cx="187955" cy="163191"/>
          </a:xfrm>
          <a:prstGeom prst="triangle">
            <a:avLst/>
          </a:prstGeom>
          <a:solidFill>
            <a:srgbClr val="FFFFFF"/>
          </a:solidFill>
          <a:ln w="12700">
            <a:solidFill>
              <a:srgbClr val="1A1A16"/>
            </a:solidFill>
            <a:prstDash val="solid"/>
          </a:ln>
        </p:spPr>
      </p:sp>
      <p:sp>
        <p:nvSpPr>
          <p:cNvPr id="69" name="Text 67"/>
          <p:cNvSpPr txBox="1"/>
          <p:nvPr/>
        </p:nvSpPr>
        <p:spPr>
          <a:xfrm>
            <a:off x="7111822" y="952476"/>
            <a:ext cx="482587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 new paper</a:t>
            </a:r>
            <a:endParaRPr lang="en-US" sz="1100" dirty="0"/>
          </a:p>
        </p:txBody>
      </p:sp>
      <p:sp>
        <p:nvSpPr>
          <p:cNvPr id="70" name="Shape 68"/>
          <p:cNvSpPr/>
          <p:nvPr/>
        </p:nvSpPr>
        <p:spPr>
          <a:xfrm>
            <a:off x="1696315" y="4886588"/>
            <a:ext cx="6294396" cy="-3130941"/>
          </a:xfrm>
          <a:prstGeom prst="line">
            <a:avLst/>
          </a:prstGeom>
          <a:noFill/>
          <a:ln w="8255">
            <a:solidFill>
              <a:srgbClr val="BFBFBE"/>
            </a:solidFill>
            <a:prstDash val="solid"/>
          </a:ln>
        </p:spPr>
      </p:sp>
      <p:sp>
        <p:nvSpPr>
          <p:cNvPr id="71" name="Shape 69"/>
          <p:cNvSpPr/>
          <p:nvPr/>
        </p:nvSpPr>
        <p:spPr>
          <a:xfrm>
            <a:off x="3183992" y="4670679"/>
            <a:ext cx="5262735" cy="-1747334"/>
          </a:xfrm>
          <a:prstGeom prst="line">
            <a:avLst/>
          </a:prstGeom>
          <a:noFill/>
          <a:ln w="8255">
            <a:solidFill>
              <a:srgbClr val="BFBFBE"/>
            </a:solidFill>
            <a:prstDash val="solid"/>
          </a:ln>
        </p:spPr>
      </p:sp>
      <p:sp>
        <p:nvSpPr>
          <p:cNvPr id="72" name="Shape 70"/>
          <p:cNvSpPr/>
          <p:nvPr/>
        </p:nvSpPr>
        <p:spPr>
          <a:xfrm>
            <a:off x="3679884" y="4808508"/>
            <a:ext cx="4990253" cy="-2648551"/>
          </a:xfrm>
          <a:prstGeom prst="line">
            <a:avLst/>
          </a:prstGeom>
          <a:noFill/>
          <a:ln w="8255">
            <a:solidFill>
              <a:srgbClr val="BFBFBE"/>
            </a:solidFill>
            <a:prstDash val="solid"/>
          </a:ln>
        </p:spPr>
      </p:sp>
      <p:sp>
        <p:nvSpPr>
          <p:cNvPr id="73" name="Shape 71"/>
          <p:cNvSpPr/>
          <p:nvPr/>
        </p:nvSpPr>
        <p:spPr>
          <a:xfrm>
            <a:off x="4175777" y="4812065"/>
            <a:ext cx="4543419" cy="-2221721"/>
          </a:xfrm>
          <a:prstGeom prst="line">
            <a:avLst/>
          </a:prstGeom>
          <a:noFill/>
          <a:ln w="8255">
            <a:solidFill>
              <a:srgbClr val="BFBFBE"/>
            </a:solidFill>
            <a:prstDash val="solid"/>
          </a:ln>
        </p:spPr>
      </p:sp>
      <p:sp>
        <p:nvSpPr>
          <p:cNvPr id="74" name="Shape 72"/>
          <p:cNvSpPr/>
          <p:nvPr/>
        </p:nvSpPr>
        <p:spPr>
          <a:xfrm>
            <a:off x="5167561" y="5040886"/>
            <a:ext cx="3817008" cy="-2675587"/>
          </a:xfrm>
          <a:prstGeom prst="line">
            <a:avLst/>
          </a:prstGeom>
          <a:noFill/>
          <a:ln w="8255">
            <a:solidFill>
              <a:srgbClr val="BFBFBE"/>
            </a:solidFill>
            <a:prstDash val="solid"/>
          </a:ln>
        </p:spPr>
      </p:sp>
      <p:sp>
        <p:nvSpPr>
          <p:cNvPr id="75" name="Shape 73"/>
          <p:cNvSpPr/>
          <p:nvPr/>
        </p:nvSpPr>
        <p:spPr>
          <a:xfrm>
            <a:off x="5663454" y="4966815"/>
            <a:ext cx="4053164" cy="-2153909"/>
          </a:xfrm>
          <a:prstGeom prst="line">
            <a:avLst/>
          </a:prstGeom>
          <a:noFill/>
          <a:ln w="8255">
            <a:solidFill>
              <a:srgbClr val="BFBFBE"/>
            </a:solidFill>
            <a:prstDash val="solid"/>
          </a:ln>
        </p:spPr>
      </p:sp>
      <p:sp>
        <p:nvSpPr>
          <p:cNvPr id="76" name="Shape 74"/>
          <p:cNvSpPr/>
          <p:nvPr/>
        </p:nvSpPr>
        <p:spPr>
          <a:xfrm>
            <a:off x="6159346" y="4571193"/>
            <a:ext cx="3095811" cy="-2944088"/>
          </a:xfrm>
          <a:prstGeom prst="line">
            <a:avLst/>
          </a:prstGeom>
          <a:noFill/>
          <a:ln w="8255">
            <a:solidFill>
              <a:srgbClr val="BFBFBE"/>
            </a:solidFill>
            <a:prstDash val="solid"/>
          </a:ln>
        </p:spPr>
      </p:sp>
      <p:sp>
        <p:nvSpPr>
          <p:cNvPr id="77" name="Shape 75"/>
          <p:cNvSpPr/>
          <p:nvPr/>
        </p:nvSpPr>
        <p:spPr>
          <a:xfrm>
            <a:off x="1200422" y="4851717"/>
            <a:ext cx="6134760" cy="-1461613"/>
          </a:xfrm>
          <a:prstGeom prst="line">
            <a:avLst/>
          </a:prstGeom>
          <a:noFill/>
          <a:ln w="8255">
            <a:solidFill>
              <a:srgbClr val="BFBFBE"/>
            </a:solidFill>
            <a:prstDash val="solid"/>
          </a:ln>
        </p:spPr>
      </p:sp>
      <p:sp>
        <p:nvSpPr>
          <p:cNvPr id="78" name="Shape 76"/>
          <p:cNvSpPr/>
          <p:nvPr/>
        </p:nvSpPr>
        <p:spPr>
          <a:xfrm>
            <a:off x="1696315" y="4886588"/>
            <a:ext cx="7272168" cy="-3566349"/>
          </a:xfrm>
          <a:prstGeom prst="line">
            <a:avLst/>
          </a:prstGeom>
          <a:noFill/>
          <a:ln w="8255">
            <a:solidFill>
              <a:srgbClr val="BFBFBE"/>
            </a:solidFill>
            <a:prstDash val="solid"/>
          </a:ln>
        </p:spPr>
      </p:sp>
      <p:sp>
        <p:nvSpPr>
          <p:cNvPr id="79" name="Shape 77"/>
          <p:cNvSpPr/>
          <p:nvPr/>
        </p:nvSpPr>
        <p:spPr>
          <a:xfrm>
            <a:off x="7355691" y="2509719"/>
            <a:ext cx="139697" cy="139697"/>
          </a:xfrm>
          <a:prstGeom prst="ellipse">
            <a:avLst/>
          </a:prstGeom>
          <a:solidFill>
            <a:srgbClr val="FFFFFF"/>
          </a:solidFill>
          <a:ln w="13970">
            <a:solidFill>
              <a:srgbClr val="1F6F78"/>
            </a:solidFill>
            <a:prstDash val="solid"/>
          </a:ln>
        </p:spPr>
      </p:sp>
      <p:sp>
        <p:nvSpPr>
          <p:cNvPr id="80" name="Shape 78"/>
          <p:cNvSpPr/>
          <p:nvPr/>
        </p:nvSpPr>
        <p:spPr>
          <a:xfrm>
            <a:off x="7387440" y="2579568"/>
            <a:ext cx="76198" cy="0"/>
          </a:xfrm>
          <a:prstGeom prst="line">
            <a:avLst/>
          </a:prstGeom>
          <a:noFill/>
          <a:ln w="12700">
            <a:solidFill>
              <a:srgbClr val="1F6F78"/>
            </a:solidFill>
            <a:prstDash val="solid"/>
          </a:ln>
        </p:spPr>
      </p:sp>
      <p:sp>
        <p:nvSpPr>
          <p:cNvPr id="81" name="Shape 79"/>
          <p:cNvSpPr/>
          <p:nvPr/>
        </p:nvSpPr>
        <p:spPr>
          <a:xfrm>
            <a:off x="7425539" y="2541469"/>
            <a:ext cx="0" cy="76198"/>
          </a:xfrm>
          <a:prstGeom prst="line">
            <a:avLst/>
          </a:prstGeom>
          <a:noFill/>
          <a:ln w="12700">
            <a:solidFill>
              <a:srgbClr val="1F6F78"/>
            </a:solidFill>
            <a:prstDash val="solid"/>
          </a:ln>
        </p:spPr>
      </p:sp>
      <p:sp>
        <p:nvSpPr>
          <p:cNvPr id="82" name="Shape 80"/>
          <p:cNvSpPr/>
          <p:nvPr/>
        </p:nvSpPr>
        <p:spPr>
          <a:xfrm>
            <a:off x="7425539" y="2331924"/>
            <a:ext cx="0" cy="177796"/>
          </a:xfrm>
          <a:prstGeom prst="line">
            <a:avLst/>
          </a:prstGeom>
          <a:noFill/>
          <a:ln w="13970">
            <a:solidFill>
              <a:srgbClr val="1A1A16"/>
            </a:solidFill>
            <a:prstDash val="solid"/>
            <a:headEnd type="triangle"/>
          </a:ln>
        </p:spPr>
      </p:sp>
      <p:sp>
        <p:nvSpPr>
          <p:cNvPr id="83" name="Shape 81"/>
          <p:cNvSpPr/>
          <p:nvPr/>
        </p:nvSpPr>
        <p:spPr>
          <a:xfrm>
            <a:off x="8618337" y="1953655"/>
            <a:ext cx="139697" cy="139697"/>
          </a:xfrm>
          <a:prstGeom prst="ellipse">
            <a:avLst/>
          </a:prstGeom>
          <a:solidFill>
            <a:srgbClr val="FFFFFF"/>
          </a:solidFill>
          <a:ln w="13970">
            <a:solidFill>
              <a:srgbClr val="1F6F78"/>
            </a:solidFill>
            <a:prstDash val="solid"/>
          </a:ln>
        </p:spPr>
      </p:sp>
      <p:sp>
        <p:nvSpPr>
          <p:cNvPr id="84" name="Shape 82"/>
          <p:cNvSpPr/>
          <p:nvPr/>
        </p:nvSpPr>
        <p:spPr>
          <a:xfrm>
            <a:off x="8650086" y="2023504"/>
            <a:ext cx="76198" cy="0"/>
          </a:xfrm>
          <a:prstGeom prst="line">
            <a:avLst/>
          </a:prstGeom>
          <a:noFill/>
          <a:ln w="12700">
            <a:solidFill>
              <a:srgbClr val="1F6F78"/>
            </a:solidFill>
            <a:prstDash val="solid"/>
          </a:ln>
        </p:spPr>
      </p:sp>
      <p:sp>
        <p:nvSpPr>
          <p:cNvPr id="85" name="Shape 83"/>
          <p:cNvSpPr/>
          <p:nvPr/>
        </p:nvSpPr>
        <p:spPr>
          <a:xfrm>
            <a:off x="8688185" y="1985405"/>
            <a:ext cx="0" cy="76198"/>
          </a:xfrm>
          <a:prstGeom prst="line">
            <a:avLst/>
          </a:prstGeom>
          <a:noFill/>
          <a:ln w="12700">
            <a:solidFill>
              <a:srgbClr val="1F6F78"/>
            </a:solidFill>
            <a:prstDash val="solid"/>
          </a:ln>
        </p:spPr>
      </p:sp>
      <p:sp>
        <p:nvSpPr>
          <p:cNvPr id="86" name="Shape 84"/>
          <p:cNvSpPr/>
          <p:nvPr/>
        </p:nvSpPr>
        <p:spPr>
          <a:xfrm>
            <a:off x="8688185" y="1775860"/>
            <a:ext cx="0" cy="177796"/>
          </a:xfrm>
          <a:prstGeom prst="line">
            <a:avLst/>
          </a:prstGeom>
          <a:noFill/>
          <a:ln w="13970">
            <a:solidFill>
              <a:srgbClr val="1A1A16"/>
            </a:solidFill>
            <a:prstDash val="solid"/>
            <a:headEnd type="triangle"/>
          </a:ln>
        </p:spPr>
      </p:sp>
      <p:sp>
        <p:nvSpPr>
          <p:cNvPr id="87" name="Shape 85"/>
          <p:cNvSpPr/>
          <p:nvPr/>
        </p:nvSpPr>
        <p:spPr>
          <a:xfrm>
            <a:off x="8986232" y="3246598"/>
            <a:ext cx="139697" cy="139697"/>
          </a:xfrm>
          <a:prstGeom prst="ellipse">
            <a:avLst/>
          </a:prstGeom>
          <a:solidFill>
            <a:srgbClr val="FFFFFF"/>
          </a:solidFill>
          <a:ln w="13970">
            <a:solidFill>
              <a:srgbClr val="1F6F78"/>
            </a:solidFill>
            <a:prstDash val="solid"/>
          </a:ln>
        </p:spPr>
      </p:sp>
      <p:sp>
        <p:nvSpPr>
          <p:cNvPr id="88" name="Shape 86"/>
          <p:cNvSpPr/>
          <p:nvPr/>
        </p:nvSpPr>
        <p:spPr>
          <a:xfrm>
            <a:off x="9017981" y="3316446"/>
            <a:ext cx="76198" cy="0"/>
          </a:xfrm>
          <a:prstGeom prst="line">
            <a:avLst/>
          </a:prstGeom>
          <a:noFill/>
          <a:ln w="12700">
            <a:solidFill>
              <a:srgbClr val="1F6F78"/>
            </a:solidFill>
            <a:prstDash val="solid"/>
          </a:ln>
        </p:spPr>
      </p:sp>
      <p:sp>
        <p:nvSpPr>
          <p:cNvPr id="89" name="Shape 87"/>
          <p:cNvSpPr/>
          <p:nvPr/>
        </p:nvSpPr>
        <p:spPr>
          <a:xfrm>
            <a:off x="9056080" y="3278347"/>
            <a:ext cx="0" cy="76198"/>
          </a:xfrm>
          <a:prstGeom prst="line">
            <a:avLst/>
          </a:prstGeom>
          <a:noFill/>
          <a:ln w="12700">
            <a:solidFill>
              <a:srgbClr val="1F6F78"/>
            </a:solidFill>
            <a:prstDash val="solid"/>
          </a:ln>
        </p:spPr>
      </p:sp>
      <p:sp>
        <p:nvSpPr>
          <p:cNvPr id="90" name="Shape 88"/>
          <p:cNvSpPr/>
          <p:nvPr/>
        </p:nvSpPr>
        <p:spPr>
          <a:xfrm>
            <a:off x="9056080" y="3068802"/>
            <a:ext cx="0" cy="177796"/>
          </a:xfrm>
          <a:prstGeom prst="line">
            <a:avLst/>
          </a:prstGeom>
          <a:noFill/>
          <a:ln w="13970">
            <a:solidFill>
              <a:srgbClr val="1A1A16"/>
            </a:solidFill>
            <a:prstDash val="solid"/>
            <a:headEnd type="triangle"/>
          </a:ln>
        </p:spPr>
      </p:sp>
      <p:sp>
        <p:nvSpPr>
          <p:cNvPr id="91" name="Text 89"/>
          <p:cNvSpPr txBox="1"/>
          <p:nvPr/>
        </p:nvSpPr>
        <p:spPr>
          <a:xfrm>
            <a:off x="7111822" y="3809905"/>
            <a:ext cx="4825879" cy="237484"/>
          </a:xfrm>
          <a:prstGeom prst="rect">
            <a:avLst/>
          </a:prstGeom>
          <a:noFill/>
          <a:ln/>
        </p:spPr>
        <p:txBody>
          <a:bodyPr wrap="square" lIns="0" tIns="0" rIns="0" bIns="0" rtlCol="0" anchor="t"/>
          <a:lstStyle/>
          <a:p>
            <a:pPr algn="l" indent="0" marL="0">
              <a:buNone/>
            </a:pPr>
            <a:r>
              <a:rPr lang="en-US" sz="1100" dirty="0">
                <a:solidFill>
                  <a:srgbClr val="1F6F78"/>
                </a:solidFill>
                <a:latin typeface="Calibri" pitchFamily="34" charset="0"/>
                <a:ea typeface="Calibri" pitchFamily="34" charset="-122"/>
                <a:cs typeface="Calibri" pitchFamily="34" charset="-120"/>
              </a:rPr>
              <a:t>three new checks, not a hundred</a:t>
            </a:r>
            <a:endParaRPr lang="en-US" sz="1100" dirty="0"/>
          </a:p>
        </p:txBody>
      </p:sp>
      <p:sp>
        <p:nvSpPr>
          <p:cNvPr id="92" name="Text 90"/>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three</a:t>
            </a:r>
            <a:endParaRPr lang="en-US" sz="1500" dirty="0"/>
          </a:p>
        </p:txBody>
      </p:sp>
      <p:sp>
        <p:nvSpPr>
          <p:cNvPr id="93" name="Text 91"/>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new paper inherits what is checked</a:t>
            </a:r>
            <a:endParaRPr lang="en-US" sz="1500" dirty="0"/>
          </a:p>
        </p:txBody>
      </p:sp>
      <p:sp>
        <p:nvSpPr>
          <p:cNvPr id="94" name="Text 92"/>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only three of its claims are genuinely new</a:t>
            </a:r>
            <a:endParaRPr lang="en-US" sz="1000" dirty="0"/>
          </a:p>
        </p:txBody>
      </p:sp>
      <p:sp>
        <p:nvSpPr>
          <p:cNvPr id="95" name="Text 9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63</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Where this actually is</a:t>
            </a:r>
            <a:endParaRPr lang="en-US" sz="2300" dirty="0"/>
          </a:p>
        </p:txBody>
      </p:sp>
      <p:sp>
        <p:nvSpPr>
          <p:cNvPr id="3" name="Shape 1"/>
          <p:cNvSpPr/>
          <p:nvPr/>
        </p:nvSpPr>
        <p:spPr>
          <a:xfrm>
            <a:off x="952476" y="1460463"/>
            <a:ext cx="1206470" cy="431789"/>
          </a:xfrm>
          <a:prstGeom prst="rect">
            <a:avLst/>
          </a:prstGeom>
          <a:ln w="17780">
            <a:solidFill>
              <a:srgbClr val="1A1A16"/>
            </a:solidFill>
            <a:prstDash val="solid"/>
          </a:ln>
        </p:spPr>
      </p:sp>
      <p:sp>
        <p:nvSpPr>
          <p:cNvPr id="4" name="Text 2"/>
          <p:cNvSpPr txBox="1"/>
          <p:nvPr/>
        </p:nvSpPr>
        <p:spPr>
          <a:xfrm>
            <a:off x="1066773" y="1587460"/>
            <a:ext cx="977876"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5" name="Text 3"/>
          <p:cNvSpPr txBox="1"/>
          <p:nvPr/>
        </p:nvSpPr>
        <p:spPr>
          <a:xfrm>
            <a:off x="2387540" y="1574761"/>
            <a:ext cx="8851679"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paper, frozen. 29 claims and 46 dependencies for one theorem, and a chain that runs.</a:t>
            </a:r>
            <a:endParaRPr lang="en-US" sz="1200" dirty="0"/>
          </a:p>
        </p:txBody>
      </p:sp>
      <p:sp>
        <p:nvSpPr>
          <p:cNvPr id="6" name="Shape 4"/>
          <p:cNvSpPr/>
          <p:nvPr/>
        </p:nvSpPr>
        <p:spPr>
          <a:xfrm>
            <a:off x="952476" y="2082748"/>
            <a:ext cx="1206470" cy="431789"/>
          </a:xfrm>
          <a:prstGeom prst="rect">
            <a:avLst/>
          </a:prstGeom>
          <a:ln w="17780">
            <a:solidFill>
              <a:srgbClr val="1A1A16"/>
            </a:solidFill>
            <a:prstDash val="solid"/>
          </a:ln>
        </p:spPr>
      </p:sp>
      <p:sp>
        <p:nvSpPr>
          <p:cNvPr id="7" name="Text 5"/>
          <p:cNvSpPr txBox="1"/>
          <p:nvPr/>
        </p:nvSpPr>
        <p:spPr>
          <a:xfrm>
            <a:off x="1066773" y="2209745"/>
            <a:ext cx="977876"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8" name="Text 6"/>
          <p:cNvSpPr txBox="1"/>
          <p:nvPr/>
        </p:nvSpPr>
        <p:spPr>
          <a:xfrm>
            <a:off x="2387540" y="2197045"/>
            <a:ext cx="8851679"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Removing a claim has a measurable cost, so the structure can say which parts carry load.</a:t>
            </a:r>
            <a:endParaRPr lang="en-US" sz="1200" dirty="0"/>
          </a:p>
        </p:txBody>
      </p:sp>
      <p:sp>
        <p:nvSpPr>
          <p:cNvPr id="9" name="Shape 7"/>
          <p:cNvSpPr/>
          <p:nvPr/>
        </p:nvSpPr>
        <p:spPr>
          <a:xfrm>
            <a:off x="952476" y="2705032"/>
            <a:ext cx="1206470" cy="431789"/>
          </a:xfrm>
          <a:prstGeom prst="rect">
            <a:avLst/>
          </a:prstGeom>
          <a:ln w="10160">
            <a:solidFill>
              <a:srgbClr val="8A8A80"/>
            </a:solidFill>
            <a:prstDash val="solid"/>
          </a:ln>
        </p:spPr>
      </p:sp>
      <p:sp>
        <p:nvSpPr>
          <p:cNvPr id="10" name="Text 8"/>
          <p:cNvSpPr txBox="1"/>
          <p:nvPr/>
        </p:nvSpPr>
        <p:spPr>
          <a:xfrm>
            <a:off x="1066773" y="2832029"/>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1" name="Text 9"/>
          <p:cNvSpPr txBox="1"/>
          <p:nvPr/>
        </p:nvSpPr>
        <p:spPr>
          <a:xfrm>
            <a:off x="2387540" y="2819330"/>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613-claim extraction is not usable: every node is blocked pending review, and nothing is accepted.</a:t>
            </a:r>
            <a:endParaRPr lang="en-US" sz="1200" dirty="0"/>
          </a:p>
        </p:txBody>
      </p:sp>
      <p:sp>
        <p:nvSpPr>
          <p:cNvPr id="12" name="Shape 10"/>
          <p:cNvSpPr/>
          <p:nvPr/>
        </p:nvSpPr>
        <p:spPr>
          <a:xfrm>
            <a:off x="952476" y="3327317"/>
            <a:ext cx="1206470" cy="431789"/>
          </a:xfrm>
          <a:prstGeom prst="rect">
            <a:avLst/>
          </a:prstGeom>
          <a:ln w="10160">
            <a:solidFill>
              <a:srgbClr val="8A8A80"/>
            </a:solidFill>
            <a:prstDash val="solid"/>
          </a:ln>
        </p:spPr>
      </p:sp>
      <p:sp>
        <p:nvSpPr>
          <p:cNvPr id="13" name="Text 11"/>
          <p:cNvSpPr txBox="1"/>
          <p:nvPr/>
        </p:nvSpPr>
        <p:spPr>
          <a:xfrm>
            <a:off x="1066773" y="3454314"/>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4" name="Text 12"/>
          <p:cNvSpPr txBox="1"/>
          <p:nvPr/>
        </p:nvSpPr>
        <p:spPr>
          <a:xfrm>
            <a:off x="2387540" y="3441614"/>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chain rests on a DAG written by hand, for this paper. Automatic library lookup is zero lines of code.</a:t>
            </a:r>
            <a:endParaRPr lang="en-US" sz="1200" dirty="0"/>
          </a:p>
        </p:txBody>
      </p:sp>
      <p:sp>
        <p:nvSpPr>
          <p:cNvPr id="15" name="Shape 13"/>
          <p:cNvSpPr/>
          <p:nvPr/>
        </p:nvSpPr>
        <p:spPr>
          <a:xfrm>
            <a:off x="952476" y="3949601"/>
            <a:ext cx="1206470" cy="431789"/>
          </a:xfrm>
          <a:prstGeom prst="rect">
            <a:avLst/>
          </a:prstGeom>
          <a:ln w="10160">
            <a:solidFill>
              <a:srgbClr val="8A8A80"/>
            </a:solidFill>
            <a:prstDash val="solid"/>
          </a:ln>
        </p:spPr>
      </p:sp>
      <p:sp>
        <p:nvSpPr>
          <p:cNvPr id="16" name="Text 14"/>
          <p:cNvSpPr txBox="1"/>
          <p:nvPr/>
        </p:nvSpPr>
        <p:spPr>
          <a:xfrm>
            <a:off x="1066773" y="4076598"/>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shown</a:t>
            </a:r>
            <a:endParaRPr lang="en-US" sz="1200" dirty="0"/>
          </a:p>
        </p:txBody>
      </p:sp>
      <p:sp>
        <p:nvSpPr>
          <p:cNvPr id="17" name="Text 15"/>
          <p:cNvSpPr txBox="1"/>
          <p:nvPr/>
        </p:nvSpPr>
        <p:spPr>
          <a:xfrm>
            <a:off x="2387540" y="4063898"/>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Whether the formal object means the physics you had in mind. No kernel judges that.</a:t>
            </a:r>
            <a:endParaRPr lang="en-US" sz="1200" dirty="0"/>
          </a:p>
        </p:txBody>
      </p:sp>
      <p:sp>
        <p:nvSpPr>
          <p:cNvPr id="18" name="Shape 16"/>
          <p:cNvSpPr/>
          <p:nvPr/>
        </p:nvSpPr>
        <p:spPr>
          <a:xfrm>
            <a:off x="952476" y="4825879"/>
            <a:ext cx="10286743" cy="0"/>
          </a:xfrm>
          <a:prstGeom prst="line">
            <a:avLst/>
          </a:prstGeom>
          <a:noFill/>
          <a:ln w="8890">
            <a:solidFill>
              <a:srgbClr val="8A8A80"/>
            </a:solidFill>
            <a:prstDash val="solid"/>
          </a:ln>
        </p:spPr>
      </p:sp>
      <p:sp>
        <p:nvSpPr>
          <p:cNvPr id="19" name="Text 17"/>
          <p:cNvSpPr txBox="1"/>
          <p:nvPr/>
        </p:nvSpPr>
        <p:spPr>
          <a:xfrm>
            <a:off x="952476" y="5054474"/>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claim is not that this works. It is that it is now small enough to argue about.</a:t>
            </a:r>
            <a:endParaRPr lang="en-US" sz="1700" dirty="0"/>
          </a:p>
        </p:txBody>
      </p:sp>
      <p:sp>
        <p:nvSpPr>
          <p:cNvPr id="20" name="Text 18"/>
          <p:cNvSpPr txBox="1"/>
          <p:nvPr/>
        </p:nvSpPr>
        <p:spPr>
          <a:xfrm>
            <a:off x="952476" y="5435464"/>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Everything on this frame is one paper and one run — a possibility with a receipt, not a result.</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64</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1206470"/>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Three questions I do not have answers to</a:t>
            </a:r>
            <a:endParaRPr lang="en-US" sz="1300" dirty="0"/>
          </a:p>
        </p:txBody>
      </p:sp>
      <p:sp>
        <p:nvSpPr>
          <p:cNvPr id="3" name="Text 1"/>
          <p:cNvSpPr txBox="1"/>
          <p:nvPr/>
        </p:nvSpPr>
        <p:spPr>
          <a:xfrm>
            <a:off x="952476" y="1625559"/>
            <a:ext cx="10286743"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A golden age for theoretical research.</a:t>
            </a:r>
            <a:endParaRPr lang="en-US" sz="2600" dirty="0"/>
          </a:p>
        </p:txBody>
      </p:sp>
      <p:sp>
        <p:nvSpPr>
          <p:cNvPr id="4" name="Text 2"/>
          <p:cNvSpPr txBox="1"/>
          <p:nvPr/>
        </p:nvSpPr>
        <p:spPr>
          <a:xfrm>
            <a:off x="952476" y="2095448"/>
            <a:ext cx="10286743"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But for theoretical researchers?</a:t>
            </a:r>
            <a:endParaRPr lang="en-US" sz="2600" dirty="0"/>
          </a:p>
        </p:txBody>
      </p:sp>
      <p:sp>
        <p:nvSpPr>
          <p:cNvPr id="5" name="Shape 3"/>
          <p:cNvSpPr/>
          <p:nvPr/>
        </p:nvSpPr>
        <p:spPr>
          <a:xfrm>
            <a:off x="952476" y="2857429"/>
            <a:ext cx="7048324" cy="0"/>
          </a:xfrm>
          <a:prstGeom prst="line">
            <a:avLst/>
          </a:prstGeom>
          <a:noFill/>
          <a:ln w="8890">
            <a:solidFill>
              <a:srgbClr val="8A8A80"/>
            </a:solidFill>
            <a:prstDash val="solid"/>
          </a:ln>
        </p:spPr>
      </p:sp>
      <p:sp>
        <p:nvSpPr>
          <p:cNvPr id="6" name="Text 4"/>
          <p:cNvSpPr txBox="1"/>
          <p:nvPr/>
        </p:nvSpPr>
        <p:spPr>
          <a:xfrm>
            <a:off x="952476" y="3174921"/>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33467" y="3174921"/>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Does more compute and more intelligence excite you — or frustrate you?</a:t>
            </a:r>
            <a:endParaRPr lang="en-US" sz="1300" dirty="0"/>
          </a:p>
        </p:txBody>
      </p:sp>
      <p:sp>
        <p:nvSpPr>
          <p:cNvPr id="8" name="Text 6"/>
          <p:cNvSpPr txBox="1"/>
          <p:nvPr/>
        </p:nvSpPr>
        <p:spPr>
          <a:xfrm>
            <a:off x="952476" y="3606710"/>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33467" y="3606710"/>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If a machine can produce the result, which part did you want to do?</a:t>
            </a:r>
            <a:endParaRPr lang="en-US" sz="1300" dirty="0"/>
          </a:p>
        </p:txBody>
      </p:sp>
      <p:sp>
        <p:nvSpPr>
          <p:cNvPr id="10" name="Text 8"/>
          <p:cNvSpPr txBox="1"/>
          <p:nvPr/>
        </p:nvSpPr>
        <p:spPr>
          <a:xfrm>
            <a:off x="952476" y="4038499"/>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333467" y="4038499"/>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What would have to be checked before you would build on it?</a:t>
            </a:r>
            <a:endParaRPr lang="en-US" sz="1300" dirty="0"/>
          </a:p>
        </p:txBody>
      </p:sp>
      <p:sp>
        <p:nvSpPr>
          <p:cNvPr id="12" name="Shape 10"/>
          <p:cNvSpPr/>
          <p:nvPr/>
        </p:nvSpPr>
        <p:spPr>
          <a:xfrm>
            <a:off x="8838979" y="3505112"/>
            <a:ext cx="1117572" cy="1117572"/>
          </a:xfrm>
          <a:prstGeom prst="ellipse">
            <a:avLst/>
          </a:prstGeom>
          <a:solidFill>
            <a:srgbClr val="FFFFFF"/>
          </a:solidFill>
          <a:ln w="19050">
            <a:solidFill>
              <a:srgbClr val="1A1A16"/>
            </a:solidFill>
            <a:prstDash val="solid"/>
          </a:ln>
        </p:spPr>
      </p:sp>
      <p:sp>
        <p:nvSpPr>
          <p:cNvPr id="13" name="Shape 11"/>
          <p:cNvSpPr/>
          <p:nvPr/>
        </p:nvSpPr>
        <p:spPr>
          <a:xfrm>
            <a:off x="9107196" y="4008020"/>
            <a:ext cx="111757" cy="111757"/>
          </a:xfrm>
          <a:prstGeom prst="ellipse">
            <a:avLst/>
          </a:prstGeom>
          <a:solidFill>
            <a:srgbClr val="1A1A16"/>
          </a:solidFill>
          <a:ln w="6350">
            <a:solidFill>
              <a:srgbClr val="1A1A16"/>
            </a:solidFill>
            <a:prstDash val="solid"/>
          </a:ln>
        </p:spPr>
      </p:sp>
      <p:sp>
        <p:nvSpPr>
          <p:cNvPr id="14" name="Shape 12"/>
          <p:cNvSpPr/>
          <p:nvPr/>
        </p:nvSpPr>
        <p:spPr>
          <a:xfrm>
            <a:off x="9341886" y="4008020"/>
            <a:ext cx="111757" cy="111757"/>
          </a:xfrm>
          <a:prstGeom prst="ellipse">
            <a:avLst/>
          </a:prstGeom>
          <a:solidFill>
            <a:srgbClr val="1A1A16"/>
          </a:solidFill>
          <a:ln w="6350">
            <a:solidFill>
              <a:srgbClr val="1A1A16"/>
            </a:solidFill>
            <a:prstDash val="solid"/>
          </a:ln>
        </p:spPr>
      </p:sp>
      <p:sp>
        <p:nvSpPr>
          <p:cNvPr id="15" name="Shape 13"/>
          <p:cNvSpPr/>
          <p:nvPr/>
        </p:nvSpPr>
        <p:spPr>
          <a:xfrm>
            <a:off x="9576577" y="4008020"/>
            <a:ext cx="111757" cy="111757"/>
          </a:xfrm>
          <a:prstGeom prst="ellipse">
            <a:avLst/>
          </a:prstGeom>
          <a:solidFill>
            <a:srgbClr val="1A1A16"/>
          </a:solidFill>
          <a:ln w="6350">
            <a:solidFill>
              <a:srgbClr val="1A1A16"/>
            </a:solidFill>
            <a:prstDash val="solid"/>
          </a:ln>
        </p:spPr>
      </p:sp>
      <p:sp>
        <p:nvSpPr>
          <p:cNvPr id="16" name="Shape 14"/>
          <p:cNvSpPr/>
          <p:nvPr/>
        </p:nvSpPr>
        <p:spPr>
          <a:xfrm>
            <a:off x="10007350" y="4165496"/>
            <a:ext cx="812780" cy="812780"/>
          </a:xfrm>
          <a:prstGeom prst="ellipse">
            <a:avLst/>
          </a:prstGeom>
          <a:solidFill>
            <a:srgbClr val="FFFFFF"/>
          </a:solidFill>
          <a:ln w="13970">
            <a:solidFill>
              <a:srgbClr val="8A8A80"/>
            </a:solidFill>
            <a:prstDash val="solid"/>
          </a:ln>
        </p:spPr>
      </p:sp>
      <p:sp>
        <p:nvSpPr>
          <p:cNvPr id="17" name="Shape 15"/>
          <p:cNvSpPr/>
          <p:nvPr/>
        </p:nvSpPr>
        <p:spPr>
          <a:xfrm>
            <a:off x="10202417" y="4531247"/>
            <a:ext cx="81278" cy="81278"/>
          </a:xfrm>
          <a:prstGeom prst="ellipse">
            <a:avLst/>
          </a:prstGeom>
          <a:solidFill>
            <a:srgbClr val="8A8A80"/>
          </a:solidFill>
          <a:ln w="6350">
            <a:solidFill>
              <a:srgbClr val="8A8A80"/>
            </a:solidFill>
            <a:prstDash val="solid"/>
          </a:ln>
        </p:spPr>
      </p:sp>
      <p:sp>
        <p:nvSpPr>
          <p:cNvPr id="18" name="Shape 16"/>
          <p:cNvSpPr/>
          <p:nvPr/>
        </p:nvSpPr>
        <p:spPr>
          <a:xfrm>
            <a:off x="10373101" y="4531247"/>
            <a:ext cx="81278" cy="81278"/>
          </a:xfrm>
          <a:prstGeom prst="ellipse">
            <a:avLst/>
          </a:prstGeom>
          <a:solidFill>
            <a:srgbClr val="8A8A80"/>
          </a:solidFill>
          <a:ln w="6350">
            <a:solidFill>
              <a:srgbClr val="8A8A80"/>
            </a:solidFill>
            <a:prstDash val="solid"/>
          </a:ln>
        </p:spPr>
      </p:sp>
      <p:sp>
        <p:nvSpPr>
          <p:cNvPr id="19" name="Shape 17"/>
          <p:cNvSpPr/>
          <p:nvPr/>
        </p:nvSpPr>
        <p:spPr>
          <a:xfrm>
            <a:off x="10543784" y="4531247"/>
            <a:ext cx="81278" cy="81278"/>
          </a:xfrm>
          <a:prstGeom prst="ellipse">
            <a:avLst/>
          </a:prstGeom>
          <a:solidFill>
            <a:srgbClr val="8A8A80"/>
          </a:solidFill>
          <a:ln w="6350">
            <a:solidFill>
              <a:srgbClr val="8A8A80"/>
            </a:solidFill>
            <a:prstDash val="solid"/>
          </a:ln>
        </p:spPr>
      </p:sp>
      <p:sp>
        <p:nvSpPr>
          <p:cNvPr id="20" name="Shape 18"/>
          <p:cNvSpPr/>
          <p:nvPr/>
        </p:nvSpPr>
        <p:spPr>
          <a:xfrm>
            <a:off x="8800880" y="4902077"/>
            <a:ext cx="215895" cy="-380990"/>
          </a:xfrm>
          <a:prstGeom prst="line">
            <a:avLst/>
          </a:prstGeom>
          <a:noFill/>
          <a:ln w="19050">
            <a:solidFill>
              <a:srgbClr val="1A1A16"/>
            </a:solidFill>
            <a:prstDash val="solid"/>
          </a:ln>
        </p:spPr>
      </p:sp>
      <p:sp>
        <p:nvSpPr>
          <p:cNvPr id="21" name="Shape 19"/>
          <p:cNvSpPr/>
          <p:nvPr/>
        </p:nvSpPr>
        <p:spPr>
          <a:xfrm>
            <a:off x="9245369" y="4673483"/>
            <a:ext cx="-444489" cy="228594"/>
          </a:xfrm>
          <a:prstGeom prst="line">
            <a:avLst/>
          </a:prstGeom>
          <a:noFill/>
          <a:ln w="19050">
            <a:solidFill>
              <a:srgbClr val="1A1A16"/>
            </a:solidFill>
            <a:prstDash val="solid"/>
          </a:ln>
        </p:spPr>
      </p:sp>
      <p:sp>
        <p:nvSpPr>
          <p:cNvPr id="22" name="Text 20"/>
          <p:cNvSpPr txBox="1"/>
          <p:nvPr/>
        </p:nvSpPr>
        <p:spPr>
          <a:xfrm>
            <a:off x="952476" y="5130672"/>
            <a:ext cx="634984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yingjian@lorentz.leidenuniv.nl</a:t>
            </a:r>
            <a:endParaRPr lang="en-US" sz="1200" dirty="0"/>
          </a:p>
        </p:txBody>
      </p:sp>
      <p:sp>
        <p:nvSpPr>
          <p:cNvPr id="23" name="Text 21"/>
          <p:cNvSpPr txBox="1"/>
          <p:nvPr/>
        </p:nvSpPr>
        <p:spPr>
          <a:xfrm>
            <a:off x="952476" y="5371966"/>
            <a:ext cx="634984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deck, the records and the logs are all in the repository</a:t>
            </a:r>
            <a:endParaRPr lang="en-US" sz="1200" dirty="0"/>
          </a:p>
        </p:txBody>
      </p:sp>
      <p:sp>
        <p:nvSpPr>
          <p:cNvPr id="24" name="Text 22"/>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65</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465f887-04a9-4c17-8b62-103eddccf68b}" enabled="1" method="Standard" siteId="{ca2a7f76-dbd7-4ec0-9108-6b3d524fb7c8}" contentBits="0" removed="0"/>
</clbl:labelList>
</file>

<file path=docProps/app.xml><?xml version="1.0" encoding="utf-8"?>
<Properties xmlns="http://schemas.openxmlformats.org/officeDocument/2006/extended-properties" xmlns:vt="http://schemas.openxmlformats.org/officeDocument/2006/docPropsVTypes">
  <TotalTime>1</TotalTime>
  <Words>2648</Words>
  <Application>Microsoft Macintosh PowerPoint</Application>
  <PresentationFormat>宽屏</PresentationFormat>
  <Paragraphs>340</Paragraphs>
  <Slides>27</Slides>
  <Notes>23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等线</vt:lpstr>
      <vt:lpstr>等线 Light</vt:lpstr>
      <vt:lpstr>Arial</vt:lpstr>
      <vt:lpstr>Calibri</vt:lpstr>
      <vt:lpstr>Cambria</vt:lpstr>
      <vt:lpstr>Cambria Math</vt:lpstr>
      <vt:lpstr>Courier New</vt:lpstr>
      <vt:lpstr>Roboto</vt:lpstr>
      <vt:lpstr>Roboto Condensed</vt:lpstr>
      <vt:lpstr>Tahoma</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Y. (Yingjian)</dc:creator>
  <cp:lastModifiedBy>Liu, Y. (Yingjian)</cp:lastModifiedBy>
  <cp:revision>1</cp:revision>
  <dcterms:created xsi:type="dcterms:W3CDTF">2026-09-21T14:36:47Z</dcterms:created>
  <dcterms:modified xsi:type="dcterms:W3CDTF">2026-09-21T14:38:17Z</dcterms:modified>
</cp:coreProperties>
</file>