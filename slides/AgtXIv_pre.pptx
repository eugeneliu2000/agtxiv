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1" r:id="rId2"/>
    <p:sldId id="262" r:id="rId3"/>
    <p:sldId id="256" r:id="rId4"/>
    <p:sldId id="268" r:id="rId5"/>
    <p:sldId id="269" r:id="rId6"/>
    <p:sldId id="263" r:id="rId7"/>
    <p:sldId id="257" r:id="rId8"/>
    <p:sldId id="258" r:id="rId9"/>
    <p:sldId id="259" r:id="rId10"/>
    <p:sldId id="264" r:id="rId11"/>
    <p:sldId id="266" r:id="rId12"/>
    <p:sldId id="267" r:id="rId13"/>
    <p:sldId id="26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0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7"/>
    <p:restoredTop sz="71556"/>
  </p:normalViewPr>
  <p:slideViewPr>
    <p:cSldViewPr snapToGrid="0">
      <p:cViewPr varScale="1">
        <p:scale>
          <a:sx n="88" d="100"/>
          <a:sy n="88" d="100"/>
        </p:scale>
        <p:origin x="1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88E6C-8409-1C41-9353-5D853AFB2929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30D8E-37E8-D04A-ADB3-2189714D1CA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2478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0438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nl-NL" altLang="zh-CN" dirty="0" err="1"/>
              <a:t>From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tobias</a:t>
            </a:r>
            <a:r>
              <a:rPr kumimoji="1" lang="nl-NL" altLang="zh-CN" dirty="0"/>
              <a:t> talk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443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613C5-8ED7-A62A-D845-9D768050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453A37-5A98-F62A-6584-9C9E17F1F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A6B3BA-34C4-184D-319C-905ADC078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nl-NL" altLang="zh-CN" dirty="0" err="1"/>
              <a:t>From</a:t>
            </a:r>
            <a:r>
              <a:rPr kumimoji="1" lang="nl-NL" altLang="zh-CN" dirty="0"/>
              <a:t> </a:t>
            </a:r>
            <a:r>
              <a:rPr kumimoji="1" lang="nl-NL" altLang="zh-CN" dirty="0" err="1"/>
              <a:t>tobias</a:t>
            </a:r>
            <a:r>
              <a:rPr kumimoji="1" lang="nl-NL" altLang="zh-CN" dirty="0"/>
              <a:t> talk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EE3F65-469E-1BD4-62D2-52122CA7E8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7526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跨论文的 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claim-level 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有向互动图：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如何定义和标注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scientific claim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；如何判断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citing claim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cited claim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的认识论关系；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claim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如何传播、受到挑战并随时间演化；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claim graph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是否形成主题社群或随时间改变结构。</a:t>
            </a:r>
          </a:p>
          <a:p>
            <a:br>
              <a:rPr lang="zh-CN" altLang="en-US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6090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nl-NL" altLang="zh-CN" dirty="0" err="1"/>
              <a:t>This</a:t>
            </a:r>
            <a:r>
              <a:rPr kumimoji="1" lang="nl-NL" altLang="zh-CN" dirty="0"/>
              <a:t> is </a:t>
            </a:r>
            <a:r>
              <a:rPr kumimoji="1" lang="nl-NL" altLang="zh-CN" dirty="0" err="1"/>
              <a:t>from</a:t>
            </a:r>
            <a:r>
              <a:rPr kumimoji="1" lang="nl-NL" altLang="zh-CN" dirty="0"/>
              <a:t> Tobias talk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4862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130D8E-37E8-D04A-ADB3-2189714D1CA4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53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5FECE-8C3F-AE44-A4B4-264AD005F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772D1D-7D45-71CA-C699-2C37BF369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1987BF-2C5A-9C39-2614-E45B5EC95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7FA2-7BBA-904D-BB6A-90AF3E31B2B0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4BE62E-710E-DC1F-2B14-294CC7E2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CEB7ED-90D0-39D1-FEBF-14AF56ECC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3BB0-2A33-2445-8E84-BDFCB14453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9567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E53E66-F0F3-E23C-09B9-A8AB3AD04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6DDD5B-BE3E-9990-213D-5021046C4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5C904A-E33A-B948-3C4F-E6B7C61B5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7FA2-7BBA-904D-BB6A-90AF3E31B2B0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5D7521-479A-DAD0-54B7-061E5CF5D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F70E90-FE7A-3B93-3594-C3183C44C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3BB0-2A33-2445-8E84-BDFCB14453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2946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EFF6B-974C-B023-02B3-B50EF1967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5C4085-4422-4CDE-47DE-B9D8D0D2D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362FD6-89EE-0E78-A58D-F3F7B1223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7FA2-7BBA-904D-BB6A-90AF3E31B2B0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C28A6C-6095-2728-6D57-9DED2018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E2F2C8-3913-FE52-2650-3137EEED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3BB0-2A33-2445-8E84-BDFCB14453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41766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818257-5726-B8C4-F887-35593DD86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FDEA7F-39A9-26BC-66E3-ABAA0BF59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15C83A-BA2B-57AD-0FC0-950DB6054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E4D85A-9B1D-7934-0DAA-9AB41DEF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7FA2-7BBA-904D-BB6A-90AF3E31B2B0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B84688-F11B-5B1B-F242-201BC8736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1CFF81-CD0D-5C98-671C-0C7E1FEC0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3BB0-2A33-2445-8E84-BDFCB14453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3965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DE0A8B-EF5E-4D1F-22B0-A8FCA130E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2D4B61-F246-9E50-1F8C-CBE0BD561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4D54D9-299C-F028-E721-373D18C45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ED2FED5-F605-77A1-0EA9-94D65FC56F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1976B6-9ABD-FF1C-37E0-AEB28C06C5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7F75DB7-44D1-BCA0-0A3A-A122A97E5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7FA2-7BBA-904D-BB6A-90AF3E31B2B0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4D10BD-B365-8A70-8287-004568C9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D3D37CE-5C37-104D-25BC-B445FBC2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3BB0-2A33-2445-8E84-BDFCB14453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917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42EA6-9FB3-D89E-03F8-7E672033C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7997874-DA92-C8A1-3A66-F51E0A662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7FA2-7BBA-904D-BB6A-90AF3E31B2B0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11EBC8-E801-0323-D1A0-F8AD2320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056E38-7AC0-282C-281B-D71E6F573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3BB0-2A33-2445-8E84-BDFCB14453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9162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45F705-C142-E13E-D82E-E35C3037D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7FA2-7BBA-904D-BB6A-90AF3E31B2B0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1B90F3-5D83-C02B-616D-7F50CD57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6F9A09-8C44-C44A-6C9D-D9F6747B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3BB0-2A33-2445-8E84-BDFCB14453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9420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59BF7-43C0-D4B8-4128-73A4DD3BF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8F97A2-111C-7A7C-B503-B93C6C9F4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696C9C-0595-1A1A-DF9A-78E09D4B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AB1CDC-52EA-7F1D-CAF5-59261FFA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7FA2-7BBA-904D-BB6A-90AF3E31B2B0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94CB86-76AF-CE18-38B1-EA51C1FE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90A2BA-63B9-A179-E64A-F503F7F77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3BB0-2A33-2445-8E84-BDFCB14453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147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10A17-6F8B-06E7-C6F4-CADA2FAAC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DF27B21-6180-1414-37B4-1FC2D3DD43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E24A37-6A81-9A70-E0DB-82F3F9BE2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62117F-21C2-7DF1-7AD1-E1BB80401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7FA2-7BBA-904D-BB6A-90AF3E31B2B0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3C824C-D2B1-B93D-E2ED-D42EA7975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6C212F-38F0-9C83-9DDB-3C9B6767E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3BB0-2A33-2445-8E84-BDFCB14453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3120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37D211-C4C1-4F4C-D9F8-A92E3920B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C2AB15-BB3C-3385-751F-F964DD56D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89D0C7-AE80-3D45-0B4F-E9391C14A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7FA2-7BBA-904D-BB6A-90AF3E31B2B0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C22010-FBB2-1DB1-64A3-B387534FC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187CE5-CE4C-0707-14C8-DA43E8C13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3BB0-2A33-2445-8E84-BDFCB14453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640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B449FA-8F6B-0F07-7782-41D006DE1B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3EE4558-AE37-289F-2FE3-35663E018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655BD6-07F0-6727-7636-EC349BCB9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C7FA2-7BBA-904D-BB6A-90AF3E31B2B0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CEEEA-1A55-867F-EF04-E39534E2B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A28EA8-8A34-4EB5-F24B-3B6A6E726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73BB0-2A33-2445-8E84-BDFCB14453F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7821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D205C5F-D0D2-D345-0D15-32E10FE9D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D734D8-9551-89B3-3FE0-4124BA264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F2AF99-AC73-9951-4C96-30F8F2A9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0C7FA2-7BBA-904D-BB6A-90AF3E31B2B0}" type="datetimeFigureOut">
              <a:rPr kumimoji="1" lang="zh-CN" altLang="en-US" smtClean="0"/>
              <a:t>2026/9/7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9089B6-EDF6-D8E2-C6AC-C0BA2B2B2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A94939-906C-B5E8-8873-E39F4C278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973BB0-2A33-2445-8E84-BDFCB14453F4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C4E306-E03F-FBE6-1FF7-53DCF68DB66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590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Internal | Intern</a:t>
            </a:r>
          </a:p>
        </p:txBody>
      </p:sp>
    </p:spTree>
    <p:extLst>
      <p:ext uri="{BB962C8B-B14F-4D97-AF65-F5344CB8AC3E}">
        <p14:creationId xmlns:p14="http://schemas.microsoft.com/office/powerpoint/2010/main" val="37853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1B387D-6990-CBB0-8B0D-CDA1F0CED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4166" y="2517624"/>
            <a:ext cx="2392217" cy="830247"/>
          </a:xfrm>
        </p:spPr>
        <p:txBody>
          <a:bodyPr>
            <a:normAutofit fontScale="90000"/>
          </a:bodyPr>
          <a:lstStyle/>
          <a:p>
            <a:r>
              <a:rPr lang="en-US" altLang="zh-CN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i" pitchFamily="2" charset="-122"/>
                <a:ea typeface="Hei" pitchFamily="2" charset="-122"/>
              </a:rPr>
              <a:t>agtXiv</a:t>
            </a:r>
            <a:endParaRPr kumimoji="1" lang="zh-CN" altLang="en-US" dirty="0">
              <a:latin typeface="Hei" pitchFamily="2" charset="-122"/>
              <a:ea typeface="Hei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72E890-E322-B741-A21E-45BA1FD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7107" y="3617940"/>
            <a:ext cx="10046677" cy="443489"/>
          </a:xfrm>
        </p:spPr>
        <p:txBody>
          <a:bodyPr>
            <a:no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scientific literature to verified and reusable knowledge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739F4E-8AEB-F100-4E39-29F5A817D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710" y="5533666"/>
            <a:ext cx="2645004" cy="11562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0C6D80C-55E8-2C0C-7C00-A057612D3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617" y="5573777"/>
            <a:ext cx="2900766" cy="982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E3C9BF6-D733-BE74-A235-0D0AC14FE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181" y="5533666"/>
            <a:ext cx="2593109" cy="95972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AE5379A-D1A9-D0E2-4BF9-F39D30910F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109" y="323785"/>
            <a:ext cx="3651069" cy="126289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C7C1ABE-51B8-B0E0-FFBF-2C49F521FB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1714" y="219506"/>
            <a:ext cx="3651069" cy="148579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9882FC1-DCC1-B824-4B88-C7280BD475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3822" y="212336"/>
            <a:ext cx="3651069" cy="148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54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5">
            <a:extLst>
              <a:ext uri="{FF2B5EF4-FFF2-40B4-BE49-F238E27FC236}">
                <a16:creationId xmlns:a16="http://schemas.microsoft.com/office/drawing/2014/main" id="{DCEEE625-1D53-6D90-39EB-D172CB9814CB}"/>
              </a:ext>
            </a:extLst>
          </p:cNvPr>
          <p:cNvSpPr/>
          <p:nvPr/>
        </p:nvSpPr>
        <p:spPr>
          <a:xfrm>
            <a:off x="1516162" y="5744173"/>
            <a:ext cx="3959352" cy="0"/>
          </a:xfrm>
          <a:prstGeom prst="line">
            <a:avLst/>
          </a:prstGeom>
          <a:noFill/>
          <a:ln w="16510">
            <a:solidFill>
              <a:srgbClr val="2428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C9BAB15F-524F-13E6-A6ED-A1461BA41CD1}"/>
              </a:ext>
            </a:extLst>
          </p:cNvPr>
          <p:cNvSpPr/>
          <p:nvPr/>
        </p:nvSpPr>
        <p:spPr>
          <a:xfrm flipV="1">
            <a:off x="1516162" y="3302725"/>
            <a:ext cx="0" cy="2441448"/>
          </a:xfrm>
          <a:prstGeom prst="line">
            <a:avLst/>
          </a:prstGeom>
          <a:noFill/>
          <a:ln w="16510">
            <a:solidFill>
              <a:srgbClr val="24283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5CC0C85B-D9F3-DA1A-03B0-F40760A2062E}"/>
              </a:ext>
            </a:extLst>
          </p:cNvPr>
          <p:cNvSpPr/>
          <p:nvPr/>
        </p:nvSpPr>
        <p:spPr>
          <a:xfrm>
            <a:off x="973180" y="3036785"/>
            <a:ext cx="914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scale</a:t>
            </a:r>
            <a:endParaRPr lang="en-US" sz="16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FC02CCBA-5C1C-0BAB-890E-CBABAAC36FEF}"/>
              </a:ext>
            </a:extLst>
          </p:cNvPr>
          <p:cNvSpPr/>
          <p:nvPr/>
        </p:nvSpPr>
        <p:spPr>
          <a:xfrm>
            <a:off x="5612670" y="5812028"/>
            <a:ext cx="6400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</a:t>
            </a:r>
            <a:endParaRPr lang="en-US" sz="1600" dirty="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B893867E-A73E-8472-DE82-0E3EF5027B5B}"/>
              </a:ext>
            </a:extLst>
          </p:cNvPr>
          <p:cNvSpPr/>
          <p:nvPr/>
        </p:nvSpPr>
        <p:spPr>
          <a:xfrm flipV="1">
            <a:off x="1635034" y="5177245"/>
            <a:ext cx="777240" cy="274320"/>
          </a:xfrm>
          <a:prstGeom prst="line">
            <a:avLst/>
          </a:prstGeom>
          <a:noFill/>
          <a:ln w="25400">
            <a:solidFill>
              <a:srgbClr val="B84A4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F2DB00D2-54C7-6E01-5784-E4962C6DF727}"/>
              </a:ext>
            </a:extLst>
          </p:cNvPr>
          <p:cNvSpPr/>
          <p:nvPr/>
        </p:nvSpPr>
        <p:spPr>
          <a:xfrm flipV="1">
            <a:off x="2412274" y="4628605"/>
            <a:ext cx="640080" cy="548640"/>
          </a:xfrm>
          <a:prstGeom prst="line">
            <a:avLst/>
          </a:prstGeom>
          <a:noFill/>
          <a:ln w="25400">
            <a:solidFill>
              <a:srgbClr val="B84A4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11">
            <a:extLst>
              <a:ext uri="{FF2B5EF4-FFF2-40B4-BE49-F238E27FC236}">
                <a16:creationId xmlns:a16="http://schemas.microsoft.com/office/drawing/2014/main" id="{95C77DB0-BE29-17C4-2379-AD87853000FC}"/>
              </a:ext>
            </a:extLst>
          </p:cNvPr>
          <p:cNvSpPr/>
          <p:nvPr/>
        </p:nvSpPr>
        <p:spPr>
          <a:xfrm flipV="1">
            <a:off x="3052354" y="4034245"/>
            <a:ext cx="640080" cy="594360"/>
          </a:xfrm>
          <a:prstGeom prst="line">
            <a:avLst/>
          </a:prstGeom>
          <a:noFill/>
          <a:ln w="25400">
            <a:solidFill>
              <a:srgbClr val="B84A4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A0634978-E0E8-C9FE-004A-41CEBBE203EA}"/>
              </a:ext>
            </a:extLst>
          </p:cNvPr>
          <p:cNvSpPr/>
          <p:nvPr/>
        </p:nvSpPr>
        <p:spPr>
          <a:xfrm flipV="1">
            <a:off x="3692434" y="3348445"/>
            <a:ext cx="731520" cy="685800"/>
          </a:xfrm>
          <a:prstGeom prst="line">
            <a:avLst/>
          </a:prstGeom>
          <a:noFill/>
          <a:ln w="25400">
            <a:solidFill>
              <a:srgbClr val="B84A4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EA56EDEE-12E3-4956-DE30-3DFDD3DFAE8A}"/>
              </a:ext>
            </a:extLst>
          </p:cNvPr>
          <p:cNvSpPr/>
          <p:nvPr/>
        </p:nvSpPr>
        <p:spPr>
          <a:xfrm flipV="1">
            <a:off x="4423954" y="2726653"/>
            <a:ext cx="731520" cy="621792"/>
          </a:xfrm>
          <a:prstGeom prst="line">
            <a:avLst/>
          </a:prstGeom>
          <a:noFill/>
          <a:ln w="25400">
            <a:solidFill>
              <a:srgbClr val="B84A4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6A0DE645-691C-8162-C723-1930610291E8}"/>
              </a:ext>
            </a:extLst>
          </p:cNvPr>
          <p:cNvSpPr/>
          <p:nvPr/>
        </p:nvSpPr>
        <p:spPr>
          <a:xfrm flipV="1">
            <a:off x="1635033" y="5104093"/>
            <a:ext cx="4066883" cy="237744"/>
          </a:xfrm>
          <a:prstGeom prst="line">
            <a:avLst/>
          </a:prstGeom>
          <a:noFill/>
          <a:ln w="25400">
            <a:solidFill>
              <a:srgbClr val="257A6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CEBB35FB-65FD-FF56-CB69-A63D124FA929}"/>
              </a:ext>
            </a:extLst>
          </p:cNvPr>
          <p:cNvSpPr/>
          <p:nvPr/>
        </p:nvSpPr>
        <p:spPr>
          <a:xfrm>
            <a:off x="2658291" y="2827237"/>
            <a:ext cx="3043646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B84A4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scientific publications</a:t>
            </a:r>
            <a:endParaRPr lang="en-US" sz="1600" dirty="0"/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32890AD1-0692-ACFD-F825-FA85B96E9192}"/>
              </a:ext>
            </a:extLst>
          </p:cNvPr>
          <p:cNvSpPr/>
          <p:nvPr/>
        </p:nvSpPr>
        <p:spPr>
          <a:xfrm>
            <a:off x="3495837" y="5257799"/>
            <a:ext cx="2756913" cy="30175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57A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expert verification bandwidth</a:t>
            </a:r>
            <a:endParaRPr lang="en-US" sz="1600" dirty="0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B6932299-2BDB-B8E5-9B1D-E3E513C27D20}"/>
              </a:ext>
            </a:extLst>
          </p:cNvPr>
          <p:cNvSpPr/>
          <p:nvPr/>
        </p:nvSpPr>
        <p:spPr>
          <a:xfrm flipV="1">
            <a:off x="2412274" y="3429000"/>
            <a:ext cx="0" cy="2304288"/>
          </a:xfrm>
          <a:prstGeom prst="line">
            <a:avLst/>
          </a:prstGeom>
          <a:ln w="19050">
            <a:prstDash val="sysDash"/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FBE05854-1608-5BE0-C0C4-4F3BAF28F7B5}"/>
              </a:ext>
            </a:extLst>
          </p:cNvPr>
          <p:cNvSpPr/>
          <p:nvPr/>
        </p:nvSpPr>
        <p:spPr>
          <a:xfrm>
            <a:off x="1635032" y="1516163"/>
            <a:ext cx="3840481" cy="776150"/>
          </a:xfrm>
          <a:prstGeom prst="roundRect">
            <a:avLst>
              <a:gd name="adj" fmla="val 11574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(AI) read ≠ checked ≠ reusable</a:t>
            </a:r>
            <a:endParaRPr lang="en-US" sz="2000"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57E89486-F2E7-6E2E-7353-D0C44F1D96B7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 AI crisis in theoretic research</a:t>
            </a:r>
            <a:endParaRPr lang="en-US" sz="2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498605F-E494-05AA-2C46-8F8DE0AD18F1}"/>
              </a:ext>
            </a:extLst>
          </p:cNvPr>
          <p:cNvSpPr txBox="1"/>
          <p:nvPr/>
        </p:nvSpPr>
        <p:spPr>
          <a:xfrm>
            <a:off x="2133600" y="5778065"/>
            <a:ext cx="7881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nl-NL" altLang="zh-CN" sz="1400" dirty="0"/>
              <a:t>2024</a:t>
            </a:r>
            <a:endParaRPr kumimoji="1" lang="zh-CN" altLang="en-US" sz="14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339C79B-1025-768B-DF23-3C0932BBD354}"/>
              </a:ext>
            </a:extLst>
          </p:cNvPr>
          <p:cNvSpPr/>
          <p:nvPr/>
        </p:nvSpPr>
        <p:spPr>
          <a:xfrm>
            <a:off x="6519018" y="3964105"/>
            <a:ext cx="5241259" cy="212173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Autofit/>
          </a:bodyPr>
          <a:lstStyle/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researcher will be drown in infinite ”recent progress” papers.</a:t>
            </a:r>
          </a:p>
          <a:p>
            <a:pPr marL="228600" indent="-228600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altLang="zh-CN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open problem be solved increases the confidence of AGI, and also the anxiety of our career.</a:t>
            </a:r>
            <a:endParaRPr lang="en-US" sz="16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Later work still needs the </a:t>
            </a:r>
            <a:r>
              <a:rPr lang="en-US" sz="16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exact imported claim and verification.</a:t>
            </a:r>
            <a:endParaRPr lang="en-US" sz="1600" dirty="0"/>
          </a:p>
          <a:p>
            <a:pPr marL="228600" indent="-228600" algn="l">
              <a:spcBef>
                <a:spcPts val="800"/>
              </a:spcBef>
              <a:buClr>
                <a:srgbClr val="242832"/>
              </a:buClr>
              <a:buFont typeface="Arial"/>
              <a:buChar char="•"/>
            </a:pPr>
            <a:r>
              <a:rPr lang="en-US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Claims and semantic content are often </a:t>
            </a:r>
            <a:r>
              <a:rPr lang="en-US" sz="16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exaggerated</a:t>
            </a:r>
            <a:r>
              <a:rPr lang="nl-NL" sz="16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600" dirty="0">
              <a:solidFill>
                <a:srgbClr val="242832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algn="l">
              <a:spcBef>
                <a:spcPts val="800"/>
              </a:spcBef>
              <a:buClr>
                <a:srgbClr val="242832"/>
              </a:buClr>
            </a:pPr>
            <a:endParaRPr lang="en-US" sz="16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3B03642-C6F5-3F04-A139-EE7FF9AB9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266" y="1005731"/>
            <a:ext cx="2573164" cy="257316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F1CFDB0-D7AD-1520-AC53-EF2D9C1E9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9647" y="1108055"/>
            <a:ext cx="2240390" cy="224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62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>
            <a:extLst>
              <a:ext uri="{FF2B5EF4-FFF2-40B4-BE49-F238E27FC236}">
                <a16:creationId xmlns:a16="http://schemas.microsoft.com/office/drawing/2014/main" id="{44CD721A-0C4A-FAFD-4A79-1160C15FB677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What happen when we query a paper</a:t>
            </a:r>
            <a:endParaRPr lang="en-US" sz="24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242D0839-338C-AAAA-E539-E1FB540C3B8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06371" y="2620566"/>
            <a:ext cx="5220000" cy="180000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48A25CC2-850B-D47E-472B-13C4986E460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06124" y="2714727"/>
            <a:ext cx="4998523" cy="1671002"/>
          </a:xfrm>
          <a:prstGeom prst="rect">
            <a:avLst/>
          </a:prstGeom>
        </p:spPr>
      </p:pic>
      <p:pic>
        <p:nvPicPr>
          <p:cNvPr id="2" name="Picture 2" descr="Blackbox">
            <a:extLst>
              <a:ext uri="{FF2B5EF4-FFF2-40B4-BE49-F238E27FC236}">
                <a16:creationId xmlns:a16="http://schemas.microsoft.com/office/drawing/2014/main" id="{A1FB3D62-F183-F7C8-D193-0F336DA9A5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41" t="14076" r="30353" b="14646"/>
          <a:stretch>
            <a:fillRect/>
          </a:stretch>
        </p:blipFill>
        <p:spPr bwMode="auto">
          <a:xfrm>
            <a:off x="6856011" y="1958207"/>
            <a:ext cx="2809640" cy="2941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右箭头 3">
            <a:extLst>
              <a:ext uri="{FF2B5EF4-FFF2-40B4-BE49-F238E27FC236}">
                <a16:creationId xmlns:a16="http://schemas.microsoft.com/office/drawing/2014/main" id="{DBDB3D9F-21AD-A13E-D7C7-B508AE7D4BC1}"/>
              </a:ext>
            </a:extLst>
          </p:cNvPr>
          <p:cNvSpPr/>
          <p:nvPr/>
        </p:nvSpPr>
        <p:spPr>
          <a:xfrm>
            <a:off x="6083788" y="3286459"/>
            <a:ext cx="772223" cy="5275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E3311DF0-3FB0-6836-65FC-9B917547CDA3}"/>
              </a:ext>
            </a:extLst>
          </p:cNvPr>
          <p:cNvCxnSpPr/>
          <p:nvPr/>
        </p:nvCxnSpPr>
        <p:spPr>
          <a:xfrm flipV="1">
            <a:off x="9823938" y="1840523"/>
            <a:ext cx="926124" cy="780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755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9A7B41C-17A8-5239-7538-A20262FE5E77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What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is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inside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black box?</a:t>
            </a:r>
            <a:endParaRPr lang="en-US" sz="2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157B224-7738-E614-C235-3C4E3885D796}"/>
              </a:ext>
            </a:extLst>
          </p:cNvPr>
          <p:cNvSpPr/>
          <p:nvPr/>
        </p:nvSpPr>
        <p:spPr>
          <a:xfrm>
            <a:off x="3716275" y="4113392"/>
            <a:ext cx="338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graph</a:t>
            </a:r>
            <a:endParaRPr lang="en-US" sz="1500" dirty="0"/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FFAC062C-3E37-8D46-62F1-B5CD268A7B18}"/>
              </a:ext>
            </a:extLst>
          </p:cNvPr>
          <p:cNvSpPr/>
          <p:nvPr/>
        </p:nvSpPr>
        <p:spPr>
          <a:xfrm flipV="1">
            <a:off x="4538168" y="4863200"/>
            <a:ext cx="777240" cy="310896"/>
          </a:xfrm>
          <a:prstGeom prst="line">
            <a:avLst/>
          </a:prstGeom>
          <a:noFill/>
          <a:ln w="15240">
            <a:solidFill>
              <a:srgbClr val="A9B2C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64FBC271-3761-B8BF-246E-E9528A4FCDFA}"/>
              </a:ext>
            </a:extLst>
          </p:cNvPr>
          <p:cNvSpPr/>
          <p:nvPr/>
        </p:nvSpPr>
        <p:spPr>
          <a:xfrm>
            <a:off x="4538168" y="5174096"/>
            <a:ext cx="777240" cy="420624"/>
          </a:xfrm>
          <a:prstGeom prst="line">
            <a:avLst/>
          </a:prstGeom>
          <a:noFill/>
          <a:ln w="15240">
            <a:solidFill>
              <a:srgbClr val="A9B2C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6C3FE1B1-B053-DD11-3FD8-D80DC4DEA20C}"/>
              </a:ext>
            </a:extLst>
          </p:cNvPr>
          <p:cNvSpPr/>
          <p:nvPr/>
        </p:nvSpPr>
        <p:spPr>
          <a:xfrm>
            <a:off x="5589728" y="4863200"/>
            <a:ext cx="777240" cy="310896"/>
          </a:xfrm>
          <a:prstGeom prst="line">
            <a:avLst/>
          </a:prstGeom>
          <a:noFill/>
          <a:ln w="15240">
            <a:solidFill>
              <a:srgbClr val="A9B2C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A0565F65-A464-D09D-2CCD-B841A40C14CA}"/>
              </a:ext>
            </a:extLst>
          </p:cNvPr>
          <p:cNvSpPr/>
          <p:nvPr/>
        </p:nvSpPr>
        <p:spPr>
          <a:xfrm flipV="1">
            <a:off x="5589728" y="5283824"/>
            <a:ext cx="777240" cy="310896"/>
          </a:xfrm>
          <a:prstGeom prst="line">
            <a:avLst/>
          </a:prstGeom>
          <a:noFill/>
          <a:ln w="15240">
            <a:solidFill>
              <a:srgbClr val="A9B2C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64D0EA01-79EE-90F7-9406-F427F8781E02}"/>
              </a:ext>
            </a:extLst>
          </p:cNvPr>
          <p:cNvSpPr/>
          <p:nvPr/>
        </p:nvSpPr>
        <p:spPr>
          <a:xfrm>
            <a:off x="4263848" y="5027792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9B2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6D256B44-DB06-0F2D-985E-0A2029A9EEF5}"/>
              </a:ext>
            </a:extLst>
          </p:cNvPr>
          <p:cNvSpPr/>
          <p:nvPr/>
        </p:nvSpPr>
        <p:spPr>
          <a:xfrm>
            <a:off x="4263848" y="5027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275EA8CF-1135-5E47-121D-C7C1CCDD5F24}"/>
              </a:ext>
            </a:extLst>
          </p:cNvPr>
          <p:cNvSpPr/>
          <p:nvPr/>
        </p:nvSpPr>
        <p:spPr>
          <a:xfrm>
            <a:off x="5315408" y="4716896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9B2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D9B3381B-BA6C-264F-6C41-FBDC4352B5C3}"/>
              </a:ext>
            </a:extLst>
          </p:cNvPr>
          <p:cNvSpPr/>
          <p:nvPr/>
        </p:nvSpPr>
        <p:spPr>
          <a:xfrm>
            <a:off x="5315408" y="4716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7721F283-7935-6683-48C2-4FEC15AF38DC}"/>
              </a:ext>
            </a:extLst>
          </p:cNvPr>
          <p:cNvSpPr/>
          <p:nvPr/>
        </p:nvSpPr>
        <p:spPr>
          <a:xfrm>
            <a:off x="5315408" y="5448416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9B2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7F784579-F4AD-173D-1F0F-D86DD87F3C53}"/>
              </a:ext>
            </a:extLst>
          </p:cNvPr>
          <p:cNvSpPr/>
          <p:nvPr/>
        </p:nvSpPr>
        <p:spPr>
          <a:xfrm>
            <a:off x="5315408" y="544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16" name="Shape 18">
            <a:extLst>
              <a:ext uri="{FF2B5EF4-FFF2-40B4-BE49-F238E27FC236}">
                <a16:creationId xmlns:a16="http://schemas.microsoft.com/office/drawing/2014/main" id="{34D00FF4-AC43-7E9B-FEC2-AA43EB573557}"/>
              </a:ext>
            </a:extLst>
          </p:cNvPr>
          <p:cNvSpPr/>
          <p:nvPr/>
        </p:nvSpPr>
        <p:spPr>
          <a:xfrm>
            <a:off x="6366968" y="5082656"/>
            <a:ext cx="310896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A9B2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55019437-8362-576C-4E2E-8BD0D5B8E126}"/>
              </a:ext>
            </a:extLst>
          </p:cNvPr>
          <p:cNvSpPr/>
          <p:nvPr/>
        </p:nvSpPr>
        <p:spPr>
          <a:xfrm>
            <a:off x="6366968" y="508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47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C064F84-BB1D-607A-74BC-AC07C76AB00E}"/>
              </a:ext>
            </a:extLst>
          </p:cNvPr>
          <p:cNvSpPr/>
          <p:nvPr/>
        </p:nvSpPr>
        <p:spPr>
          <a:xfrm>
            <a:off x="6644793" y="3957944"/>
            <a:ext cx="33811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claim DAG</a:t>
            </a:r>
            <a:endParaRPr lang="en-US" sz="1500" dirty="0"/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69628369-71BA-F7FA-8822-C3D10979B81F}"/>
              </a:ext>
            </a:extLst>
          </p:cNvPr>
          <p:cNvSpPr/>
          <p:nvPr/>
        </p:nvSpPr>
        <p:spPr>
          <a:xfrm>
            <a:off x="7032346" y="4484983"/>
            <a:ext cx="1170432" cy="402336"/>
          </a:xfrm>
          <a:prstGeom prst="roundRect">
            <a:avLst>
              <a:gd name="adj" fmla="val 18182"/>
            </a:avLst>
          </a:prstGeom>
          <a:solidFill>
            <a:srgbClr val="E2F1EA"/>
          </a:solidFill>
          <a:ln w="15875">
            <a:solidFill>
              <a:srgbClr val="257A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88BF28E7-2C7D-9402-F42D-56B2B5766173}"/>
              </a:ext>
            </a:extLst>
          </p:cNvPr>
          <p:cNvSpPr/>
          <p:nvPr/>
        </p:nvSpPr>
        <p:spPr>
          <a:xfrm>
            <a:off x="7032346" y="4484983"/>
            <a:ext cx="11704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000" dirty="0"/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6C1A03F0-B6D6-B456-7A19-2639AFE3814E}"/>
              </a:ext>
            </a:extLst>
          </p:cNvPr>
          <p:cNvSpPr/>
          <p:nvPr/>
        </p:nvSpPr>
        <p:spPr>
          <a:xfrm>
            <a:off x="7032346" y="5161639"/>
            <a:ext cx="1170432" cy="402336"/>
          </a:xfrm>
          <a:prstGeom prst="roundRect">
            <a:avLst>
              <a:gd name="adj" fmla="val 18182"/>
            </a:avLst>
          </a:prstGeom>
          <a:solidFill>
            <a:srgbClr val="E2F1EA"/>
          </a:solidFill>
          <a:ln w="15875">
            <a:solidFill>
              <a:srgbClr val="257A6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3">
            <a:extLst>
              <a:ext uri="{FF2B5EF4-FFF2-40B4-BE49-F238E27FC236}">
                <a16:creationId xmlns:a16="http://schemas.microsoft.com/office/drawing/2014/main" id="{00A818AF-D073-B801-40BC-E9B4E106C217}"/>
              </a:ext>
            </a:extLst>
          </p:cNvPr>
          <p:cNvSpPr/>
          <p:nvPr/>
        </p:nvSpPr>
        <p:spPr>
          <a:xfrm>
            <a:off x="7032346" y="5161639"/>
            <a:ext cx="11704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1000" dirty="0"/>
          </a:p>
        </p:txBody>
      </p:sp>
      <p:sp>
        <p:nvSpPr>
          <p:cNvPr id="23" name="Shape 24">
            <a:extLst>
              <a:ext uri="{FF2B5EF4-FFF2-40B4-BE49-F238E27FC236}">
                <a16:creationId xmlns:a16="http://schemas.microsoft.com/office/drawing/2014/main" id="{B4A8BCF0-2A37-47F3-C3F8-414930B17579}"/>
              </a:ext>
            </a:extLst>
          </p:cNvPr>
          <p:cNvSpPr/>
          <p:nvPr/>
        </p:nvSpPr>
        <p:spPr>
          <a:xfrm>
            <a:off x="8467954" y="4484983"/>
            <a:ext cx="1170432" cy="402336"/>
          </a:xfrm>
          <a:prstGeom prst="roundRect">
            <a:avLst>
              <a:gd name="adj" fmla="val 18182"/>
            </a:avLst>
          </a:prstGeom>
          <a:solidFill>
            <a:srgbClr val="EAF0FF"/>
          </a:solidFill>
          <a:ln w="15875">
            <a:solidFill>
              <a:srgbClr val="356A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5">
            <a:extLst>
              <a:ext uri="{FF2B5EF4-FFF2-40B4-BE49-F238E27FC236}">
                <a16:creationId xmlns:a16="http://schemas.microsoft.com/office/drawing/2014/main" id="{67CD358D-85C7-B944-15E1-EDB9014E292E}"/>
              </a:ext>
            </a:extLst>
          </p:cNvPr>
          <p:cNvSpPr/>
          <p:nvPr/>
        </p:nvSpPr>
        <p:spPr>
          <a:xfrm>
            <a:off x="8467954" y="4484983"/>
            <a:ext cx="11704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lemma</a:t>
            </a:r>
            <a:endParaRPr lang="en-US" sz="1000" dirty="0"/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5D0438AB-17F3-E6FE-4DF9-428E648EDE91}"/>
              </a:ext>
            </a:extLst>
          </p:cNvPr>
          <p:cNvSpPr/>
          <p:nvPr/>
        </p:nvSpPr>
        <p:spPr>
          <a:xfrm>
            <a:off x="8467954" y="5161639"/>
            <a:ext cx="1170432" cy="402336"/>
          </a:xfrm>
          <a:prstGeom prst="roundRect">
            <a:avLst>
              <a:gd name="adj" fmla="val 18182"/>
            </a:avLst>
          </a:prstGeom>
          <a:solidFill>
            <a:srgbClr val="FFF1D6"/>
          </a:solidFill>
          <a:ln w="15875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5E05A865-F903-9CE7-6FE6-6718F795AEDB}"/>
              </a:ext>
            </a:extLst>
          </p:cNvPr>
          <p:cNvSpPr/>
          <p:nvPr/>
        </p:nvSpPr>
        <p:spPr>
          <a:xfrm>
            <a:off x="8467954" y="5161639"/>
            <a:ext cx="1170432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2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theorem</a:t>
            </a:r>
            <a:endParaRPr lang="en-US" sz="1000" dirty="0"/>
          </a:p>
        </p:txBody>
      </p:sp>
      <p:sp>
        <p:nvSpPr>
          <p:cNvPr id="27" name="Shape 28">
            <a:extLst>
              <a:ext uri="{FF2B5EF4-FFF2-40B4-BE49-F238E27FC236}">
                <a16:creationId xmlns:a16="http://schemas.microsoft.com/office/drawing/2014/main" id="{A785A7F5-24B7-044C-5D91-7542562E399E}"/>
              </a:ext>
            </a:extLst>
          </p:cNvPr>
          <p:cNvSpPr/>
          <p:nvPr/>
        </p:nvSpPr>
        <p:spPr>
          <a:xfrm>
            <a:off x="8202778" y="4686151"/>
            <a:ext cx="265176" cy="0"/>
          </a:xfrm>
          <a:prstGeom prst="line">
            <a:avLst/>
          </a:prstGeom>
          <a:noFill/>
          <a:ln w="16510">
            <a:solidFill>
              <a:srgbClr val="257A6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9">
            <a:extLst>
              <a:ext uri="{FF2B5EF4-FFF2-40B4-BE49-F238E27FC236}">
                <a16:creationId xmlns:a16="http://schemas.microsoft.com/office/drawing/2014/main" id="{DF338C4C-F6FE-98DF-9B03-7944E2BB2E29}"/>
              </a:ext>
            </a:extLst>
          </p:cNvPr>
          <p:cNvSpPr/>
          <p:nvPr/>
        </p:nvSpPr>
        <p:spPr>
          <a:xfrm>
            <a:off x="8202778" y="5362807"/>
            <a:ext cx="265176" cy="0"/>
          </a:xfrm>
          <a:prstGeom prst="line">
            <a:avLst/>
          </a:prstGeom>
          <a:noFill/>
          <a:ln w="16510">
            <a:solidFill>
              <a:srgbClr val="B7791F"/>
            </a:solidFill>
            <a:prstDash val="dash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30">
            <a:extLst>
              <a:ext uri="{FF2B5EF4-FFF2-40B4-BE49-F238E27FC236}">
                <a16:creationId xmlns:a16="http://schemas.microsoft.com/office/drawing/2014/main" id="{779C90D5-05E4-C124-F7A3-C7CC8AF72255}"/>
              </a:ext>
            </a:extLst>
          </p:cNvPr>
          <p:cNvSpPr/>
          <p:nvPr/>
        </p:nvSpPr>
        <p:spPr>
          <a:xfrm>
            <a:off x="9053170" y="4887319"/>
            <a:ext cx="0" cy="274320"/>
          </a:xfrm>
          <a:prstGeom prst="line">
            <a:avLst/>
          </a:prstGeom>
          <a:noFill/>
          <a:ln w="16510">
            <a:solidFill>
              <a:srgbClr val="356AE6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400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DF261-8BD7-B5EF-897B-71F4A2C98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C1D6660-1004-10B5-19B4-5F250F7F83D4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What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is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inside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</a:t>
            </a:r>
            <a:r>
              <a:rPr lang="nl-NL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black box?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97567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5">
            <a:extLst>
              <a:ext uri="{FF2B5EF4-FFF2-40B4-BE49-F238E27FC236}">
                <a16:creationId xmlns:a16="http://schemas.microsoft.com/office/drawing/2014/main" id="{74D4125E-ABB5-801D-8008-C0CAA8BFB295}"/>
              </a:ext>
            </a:extLst>
          </p:cNvPr>
          <p:cNvSpPr/>
          <p:nvPr/>
        </p:nvSpPr>
        <p:spPr>
          <a:xfrm>
            <a:off x="2072409" y="972532"/>
            <a:ext cx="3657599" cy="960120"/>
          </a:xfrm>
          <a:prstGeom prst="roundRect">
            <a:avLst>
              <a:gd name="adj" fmla="val 4629"/>
            </a:avLst>
          </a:prstGeom>
          <a:solidFill>
            <a:srgbClr val="EAF0FF"/>
          </a:solidFill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fidelity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did the paper actually state?</a:t>
            </a:r>
            <a:endParaRPr lang="en-US" sz="12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44B51EE-FA38-6B60-A53D-F28D6CDAAF80}"/>
              </a:ext>
            </a:extLst>
          </p:cNvPr>
          <p:cNvSpPr/>
          <p:nvPr/>
        </p:nvSpPr>
        <p:spPr>
          <a:xfrm>
            <a:off x="5804032" y="972532"/>
            <a:ext cx="4892040" cy="960120"/>
          </a:xfrm>
          <a:prstGeom prst="roundRect">
            <a:avLst>
              <a:gd name="adj" fmla="val 4629"/>
            </a:avLst>
          </a:prstGeom>
          <a:solidFill>
            <a:srgbClr val="E2F1EA"/>
          </a:solidFill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Mathematical correctness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the conclusion follow from encoded assumptions?</a:t>
            </a:r>
            <a:endParaRPr lang="en-US" sz="12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4650221-316D-D24B-7487-27E804FF6A07}"/>
              </a:ext>
            </a:extLst>
          </p:cNvPr>
          <p:cNvSpPr/>
          <p:nvPr/>
        </p:nvSpPr>
        <p:spPr>
          <a:xfrm>
            <a:off x="2072409" y="2015383"/>
            <a:ext cx="3657600" cy="960120"/>
          </a:xfrm>
          <a:prstGeom prst="roundRect">
            <a:avLst>
              <a:gd name="adj" fmla="val 4629"/>
            </a:avLst>
          </a:prstGeom>
          <a:solidFill>
            <a:srgbClr val="FFF1D6"/>
          </a:solidFill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Computational reproducibility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the numerical result be regenerated?</a:t>
            </a:r>
            <a:endParaRPr lang="en-US" sz="12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3A44098-6E49-54AF-3096-4717E6C63F17}"/>
              </a:ext>
            </a:extLst>
          </p:cNvPr>
          <p:cNvSpPr/>
          <p:nvPr/>
        </p:nvSpPr>
        <p:spPr>
          <a:xfrm>
            <a:off x="5804032" y="2015383"/>
            <a:ext cx="4892040" cy="960120"/>
          </a:xfrm>
          <a:prstGeom prst="roundRect">
            <a:avLst>
              <a:gd name="adj" fmla="val 4629"/>
            </a:avLst>
          </a:prstGeom>
          <a:solidFill>
            <a:srgbClr val="EEE8F7"/>
          </a:solidFill>
          <a:ln w="38100">
            <a:solidFill>
              <a:srgbClr val="7356A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Physical-semantic alignment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4283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the formal object represent the intended physics?</a:t>
            </a:r>
            <a:endParaRPr lang="en-US" sz="12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610DE0D1-FFA8-B020-C3BB-AE69E1C36B00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What we actually care, and</a:t>
            </a:r>
            <a:r>
              <a:rPr lang="zh-CN" alt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altLang="zh-CN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…</a:t>
            </a: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what we can trust?</a:t>
            </a:r>
            <a:endParaRPr lang="en-US" sz="2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A650449-0A5B-8B23-73C2-16790779F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714" y="3374647"/>
            <a:ext cx="3095010" cy="249692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177F417-9D9C-DE5A-ACCC-3A5A722AEC5E}"/>
              </a:ext>
            </a:extLst>
          </p:cNvPr>
          <p:cNvSpPr txBox="1"/>
          <p:nvPr/>
        </p:nvSpPr>
        <p:spPr>
          <a:xfrm>
            <a:off x="5292656" y="5921542"/>
            <a:ext cx="24571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nl-NL" altLang="zh-CN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reverse </a:t>
            </a:r>
            <a:r>
              <a:rPr kumimoji="1" lang="nl-NL" altLang="zh-CN" sz="11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mathematics</a:t>
            </a:r>
            <a:r>
              <a:rPr kumimoji="1" lang="nl-NL" altLang="zh-CN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zoo,</a:t>
            </a:r>
          </a:p>
          <a:p>
            <a:r>
              <a:rPr lang="en-US" altLang="zh-CN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founded by Damir Dzhafarov</a:t>
            </a:r>
            <a:r>
              <a:rPr kumimoji="1" lang="nl-NL" altLang="zh-CN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, 2019</a:t>
            </a:r>
            <a:endParaRPr kumimoji="1" lang="zh-CN" altLang="en-US" sz="11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096FB55-8AD9-A979-6EE9-3D1F9C001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602" y="3329791"/>
            <a:ext cx="2410098" cy="1205049"/>
          </a:xfrm>
          <a:prstGeom prst="rect">
            <a:avLst/>
          </a:prstGeom>
        </p:spPr>
      </p:pic>
      <p:pic>
        <p:nvPicPr>
          <p:cNvPr id="13" name="Picture 2" descr="The Lean 4 Theorem Prover and Programming Language | Springer Nature Link">
            <a:extLst>
              <a:ext uri="{FF2B5EF4-FFF2-40B4-BE49-F238E27FC236}">
                <a16:creationId xmlns:a16="http://schemas.microsoft.com/office/drawing/2014/main" id="{058E66E4-05FB-3D8D-5913-34FAE1D03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0596" y="4611832"/>
            <a:ext cx="2474686" cy="1174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F1A7E98-53A7-3260-6DDC-670A5AF904AC}"/>
              </a:ext>
            </a:extLst>
          </p:cNvPr>
          <p:cNvSpPr txBox="1"/>
          <p:nvPr/>
        </p:nvSpPr>
        <p:spPr>
          <a:xfrm>
            <a:off x="8142513" y="5951943"/>
            <a:ext cx="37855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Lean 4 Theorem Prover and Programming Language</a:t>
            </a:r>
          </a:p>
          <a:p>
            <a:r>
              <a:rPr lang="en-US" altLang="zh-CN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by Moura L, Ullrich S.</a:t>
            </a:r>
            <a:r>
              <a:rPr kumimoji="1" lang="nl-NL" altLang="zh-CN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2021</a:t>
            </a: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7E0366F3-2FBE-8EAA-D5BF-FC245E921E3E}"/>
              </a:ext>
            </a:extLst>
          </p:cNvPr>
          <p:cNvSpPr/>
          <p:nvPr/>
        </p:nvSpPr>
        <p:spPr>
          <a:xfrm>
            <a:off x="4606835" y="3264695"/>
            <a:ext cx="7321268" cy="3321307"/>
          </a:xfrm>
          <a:prstGeom prst="roundRect">
            <a:avLst>
              <a:gd name="adj" fmla="val 4629"/>
            </a:avLst>
          </a:prstGeom>
          <a:noFill/>
          <a:ln w="13970">
            <a:solidFill>
              <a:srgbClr val="257A6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65577796-32EE-A7DE-7A64-17D2F7A6A192}"/>
              </a:ext>
            </a:extLst>
          </p:cNvPr>
          <p:cNvSpPr/>
          <p:nvPr/>
        </p:nvSpPr>
        <p:spPr>
          <a:xfrm>
            <a:off x="2871191" y="3271378"/>
            <a:ext cx="1603881" cy="3314623"/>
          </a:xfrm>
          <a:prstGeom prst="roundRect">
            <a:avLst>
              <a:gd name="adj" fmla="val 4629"/>
            </a:avLst>
          </a:prstGeom>
          <a:noFill/>
          <a:ln w="13970">
            <a:solidFill>
              <a:srgbClr val="B7791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E0F6039-AB83-1235-C0CA-D447E98A4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817" y="3489961"/>
            <a:ext cx="896834" cy="89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0920287-FCCD-7E04-2700-05F484E5D5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2817" y="4525604"/>
            <a:ext cx="896834" cy="89683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92BAC3F-ECE2-2401-3ED7-9A58767B03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4545" y="5449656"/>
            <a:ext cx="955106" cy="1004574"/>
          </a:xfrm>
          <a:prstGeom prst="rect">
            <a:avLst/>
          </a:prstGeom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73FBFCC1-DCFB-A0A1-F7A7-3FF294D8C01E}"/>
              </a:ext>
            </a:extLst>
          </p:cNvPr>
          <p:cNvSpPr/>
          <p:nvPr/>
        </p:nvSpPr>
        <p:spPr>
          <a:xfrm>
            <a:off x="163168" y="3271378"/>
            <a:ext cx="2529283" cy="3314622"/>
          </a:xfrm>
          <a:prstGeom prst="roundRect">
            <a:avLst>
              <a:gd name="adj" fmla="val 4629"/>
            </a:avLst>
          </a:prstGeom>
          <a:noFill/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5126" name="Picture 6" descr="Paper Formatting – Writing for the Sciences">
            <a:extLst>
              <a:ext uri="{FF2B5EF4-FFF2-40B4-BE49-F238E27FC236}">
                <a16:creationId xmlns:a16="http://schemas.microsoft.com/office/drawing/2014/main" id="{EA64A3F9-14AB-FE62-BD95-C99B1DBF9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531" y="3329791"/>
            <a:ext cx="2332556" cy="291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DAD7765A-8EF6-0193-0617-6B52014500D2}"/>
              </a:ext>
            </a:extLst>
          </p:cNvPr>
          <p:cNvSpPr txBox="1"/>
          <p:nvPr/>
        </p:nvSpPr>
        <p:spPr>
          <a:xfrm>
            <a:off x="579408" y="6221624"/>
            <a:ext cx="1899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nl-NL" altLang="zh-CN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Paper </a:t>
            </a:r>
            <a:r>
              <a:rPr kumimoji="1" lang="nl-NL" altLang="zh-CN" sz="11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formatting</a:t>
            </a:r>
            <a:r>
              <a:rPr kumimoji="1" lang="nl-NL" altLang="zh-CN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SUNY</a:t>
            </a:r>
            <a:endParaRPr kumimoji="1" lang="zh-CN" altLang="en-US" sz="11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4D4753D-4471-3997-7811-F59501268B3E}"/>
              </a:ext>
            </a:extLst>
          </p:cNvPr>
          <p:cNvSpPr txBox="1"/>
          <p:nvPr/>
        </p:nvSpPr>
        <p:spPr>
          <a:xfrm>
            <a:off x="10119592" y="2172040"/>
            <a:ext cx="5020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nl-NL" altLang="zh-CN" sz="60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?</a:t>
            </a:r>
            <a:endParaRPr kumimoji="1" lang="zh-CN" altLang="en-US" sz="60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94233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4B79E49-8055-2D70-567E-20862C098F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197"/>
          <a:stretch>
            <a:fillRect/>
          </a:stretch>
        </p:blipFill>
        <p:spPr>
          <a:xfrm>
            <a:off x="261192" y="424873"/>
            <a:ext cx="6115594" cy="196509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60FD08C-C1B7-25A2-80F8-EDE33EE04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32" y="2627162"/>
            <a:ext cx="3014294" cy="36817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446B2A2-8EB0-E08F-31ED-18040F0967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06036"/>
            <a:ext cx="5678054" cy="19453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2206D7A-36DB-8107-B375-63ED44A7CF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481" y="2409520"/>
            <a:ext cx="6816789" cy="411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33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5ABE89A-7833-2991-7141-F36492B79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236" y="670480"/>
            <a:ext cx="5671457" cy="173412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8FD5902-59FC-4FED-B221-B01ACF457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108" y="394853"/>
            <a:ext cx="4495031" cy="60682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CF755EC-D9BC-17A7-CBBA-38AE78432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382" y="2609865"/>
            <a:ext cx="4900618" cy="22181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0A14E48-1FED-9C7B-1DCD-E4B034958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02" y="4750057"/>
            <a:ext cx="5899727" cy="1785401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5BA07E92-4CC7-6001-753A-AC716C654393}"/>
              </a:ext>
            </a:extLst>
          </p:cNvPr>
          <p:cNvSpPr/>
          <p:nvPr/>
        </p:nvSpPr>
        <p:spPr>
          <a:xfrm>
            <a:off x="452582" y="2687782"/>
            <a:ext cx="6288247" cy="3898218"/>
          </a:xfrm>
          <a:prstGeom prst="roundRect">
            <a:avLst>
              <a:gd name="adj" fmla="val 4629"/>
            </a:avLst>
          </a:prstGeom>
          <a:noFill/>
          <a:ln w="13970">
            <a:solidFill>
              <a:srgbClr val="356A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1927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8381C9A-F50E-2808-0162-0A51955FA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91" y="664110"/>
            <a:ext cx="5676755" cy="306738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46DF891-236C-F453-0A09-FEA74469F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754" y="430038"/>
            <a:ext cx="5676755" cy="353552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01F952A-6FB2-E55A-6062-60DAA051F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373" y="4199633"/>
            <a:ext cx="5862782" cy="21315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BD3F7B4-CE42-CBE2-258E-5AF76F0D3F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1594" y="4199633"/>
            <a:ext cx="4717473" cy="215033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618C859-5AB6-913D-96D3-7500D7B827D5}"/>
              </a:ext>
            </a:extLst>
          </p:cNvPr>
          <p:cNvSpPr txBox="1"/>
          <p:nvPr/>
        </p:nvSpPr>
        <p:spPr>
          <a:xfrm>
            <a:off x="1266093" y="6243296"/>
            <a:ext cx="1106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nl-NL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no </a:t>
            </a:r>
            <a:r>
              <a:rPr kumimoji="1" lang="nl-NL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kumimoji="1" lang="nl-NL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nl-NL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kumimoji="1" lang="nl-NL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nl-NL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kumimoji="1" lang="nl-NL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nl-NL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restricted</a:t>
            </a:r>
            <a:r>
              <a:rPr kumimoji="1" lang="nl-NL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a pdf, but </a:t>
            </a:r>
            <a:r>
              <a:rPr kumimoji="1" lang="nl-NL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kumimoji="1" lang="nl-NL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nl-NL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kumimoji="1" lang="nl-NL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nl-NL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</a:t>
            </a:r>
            <a:r>
              <a:rPr kumimoji="1" lang="nl-NL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kumimoji="1" lang="nl-NL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kumimoji="1" lang="nl-NL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agent </a:t>
            </a:r>
            <a:r>
              <a:rPr kumimoji="1" lang="nl-NL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stayed</a:t>
            </a:r>
            <a:r>
              <a:rPr kumimoji="1" lang="nl-NL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 git </a:t>
            </a:r>
            <a:r>
              <a:rPr kumimoji="1" lang="nl-NL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endParaRPr kumimoji="1" lang="zh-CN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22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5F5CF-53EC-E11A-1AD4-29FCC72D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E98DE364-D6FD-E5A0-0284-C8BD30DDF39C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Not just a pipeline, but we need the ”knowledge</a:t>
            </a:r>
            <a:endParaRPr lang="en-US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8B5970-8522-A9B3-FEF8-87C6021A7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36" y="1411868"/>
            <a:ext cx="7772400" cy="4034262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AA95546E-2A3E-7909-BB9D-7A7EB392E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925" y="1758661"/>
            <a:ext cx="4898353" cy="3340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563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DA32D62-4EFE-5418-45FF-DB62C8F2E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787" y="759253"/>
            <a:ext cx="7772400" cy="334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026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1FA4E77-0DCF-5B02-3F51-839D84D157C9}"/>
              </a:ext>
            </a:extLst>
          </p:cNvPr>
          <p:cNvSpPr/>
          <p:nvPr/>
        </p:nvSpPr>
        <p:spPr>
          <a:xfrm>
            <a:off x="292608" y="201168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How</a:t>
            </a:r>
            <a:r>
              <a:rPr lang="zh-CN" altLang="en-US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altLang="zh-CN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the</a:t>
            </a:r>
            <a:r>
              <a:rPr lang="nl-NL" altLang="zh-CN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auto-</a:t>
            </a:r>
            <a:r>
              <a:rPr lang="nl-NL" altLang="zh-CN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formalization</a:t>
            </a:r>
            <a:r>
              <a:rPr lang="nl-NL" altLang="zh-CN" sz="2400" b="1" dirty="0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nl-NL" altLang="zh-CN" sz="2400" b="1" dirty="0" err="1">
                <a:solidFill>
                  <a:srgbClr val="242832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works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48727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形状 32">
            <a:extLst>
              <a:ext uri="{FF2B5EF4-FFF2-40B4-BE49-F238E27FC236}">
                <a16:creationId xmlns:a16="http://schemas.microsoft.com/office/drawing/2014/main" id="{32786D24-F53F-9246-6346-5D5A5AC0ECA2}"/>
              </a:ext>
            </a:extLst>
          </p:cNvPr>
          <p:cNvSpPr/>
          <p:nvPr/>
        </p:nvSpPr>
        <p:spPr>
          <a:xfrm>
            <a:off x="2835563" y="3216467"/>
            <a:ext cx="3414579" cy="1004238"/>
          </a:xfrm>
          <a:custGeom>
            <a:avLst/>
            <a:gdLst>
              <a:gd name="csX0" fmla="*/ 55418 w 3001818"/>
              <a:gd name="csY0" fmla="*/ 249382 h 1403927"/>
              <a:gd name="csX1" fmla="*/ 55418 w 3001818"/>
              <a:gd name="csY1" fmla="*/ 249382 h 1403927"/>
              <a:gd name="csX2" fmla="*/ 120072 w 3001818"/>
              <a:gd name="csY2" fmla="*/ 203200 h 1403927"/>
              <a:gd name="csX3" fmla="*/ 184727 w 3001818"/>
              <a:gd name="csY3" fmla="*/ 175491 h 1403927"/>
              <a:gd name="csX4" fmla="*/ 267854 w 3001818"/>
              <a:gd name="csY4" fmla="*/ 147782 h 1403927"/>
              <a:gd name="csX5" fmla="*/ 295563 w 3001818"/>
              <a:gd name="csY5" fmla="*/ 129309 h 1403927"/>
              <a:gd name="csX6" fmla="*/ 350981 w 3001818"/>
              <a:gd name="csY6" fmla="*/ 120073 h 1403927"/>
              <a:gd name="csX7" fmla="*/ 387927 w 3001818"/>
              <a:gd name="csY7" fmla="*/ 110837 h 1403927"/>
              <a:gd name="csX8" fmla="*/ 434109 w 3001818"/>
              <a:gd name="csY8" fmla="*/ 92364 h 1403927"/>
              <a:gd name="csX9" fmla="*/ 517236 w 3001818"/>
              <a:gd name="csY9" fmla="*/ 83127 h 1403927"/>
              <a:gd name="csX10" fmla="*/ 563418 w 3001818"/>
              <a:gd name="csY10" fmla="*/ 73891 h 1403927"/>
              <a:gd name="csX11" fmla="*/ 628072 w 3001818"/>
              <a:gd name="csY11" fmla="*/ 64655 h 1403927"/>
              <a:gd name="csX12" fmla="*/ 757381 w 3001818"/>
              <a:gd name="csY12" fmla="*/ 27709 h 1403927"/>
              <a:gd name="csX13" fmla="*/ 1062181 w 3001818"/>
              <a:gd name="csY13" fmla="*/ 0 h 1403927"/>
              <a:gd name="csX14" fmla="*/ 1182254 w 3001818"/>
              <a:gd name="csY14" fmla="*/ 18473 h 1403927"/>
              <a:gd name="csX15" fmla="*/ 1320800 w 3001818"/>
              <a:gd name="csY15" fmla="*/ 27709 h 1403927"/>
              <a:gd name="csX16" fmla="*/ 1542472 w 3001818"/>
              <a:gd name="csY16" fmla="*/ 46182 h 1403927"/>
              <a:gd name="csX17" fmla="*/ 2133600 w 3001818"/>
              <a:gd name="csY17" fmla="*/ 55418 h 1403927"/>
              <a:gd name="csX18" fmla="*/ 2318327 w 3001818"/>
              <a:gd name="csY18" fmla="*/ 73891 h 1403927"/>
              <a:gd name="csX19" fmla="*/ 2346036 w 3001818"/>
              <a:gd name="csY19" fmla="*/ 83127 h 1403927"/>
              <a:gd name="csX20" fmla="*/ 2382981 w 3001818"/>
              <a:gd name="csY20" fmla="*/ 92364 h 1403927"/>
              <a:gd name="csX21" fmla="*/ 2419927 w 3001818"/>
              <a:gd name="csY21" fmla="*/ 110837 h 1403927"/>
              <a:gd name="csX22" fmla="*/ 2484581 w 3001818"/>
              <a:gd name="csY22" fmla="*/ 129309 h 1403927"/>
              <a:gd name="csX23" fmla="*/ 2576945 w 3001818"/>
              <a:gd name="csY23" fmla="*/ 193964 h 1403927"/>
              <a:gd name="csX24" fmla="*/ 2678545 w 3001818"/>
              <a:gd name="csY24" fmla="*/ 221673 h 1403927"/>
              <a:gd name="csX25" fmla="*/ 2706254 w 3001818"/>
              <a:gd name="csY25" fmla="*/ 240146 h 1403927"/>
              <a:gd name="csX26" fmla="*/ 2752436 w 3001818"/>
              <a:gd name="csY26" fmla="*/ 341746 h 1403927"/>
              <a:gd name="csX27" fmla="*/ 2761672 w 3001818"/>
              <a:gd name="csY27" fmla="*/ 378691 h 1403927"/>
              <a:gd name="csX28" fmla="*/ 2789381 w 3001818"/>
              <a:gd name="csY28" fmla="*/ 443346 h 1403927"/>
              <a:gd name="csX29" fmla="*/ 2826327 w 3001818"/>
              <a:gd name="csY29" fmla="*/ 526473 h 1403927"/>
              <a:gd name="csX30" fmla="*/ 2844800 w 3001818"/>
              <a:gd name="csY30" fmla="*/ 600364 h 1403927"/>
              <a:gd name="csX31" fmla="*/ 2835563 w 3001818"/>
              <a:gd name="csY31" fmla="*/ 701964 h 1403927"/>
              <a:gd name="csX32" fmla="*/ 2826327 w 3001818"/>
              <a:gd name="csY32" fmla="*/ 849746 h 1403927"/>
              <a:gd name="csX33" fmla="*/ 2789381 w 3001818"/>
              <a:gd name="csY33" fmla="*/ 942109 h 1403927"/>
              <a:gd name="csX34" fmla="*/ 2798618 w 3001818"/>
              <a:gd name="csY34" fmla="*/ 1062182 h 1403927"/>
              <a:gd name="csX35" fmla="*/ 2881745 w 3001818"/>
              <a:gd name="csY35" fmla="*/ 1163782 h 1403927"/>
              <a:gd name="csX36" fmla="*/ 2946400 w 3001818"/>
              <a:gd name="csY36" fmla="*/ 1237673 h 1403927"/>
              <a:gd name="csX37" fmla="*/ 3001818 w 3001818"/>
              <a:gd name="csY37" fmla="*/ 1283855 h 1403927"/>
              <a:gd name="csX38" fmla="*/ 2992581 w 3001818"/>
              <a:gd name="csY38" fmla="*/ 1311564 h 1403927"/>
              <a:gd name="csX39" fmla="*/ 2937163 w 3001818"/>
              <a:gd name="csY39" fmla="*/ 1320800 h 1403927"/>
              <a:gd name="csX40" fmla="*/ 2835563 w 3001818"/>
              <a:gd name="csY40" fmla="*/ 1330037 h 1403927"/>
              <a:gd name="csX41" fmla="*/ 2789381 w 3001818"/>
              <a:gd name="csY41" fmla="*/ 1339273 h 1403927"/>
              <a:gd name="csX42" fmla="*/ 2706254 w 3001818"/>
              <a:gd name="csY42" fmla="*/ 1348509 h 1403927"/>
              <a:gd name="csX43" fmla="*/ 2650836 w 3001818"/>
              <a:gd name="csY43" fmla="*/ 1366982 h 1403927"/>
              <a:gd name="csX44" fmla="*/ 2613891 w 3001818"/>
              <a:gd name="csY44" fmla="*/ 1376218 h 1403927"/>
              <a:gd name="csX45" fmla="*/ 2558472 w 3001818"/>
              <a:gd name="csY45" fmla="*/ 1394691 h 1403927"/>
              <a:gd name="csX46" fmla="*/ 2475345 w 3001818"/>
              <a:gd name="csY46" fmla="*/ 1403927 h 1403927"/>
              <a:gd name="csX47" fmla="*/ 2373745 w 3001818"/>
              <a:gd name="csY47" fmla="*/ 1385455 h 1403927"/>
              <a:gd name="csX48" fmla="*/ 2318327 w 3001818"/>
              <a:gd name="csY48" fmla="*/ 1366982 h 1403927"/>
              <a:gd name="csX49" fmla="*/ 2244436 w 3001818"/>
              <a:gd name="csY49" fmla="*/ 1348509 h 1403927"/>
              <a:gd name="csX50" fmla="*/ 2216727 w 3001818"/>
              <a:gd name="csY50" fmla="*/ 1357746 h 1403927"/>
              <a:gd name="csX51" fmla="*/ 2189018 w 3001818"/>
              <a:gd name="csY51" fmla="*/ 1376218 h 1403927"/>
              <a:gd name="csX52" fmla="*/ 2087418 w 3001818"/>
              <a:gd name="csY52" fmla="*/ 1366982 h 1403927"/>
              <a:gd name="csX53" fmla="*/ 1939636 w 3001818"/>
              <a:gd name="csY53" fmla="*/ 1330037 h 1403927"/>
              <a:gd name="csX54" fmla="*/ 1874981 w 3001818"/>
              <a:gd name="csY54" fmla="*/ 1320800 h 1403927"/>
              <a:gd name="csX55" fmla="*/ 1708727 w 3001818"/>
              <a:gd name="csY55" fmla="*/ 1283855 h 1403927"/>
              <a:gd name="csX56" fmla="*/ 1579418 w 3001818"/>
              <a:gd name="csY56" fmla="*/ 1265382 h 1403927"/>
              <a:gd name="csX57" fmla="*/ 1477818 w 3001818"/>
              <a:gd name="csY57" fmla="*/ 1274618 h 1403927"/>
              <a:gd name="csX58" fmla="*/ 1487054 w 3001818"/>
              <a:gd name="csY58" fmla="*/ 1302327 h 1403927"/>
              <a:gd name="csX59" fmla="*/ 1477818 w 3001818"/>
              <a:gd name="csY59" fmla="*/ 1330037 h 1403927"/>
              <a:gd name="csX60" fmla="*/ 1440872 w 3001818"/>
              <a:gd name="csY60" fmla="*/ 1348509 h 1403927"/>
              <a:gd name="csX61" fmla="*/ 1339272 w 3001818"/>
              <a:gd name="csY61" fmla="*/ 1366982 h 1403927"/>
              <a:gd name="csX62" fmla="*/ 1108363 w 3001818"/>
              <a:gd name="csY62" fmla="*/ 1357746 h 1403927"/>
              <a:gd name="csX63" fmla="*/ 711200 w 3001818"/>
              <a:gd name="csY63" fmla="*/ 1339273 h 1403927"/>
              <a:gd name="csX64" fmla="*/ 655781 w 3001818"/>
              <a:gd name="csY64" fmla="*/ 1320800 h 1403927"/>
              <a:gd name="csX65" fmla="*/ 517236 w 3001818"/>
              <a:gd name="csY65" fmla="*/ 1283855 h 1403927"/>
              <a:gd name="csX66" fmla="*/ 480291 w 3001818"/>
              <a:gd name="csY66" fmla="*/ 1256146 h 1403927"/>
              <a:gd name="csX67" fmla="*/ 452581 w 3001818"/>
              <a:gd name="csY67" fmla="*/ 1200727 h 1403927"/>
              <a:gd name="csX68" fmla="*/ 434109 w 3001818"/>
              <a:gd name="csY68" fmla="*/ 1173018 h 1403927"/>
              <a:gd name="csX69" fmla="*/ 424872 w 3001818"/>
              <a:gd name="csY69" fmla="*/ 1145309 h 1403927"/>
              <a:gd name="csX70" fmla="*/ 406400 w 3001818"/>
              <a:gd name="csY70" fmla="*/ 1108364 h 1403927"/>
              <a:gd name="csX71" fmla="*/ 397163 w 3001818"/>
              <a:gd name="csY71" fmla="*/ 1080655 h 1403927"/>
              <a:gd name="csX72" fmla="*/ 369454 w 3001818"/>
              <a:gd name="csY72" fmla="*/ 1071418 h 1403927"/>
              <a:gd name="csX73" fmla="*/ 230909 w 3001818"/>
              <a:gd name="csY73" fmla="*/ 1062182 h 1403927"/>
              <a:gd name="csX74" fmla="*/ 129309 w 3001818"/>
              <a:gd name="csY74" fmla="*/ 1025237 h 1403927"/>
              <a:gd name="csX75" fmla="*/ 120072 w 3001818"/>
              <a:gd name="csY75" fmla="*/ 988291 h 1403927"/>
              <a:gd name="csX76" fmla="*/ 101600 w 3001818"/>
              <a:gd name="csY76" fmla="*/ 877455 h 1403927"/>
              <a:gd name="csX77" fmla="*/ 64654 w 3001818"/>
              <a:gd name="csY77" fmla="*/ 794327 h 1403927"/>
              <a:gd name="csX78" fmla="*/ 36945 w 3001818"/>
              <a:gd name="csY78" fmla="*/ 738909 h 1403927"/>
              <a:gd name="csX79" fmla="*/ 27709 w 3001818"/>
              <a:gd name="csY79" fmla="*/ 711200 h 1403927"/>
              <a:gd name="csX80" fmla="*/ 9236 w 3001818"/>
              <a:gd name="csY80" fmla="*/ 554182 h 1403927"/>
              <a:gd name="csX81" fmla="*/ 0 w 3001818"/>
              <a:gd name="csY81" fmla="*/ 526473 h 1403927"/>
              <a:gd name="csX82" fmla="*/ 18472 w 3001818"/>
              <a:gd name="csY82" fmla="*/ 378691 h 1403927"/>
              <a:gd name="csX83" fmla="*/ 36945 w 3001818"/>
              <a:gd name="csY83" fmla="*/ 323273 h 1403927"/>
              <a:gd name="csX84" fmla="*/ 55418 w 3001818"/>
              <a:gd name="csY84" fmla="*/ 267855 h 1403927"/>
              <a:gd name="csX85" fmla="*/ 55418 w 3001818"/>
              <a:gd name="csY85" fmla="*/ 249382 h 14039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</a:cxnLst>
            <a:rect l="l" t="t" r="r" b="b"/>
            <a:pathLst>
              <a:path w="3001818" h="1403927">
                <a:moveTo>
                  <a:pt x="55418" y="249382"/>
                </a:moveTo>
                <a:lnTo>
                  <a:pt x="55418" y="249382"/>
                </a:lnTo>
                <a:cubicBezTo>
                  <a:pt x="76969" y="233988"/>
                  <a:pt x="97728" y="217419"/>
                  <a:pt x="120072" y="203200"/>
                </a:cubicBezTo>
                <a:cubicBezTo>
                  <a:pt x="162196" y="176393"/>
                  <a:pt x="146451" y="191895"/>
                  <a:pt x="184727" y="175491"/>
                </a:cubicBezTo>
                <a:cubicBezTo>
                  <a:pt x="251648" y="146810"/>
                  <a:pt x="190002" y="163352"/>
                  <a:pt x="267854" y="147782"/>
                </a:cubicBezTo>
                <a:cubicBezTo>
                  <a:pt x="277090" y="141624"/>
                  <a:pt x="285032" y="132819"/>
                  <a:pt x="295563" y="129309"/>
                </a:cubicBezTo>
                <a:cubicBezTo>
                  <a:pt x="313329" y="123387"/>
                  <a:pt x="332617" y="123746"/>
                  <a:pt x="350981" y="120073"/>
                </a:cubicBezTo>
                <a:cubicBezTo>
                  <a:pt x="363429" y="117584"/>
                  <a:pt x="375884" y="114851"/>
                  <a:pt x="387927" y="110837"/>
                </a:cubicBezTo>
                <a:cubicBezTo>
                  <a:pt x="403656" y="105594"/>
                  <a:pt x="417897" y="95838"/>
                  <a:pt x="434109" y="92364"/>
                </a:cubicBezTo>
                <a:cubicBezTo>
                  <a:pt x="461370" y="86522"/>
                  <a:pt x="489637" y="87070"/>
                  <a:pt x="517236" y="83127"/>
                </a:cubicBezTo>
                <a:cubicBezTo>
                  <a:pt x="532777" y="80907"/>
                  <a:pt x="547933" y="76472"/>
                  <a:pt x="563418" y="73891"/>
                </a:cubicBezTo>
                <a:cubicBezTo>
                  <a:pt x="584892" y="70312"/>
                  <a:pt x="606521" y="67734"/>
                  <a:pt x="628072" y="64655"/>
                </a:cubicBezTo>
                <a:cubicBezTo>
                  <a:pt x="667545" y="51497"/>
                  <a:pt x="716793" y="33507"/>
                  <a:pt x="757381" y="27709"/>
                </a:cubicBezTo>
                <a:cubicBezTo>
                  <a:pt x="835990" y="16479"/>
                  <a:pt x="975155" y="6695"/>
                  <a:pt x="1062181" y="0"/>
                </a:cubicBezTo>
                <a:cubicBezTo>
                  <a:pt x="1090008" y="4638"/>
                  <a:pt x="1156097" y="16095"/>
                  <a:pt x="1182254" y="18473"/>
                </a:cubicBezTo>
                <a:cubicBezTo>
                  <a:pt x="1228348" y="22663"/>
                  <a:pt x="1274618" y="24630"/>
                  <a:pt x="1320800" y="27709"/>
                </a:cubicBezTo>
                <a:cubicBezTo>
                  <a:pt x="1412851" y="50724"/>
                  <a:pt x="1367921" y="42026"/>
                  <a:pt x="1542472" y="46182"/>
                </a:cubicBezTo>
                <a:lnTo>
                  <a:pt x="2133600" y="55418"/>
                </a:lnTo>
                <a:cubicBezTo>
                  <a:pt x="2198237" y="60035"/>
                  <a:pt x="2256407" y="60131"/>
                  <a:pt x="2318327" y="73891"/>
                </a:cubicBezTo>
                <a:cubicBezTo>
                  <a:pt x="2327831" y="76003"/>
                  <a:pt x="2336675" y="80452"/>
                  <a:pt x="2346036" y="83127"/>
                </a:cubicBezTo>
                <a:cubicBezTo>
                  <a:pt x="2358242" y="86614"/>
                  <a:pt x="2371095" y="87907"/>
                  <a:pt x="2382981" y="92364"/>
                </a:cubicBezTo>
                <a:cubicBezTo>
                  <a:pt x="2395873" y="97199"/>
                  <a:pt x="2407271" y="105413"/>
                  <a:pt x="2419927" y="110837"/>
                </a:cubicBezTo>
                <a:cubicBezTo>
                  <a:pt x="2438476" y="118787"/>
                  <a:pt x="2465835" y="124623"/>
                  <a:pt x="2484581" y="129309"/>
                </a:cubicBezTo>
                <a:cubicBezTo>
                  <a:pt x="2501440" y="141953"/>
                  <a:pt x="2563303" y="189417"/>
                  <a:pt x="2576945" y="193964"/>
                </a:cubicBezTo>
                <a:cubicBezTo>
                  <a:pt x="2647256" y="217401"/>
                  <a:pt x="2613269" y="208618"/>
                  <a:pt x="2678545" y="221673"/>
                </a:cubicBezTo>
                <a:cubicBezTo>
                  <a:pt x="2687781" y="227831"/>
                  <a:pt x="2699888" y="231052"/>
                  <a:pt x="2706254" y="240146"/>
                </a:cubicBezTo>
                <a:cubicBezTo>
                  <a:pt x="2723912" y="265371"/>
                  <a:pt x="2742851" y="308197"/>
                  <a:pt x="2752436" y="341746"/>
                </a:cubicBezTo>
                <a:cubicBezTo>
                  <a:pt x="2755923" y="353952"/>
                  <a:pt x="2758185" y="366485"/>
                  <a:pt x="2761672" y="378691"/>
                </a:cubicBezTo>
                <a:cubicBezTo>
                  <a:pt x="2776535" y="430711"/>
                  <a:pt x="2764757" y="381784"/>
                  <a:pt x="2789381" y="443346"/>
                </a:cubicBezTo>
                <a:cubicBezTo>
                  <a:pt x="2822353" y="525778"/>
                  <a:pt x="2790788" y="473166"/>
                  <a:pt x="2826327" y="526473"/>
                </a:cubicBezTo>
                <a:cubicBezTo>
                  <a:pt x="2833615" y="548337"/>
                  <a:pt x="2844800" y="578076"/>
                  <a:pt x="2844800" y="600364"/>
                </a:cubicBezTo>
                <a:cubicBezTo>
                  <a:pt x="2844800" y="634370"/>
                  <a:pt x="2838075" y="668051"/>
                  <a:pt x="2835563" y="701964"/>
                </a:cubicBezTo>
                <a:cubicBezTo>
                  <a:pt x="2831917" y="751186"/>
                  <a:pt x="2832996" y="800842"/>
                  <a:pt x="2826327" y="849746"/>
                </a:cubicBezTo>
                <a:cubicBezTo>
                  <a:pt x="2822047" y="881133"/>
                  <a:pt x="2803448" y="913977"/>
                  <a:pt x="2789381" y="942109"/>
                </a:cubicBezTo>
                <a:cubicBezTo>
                  <a:pt x="2792460" y="982133"/>
                  <a:pt x="2789910" y="1022995"/>
                  <a:pt x="2798618" y="1062182"/>
                </a:cubicBezTo>
                <a:cubicBezTo>
                  <a:pt x="2807494" y="1102125"/>
                  <a:pt x="2860597" y="1137348"/>
                  <a:pt x="2881745" y="1163782"/>
                </a:cubicBezTo>
                <a:cubicBezTo>
                  <a:pt x="2901707" y="1188735"/>
                  <a:pt x="2921411" y="1216849"/>
                  <a:pt x="2946400" y="1237673"/>
                </a:cubicBezTo>
                <a:cubicBezTo>
                  <a:pt x="3023555" y="1301969"/>
                  <a:pt x="2920866" y="1202903"/>
                  <a:pt x="3001818" y="1283855"/>
                </a:cubicBezTo>
                <a:cubicBezTo>
                  <a:pt x="2998739" y="1293091"/>
                  <a:pt x="3001034" y="1306734"/>
                  <a:pt x="2992581" y="1311564"/>
                </a:cubicBezTo>
                <a:cubicBezTo>
                  <a:pt x="2976321" y="1320855"/>
                  <a:pt x="2955762" y="1318612"/>
                  <a:pt x="2937163" y="1320800"/>
                </a:cubicBezTo>
                <a:cubicBezTo>
                  <a:pt x="2903390" y="1324773"/>
                  <a:pt x="2869430" y="1326958"/>
                  <a:pt x="2835563" y="1330037"/>
                </a:cubicBezTo>
                <a:cubicBezTo>
                  <a:pt x="2820169" y="1333116"/>
                  <a:pt x="2804922" y="1337053"/>
                  <a:pt x="2789381" y="1339273"/>
                </a:cubicBezTo>
                <a:cubicBezTo>
                  <a:pt x="2761782" y="1343216"/>
                  <a:pt x="2733592" y="1343041"/>
                  <a:pt x="2706254" y="1348509"/>
                </a:cubicBezTo>
                <a:cubicBezTo>
                  <a:pt x="2687160" y="1352328"/>
                  <a:pt x="2669727" y="1362259"/>
                  <a:pt x="2650836" y="1366982"/>
                </a:cubicBezTo>
                <a:cubicBezTo>
                  <a:pt x="2638521" y="1370061"/>
                  <a:pt x="2626050" y="1372570"/>
                  <a:pt x="2613891" y="1376218"/>
                </a:cubicBezTo>
                <a:cubicBezTo>
                  <a:pt x="2595240" y="1381813"/>
                  <a:pt x="2577566" y="1390872"/>
                  <a:pt x="2558472" y="1394691"/>
                </a:cubicBezTo>
                <a:cubicBezTo>
                  <a:pt x="2531134" y="1400159"/>
                  <a:pt x="2503054" y="1400848"/>
                  <a:pt x="2475345" y="1403927"/>
                </a:cubicBezTo>
                <a:cubicBezTo>
                  <a:pt x="2441478" y="1397770"/>
                  <a:pt x="2407252" y="1393339"/>
                  <a:pt x="2373745" y="1385455"/>
                </a:cubicBezTo>
                <a:cubicBezTo>
                  <a:pt x="2354791" y="1380995"/>
                  <a:pt x="2337218" y="1371705"/>
                  <a:pt x="2318327" y="1366982"/>
                </a:cubicBezTo>
                <a:lnTo>
                  <a:pt x="2244436" y="1348509"/>
                </a:lnTo>
                <a:cubicBezTo>
                  <a:pt x="2235200" y="1351588"/>
                  <a:pt x="2225435" y="1353392"/>
                  <a:pt x="2216727" y="1357746"/>
                </a:cubicBezTo>
                <a:cubicBezTo>
                  <a:pt x="2206798" y="1362710"/>
                  <a:pt x="2200090" y="1375427"/>
                  <a:pt x="2189018" y="1376218"/>
                </a:cubicBezTo>
                <a:cubicBezTo>
                  <a:pt x="2155098" y="1378641"/>
                  <a:pt x="2121285" y="1370061"/>
                  <a:pt x="2087418" y="1366982"/>
                </a:cubicBezTo>
                <a:cubicBezTo>
                  <a:pt x="2038157" y="1354667"/>
                  <a:pt x="1989254" y="1340823"/>
                  <a:pt x="1939636" y="1330037"/>
                </a:cubicBezTo>
                <a:cubicBezTo>
                  <a:pt x="1918362" y="1325412"/>
                  <a:pt x="1896329" y="1325070"/>
                  <a:pt x="1874981" y="1320800"/>
                </a:cubicBezTo>
                <a:cubicBezTo>
                  <a:pt x="1819314" y="1309666"/>
                  <a:pt x="1764524" y="1294317"/>
                  <a:pt x="1708727" y="1283855"/>
                </a:cubicBezTo>
                <a:cubicBezTo>
                  <a:pt x="1665932" y="1275831"/>
                  <a:pt x="1579418" y="1265382"/>
                  <a:pt x="1579418" y="1265382"/>
                </a:cubicBezTo>
                <a:cubicBezTo>
                  <a:pt x="1545551" y="1268461"/>
                  <a:pt x="1509392" y="1261989"/>
                  <a:pt x="1477818" y="1274618"/>
                </a:cubicBezTo>
                <a:cubicBezTo>
                  <a:pt x="1468778" y="1278234"/>
                  <a:pt x="1487054" y="1292591"/>
                  <a:pt x="1487054" y="1302327"/>
                </a:cubicBezTo>
                <a:cubicBezTo>
                  <a:pt x="1487054" y="1312063"/>
                  <a:pt x="1484703" y="1323152"/>
                  <a:pt x="1477818" y="1330037"/>
                </a:cubicBezTo>
                <a:cubicBezTo>
                  <a:pt x="1468082" y="1339773"/>
                  <a:pt x="1453528" y="1343085"/>
                  <a:pt x="1440872" y="1348509"/>
                </a:cubicBezTo>
                <a:cubicBezTo>
                  <a:pt x="1405691" y="1363587"/>
                  <a:pt x="1381839" y="1361661"/>
                  <a:pt x="1339272" y="1366982"/>
                </a:cubicBezTo>
                <a:lnTo>
                  <a:pt x="1108363" y="1357746"/>
                </a:lnTo>
                <a:cubicBezTo>
                  <a:pt x="733871" y="1345665"/>
                  <a:pt x="881329" y="1367627"/>
                  <a:pt x="711200" y="1339273"/>
                </a:cubicBezTo>
                <a:cubicBezTo>
                  <a:pt x="692727" y="1333115"/>
                  <a:pt x="674543" y="1326012"/>
                  <a:pt x="655781" y="1320800"/>
                </a:cubicBezTo>
                <a:cubicBezTo>
                  <a:pt x="475345" y="1270679"/>
                  <a:pt x="596452" y="1310259"/>
                  <a:pt x="517236" y="1283855"/>
                </a:cubicBezTo>
                <a:cubicBezTo>
                  <a:pt x="504921" y="1274619"/>
                  <a:pt x="491176" y="1267031"/>
                  <a:pt x="480291" y="1256146"/>
                </a:cubicBezTo>
                <a:cubicBezTo>
                  <a:pt x="453822" y="1229677"/>
                  <a:pt x="467605" y="1230775"/>
                  <a:pt x="452581" y="1200727"/>
                </a:cubicBezTo>
                <a:cubicBezTo>
                  <a:pt x="447617" y="1190798"/>
                  <a:pt x="439073" y="1182947"/>
                  <a:pt x="434109" y="1173018"/>
                </a:cubicBezTo>
                <a:cubicBezTo>
                  <a:pt x="429755" y="1164310"/>
                  <a:pt x="428707" y="1154258"/>
                  <a:pt x="424872" y="1145309"/>
                </a:cubicBezTo>
                <a:cubicBezTo>
                  <a:pt x="419448" y="1132654"/>
                  <a:pt x="411824" y="1121019"/>
                  <a:pt x="406400" y="1108364"/>
                </a:cubicBezTo>
                <a:cubicBezTo>
                  <a:pt x="402565" y="1099415"/>
                  <a:pt x="404047" y="1087539"/>
                  <a:pt x="397163" y="1080655"/>
                </a:cubicBezTo>
                <a:cubicBezTo>
                  <a:pt x="390279" y="1073771"/>
                  <a:pt x="379130" y="1072493"/>
                  <a:pt x="369454" y="1071418"/>
                </a:cubicBezTo>
                <a:cubicBezTo>
                  <a:pt x="323453" y="1066307"/>
                  <a:pt x="277091" y="1065261"/>
                  <a:pt x="230909" y="1062182"/>
                </a:cubicBezTo>
                <a:cubicBezTo>
                  <a:pt x="220710" y="1059632"/>
                  <a:pt x="145586" y="1049652"/>
                  <a:pt x="129309" y="1025237"/>
                </a:cubicBezTo>
                <a:cubicBezTo>
                  <a:pt x="122267" y="1014675"/>
                  <a:pt x="122411" y="1000768"/>
                  <a:pt x="120072" y="988291"/>
                </a:cubicBezTo>
                <a:cubicBezTo>
                  <a:pt x="113170" y="951478"/>
                  <a:pt x="113444" y="912988"/>
                  <a:pt x="101600" y="877455"/>
                </a:cubicBezTo>
                <a:cubicBezTo>
                  <a:pt x="79616" y="811506"/>
                  <a:pt x="93928" y="838239"/>
                  <a:pt x="64654" y="794327"/>
                </a:cubicBezTo>
                <a:cubicBezTo>
                  <a:pt x="41439" y="724680"/>
                  <a:pt x="72755" y="810528"/>
                  <a:pt x="36945" y="738909"/>
                </a:cubicBezTo>
                <a:cubicBezTo>
                  <a:pt x="32591" y="730201"/>
                  <a:pt x="30788" y="720436"/>
                  <a:pt x="27709" y="711200"/>
                </a:cubicBezTo>
                <a:cubicBezTo>
                  <a:pt x="22990" y="659299"/>
                  <a:pt x="20640" y="605503"/>
                  <a:pt x="9236" y="554182"/>
                </a:cubicBezTo>
                <a:cubicBezTo>
                  <a:pt x="7124" y="544678"/>
                  <a:pt x="3079" y="535709"/>
                  <a:pt x="0" y="526473"/>
                </a:cubicBezTo>
                <a:cubicBezTo>
                  <a:pt x="1996" y="508510"/>
                  <a:pt x="12824" y="403164"/>
                  <a:pt x="18472" y="378691"/>
                </a:cubicBezTo>
                <a:cubicBezTo>
                  <a:pt x="22850" y="359718"/>
                  <a:pt x="30787" y="341746"/>
                  <a:pt x="36945" y="323273"/>
                </a:cubicBezTo>
                <a:lnTo>
                  <a:pt x="55418" y="267855"/>
                </a:lnTo>
                <a:lnTo>
                  <a:pt x="55418" y="249382"/>
                </a:lnTo>
                <a:close/>
              </a:path>
            </a:pathLst>
          </a:custGeom>
          <a:solidFill>
            <a:srgbClr val="F1F0F6">
              <a:alpha val="5197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形 6" descr="文档 轮廓">
            <a:extLst>
              <a:ext uri="{FF2B5EF4-FFF2-40B4-BE49-F238E27FC236}">
                <a16:creationId xmlns:a16="http://schemas.microsoft.com/office/drawing/2014/main" id="{41531A3A-E5B5-D4E4-ACD9-BCE7705F50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2364" y="2971800"/>
            <a:ext cx="914400" cy="914400"/>
          </a:xfrm>
          <a:prstGeom prst="rect">
            <a:avLst/>
          </a:prstGeom>
        </p:spPr>
      </p:pic>
      <p:pic>
        <p:nvPicPr>
          <p:cNvPr id="9" name="图形 8" descr="纸张 轮廓">
            <a:extLst>
              <a:ext uri="{FF2B5EF4-FFF2-40B4-BE49-F238E27FC236}">
                <a16:creationId xmlns:a16="http://schemas.microsoft.com/office/drawing/2014/main" id="{8405AF9C-6612-8C0D-32BA-1C14B787DC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30519" y="5314326"/>
            <a:ext cx="665017" cy="670998"/>
          </a:xfrm>
          <a:prstGeom prst="rect">
            <a:avLst/>
          </a:prstGeom>
        </p:spPr>
      </p:pic>
      <p:pic>
        <p:nvPicPr>
          <p:cNvPr id="10" name="图形 9" descr="纸张 轮廓">
            <a:extLst>
              <a:ext uri="{FF2B5EF4-FFF2-40B4-BE49-F238E27FC236}">
                <a16:creationId xmlns:a16="http://schemas.microsoft.com/office/drawing/2014/main" id="{1CF35507-33B6-23A5-8A79-AEAA1FA53C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4619" y="2388782"/>
            <a:ext cx="665017" cy="670998"/>
          </a:xfrm>
          <a:prstGeom prst="rect">
            <a:avLst/>
          </a:prstGeom>
        </p:spPr>
      </p:pic>
      <p:pic>
        <p:nvPicPr>
          <p:cNvPr id="11" name="图形 10" descr="纸张 轮廓">
            <a:extLst>
              <a:ext uri="{FF2B5EF4-FFF2-40B4-BE49-F238E27FC236}">
                <a16:creationId xmlns:a16="http://schemas.microsoft.com/office/drawing/2014/main" id="{0775B254-6A27-4F72-D373-CCAAC6E100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3867" y="2735754"/>
            <a:ext cx="499928" cy="504424"/>
          </a:xfrm>
          <a:prstGeom prst="rect">
            <a:avLst/>
          </a:prstGeom>
        </p:spPr>
      </p:pic>
      <p:pic>
        <p:nvPicPr>
          <p:cNvPr id="12" name="图形 11" descr="纸张 轮廓">
            <a:extLst>
              <a:ext uri="{FF2B5EF4-FFF2-40B4-BE49-F238E27FC236}">
                <a16:creationId xmlns:a16="http://schemas.microsoft.com/office/drawing/2014/main" id="{EFDCD7F5-E404-427A-E8E1-1A6826C110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4433" y="3673083"/>
            <a:ext cx="665017" cy="670998"/>
          </a:xfrm>
          <a:prstGeom prst="rect">
            <a:avLst/>
          </a:prstGeom>
        </p:spPr>
      </p:pic>
      <p:pic>
        <p:nvPicPr>
          <p:cNvPr id="13" name="图形 12" descr="纸张 轮廓">
            <a:extLst>
              <a:ext uri="{FF2B5EF4-FFF2-40B4-BE49-F238E27FC236}">
                <a16:creationId xmlns:a16="http://schemas.microsoft.com/office/drawing/2014/main" id="{189A00F2-1E07-DC2E-5011-B8B0ADB58C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1158" y="3117198"/>
            <a:ext cx="454344" cy="458430"/>
          </a:xfrm>
          <a:prstGeom prst="rect">
            <a:avLst/>
          </a:prstGeom>
        </p:spPr>
      </p:pic>
      <p:pic>
        <p:nvPicPr>
          <p:cNvPr id="14" name="图形 13" descr="纸张 轮廓">
            <a:extLst>
              <a:ext uri="{FF2B5EF4-FFF2-40B4-BE49-F238E27FC236}">
                <a16:creationId xmlns:a16="http://schemas.microsoft.com/office/drawing/2014/main" id="{630463CC-2734-4974-372C-AAAD8011E0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29724" y="3263889"/>
            <a:ext cx="506814" cy="511372"/>
          </a:xfrm>
          <a:prstGeom prst="rect">
            <a:avLst/>
          </a:prstGeom>
        </p:spPr>
      </p:pic>
      <p:pic>
        <p:nvPicPr>
          <p:cNvPr id="15" name="图形 14" descr="纸张 轮廓">
            <a:extLst>
              <a:ext uri="{FF2B5EF4-FFF2-40B4-BE49-F238E27FC236}">
                <a16:creationId xmlns:a16="http://schemas.microsoft.com/office/drawing/2014/main" id="{DDA3D7CB-6DEC-76FB-16CF-C0D96332FE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7306" y="3429000"/>
            <a:ext cx="499929" cy="504425"/>
          </a:xfrm>
          <a:prstGeom prst="rect">
            <a:avLst/>
          </a:prstGeom>
        </p:spPr>
      </p:pic>
      <p:pic>
        <p:nvPicPr>
          <p:cNvPr id="16" name="图形 15" descr="纸张 轮廓">
            <a:extLst>
              <a:ext uri="{FF2B5EF4-FFF2-40B4-BE49-F238E27FC236}">
                <a16:creationId xmlns:a16="http://schemas.microsoft.com/office/drawing/2014/main" id="{F38D2018-7DE4-8DF3-5474-CEA09CA06A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6359" y="3886200"/>
            <a:ext cx="665017" cy="670998"/>
          </a:xfrm>
          <a:prstGeom prst="rect">
            <a:avLst/>
          </a:prstGeom>
        </p:spPr>
      </p:pic>
      <p:pic>
        <p:nvPicPr>
          <p:cNvPr id="18" name="图形 17" descr="文档 轮廓">
            <a:extLst>
              <a:ext uri="{FF2B5EF4-FFF2-40B4-BE49-F238E27FC236}">
                <a16:creationId xmlns:a16="http://schemas.microsoft.com/office/drawing/2014/main" id="{CFB8756C-F7C8-E5EB-318E-B59DD28EB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55573" y="3720775"/>
            <a:ext cx="499929" cy="499929"/>
          </a:xfrm>
          <a:prstGeom prst="rect">
            <a:avLst/>
          </a:prstGeom>
        </p:spPr>
      </p:pic>
      <p:sp>
        <p:nvSpPr>
          <p:cNvPr id="19" name="Shape 45">
            <a:extLst>
              <a:ext uri="{FF2B5EF4-FFF2-40B4-BE49-F238E27FC236}">
                <a16:creationId xmlns:a16="http://schemas.microsoft.com/office/drawing/2014/main" id="{34D32755-0F70-9F9B-FF2B-58CF5D31461A}"/>
              </a:ext>
            </a:extLst>
          </p:cNvPr>
          <p:cNvSpPr/>
          <p:nvPr/>
        </p:nvSpPr>
        <p:spPr>
          <a:xfrm flipV="1">
            <a:off x="8143551" y="5466194"/>
            <a:ext cx="138591" cy="249755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0" name="Shape 45">
            <a:extLst>
              <a:ext uri="{FF2B5EF4-FFF2-40B4-BE49-F238E27FC236}">
                <a16:creationId xmlns:a16="http://schemas.microsoft.com/office/drawing/2014/main" id="{ED3033A6-278D-1509-7531-4A87E061C6B6}"/>
              </a:ext>
            </a:extLst>
          </p:cNvPr>
          <p:cNvSpPr/>
          <p:nvPr/>
        </p:nvSpPr>
        <p:spPr>
          <a:xfrm>
            <a:off x="7524758" y="4070177"/>
            <a:ext cx="665018" cy="375504"/>
          </a:xfrm>
          <a:prstGeom prst="line">
            <a:avLst/>
          </a:prstGeom>
          <a:noFill/>
          <a:ln w="7620">
            <a:solidFill>
              <a:srgbClr val="B3B3B3"/>
            </a:solidFill>
            <a:prstDash val="dash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45">
            <a:extLst>
              <a:ext uri="{FF2B5EF4-FFF2-40B4-BE49-F238E27FC236}">
                <a16:creationId xmlns:a16="http://schemas.microsoft.com/office/drawing/2014/main" id="{B6B79F4A-95F1-8705-3D80-48EDFA624382}"/>
              </a:ext>
            </a:extLst>
          </p:cNvPr>
          <p:cNvSpPr/>
          <p:nvPr/>
        </p:nvSpPr>
        <p:spPr>
          <a:xfrm>
            <a:off x="7245361" y="5685504"/>
            <a:ext cx="564520" cy="208233"/>
          </a:xfrm>
          <a:prstGeom prst="line">
            <a:avLst/>
          </a:prstGeom>
          <a:noFill/>
          <a:ln w="7620">
            <a:solidFill>
              <a:srgbClr val="B3B3B3"/>
            </a:solidFill>
            <a:prstDash val="dash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45">
            <a:extLst>
              <a:ext uri="{FF2B5EF4-FFF2-40B4-BE49-F238E27FC236}">
                <a16:creationId xmlns:a16="http://schemas.microsoft.com/office/drawing/2014/main" id="{012002FA-C1C5-BB13-4C7A-6E7BFEB4BA07}"/>
              </a:ext>
            </a:extLst>
          </p:cNvPr>
          <p:cNvSpPr/>
          <p:nvPr/>
        </p:nvSpPr>
        <p:spPr>
          <a:xfrm>
            <a:off x="3688192" y="3599339"/>
            <a:ext cx="692724" cy="146021"/>
          </a:xfrm>
          <a:prstGeom prst="line">
            <a:avLst/>
          </a:prstGeom>
          <a:noFill/>
          <a:ln w="7620">
            <a:solidFill>
              <a:srgbClr val="B3B3B3"/>
            </a:solidFill>
            <a:prstDash val="dash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45">
            <a:extLst>
              <a:ext uri="{FF2B5EF4-FFF2-40B4-BE49-F238E27FC236}">
                <a16:creationId xmlns:a16="http://schemas.microsoft.com/office/drawing/2014/main" id="{70683E55-B7B3-84AB-F8D2-A5098B5DE719}"/>
              </a:ext>
            </a:extLst>
          </p:cNvPr>
          <p:cNvSpPr/>
          <p:nvPr/>
        </p:nvSpPr>
        <p:spPr>
          <a:xfrm>
            <a:off x="8178278" y="3734852"/>
            <a:ext cx="824300" cy="449902"/>
          </a:xfrm>
          <a:prstGeom prst="line">
            <a:avLst/>
          </a:prstGeom>
          <a:noFill/>
          <a:ln w="7620">
            <a:solidFill>
              <a:srgbClr val="B3B3B3"/>
            </a:solidFill>
            <a:prstDash val="dash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45">
            <a:extLst>
              <a:ext uri="{FF2B5EF4-FFF2-40B4-BE49-F238E27FC236}">
                <a16:creationId xmlns:a16="http://schemas.microsoft.com/office/drawing/2014/main" id="{A2440B8D-8827-D061-BD3F-83849A7B1E9A}"/>
              </a:ext>
            </a:extLst>
          </p:cNvPr>
          <p:cNvSpPr/>
          <p:nvPr/>
        </p:nvSpPr>
        <p:spPr>
          <a:xfrm flipH="1">
            <a:off x="8237128" y="5859382"/>
            <a:ext cx="665018" cy="208233"/>
          </a:xfrm>
          <a:prstGeom prst="line">
            <a:avLst/>
          </a:prstGeom>
          <a:noFill/>
          <a:ln w="7620">
            <a:solidFill>
              <a:srgbClr val="B3B3B3"/>
            </a:solidFill>
            <a:prstDash val="dash"/>
            <a:tailEnd type="none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6" name="图形 25" descr="纸张 轮廓">
            <a:extLst>
              <a:ext uri="{FF2B5EF4-FFF2-40B4-BE49-F238E27FC236}">
                <a16:creationId xmlns:a16="http://schemas.microsoft.com/office/drawing/2014/main" id="{794D50CE-1BB7-919D-02B7-AEFD2F4871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55070" y="3199138"/>
            <a:ext cx="499928" cy="504424"/>
          </a:xfrm>
          <a:prstGeom prst="rect">
            <a:avLst/>
          </a:prstGeom>
        </p:spPr>
      </p:pic>
      <p:pic>
        <p:nvPicPr>
          <p:cNvPr id="27" name="图形 26" descr="纸张 轮廓">
            <a:extLst>
              <a:ext uri="{FF2B5EF4-FFF2-40B4-BE49-F238E27FC236}">
                <a16:creationId xmlns:a16="http://schemas.microsoft.com/office/drawing/2014/main" id="{C2D47B7B-0F00-004E-9DE8-FAFF6FF906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88688" y="2724281"/>
            <a:ext cx="499928" cy="504424"/>
          </a:xfrm>
          <a:prstGeom prst="rect">
            <a:avLst/>
          </a:prstGeom>
        </p:spPr>
      </p:pic>
      <p:pic>
        <p:nvPicPr>
          <p:cNvPr id="28" name="图形 27" descr="纸张 轮廓">
            <a:extLst>
              <a:ext uri="{FF2B5EF4-FFF2-40B4-BE49-F238E27FC236}">
                <a16:creationId xmlns:a16="http://schemas.microsoft.com/office/drawing/2014/main" id="{EA01BB66-FE6D-3331-3FDF-FCB672EFCE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63342" y="2998185"/>
            <a:ext cx="499928" cy="504424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A79AFFC0-8BE9-C0D5-7A00-1E585A7E51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1466" y="750973"/>
            <a:ext cx="3614893" cy="1314104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53C3270B-F980-5D31-3EC0-918F21DA9767}"/>
              </a:ext>
            </a:extLst>
          </p:cNvPr>
          <p:cNvSpPr txBox="1"/>
          <p:nvPr/>
        </p:nvSpPr>
        <p:spPr>
          <a:xfrm>
            <a:off x="1335207" y="2411269"/>
            <a:ext cx="235633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Static </a:t>
            </a:r>
            <a:r>
              <a:rPr lang="en-US" altLang="zh-CN" dirty="0" err="1"/>
              <a:t>arXiv</a:t>
            </a:r>
            <a:r>
              <a:rPr lang="en-US" altLang="zh-CN" dirty="0"/>
              <a:t> paper → source-faithful Paper Agent → attributable claims → dependency and evidence reconstruction → verification and bounded assessment → contribution delta → reusable knowledge entries → verified knowledge frontier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1361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465f887-04a9-4c17-8b62-103eddccf68b}" enabled="1" method="Standard" siteId="{ca2a7f76-dbd7-4ec0-9108-6b3d524fb7c8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24299</TotalTime>
  <Words>337</Words>
  <Application>Microsoft Macintosh PowerPoint</Application>
  <PresentationFormat>宽屏</PresentationFormat>
  <Paragraphs>56</Paragraphs>
  <Slides>13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等线</vt:lpstr>
      <vt:lpstr>等线 Light</vt:lpstr>
      <vt:lpstr>Hei</vt:lpstr>
      <vt:lpstr>Aptos</vt:lpstr>
      <vt:lpstr>Arial</vt:lpstr>
      <vt:lpstr>Roboto</vt:lpstr>
      <vt:lpstr>Roboto Condensed</vt:lpstr>
      <vt:lpstr>Tahoma</vt:lpstr>
      <vt:lpstr>Times New Roman</vt:lpstr>
      <vt:lpstr>Office 主题​​</vt:lpstr>
      <vt:lpstr>agtXiv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Y. (Yingjian)</dc:creator>
  <cp:lastModifiedBy>Liu, Y. (Yingjian)</cp:lastModifiedBy>
  <cp:revision>3</cp:revision>
  <dcterms:created xsi:type="dcterms:W3CDTF">2026-08-18T08:10:27Z</dcterms:created>
  <dcterms:modified xsi:type="dcterms:W3CDTF">2026-09-07T22:04:38Z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主题​​:8</vt:lpwstr>
  </property>
  <property fmtid="{D5CDD505-2E9C-101B-9397-08002B2CF9AE}" pid="3" name="ClassificationContentMarkingFooterText">
    <vt:lpwstr>Classified as Internal | Intern</vt:lpwstr>
  </property>
</Properties>
</file>